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3.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32"/>
  </p:notesMasterIdLst>
  <p:sldIdLst>
    <p:sldId id="256" r:id="rId2"/>
    <p:sldId id="296" r:id="rId3"/>
    <p:sldId id="316" r:id="rId4"/>
    <p:sldId id="259" r:id="rId5"/>
    <p:sldId id="313" r:id="rId6"/>
    <p:sldId id="299" r:id="rId7"/>
    <p:sldId id="297" r:id="rId8"/>
    <p:sldId id="275" r:id="rId9"/>
    <p:sldId id="276" r:id="rId10"/>
    <p:sldId id="293" r:id="rId11"/>
    <p:sldId id="294" r:id="rId12"/>
    <p:sldId id="301" r:id="rId13"/>
    <p:sldId id="287" r:id="rId14"/>
    <p:sldId id="278" r:id="rId15"/>
    <p:sldId id="314" r:id="rId16"/>
    <p:sldId id="318" r:id="rId17"/>
    <p:sldId id="302" r:id="rId18"/>
    <p:sldId id="303" r:id="rId19"/>
    <p:sldId id="305" r:id="rId20"/>
    <p:sldId id="306" r:id="rId21"/>
    <p:sldId id="311" r:id="rId22"/>
    <p:sldId id="307" r:id="rId23"/>
    <p:sldId id="315" r:id="rId24"/>
    <p:sldId id="319" r:id="rId25"/>
    <p:sldId id="317" r:id="rId26"/>
    <p:sldId id="298" r:id="rId27"/>
    <p:sldId id="308" r:id="rId28"/>
    <p:sldId id="309" r:id="rId29"/>
    <p:sldId id="310" r:id="rId30"/>
    <p:sldId id="28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359" autoAdjust="0"/>
    <p:restoredTop sz="93709" autoAdjust="0"/>
  </p:normalViewPr>
  <p:slideViewPr>
    <p:cSldViewPr snapToGrid="0">
      <p:cViewPr>
        <p:scale>
          <a:sx n="120" d="100"/>
          <a:sy n="120" d="100"/>
        </p:scale>
        <p:origin x="-451" y="-744"/>
      </p:cViewPr>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471626-42A2-4532-AC51-C7221C3DB90A}" type="doc">
      <dgm:prSet loTypeId="urn:microsoft.com/office/officeart/2005/8/layout/chevronAccent+Icon" loCatId="process" qsTypeId="urn:microsoft.com/office/officeart/2005/8/quickstyle/simple1" qsCatId="simple" csTypeId="urn:microsoft.com/office/officeart/2005/8/colors/colorful3" csCatId="colorful" phldr="1"/>
      <dgm:spPr/>
    </dgm:pt>
    <dgm:pt modelId="{1861FAA1-C0E7-4CAD-90D1-14335B8CB422}">
      <dgm:prSet phldrT="[Text]" custT="1"/>
      <dgm:spPr/>
      <dgm:t>
        <a:bodyPr/>
        <a:lstStyle/>
        <a:p>
          <a:r>
            <a:rPr lang="en-US" sz="1300" b="1" dirty="0"/>
            <a:t>1. Get data ready</a:t>
          </a:r>
        </a:p>
      </dgm:t>
    </dgm:pt>
    <dgm:pt modelId="{C5E69026-829C-483C-8C10-CDE3FC3C5866}" type="parTrans" cxnId="{DEC20D22-9A7F-45EB-9141-7FD852C84419}">
      <dgm:prSet/>
      <dgm:spPr/>
      <dgm:t>
        <a:bodyPr/>
        <a:lstStyle/>
        <a:p>
          <a:endParaRPr lang="en-US" sz="1000"/>
        </a:p>
      </dgm:t>
    </dgm:pt>
    <dgm:pt modelId="{097546BB-4081-46E0-AE47-3C621E5AAEE8}" type="sibTrans" cxnId="{DEC20D22-9A7F-45EB-9141-7FD852C84419}">
      <dgm:prSet/>
      <dgm:spPr/>
      <dgm:t>
        <a:bodyPr/>
        <a:lstStyle/>
        <a:p>
          <a:endParaRPr lang="en-US" sz="1000"/>
        </a:p>
      </dgm:t>
    </dgm:pt>
    <dgm:pt modelId="{037E5C73-7D1C-4767-80CB-DF4023530D32}">
      <dgm:prSet phldrT="[Text]" custT="1"/>
      <dgm:spPr/>
      <dgm:t>
        <a:bodyPr/>
        <a:lstStyle/>
        <a:p>
          <a:r>
            <a:rPr lang="en-US" sz="1300" dirty="0"/>
            <a:t>Normalize</a:t>
          </a:r>
        </a:p>
      </dgm:t>
    </dgm:pt>
    <dgm:pt modelId="{3AD67AD8-F300-470F-B53F-40350B641685}" type="parTrans" cxnId="{67A623F6-E591-49C3-8A35-C9A498B189FB}">
      <dgm:prSet/>
      <dgm:spPr/>
      <dgm:t>
        <a:bodyPr/>
        <a:lstStyle/>
        <a:p>
          <a:endParaRPr lang="en-US" sz="1000"/>
        </a:p>
      </dgm:t>
    </dgm:pt>
    <dgm:pt modelId="{1693E5EC-C4B8-4D58-B7E0-0E8A71C65FEA}" type="sibTrans" cxnId="{67A623F6-E591-49C3-8A35-C9A498B189FB}">
      <dgm:prSet/>
      <dgm:spPr/>
      <dgm:t>
        <a:bodyPr/>
        <a:lstStyle/>
        <a:p>
          <a:endParaRPr lang="en-US" sz="1000"/>
        </a:p>
      </dgm:t>
    </dgm:pt>
    <dgm:pt modelId="{838B9AC0-2087-41C4-A925-0ACA987BB408}">
      <dgm:prSet phldrT="[Text]" custT="1"/>
      <dgm:spPr/>
      <dgm:t>
        <a:bodyPr/>
        <a:lstStyle/>
        <a:p>
          <a:r>
            <a:rPr lang="en-US" sz="1300" dirty="0"/>
            <a:t>Resize</a:t>
          </a:r>
        </a:p>
      </dgm:t>
    </dgm:pt>
    <dgm:pt modelId="{BE000D9A-6DD6-4F27-A23A-9F3DB7815866}" type="parTrans" cxnId="{9536F05F-493A-4CC3-B9ED-1674C60149D6}">
      <dgm:prSet/>
      <dgm:spPr/>
      <dgm:t>
        <a:bodyPr/>
        <a:lstStyle/>
        <a:p>
          <a:endParaRPr lang="en-US" sz="1000"/>
        </a:p>
      </dgm:t>
    </dgm:pt>
    <dgm:pt modelId="{821566BB-E967-4F13-AE46-1C8FE5B779A5}" type="sibTrans" cxnId="{9536F05F-493A-4CC3-B9ED-1674C60149D6}">
      <dgm:prSet/>
      <dgm:spPr/>
      <dgm:t>
        <a:bodyPr/>
        <a:lstStyle/>
        <a:p>
          <a:endParaRPr lang="en-US" sz="1000"/>
        </a:p>
      </dgm:t>
    </dgm:pt>
    <dgm:pt modelId="{A129C486-782F-4CAE-9EF9-92A399AB024A}">
      <dgm:prSet phldrT="[Text]" custT="1"/>
      <dgm:spPr/>
      <dgm:t>
        <a:bodyPr/>
        <a:lstStyle/>
        <a:p>
          <a:r>
            <a:rPr lang="en-US" sz="1300" dirty="0"/>
            <a:t>Turn into tensor</a:t>
          </a:r>
        </a:p>
      </dgm:t>
    </dgm:pt>
    <dgm:pt modelId="{9A2B8BE5-06C0-44F5-AC29-2E11D281CB6F}" type="parTrans" cxnId="{923BE9EC-4DD4-4C65-9F1B-5F24423D43C7}">
      <dgm:prSet/>
      <dgm:spPr/>
      <dgm:t>
        <a:bodyPr/>
        <a:lstStyle/>
        <a:p>
          <a:endParaRPr lang="en-US" sz="1000"/>
        </a:p>
      </dgm:t>
    </dgm:pt>
    <dgm:pt modelId="{885B82E6-6744-4EB1-9EAC-5FF7CE73DA35}" type="sibTrans" cxnId="{923BE9EC-4DD4-4C65-9F1B-5F24423D43C7}">
      <dgm:prSet/>
      <dgm:spPr/>
      <dgm:t>
        <a:bodyPr/>
        <a:lstStyle/>
        <a:p>
          <a:endParaRPr lang="en-US" sz="1000"/>
        </a:p>
      </dgm:t>
    </dgm:pt>
    <dgm:pt modelId="{A40C2235-4AE6-4C16-8091-7F6878358B73}">
      <dgm:prSet phldrT="[Text]" custT="1"/>
      <dgm:spPr/>
      <dgm:t>
        <a:bodyPr/>
        <a:lstStyle/>
        <a:p>
          <a:r>
            <a:rPr lang="en-US" sz="1300" b="1" dirty="0"/>
            <a:t>2. Build model</a:t>
          </a:r>
        </a:p>
      </dgm:t>
    </dgm:pt>
    <dgm:pt modelId="{19C98AB4-9565-457C-9A6B-086F9C54AFAB}" type="parTrans" cxnId="{A42F900D-B17D-40CE-870A-99D57B316B65}">
      <dgm:prSet/>
      <dgm:spPr/>
      <dgm:t>
        <a:bodyPr/>
        <a:lstStyle/>
        <a:p>
          <a:endParaRPr lang="en-US" sz="1000"/>
        </a:p>
      </dgm:t>
    </dgm:pt>
    <dgm:pt modelId="{40FEC375-AAF0-4EA4-A70E-360FA755BFD5}" type="sibTrans" cxnId="{A42F900D-B17D-40CE-870A-99D57B316B65}">
      <dgm:prSet/>
      <dgm:spPr/>
      <dgm:t>
        <a:bodyPr/>
        <a:lstStyle/>
        <a:p>
          <a:endParaRPr lang="en-US" sz="1000"/>
        </a:p>
      </dgm:t>
    </dgm:pt>
    <dgm:pt modelId="{E4FA9801-180E-43B8-85D1-C04DDB3D5FD9}">
      <dgm:prSet phldrT="[Text]" custT="1"/>
      <dgm:spPr/>
      <dgm:t>
        <a:bodyPr/>
        <a:lstStyle/>
        <a:p>
          <a:r>
            <a:rPr lang="en-US" sz="1300" dirty="0"/>
            <a:t>Pick a loss function</a:t>
          </a:r>
        </a:p>
      </dgm:t>
    </dgm:pt>
    <dgm:pt modelId="{761C4FE9-0A95-4579-AC91-9CE6502CD668}" type="parTrans" cxnId="{77E70C9C-919A-4AC9-ABBF-161D6E4DE2B6}">
      <dgm:prSet/>
      <dgm:spPr/>
      <dgm:t>
        <a:bodyPr/>
        <a:lstStyle/>
        <a:p>
          <a:endParaRPr lang="en-US" sz="1000"/>
        </a:p>
      </dgm:t>
    </dgm:pt>
    <dgm:pt modelId="{A4382F34-2238-44A3-A4CA-653FD53BC61F}" type="sibTrans" cxnId="{77E70C9C-919A-4AC9-ABBF-161D6E4DE2B6}">
      <dgm:prSet/>
      <dgm:spPr/>
      <dgm:t>
        <a:bodyPr/>
        <a:lstStyle/>
        <a:p>
          <a:endParaRPr lang="en-US" sz="1000"/>
        </a:p>
      </dgm:t>
    </dgm:pt>
    <dgm:pt modelId="{0FB29472-CB8A-4FBD-B2FF-F381C6952288}">
      <dgm:prSet phldrT="[Text]" custT="1"/>
      <dgm:spPr/>
      <dgm:t>
        <a:bodyPr/>
        <a:lstStyle/>
        <a:p>
          <a:r>
            <a:rPr lang="en-US" sz="1300" dirty="0"/>
            <a:t>Pick optimizers</a:t>
          </a:r>
        </a:p>
      </dgm:t>
    </dgm:pt>
    <dgm:pt modelId="{DE016FC8-175A-4F6D-A7D5-55172E66593A}" type="parTrans" cxnId="{91B17D8A-43CF-4B53-AF4D-40F5112BF3C3}">
      <dgm:prSet/>
      <dgm:spPr/>
      <dgm:t>
        <a:bodyPr/>
        <a:lstStyle/>
        <a:p>
          <a:endParaRPr lang="en-US" sz="1000"/>
        </a:p>
      </dgm:t>
    </dgm:pt>
    <dgm:pt modelId="{05CCE4F4-40F9-4668-98A3-7E6CA1305EDA}" type="sibTrans" cxnId="{91B17D8A-43CF-4B53-AF4D-40F5112BF3C3}">
      <dgm:prSet/>
      <dgm:spPr/>
      <dgm:t>
        <a:bodyPr/>
        <a:lstStyle/>
        <a:p>
          <a:endParaRPr lang="en-US" sz="1000"/>
        </a:p>
      </dgm:t>
    </dgm:pt>
    <dgm:pt modelId="{484A2F4E-68DF-4809-9677-BFB2CD7D7360}">
      <dgm:prSet phldrT="[Text]" custT="1"/>
      <dgm:spPr/>
      <dgm:t>
        <a:bodyPr/>
        <a:lstStyle/>
        <a:p>
          <a:r>
            <a:rPr lang="en-US" sz="1300" dirty="0"/>
            <a:t>Build a training loop</a:t>
          </a:r>
        </a:p>
      </dgm:t>
    </dgm:pt>
    <dgm:pt modelId="{BB0C439F-8E2B-4630-A8E7-DC407287F556}" type="parTrans" cxnId="{166E22E8-5925-46B0-A23D-56E71CEEF253}">
      <dgm:prSet/>
      <dgm:spPr/>
      <dgm:t>
        <a:bodyPr/>
        <a:lstStyle/>
        <a:p>
          <a:endParaRPr lang="en-US" sz="1000"/>
        </a:p>
      </dgm:t>
    </dgm:pt>
    <dgm:pt modelId="{5CD070F2-4B98-4A95-9018-D454A27A7532}" type="sibTrans" cxnId="{166E22E8-5925-46B0-A23D-56E71CEEF253}">
      <dgm:prSet/>
      <dgm:spPr/>
      <dgm:t>
        <a:bodyPr/>
        <a:lstStyle/>
        <a:p>
          <a:endParaRPr lang="en-US" sz="1000"/>
        </a:p>
      </dgm:t>
    </dgm:pt>
    <dgm:pt modelId="{933A32BE-7A2F-417B-BE4C-C6AD0231CF83}">
      <dgm:prSet phldrT="[Text]" custT="1"/>
      <dgm:spPr/>
      <dgm:t>
        <a:bodyPr/>
        <a:lstStyle/>
        <a:p>
          <a:r>
            <a:rPr lang="en-US" sz="1300" dirty="0"/>
            <a:t>Build a validation loop</a:t>
          </a:r>
        </a:p>
      </dgm:t>
    </dgm:pt>
    <dgm:pt modelId="{ABC89E8B-D827-43ED-A3CF-8A03C91EE8FF}" type="parTrans" cxnId="{95416FB5-AB07-4B03-B489-5A5AD5F216B7}">
      <dgm:prSet/>
      <dgm:spPr/>
      <dgm:t>
        <a:bodyPr/>
        <a:lstStyle/>
        <a:p>
          <a:endParaRPr lang="en-US" sz="1000"/>
        </a:p>
      </dgm:t>
    </dgm:pt>
    <dgm:pt modelId="{6F9A75CE-A7DA-43DA-ACFA-7354D2F499AA}" type="sibTrans" cxnId="{95416FB5-AB07-4B03-B489-5A5AD5F216B7}">
      <dgm:prSet/>
      <dgm:spPr/>
      <dgm:t>
        <a:bodyPr/>
        <a:lstStyle/>
        <a:p>
          <a:endParaRPr lang="en-US" sz="1000"/>
        </a:p>
      </dgm:t>
    </dgm:pt>
    <dgm:pt modelId="{41239FAE-3068-4FD1-A462-B78EE83E7616}">
      <dgm:prSet phldrT="[Text]" custT="1"/>
      <dgm:spPr/>
      <dgm:t>
        <a:bodyPr/>
        <a:lstStyle/>
        <a:p>
          <a:r>
            <a:rPr lang="en-US" sz="1300" b="1" dirty="0"/>
            <a:t>3. Fit the model to data</a:t>
          </a:r>
        </a:p>
      </dgm:t>
    </dgm:pt>
    <dgm:pt modelId="{227D31BC-F431-4BC3-A967-62EE55514EDE}" type="parTrans" cxnId="{CE91E800-86F9-4850-A2B5-E1489A401989}">
      <dgm:prSet/>
      <dgm:spPr/>
      <dgm:t>
        <a:bodyPr/>
        <a:lstStyle/>
        <a:p>
          <a:endParaRPr lang="en-US" sz="1000"/>
        </a:p>
      </dgm:t>
    </dgm:pt>
    <dgm:pt modelId="{996FAAF1-5900-4B41-8BF2-7ECA8607CCDD}" type="sibTrans" cxnId="{CE91E800-86F9-4850-A2B5-E1489A401989}">
      <dgm:prSet/>
      <dgm:spPr/>
      <dgm:t>
        <a:bodyPr/>
        <a:lstStyle/>
        <a:p>
          <a:endParaRPr lang="en-US" sz="1000"/>
        </a:p>
      </dgm:t>
    </dgm:pt>
    <dgm:pt modelId="{B5B44FAB-7121-4BBC-8E57-4BEEB11E8E73}">
      <dgm:prSet phldrT="[Text]" custT="1"/>
      <dgm:spPr/>
      <dgm:t>
        <a:bodyPr/>
        <a:lstStyle/>
        <a:p>
          <a:r>
            <a:rPr lang="en-US" sz="1300" dirty="0"/>
            <a:t>Make predictions</a:t>
          </a:r>
        </a:p>
      </dgm:t>
    </dgm:pt>
    <dgm:pt modelId="{52077785-7415-4279-AF6B-05F905B50871}" type="parTrans" cxnId="{9163D83C-22EC-429A-8A5A-0499BA2E2852}">
      <dgm:prSet/>
      <dgm:spPr/>
      <dgm:t>
        <a:bodyPr/>
        <a:lstStyle/>
        <a:p>
          <a:endParaRPr lang="en-US" sz="1000"/>
        </a:p>
      </dgm:t>
    </dgm:pt>
    <dgm:pt modelId="{D67FF66A-A507-48F8-AF6A-C8FE8E5ECB26}" type="sibTrans" cxnId="{9163D83C-22EC-429A-8A5A-0499BA2E2852}">
      <dgm:prSet/>
      <dgm:spPr/>
      <dgm:t>
        <a:bodyPr/>
        <a:lstStyle/>
        <a:p>
          <a:endParaRPr lang="en-US" sz="1000"/>
        </a:p>
      </dgm:t>
    </dgm:pt>
    <dgm:pt modelId="{89AF52CD-3695-4C6A-AF48-7136168021D7}">
      <dgm:prSet phldrT="[Text]" custT="1"/>
      <dgm:spPr/>
      <dgm:t>
        <a:bodyPr/>
        <a:lstStyle/>
        <a:p>
          <a:r>
            <a:rPr lang="en-US" sz="1300" b="1" dirty="0"/>
            <a:t>4. Evaluate the model</a:t>
          </a:r>
        </a:p>
      </dgm:t>
    </dgm:pt>
    <dgm:pt modelId="{EB04699B-85B8-4323-9917-8B94F25CC781}" type="parTrans" cxnId="{749D814F-4D55-4BBF-91B0-1D1529222C9C}">
      <dgm:prSet/>
      <dgm:spPr/>
      <dgm:t>
        <a:bodyPr/>
        <a:lstStyle/>
        <a:p>
          <a:endParaRPr lang="en-US" sz="1000"/>
        </a:p>
      </dgm:t>
    </dgm:pt>
    <dgm:pt modelId="{F740A889-B5AD-4928-B575-9C50A32C434D}" type="sibTrans" cxnId="{749D814F-4D55-4BBF-91B0-1D1529222C9C}">
      <dgm:prSet/>
      <dgm:spPr/>
      <dgm:t>
        <a:bodyPr/>
        <a:lstStyle/>
        <a:p>
          <a:endParaRPr lang="en-US" sz="1000"/>
        </a:p>
      </dgm:t>
    </dgm:pt>
    <dgm:pt modelId="{0AB1BA7D-E281-4E6B-B428-192D547144FF}">
      <dgm:prSet phldrT="[Text]" custT="1"/>
      <dgm:spPr/>
      <dgm:t>
        <a:bodyPr/>
        <a:lstStyle/>
        <a:p>
          <a:r>
            <a:rPr lang="en-US" sz="1300" dirty="0"/>
            <a:t>Loss</a:t>
          </a:r>
        </a:p>
      </dgm:t>
    </dgm:pt>
    <dgm:pt modelId="{5F485A28-246A-497C-865A-556AB29CD297}" type="parTrans" cxnId="{01985CE3-3A6B-40CC-A924-BAABBF4FE93E}">
      <dgm:prSet/>
      <dgm:spPr/>
      <dgm:t>
        <a:bodyPr/>
        <a:lstStyle/>
        <a:p>
          <a:endParaRPr lang="en-US" sz="1000"/>
        </a:p>
      </dgm:t>
    </dgm:pt>
    <dgm:pt modelId="{5479E01F-5A9E-49D2-9E96-C2A03287C2B3}" type="sibTrans" cxnId="{01985CE3-3A6B-40CC-A924-BAABBF4FE93E}">
      <dgm:prSet/>
      <dgm:spPr/>
      <dgm:t>
        <a:bodyPr/>
        <a:lstStyle/>
        <a:p>
          <a:endParaRPr lang="en-US" sz="1000"/>
        </a:p>
      </dgm:t>
    </dgm:pt>
    <dgm:pt modelId="{EF88BE4E-C7D5-451F-9021-BB877CDA48C7}">
      <dgm:prSet phldrT="[Text]" custT="1"/>
      <dgm:spPr/>
      <dgm:t>
        <a:bodyPr/>
        <a:lstStyle/>
        <a:p>
          <a:r>
            <a:rPr lang="en-US" sz="1300" dirty="0"/>
            <a:t>Passing rate</a:t>
          </a:r>
        </a:p>
      </dgm:t>
    </dgm:pt>
    <dgm:pt modelId="{3766E027-1C28-4FC8-9C92-CAFDC1B70B36}" type="parTrans" cxnId="{E6BFDC93-FDB3-4B55-89D5-AD76D36136CF}">
      <dgm:prSet/>
      <dgm:spPr/>
      <dgm:t>
        <a:bodyPr/>
        <a:lstStyle/>
        <a:p>
          <a:endParaRPr lang="en-US" sz="1000"/>
        </a:p>
      </dgm:t>
    </dgm:pt>
    <dgm:pt modelId="{EBA0A089-F8B0-4422-911C-44D71B93B9DC}" type="sibTrans" cxnId="{E6BFDC93-FDB3-4B55-89D5-AD76D36136CF}">
      <dgm:prSet/>
      <dgm:spPr/>
      <dgm:t>
        <a:bodyPr/>
        <a:lstStyle/>
        <a:p>
          <a:endParaRPr lang="en-US" sz="1000"/>
        </a:p>
      </dgm:t>
    </dgm:pt>
    <dgm:pt modelId="{5FF46758-B449-4134-940E-A9BEA7008A46}">
      <dgm:prSet phldrT="[Text]" custT="1"/>
      <dgm:spPr/>
      <dgm:t>
        <a:bodyPr/>
        <a:lstStyle/>
        <a:p>
          <a:r>
            <a:rPr lang="en-US" sz="1300" b="1" dirty="0"/>
            <a:t>5. Improve through experimentation</a:t>
          </a:r>
        </a:p>
      </dgm:t>
    </dgm:pt>
    <dgm:pt modelId="{45842A6C-95BE-4A8F-8E86-17DC376191BE}" type="parTrans" cxnId="{24DCA280-4924-4681-ACEC-C98E0A482DB9}">
      <dgm:prSet/>
      <dgm:spPr/>
      <dgm:t>
        <a:bodyPr/>
        <a:lstStyle/>
        <a:p>
          <a:endParaRPr lang="en-US" sz="1000"/>
        </a:p>
      </dgm:t>
    </dgm:pt>
    <dgm:pt modelId="{DDEDE077-E71F-41D6-9C34-BF7C23F1AE8D}" type="sibTrans" cxnId="{24DCA280-4924-4681-ACEC-C98E0A482DB9}">
      <dgm:prSet/>
      <dgm:spPr/>
      <dgm:t>
        <a:bodyPr/>
        <a:lstStyle/>
        <a:p>
          <a:endParaRPr lang="en-US" sz="1000"/>
        </a:p>
      </dgm:t>
    </dgm:pt>
    <dgm:pt modelId="{024C5E48-029F-4E7F-BFB2-A733EAAEF87D}">
      <dgm:prSet phldrT="[Text]" custT="1"/>
      <dgm:spPr/>
      <dgm:t>
        <a:bodyPr/>
        <a:lstStyle/>
        <a:p>
          <a:r>
            <a:rPr lang="en-US" sz="1300" dirty="0"/>
            <a:t>Hyperparameter tunning : Learning rate, batch size, etc.</a:t>
          </a:r>
        </a:p>
      </dgm:t>
    </dgm:pt>
    <dgm:pt modelId="{EA62C87F-F062-4405-B1DD-2627D92E1781}" type="parTrans" cxnId="{C41EA932-E7D3-4766-8401-DE43E0418645}">
      <dgm:prSet/>
      <dgm:spPr/>
      <dgm:t>
        <a:bodyPr/>
        <a:lstStyle/>
        <a:p>
          <a:endParaRPr lang="en-US" sz="1000"/>
        </a:p>
      </dgm:t>
    </dgm:pt>
    <dgm:pt modelId="{1416E335-9D2B-4692-BD3C-6DFF229BB237}" type="sibTrans" cxnId="{C41EA932-E7D3-4766-8401-DE43E0418645}">
      <dgm:prSet/>
      <dgm:spPr/>
      <dgm:t>
        <a:bodyPr/>
        <a:lstStyle/>
        <a:p>
          <a:endParaRPr lang="en-US" sz="1000"/>
        </a:p>
      </dgm:t>
    </dgm:pt>
    <dgm:pt modelId="{AAEC768F-45EF-4BB0-8DD4-88715E80A37A}">
      <dgm:prSet phldrT="[Text]" custT="1"/>
      <dgm:spPr/>
      <dgm:t>
        <a:bodyPr/>
        <a:lstStyle/>
        <a:p>
          <a:r>
            <a:rPr lang="en-US" sz="1300" b="1" dirty="0"/>
            <a:t>6. Save and reload the model</a:t>
          </a:r>
        </a:p>
      </dgm:t>
    </dgm:pt>
    <dgm:pt modelId="{413258DF-1264-4DD7-B943-5F4FE297DFEA}" type="parTrans" cxnId="{E78C1409-712A-4BA8-8ED1-59539238C0BB}">
      <dgm:prSet/>
      <dgm:spPr/>
      <dgm:t>
        <a:bodyPr/>
        <a:lstStyle/>
        <a:p>
          <a:endParaRPr lang="en-US" sz="1000"/>
        </a:p>
      </dgm:t>
    </dgm:pt>
    <dgm:pt modelId="{E6AE7DDF-90DC-468D-9B06-BDB07699253E}" type="sibTrans" cxnId="{E78C1409-712A-4BA8-8ED1-59539238C0BB}">
      <dgm:prSet/>
      <dgm:spPr/>
      <dgm:t>
        <a:bodyPr/>
        <a:lstStyle/>
        <a:p>
          <a:endParaRPr lang="en-US" sz="1000"/>
        </a:p>
      </dgm:t>
    </dgm:pt>
    <dgm:pt modelId="{75C0D7BD-755F-4664-A05C-87AB9169EBBD}">
      <dgm:prSet phldrT="[Text]" custT="1"/>
      <dgm:spPr/>
      <dgm:t>
        <a:bodyPr/>
        <a:lstStyle/>
        <a:p>
          <a:r>
            <a:rPr lang="en-US" sz="1300" dirty="0"/>
            <a:t>Choose the model with lowest MSE</a:t>
          </a:r>
        </a:p>
      </dgm:t>
    </dgm:pt>
    <dgm:pt modelId="{62AC54C3-047B-4414-905E-17597DF73F71}" type="parTrans" cxnId="{BEBDA9CF-EACF-4C71-A137-5B026D68E1DE}">
      <dgm:prSet/>
      <dgm:spPr/>
      <dgm:t>
        <a:bodyPr/>
        <a:lstStyle/>
        <a:p>
          <a:endParaRPr lang="en-US" sz="1000"/>
        </a:p>
      </dgm:t>
    </dgm:pt>
    <dgm:pt modelId="{FA398E30-1ED9-4896-BD6A-A7871A91F489}" type="sibTrans" cxnId="{BEBDA9CF-EACF-4C71-A137-5B026D68E1DE}">
      <dgm:prSet/>
      <dgm:spPr/>
      <dgm:t>
        <a:bodyPr/>
        <a:lstStyle/>
        <a:p>
          <a:endParaRPr lang="en-US" sz="1000"/>
        </a:p>
      </dgm:t>
    </dgm:pt>
    <dgm:pt modelId="{3BC55B81-29CB-4059-B73A-51B15422A411}">
      <dgm:prSet phldrT="[Text]" custT="1"/>
      <dgm:spPr/>
      <dgm:t>
        <a:bodyPr/>
        <a:lstStyle/>
        <a:p>
          <a:r>
            <a:rPr lang="en-US" sz="1300" dirty="0"/>
            <a:t>MSE</a:t>
          </a:r>
        </a:p>
      </dgm:t>
    </dgm:pt>
    <dgm:pt modelId="{0C11BE75-B375-4174-8FFD-27806B2CF1C4}" type="parTrans" cxnId="{945BF87E-0E29-4F38-BED0-692C64A79B39}">
      <dgm:prSet/>
      <dgm:spPr/>
      <dgm:t>
        <a:bodyPr/>
        <a:lstStyle/>
        <a:p>
          <a:endParaRPr lang="en-US"/>
        </a:p>
      </dgm:t>
    </dgm:pt>
    <dgm:pt modelId="{E5A36493-F503-48B1-9E6F-666D10E3F0CA}" type="sibTrans" cxnId="{945BF87E-0E29-4F38-BED0-692C64A79B39}">
      <dgm:prSet/>
      <dgm:spPr/>
      <dgm:t>
        <a:bodyPr/>
        <a:lstStyle/>
        <a:p>
          <a:endParaRPr lang="en-US"/>
        </a:p>
      </dgm:t>
    </dgm:pt>
    <dgm:pt modelId="{1F4606E5-1A2E-4FEC-AAF9-4657EF2E8845}" type="pres">
      <dgm:prSet presAssocID="{EC471626-42A2-4532-AC51-C7221C3DB90A}" presName="Name0" presStyleCnt="0">
        <dgm:presLayoutVars>
          <dgm:dir/>
          <dgm:resizeHandles val="exact"/>
        </dgm:presLayoutVars>
      </dgm:prSet>
      <dgm:spPr/>
    </dgm:pt>
    <dgm:pt modelId="{03A23475-7149-4288-9BB1-666199AEE066}" type="pres">
      <dgm:prSet presAssocID="{1861FAA1-C0E7-4CAD-90D1-14335B8CB422}" presName="composite" presStyleCnt="0"/>
      <dgm:spPr/>
    </dgm:pt>
    <dgm:pt modelId="{336FD389-E0F2-49DD-9E8C-0AE23A953F0D}" type="pres">
      <dgm:prSet presAssocID="{1861FAA1-C0E7-4CAD-90D1-14335B8CB422}" presName="bgChev" presStyleLbl="node1" presStyleIdx="0" presStyleCnt="6" custLinFactNeighborY="6016"/>
      <dgm:spPr/>
    </dgm:pt>
    <dgm:pt modelId="{C9D066D8-5EFA-41B7-BF4E-4364EE1378E5}" type="pres">
      <dgm:prSet presAssocID="{1861FAA1-C0E7-4CAD-90D1-14335B8CB422}" presName="txNode" presStyleLbl="fgAcc1" presStyleIdx="0" presStyleCnt="6" custScaleX="138019" custScaleY="185941" custLinFactNeighborX="-12769" custLinFactNeighborY="96318">
        <dgm:presLayoutVars>
          <dgm:bulletEnabled val="1"/>
        </dgm:presLayoutVars>
      </dgm:prSet>
      <dgm:spPr/>
    </dgm:pt>
    <dgm:pt modelId="{A8E4640E-11B1-46AC-95D2-606434EC80A3}" type="pres">
      <dgm:prSet presAssocID="{097546BB-4081-46E0-AE47-3C621E5AAEE8}" presName="compositeSpace" presStyleCnt="0"/>
      <dgm:spPr/>
    </dgm:pt>
    <dgm:pt modelId="{EFCEA751-80A9-4FB0-A833-8EF303FEF555}" type="pres">
      <dgm:prSet presAssocID="{A40C2235-4AE6-4C16-8091-7F6878358B73}" presName="composite" presStyleCnt="0"/>
      <dgm:spPr/>
    </dgm:pt>
    <dgm:pt modelId="{6B12F65A-07E9-4363-9BF1-81401740F56F}" type="pres">
      <dgm:prSet presAssocID="{A40C2235-4AE6-4C16-8091-7F6878358B73}" presName="bgChev" presStyleLbl="node1" presStyleIdx="1" presStyleCnt="6" custLinFactNeighborY="10528"/>
      <dgm:spPr/>
    </dgm:pt>
    <dgm:pt modelId="{2B311CE4-B382-4684-AE68-7EFFB6BB02AC}" type="pres">
      <dgm:prSet presAssocID="{A40C2235-4AE6-4C16-8091-7F6878358B73}" presName="txNode" presStyleLbl="fgAcc1" presStyleIdx="1" presStyleCnt="6" custScaleX="124031" custScaleY="349196" custLinFactY="53617" custLinFactNeighborX="-9809" custLinFactNeighborY="100000">
        <dgm:presLayoutVars>
          <dgm:bulletEnabled val="1"/>
        </dgm:presLayoutVars>
      </dgm:prSet>
      <dgm:spPr/>
    </dgm:pt>
    <dgm:pt modelId="{D5F46892-0A21-4ADD-967C-6DD2F5FF4C8B}" type="pres">
      <dgm:prSet presAssocID="{40FEC375-AAF0-4EA4-A70E-360FA755BFD5}" presName="compositeSpace" presStyleCnt="0"/>
      <dgm:spPr/>
    </dgm:pt>
    <dgm:pt modelId="{B1BF5F52-538A-4F97-AD64-F2DD4F9816C7}" type="pres">
      <dgm:prSet presAssocID="{41239FAE-3068-4FD1-A462-B78EE83E7616}" presName="composite" presStyleCnt="0"/>
      <dgm:spPr/>
    </dgm:pt>
    <dgm:pt modelId="{8155188C-D8AC-4CC6-92C8-B609086CAFF0}" type="pres">
      <dgm:prSet presAssocID="{41239FAE-3068-4FD1-A462-B78EE83E7616}" presName="bgChev" presStyleLbl="node1" presStyleIdx="2" presStyleCnt="6" custLinFactNeighborY="15039"/>
      <dgm:spPr/>
    </dgm:pt>
    <dgm:pt modelId="{CA334D6D-C0C4-4E30-8FD6-325505D34E2D}" type="pres">
      <dgm:prSet presAssocID="{41239FAE-3068-4FD1-A462-B78EE83E7616}" presName="txNode" presStyleLbl="fgAcc1" presStyleIdx="2" presStyleCnt="6" custScaleX="124031" custScaleY="165977" custLinFactNeighborX="-2837" custLinFactNeighborY="96281">
        <dgm:presLayoutVars>
          <dgm:bulletEnabled val="1"/>
        </dgm:presLayoutVars>
      </dgm:prSet>
      <dgm:spPr/>
    </dgm:pt>
    <dgm:pt modelId="{019D75BF-2CFB-4E51-8458-DC5FE6618DCF}" type="pres">
      <dgm:prSet presAssocID="{996FAAF1-5900-4B41-8BF2-7ECA8607CCDD}" presName="compositeSpace" presStyleCnt="0"/>
      <dgm:spPr/>
    </dgm:pt>
    <dgm:pt modelId="{0B4ADBBF-7DA1-40F7-A7F5-FA4A1BE2120F}" type="pres">
      <dgm:prSet presAssocID="{89AF52CD-3695-4C6A-AF48-7136168021D7}" presName="composite" presStyleCnt="0"/>
      <dgm:spPr/>
    </dgm:pt>
    <dgm:pt modelId="{71EE243F-AD03-4960-BDBB-2648CEB43930}" type="pres">
      <dgm:prSet presAssocID="{89AF52CD-3695-4C6A-AF48-7136168021D7}" presName="bgChev" presStyleLbl="node1" presStyleIdx="3" presStyleCnt="6" custLinFactNeighborY="12032"/>
      <dgm:spPr/>
    </dgm:pt>
    <dgm:pt modelId="{4396EB15-55B1-4F00-ADE1-5571E3DC27DC}" type="pres">
      <dgm:prSet presAssocID="{89AF52CD-3695-4C6A-AF48-7136168021D7}" presName="txNode" presStyleLbl="fgAcc1" presStyleIdx="3" presStyleCnt="6" custScaleX="124031" custScaleY="271054" custLinFactY="43406" custLinFactNeighborY="100000">
        <dgm:presLayoutVars>
          <dgm:bulletEnabled val="1"/>
        </dgm:presLayoutVars>
      </dgm:prSet>
      <dgm:spPr/>
    </dgm:pt>
    <dgm:pt modelId="{48611C1A-A22C-4DBF-BCD3-396108854291}" type="pres">
      <dgm:prSet presAssocID="{F740A889-B5AD-4928-B575-9C50A32C434D}" presName="compositeSpace" presStyleCnt="0"/>
      <dgm:spPr/>
    </dgm:pt>
    <dgm:pt modelId="{59B0D964-7EC8-4CB9-8808-4B3BCF28DC9D}" type="pres">
      <dgm:prSet presAssocID="{5FF46758-B449-4134-940E-A9BEA7008A46}" presName="composite" presStyleCnt="0"/>
      <dgm:spPr/>
    </dgm:pt>
    <dgm:pt modelId="{BBE83B6E-446B-4C03-AF67-1E32CEAE9D41}" type="pres">
      <dgm:prSet presAssocID="{5FF46758-B449-4134-940E-A9BEA7008A46}" presName="bgChev" presStyleLbl="node1" presStyleIdx="4" presStyleCnt="6" custLinFactNeighborY="13536"/>
      <dgm:spPr/>
    </dgm:pt>
    <dgm:pt modelId="{D6872E40-54A2-418A-B1FD-1329CBFBE8A2}" type="pres">
      <dgm:prSet presAssocID="{5FF46758-B449-4134-940E-A9BEA7008A46}" presName="txNode" presStyleLbl="fgAcc1" presStyleIdx="4" presStyleCnt="6" custScaleX="136823" custScaleY="323288" custLinFactY="66571" custLinFactNeighborX="-2480" custLinFactNeighborY="100000">
        <dgm:presLayoutVars>
          <dgm:bulletEnabled val="1"/>
        </dgm:presLayoutVars>
      </dgm:prSet>
      <dgm:spPr/>
    </dgm:pt>
    <dgm:pt modelId="{15F3FA40-F5DA-4CED-A9DA-A9182B8CFDA7}" type="pres">
      <dgm:prSet presAssocID="{DDEDE077-E71F-41D6-9C34-BF7C23F1AE8D}" presName="compositeSpace" presStyleCnt="0"/>
      <dgm:spPr/>
    </dgm:pt>
    <dgm:pt modelId="{13216CDF-9ECB-422F-A728-ACC676BB15B6}" type="pres">
      <dgm:prSet presAssocID="{AAEC768F-45EF-4BB0-8DD4-88715E80A37A}" presName="composite" presStyleCnt="0"/>
      <dgm:spPr/>
    </dgm:pt>
    <dgm:pt modelId="{93CB1F9E-AFB9-4B8B-AD1A-A4E3684406D4}" type="pres">
      <dgm:prSet presAssocID="{AAEC768F-45EF-4BB0-8DD4-88715E80A37A}" presName="bgChev" presStyleLbl="node1" presStyleIdx="5" presStyleCnt="6" custLinFactNeighborY="13536"/>
      <dgm:spPr/>
    </dgm:pt>
    <dgm:pt modelId="{C6FE6A0D-B633-49E5-A78C-ADDEFAEEF287}" type="pres">
      <dgm:prSet presAssocID="{AAEC768F-45EF-4BB0-8DD4-88715E80A37A}" presName="txNode" presStyleLbl="fgAcc1" presStyleIdx="5" presStyleCnt="6" custScaleX="124031" custScaleY="317758" custLinFactY="100000" custLinFactNeighborX="36162" custLinFactNeighborY="116586">
        <dgm:presLayoutVars>
          <dgm:bulletEnabled val="1"/>
        </dgm:presLayoutVars>
      </dgm:prSet>
      <dgm:spPr/>
    </dgm:pt>
  </dgm:ptLst>
  <dgm:cxnLst>
    <dgm:cxn modelId="{CE91E800-86F9-4850-A2B5-E1489A401989}" srcId="{EC471626-42A2-4532-AC51-C7221C3DB90A}" destId="{41239FAE-3068-4FD1-A462-B78EE83E7616}" srcOrd="2" destOrd="0" parTransId="{227D31BC-F431-4BC3-A967-62EE55514EDE}" sibTransId="{996FAAF1-5900-4B41-8BF2-7ECA8607CCDD}"/>
    <dgm:cxn modelId="{9A2BA706-A360-4683-8699-E6980DE63F4C}" type="presOf" srcId="{EC471626-42A2-4532-AC51-C7221C3DB90A}" destId="{1F4606E5-1A2E-4FEC-AAF9-4657EF2E8845}" srcOrd="0" destOrd="0" presId="urn:microsoft.com/office/officeart/2005/8/layout/chevronAccent+Icon"/>
    <dgm:cxn modelId="{E78C1409-712A-4BA8-8ED1-59539238C0BB}" srcId="{EC471626-42A2-4532-AC51-C7221C3DB90A}" destId="{AAEC768F-45EF-4BB0-8DD4-88715E80A37A}" srcOrd="5" destOrd="0" parTransId="{413258DF-1264-4DD7-B943-5F4FE297DFEA}" sibTransId="{E6AE7DDF-90DC-468D-9B06-BDB07699253E}"/>
    <dgm:cxn modelId="{A42F900D-B17D-40CE-870A-99D57B316B65}" srcId="{EC471626-42A2-4532-AC51-C7221C3DB90A}" destId="{A40C2235-4AE6-4C16-8091-7F6878358B73}" srcOrd="1" destOrd="0" parTransId="{19C98AB4-9565-457C-9A6B-086F9C54AFAB}" sibTransId="{40FEC375-AAF0-4EA4-A70E-360FA755BFD5}"/>
    <dgm:cxn modelId="{0CB87214-5308-4C6B-A930-155AC288BC3A}" type="presOf" srcId="{A40C2235-4AE6-4C16-8091-7F6878358B73}" destId="{2B311CE4-B382-4684-AE68-7EFFB6BB02AC}" srcOrd="0" destOrd="0" presId="urn:microsoft.com/office/officeart/2005/8/layout/chevronAccent+Icon"/>
    <dgm:cxn modelId="{1CBFFD1B-C977-4C79-972A-EDB6BA28BB3C}" type="presOf" srcId="{037E5C73-7D1C-4767-80CB-DF4023530D32}" destId="{C9D066D8-5EFA-41B7-BF4E-4364EE1378E5}" srcOrd="0" destOrd="1" presId="urn:microsoft.com/office/officeart/2005/8/layout/chevronAccent+Icon"/>
    <dgm:cxn modelId="{2479951E-6712-4DA6-AE9B-E766F4A121D7}" type="presOf" srcId="{3BC55B81-29CB-4059-B73A-51B15422A411}" destId="{4396EB15-55B1-4F00-ADE1-5571E3DC27DC}" srcOrd="0" destOrd="3" presId="urn:microsoft.com/office/officeart/2005/8/layout/chevronAccent+Icon"/>
    <dgm:cxn modelId="{6649A020-3CB7-48C6-9FC8-BC9E3305D21D}" type="presOf" srcId="{484A2F4E-68DF-4809-9677-BFB2CD7D7360}" destId="{2B311CE4-B382-4684-AE68-7EFFB6BB02AC}" srcOrd="0" destOrd="3" presId="urn:microsoft.com/office/officeart/2005/8/layout/chevronAccent+Icon"/>
    <dgm:cxn modelId="{DEC20D22-9A7F-45EB-9141-7FD852C84419}" srcId="{EC471626-42A2-4532-AC51-C7221C3DB90A}" destId="{1861FAA1-C0E7-4CAD-90D1-14335B8CB422}" srcOrd="0" destOrd="0" parTransId="{C5E69026-829C-483C-8C10-CDE3FC3C5866}" sibTransId="{097546BB-4081-46E0-AE47-3C621E5AAEE8}"/>
    <dgm:cxn modelId="{C41EA932-E7D3-4766-8401-DE43E0418645}" srcId="{5FF46758-B449-4134-940E-A9BEA7008A46}" destId="{024C5E48-029F-4E7F-BFB2-A733EAAEF87D}" srcOrd="0" destOrd="0" parTransId="{EA62C87F-F062-4405-B1DD-2627D92E1781}" sibTransId="{1416E335-9D2B-4692-BD3C-6DFF229BB237}"/>
    <dgm:cxn modelId="{9163D83C-22EC-429A-8A5A-0499BA2E2852}" srcId="{41239FAE-3068-4FD1-A462-B78EE83E7616}" destId="{B5B44FAB-7121-4BBC-8E57-4BEEB11E8E73}" srcOrd="0" destOrd="0" parTransId="{52077785-7415-4279-AF6B-05F905B50871}" sibTransId="{D67FF66A-A507-48F8-AF6A-C8FE8E5ECB26}"/>
    <dgm:cxn modelId="{8E9F163D-0CDF-4F8E-B277-8D0B923EA7C1}" type="presOf" srcId="{A129C486-782F-4CAE-9EF9-92A399AB024A}" destId="{C9D066D8-5EFA-41B7-BF4E-4364EE1378E5}" srcOrd="0" destOrd="3" presId="urn:microsoft.com/office/officeart/2005/8/layout/chevronAccent+Icon"/>
    <dgm:cxn modelId="{3DA14D40-D517-4203-9900-950FE58CBF51}" type="presOf" srcId="{5FF46758-B449-4134-940E-A9BEA7008A46}" destId="{D6872E40-54A2-418A-B1FD-1329CBFBE8A2}" srcOrd="0" destOrd="0" presId="urn:microsoft.com/office/officeart/2005/8/layout/chevronAccent+Icon"/>
    <dgm:cxn modelId="{8179585B-9BA1-47FF-8B91-CCD2CAA529D4}" type="presOf" srcId="{89AF52CD-3695-4C6A-AF48-7136168021D7}" destId="{4396EB15-55B1-4F00-ADE1-5571E3DC27DC}" srcOrd="0" destOrd="0" presId="urn:microsoft.com/office/officeart/2005/8/layout/chevronAccent+Icon"/>
    <dgm:cxn modelId="{9536F05F-493A-4CC3-B9ED-1674C60149D6}" srcId="{1861FAA1-C0E7-4CAD-90D1-14335B8CB422}" destId="{838B9AC0-2087-41C4-A925-0ACA987BB408}" srcOrd="1" destOrd="0" parTransId="{BE000D9A-6DD6-4F27-A23A-9F3DB7815866}" sibTransId="{821566BB-E967-4F13-AE46-1C8FE5B779A5}"/>
    <dgm:cxn modelId="{749D814F-4D55-4BBF-91B0-1D1529222C9C}" srcId="{EC471626-42A2-4532-AC51-C7221C3DB90A}" destId="{89AF52CD-3695-4C6A-AF48-7136168021D7}" srcOrd="3" destOrd="0" parTransId="{EB04699B-85B8-4323-9917-8B94F25CC781}" sibTransId="{F740A889-B5AD-4928-B575-9C50A32C434D}"/>
    <dgm:cxn modelId="{891F0378-8B18-4BA2-9D7D-42FAFD3BE21C}" type="presOf" srcId="{1861FAA1-C0E7-4CAD-90D1-14335B8CB422}" destId="{C9D066D8-5EFA-41B7-BF4E-4364EE1378E5}" srcOrd="0" destOrd="0" presId="urn:microsoft.com/office/officeart/2005/8/layout/chevronAccent+Icon"/>
    <dgm:cxn modelId="{945BF87E-0E29-4F38-BED0-692C64A79B39}" srcId="{89AF52CD-3695-4C6A-AF48-7136168021D7}" destId="{3BC55B81-29CB-4059-B73A-51B15422A411}" srcOrd="2" destOrd="0" parTransId="{0C11BE75-B375-4174-8FFD-27806B2CF1C4}" sibTransId="{E5A36493-F503-48B1-9E6F-666D10E3F0CA}"/>
    <dgm:cxn modelId="{24DCA280-4924-4681-ACEC-C98E0A482DB9}" srcId="{EC471626-42A2-4532-AC51-C7221C3DB90A}" destId="{5FF46758-B449-4134-940E-A9BEA7008A46}" srcOrd="4" destOrd="0" parTransId="{45842A6C-95BE-4A8F-8E86-17DC376191BE}" sibTransId="{DDEDE077-E71F-41D6-9C34-BF7C23F1AE8D}"/>
    <dgm:cxn modelId="{EDD0C680-2468-47EE-A8FF-B004046F37F0}" type="presOf" srcId="{933A32BE-7A2F-417B-BE4C-C6AD0231CF83}" destId="{2B311CE4-B382-4684-AE68-7EFFB6BB02AC}" srcOrd="0" destOrd="4" presId="urn:microsoft.com/office/officeart/2005/8/layout/chevronAccent+Icon"/>
    <dgm:cxn modelId="{0D23ED86-0C0D-4CF8-A3DA-B83A080CC4AF}" type="presOf" srcId="{B5B44FAB-7121-4BBC-8E57-4BEEB11E8E73}" destId="{CA334D6D-C0C4-4E30-8FD6-325505D34E2D}" srcOrd="0" destOrd="1" presId="urn:microsoft.com/office/officeart/2005/8/layout/chevronAccent+Icon"/>
    <dgm:cxn modelId="{91B17D8A-43CF-4B53-AF4D-40F5112BF3C3}" srcId="{A40C2235-4AE6-4C16-8091-7F6878358B73}" destId="{0FB29472-CB8A-4FBD-B2FF-F381C6952288}" srcOrd="1" destOrd="0" parTransId="{DE016FC8-175A-4F6D-A7D5-55172E66593A}" sibTransId="{05CCE4F4-40F9-4668-98A3-7E6CA1305EDA}"/>
    <dgm:cxn modelId="{9A205F8D-7930-4874-BC83-C7F30A7365D2}" type="presOf" srcId="{75C0D7BD-755F-4664-A05C-87AB9169EBBD}" destId="{C6FE6A0D-B633-49E5-A78C-ADDEFAEEF287}" srcOrd="0" destOrd="1" presId="urn:microsoft.com/office/officeart/2005/8/layout/chevronAccent+Icon"/>
    <dgm:cxn modelId="{5A2A428D-A910-48AF-AA35-7EA708FA23D3}" type="presOf" srcId="{0FB29472-CB8A-4FBD-B2FF-F381C6952288}" destId="{2B311CE4-B382-4684-AE68-7EFFB6BB02AC}" srcOrd="0" destOrd="2" presId="urn:microsoft.com/office/officeart/2005/8/layout/chevronAccent+Icon"/>
    <dgm:cxn modelId="{E6BFDC93-FDB3-4B55-89D5-AD76D36136CF}" srcId="{89AF52CD-3695-4C6A-AF48-7136168021D7}" destId="{EF88BE4E-C7D5-451F-9021-BB877CDA48C7}" srcOrd="1" destOrd="0" parTransId="{3766E027-1C28-4FC8-9C92-CAFDC1B70B36}" sibTransId="{EBA0A089-F8B0-4422-911C-44D71B93B9DC}"/>
    <dgm:cxn modelId="{E6E53597-6B36-49E9-AAAC-31C281D603CD}" type="presOf" srcId="{AAEC768F-45EF-4BB0-8DD4-88715E80A37A}" destId="{C6FE6A0D-B633-49E5-A78C-ADDEFAEEF287}" srcOrd="0" destOrd="0" presId="urn:microsoft.com/office/officeart/2005/8/layout/chevronAccent+Icon"/>
    <dgm:cxn modelId="{D019D79B-54E4-4840-A75C-24E3064BF4FB}" type="presOf" srcId="{EF88BE4E-C7D5-451F-9021-BB877CDA48C7}" destId="{4396EB15-55B1-4F00-ADE1-5571E3DC27DC}" srcOrd="0" destOrd="2" presId="urn:microsoft.com/office/officeart/2005/8/layout/chevronAccent+Icon"/>
    <dgm:cxn modelId="{77E70C9C-919A-4AC9-ABBF-161D6E4DE2B6}" srcId="{A40C2235-4AE6-4C16-8091-7F6878358B73}" destId="{E4FA9801-180E-43B8-85D1-C04DDB3D5FD9}" srcOrd="0" destOrd="0" parTransId="{761C4FE9-0A95-4579-AC91-9CE6502CD668}" sibTransId="{A4382F34-2238-44A3-A4CA-653FD53BC61F}"/>
    <dgm:cxn modelId="{95416FB5-AB07-4B03-B489-5A5AD5F216B7}" srcId="{A40C2235-4AE6-4C16-8091-7F6878358B73}" destId="{933A32BE-7A2F-417B-BE4C-C6AD0231CF83}" srcOrd="3" destOrd="0" parTransId="{ABC89E8B-D827-43ED-A3CF-8A03C91EE8FF}" sibTransId="{6F9A75CE-A7DA-43DA-ACFA-7354D2F499AA}"/>
    <dgm:cxn modelId="{DBC38EBF-C132-4478-916F-27B6D11D32A4}" type="presOf" srcId="{838B9AC0-2087-41C4-A925-0ACA987BB408}" destId="{C9D066D8-5EFA-41B7-BF4E-4364EE1378E5}" srcOrd="0" destOrd="2" presId="urn:microsoft.com/office/officeart/2005/8/layout/chevronAccent+Icon"/>
    <dgm:cxn modelId="{D3A31DC6-4199-4FDF-976D-49A188659EBA}" type="presOf" srcId="{41239FAE-3068-4FD1-A462-B78EE83E7616}" destId="{CA334D6D-C0C4-4E30-8FD6-325505D34E2D}" srcOrd="0" destOrd="0" presId="urn:microsoft.com/office/officeart/2005/8/layout/chevronAccent+Icon"/>
    <dgm:cxn modelId="{5A000BCC-7D54-477C-B5CB-987ED290D01F}" type="presOf" srcId="{0AB1BA7D-E281-4E6B-B428-192D547144FF}" destId="{4396EB15-55B1-4F00-ADE1-5571E3DC27DC}" srcOrd="0" destOrd="1" presId="urn:microsoft.com/office/officeart/2005/8/layout/chevronAccent+Icon"/>
    <dgm:cxn modelId="{BEBDA9CF-EACF-4C71-A137-5B026D68E1DE}" srcId="{AAEC768F-45EF-4BB0-8DD4-88715E80A37A}" destId="{75C0D7BD-755F-4664-A05C-87AB9169EBBD}" srcOrd="0" destOrd="0" parTransId="{62AC54C3-047B-4414-905E-17597DF73F71}" sibTransId="{FA398E30-1ED9-4896-BD6A-A7871A91F489}"/>
    <dgm:cxn modelId="{01985CE3-3A6B-40CC-A924-BAABBF4FE93E}" srcId="{89AF52CD-3695-4C6A-AF48-7136168021D7}" destId="{0AB1BA7D-E281-4E6B-B428-192D547144FF}" srcOrd="0" destOrd="0" parTransId="{5F485A28-246A-497C-865A-556AB29CD297}" sibTransId="{5479E01F-5A9E-49D2-9E96-C2A03287C2B3}"/>
    <dgm:cxn modelId="{166E22E8-5925-46B0-A23D-56E71CEEF253}" srcId="{A40C2235-4AE6-4C16-8091-7F6878358B73}" destId="{484A2F4E-68DF-4809-9677-BFB2CD7D7360}" srcOrd="2" destOrd="0" parTransId="{BB0C439F-8E2B-4630-A8E7-DC407287F556}" sibTransId="{5CD070F2-4B98-4A95-9018-D454A27A7532}"/>
    <dgm:cxn modelId="{118792E9-8D00-426E-80E1-C9182176E02B}" type="presOf" srcId="{E4FA9801-180E-43B8-85D1-C04DDB3D5FD9}" destId="{2B311CE4-B382-4684-AE68-7EFFB6BB02AC}" srcOrd="0" destOrd="1" presId="urn:microsoft.com/office/officeart/2005/8/layout/chevronAccent+Icon"/>
    <dgm:cxn modelId="{923BE9EC-4DD4-4C65-9F1B-5F24423D43C7}" srcId="{1861FAA1-C0E7-4CAD-90D1-14335B8CB422}" destId="{A129C486-782F-4CAE-9EF9-92A399AB024A}" srcOrd="2" destOrd="0" parTransId="{9A2B8BE5-06C0-44F5-AC29-2E11D281CB6F}" sibTransId="{885B82E6-6744-4EB1-9EAC-5FF7CE73DA35}"/>
    <dgm:cxn modelId="{C45ECCF1-C130-4A45-BF84-4FFE882A55CC}" type="presOf" srcId="{024C5E48-029F-4E7F-BFB2-A733EAAEF87D}" destId="{D6872E40-54A2-418A-B1FD-1329CBFBE8A2}" srcOrd="0" destOrd="1" presId="urn:microsoft.com/office/officeart/2005/8/layout/chevronAccent+Icon"/>
    <dgm:cxn modelId="{67A623F6-E591-49C3-8A35-C9A498B189FB}" srcId="{1861FAA1-C0E7-4CAD-90D1-14335B8CB422}" destId="{037E5C73-7D1C-4767-80CB-DF4023530D32}" srcOrd="0" destOrd="0" parTransId="{3AD67AD8-F300-470F-B53F-40350B641685}" sibTransId="{1693E5EC-C4B8-4D58-B7E0-0E8A71C65FEA}"/>
    <dgm:cxn modelId="{080A7EF7-2E7F-4C0A-8211-D03EAF730467}" type="presParOf" srcId="{1F4606E5-1A2E-4FEC-AAF9-4657EF2E8845}" destId="{03A23475-7149-4288-9BB1-666199AEE066}" srcOrd="0" destOrd="0" presId="urn:microsoft.com/office/officeart/2005/8/layout/chevronAccent+Icon"/>
    <dgm:cxn modelId="{F57DB901-4BA3-4F79-BE79-488FD04FCA17}" type="presParOf" srcId="{03A23475-7149-4288-9BB1-666199AEE066}" destId="{336FD389-E0F2-49DD-9E8C-0AE23A953F0D}" srcOrd="0" destOrd="0" presId="urn:microsoft.com/office/officeart/2005/8/layout/chevronAccent+Icon"/>
    <dgm:cxn modelId="{3A655784-B7E2-4F58-90DD-1BB3AF68686E}" type="presParOf" srcId="{03A23475-7149-4288-9BB1-666199AEE066}" destId="{C9D066D8-5EFA-41B7-BF4E-4364EE1378E5}" srcOrd="1" destOrd="0" presId="urn:microsoft.com/office/officeart/2005/8/layout/chevronAccent+Icon"/>
    <dgm:cxn modelId="{56C1977E-18CD-442A-AD3D-5C67CBDA876D}" type="presParOf" srcId="{1F4606E5-1A2E-4FEC-AAF9-4657EF2E8845}" destId="{A8E4640E-11B1-46AC-95D2-606434EC80A3}" srcOrd="1" destOrd="0" presId="urn:microsoft.com/office/officeart/2005/8/layout/chevronAccent+Icon"/>
    <dgm:cxn modelId="{40B9F3E1-7D90-462A-AEEA-82FBDCEAC2BC}" type="presParOf" srcId="{1F4606E5-1A2E-4FEC-AAF9-4657EF2E8845}" destId="{EFCEA751-80A9-4FB0-A833-8EF303FEF555}" srcOrd="2" destOrd="0" presId="urn:microsoft.com/office/officeart/2005/8/layout/chevronAccent+Icon"/>
    <dgm:cxn modelId="{61D7CA66-51E7-4474-B5B6-55AB833A0D81}" type="presParOf" srcId="{EFCEA751-80A9-4FB0-A833-8EF303FEF555}" destId="{6B12F65A-07E9-4363-9BF1-81401740F56F}" srcOrd="0" destOrd="0" presId="urn:microsoft.com/office/officeart/2005/8/layout/chevronAccent+Icon"/>
    <dgm:cxn modelId="{22CAE933-7D28-40B2-A9A6-C6CBF422D89A}" type="presParOf" srcId="{EFCEA751-80A9-4FB0-A833-8EF303FEF555}" destId="{2B311CE4-B382-4684-AE68-7EFFB6BB02AC}" srcOrd="1" destOrd="0" presId="urn:microsoft.com/office/officeart/2005/8/layout/chevronAccent+Icon"/>
    <dgm:cxn modelId="{51C277D6-EBCD-44B2-91BE-D5C736371E23}" type="presParOf" srcId="{1F4606E5-1A2E-4FEC-AAF9-4657EF2E8845}" destId="{D5F46892-0A21-4ADD-967C-6DD2F5FF4C8B}" srcOrd="3" destOrd="0" presId="urn:microsoft.com/office/officeart/2005/8/layout/chevronAccent+Icon"/>
    <dgm:cxn modelId="{F16EBEFD-F877-41C2-81F2-E74CD94B2EC7}" type="presParOf" srcId="{1F4606E5-1A2E-4FEC-AAF9-4657EF2E8845}" destId="{B1BF5F52-538A-4F97-AD64-F2DD4F9816C7}" srcOrd="4" destOrd="0" presId="urn:microsoft.com/office/officeart/2005/8/layout/chevronAccent+Icon"/>
    <dgm:cxn modelId="{B2452249-D724-43CE-9C49-0B4588A578F2}" type="presParOf" srcId="{B1BF5F52-538A-4F97-AD64-F2DD4F9816C7}" destId="{8155188C-D8AC-4CC6-92C8-B609086CAFF0}" srcOrd="0" destOrd="0" presId="urn:microsoft.com/office/officeart/2005/8/layout/chevronAccent+Icon"/>
    <dgm:cxn modelId="{9BBBC5AC-721D-4336-848A-F1918F2B738B}" type="presParOf" srcId="{B1BF5F52-538A-4F97-AD64-F2DD4F9816C7}" destId="{CA334D6D-C0C4-4E30-8FD6-325505D34E2D}" srcOrd="1" destOrd="0" presId="urn:microsoft.com/office/officeart/2005/8/layout/chevronAccent+Icon"/>
    <dgm:cxn modelId="{122E1243-0957-49BB-A407-96DC375B362C}" type="presParOf" srcId="{1F4606E5-1A2E-4FEC-AAF9-4657EF2E8845}" destId="{019D75BF-2CFB-4E51-8458-DC5FE6618DCF}" srcOrd="5" destOrd="0" presId="urn:microsoft.com/office/officeart/2005/8/layout/chevronAccent+Icon"/>
    <dgm:cxn modelId="{01231EE5-546C-4B17-A64D-AF348C475190}" type="presParOf" srcId="{1F4606E5-1A2E-4FEC-AAF9-4657EF2E8845}" destId="{0B4ADBBF-7DA1-40F7-A7F5-FA4A1BE2120F}" srcOrd="6" destOrd="0" presId="urn:microsoft.com/office/officeart/2005/8/layout/chevronAccent+Icon"/>
    <dgm:cxn modelId="{4E3AA437-A873-429E-BD43-785E6E38CB35}" type="presParOf" srcId="{0B4ADBBF-7DA1-40F7-A7F5-FA4A1BE2120F}" destId="{71EE243F-AD03-4960-BDBB-2648CEB43930}" srcOrd="0" destOrd="0" presId="urn:microsoft.com/office/officeart/2005/8/layout/chevronAccent+Icon"/>
    <dgm:cxn modelId="{43A197EA-4C8E-4449-BF3E-FC33173CC345}" type="presParOf" srcId="{0B4ADBBF-7DA1-40F7-A7F5-FA4A1BE2120F}" destId="{4396EB15-55B1-4F00-ADE1-5571E3DC27DC}" srcOrd="1" destOrd="0" presId="urn:microsoft.com/office/officeart/2005/8/layout/chevronAccent+Icon"/>
    <dgm:cxn modelId="{CEBB5A61-2C93-430F-ADB1-62A333CB9F5E}" type="presParOf" srcId="{1F4606E5-1A2E-4FEC-AAF9-4657EF2E8845}" destId="{48611C1A-A22C-4DBF-BCD3-396108854291}" srcOrd="7" destOrd="0" presId="urn:microsoft.com/office/officeart/2005/8/layout/chevronAccent+Icon"/>
    <dgm:cxn modelId="{EBEB2E62-85FB-4148-AD89-667D2C87F4D7}" type="presParOf" srcId="{1F4606E5-1A2E-4FEC-AAF9-4657EF2E8845}" destId="{59B0D964-7EC8-4CB9-8808-4B3BCF28DC9D}" srcOrd="8" destOrd="0" presId="urn:microsoft.com/office/officeart/2005/8/layout/chevronAccent+Icon"/>
    <dgm:cxn modelId="{51A08409-0C5F-46E4-B9C7-4E0E764697D5}" type="presParOf" srcId="{59B0D964-7EC8-4CB9-8808-4B3BCF28DC9D}" destId="{BBE83B6E-446B-4C03-AF67-1E32CEAE9D41}" srcOrd="0" destOrd="0" presId="urn:microsoft.com/office/officeart/2005/8/layout/chevronAccent+Icon"/>
    <dgm:cxn modelId="{6FD85275-F360-4C9F-824B-8A223C2CC4A0}" type="presParOf" srcId="{59B0D964-7EC8-4CB9-8808-4B3BCF28DC9D}" destId="{D6872E40-54A2-418A-B1FD-1329CBFBE8A2}" srcOrd="1" destOrd="0" presId="urn:microsoft.com/office/officeart/2005/8/layout/chevronAccent+Icon"/>
    <dgm:cxn modelId="{C2FD7FCF-58EB-455B-9C56-E2020F0707BC}" type="presParOf" srcId="{1F4606E5-1A2E-4FEC-AAF9-4657EF2E8845}" destId="{15F3FA40-F5DA-4CED-A9DA-A9182B8CFDA7}" srcOrd="9" destOrd="0" presId="urn:microsoft.com/office/officeart/2005/8/layout/chevronAccent+Icon"/>
    <dgm:cxn modelId="{CBBA4B99-9EA3-4B4F-BE60-E7850D562FA9}" type="presParOf" srcId="{1F4606E5-1A2E-4FEC-AAF9-4657EF2E8845}" destId="{13216CDF-9ECB-422F-A728-ACC676BB15B6}" srcOrd="10" destOrd="0" presId="urn:microsoft.com/office/officeart/2005/8/layout/chevronAccent+Icon"/>
    <dgm:cxn modelId="{17409A8E-07AF-4708-BCE0-511BD7AA64FF}" type="presParOf" srcId="{13216CDF-9ECB-422F-A728-ACC676BB15B6}" destId="{93CB1F9E-AFB9-4B8B-AD1A-A4E3684406D4}" srcOrd="0" destOrd="0" presId="urn:microsoft.com/office/officeart/2005/8/layout/chevronAccent+Icon"/>
    <dgm:cxn modelId="{AF3A86E4-0232-4F2C-AB8B-4D67B8BA38C1}" type="presParOf" srcId="{13216CDF-9ECB-422F-A728-ACC676BB15B6}" destId="{C6FE6A0D-B633-49E5-A78C-ADDEFAEEF287}" srcOrd="1" destOrd="0" presId="urn:microsoft.com/office/officeart/2005/8/layout/chevronAccent+Icon"/>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433D4F-8641-4851-9162-534BA1D26AC9}"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US"/>
        </a:p>
      </dgm:t>
    </dgm:pt>
    <dgm:pt modelId="{35FF07F8-0791-4F2A-9908-A30FA4CC0AD2}">
      <dgm:prSet phldrT="[Text]" custT="1"/>
      <dgm:spPr/>
      <dgm:t>
        <a:bodyPr/>
        <a:lstStyle/>
        <a:p>
          <a:r>
            <a:rPr lang="en-US" sz="1200" dirty="0"/>
            <a:t>Train Critic</a:t>
          </a:r>
        </a:p>
      </dgm:t>
    </dgm:pt>
    <dgm:pt modelId="{B2325CF1-3ACE-474A-9D78-AF2001C208FD}" type="parTrans" cxnId="{55E08A94-8E6E-460F-98B0-7877450EF523}">
      <dgm:prSet/>
      <dgm:spPr/>
      <dgm:t>
        <a:bodyPr/>
        <a:lstStyle/>
        <a:p>
          <a:endParaRPr lang="en-US"/>
        </a:p>
      </dgm:t>
    </dgm:pt>
    <dgm:pt modelId="{029ABA6B-FB99-4C2D-811F-4E646479E2EB}" type="sibTrans" cxnId="{55E08A94-8E6E-460F-98B0-7877450EF523}">
      <dgm:prSet/>
      <dgm:spPr/>
      <dgm:t>
        <a:bodyPr/>
        <a:lstStyle/>
        <a:p>
          <a:endParaRPr lang="en-US"/>
        </a:p>
      </dgm:t>
    </dgm:pt>
    <dgm:pt modelId="{78B52376-2EF6-4C2C-A97D-9D8C1A356A83}">
      <dgm:prSet phldrT="[Text]" custT="1"/>
      <dgm:spPr/>
      <dgm:t>
        <a:bodyPr/>
        <a:lstStyle/>
        <a:p>
          <a:r>
            <a:rPr lang="en-US" sz="1200" dirty="0"/>
            <a:t>Train Generator</a:t>
          </a:r>
        </a:p>
      </dgm:t>
    </dgm:pt>
    <dgm:pt modelId="{D2D29FF6-D490-48B7-8A90-CD2C1ACC731D}" type="parTrans" cxnId="{1DC598EE-E8D0-4EE6-A49E-055E3BEE4606}">
      <dgm:prSet/>
      <dgm:spPr/>
      <dgm:t>
        <a:bodyPr/>
        <a:lstStyle/>
        <a:p>
          <a:endParaRPr lang="en-US"/>
        </a:p>
      </dgm:t>
    </dgm:pt>
    <dgm:pt modelId="{2C67099F-B2E7-4BB3-BB38-869EC441EA0F}" type="sibTrans" cxnId="{1DC598EE-E8D0-4EE6-A49E-055E3BEE4606}">
      <dgm:prSet/>
      <dgm:spPr/>
      <dgm:t>
        <a:bodyPr/>
        <a:lstStyle/>
        <a:p>
          <a:endParaRPr lang="en-US"/>
        </a:p>
      </dgm:t>
    </dgm:pt>
    <dgm:pt modelId="{C04DD1A4-20E5-4E4B-A2A9-FB1CC65F3B26}">
      <dgm:prSet phldrT="[Text]" custT="1"/>
      <dgm:spPr/>
      <dgm:t>
        <a:bodyPr/>
        <a:lstStyle/>
        <a:p>
          <a:r>
            <a:rPr lang="en-US" sz="1200" dirty="0"/>
            <a:t>Update Optimizer</a:t>
          </a:r>
        </a:p>
      </dgm:t>
    </dgm:pt>
    <dgm:pt modelId="{3BA19F67-49A9-4004-A6B3-E735BCA797CF}" type="parTrans" cxnId="{5A61A15A-C54F-44EE-A464-78E7C85E88A7}">
      <dgm:prSet/>
      <dgm:spPr/>
      <dgm:t>
        <a:bodyPr/>
        <a:lstStyle/>
        <a:p>
          <a:endParaRPr lang="en-US"/>
        </a:p>
      </dgm:t>
    </dgm:pt>
    <dgm:pt modelId="{8D8A67C5-0927-4E30-B823-4940CC6E17EE}" type="sibTrans" cxnId="{5A61A15A-C54F-44EE-A464-78E7C85E88A7}">
      <dgm:prSet/>
      <dgm:spPr/>
      <dgm:t>
        <a:bodyPr/>
        <a:lstStyle/>
        <a:p>
          <a:endParaRPr lang="en-US"/>
        </a:p>
      </dgm:t>
    </dgm:pt>
    <dgm:pt modelId="{EE518300-F4EC-406C-AD30-41226B1A306E}" type="pres">
      <dgm:prSet presAssocID="{E5433D4F-8641-4851-9162-534BA1D26AC9}" presName="cycle" presStyleCnt="0">
        <dgm:presLayoutVars>
          <dgm:dir/>
          <dgm:resizeHandles val="exact"/>
        </dgm:presLayoutVars>
      </dgm:prSet>
      <dgm:spPr/>
    </dgm:pt>
    <dgm:pt modelId="{2AF8EC04-F316-403C-ADE0-AF8589CF3B9B}" type="pres">
      <dgm:prSet presAssocID="{35FF07F8-0791-4F2A-9908-A30FA4CC0AD2}" presName="dummy" presStyleCnt="0"/>
      <dgm:spPr/>
    </dgm:pt>
    <dgm:pt modelId="{42AC4DC2-DAB6-4BA7-A0EE-B30F9349F30D}" type="pres">
      <dgm:prSet presAssocID="{35FF07F8-0791-4F2A-9908-A30FA4CC0AD2}" presName="node" presStyleLbl="revTx" presStyleIdx="0" presStyleCnt="3">
        <dgm:presLayoutVars>
          <dgm:bulletEnabled val="1"/>
        </dgm:presLayoutVars>
      </dgm:prSet>
      <dgm:spPr/>
    </dgm:pt>
    <dgm:pt modelId="{C2B48CEA-C236-4A74-9A03-57198E5B2C8F}" type="pres">
      <dgm:prSet presAssocID="{029ABA6B-FB99-4C2D-811F-4E646479E2EB}" presName="sibTrans" presStyleLbl="node1" presStyleIdx="0" presStyleCnt="3"/>
      <dgm:spPr/>
    </dgm:pt>
    <dgm:pt modelId="{6A5CF3F4-15A7-42D0-9821-829462DFB883}" type="pres">
      <dgm:prSet presAssocID="{78B52376-2EF6-4C2C-A97D-9D8C1A356A83}" presName="dummy" presStyleCnt="0"/>
      <dgm:spPr/>
    </dgm:pt>
    <dgm:pt modelId="{4506F573-DB03-4395-A90C-4895BFAFE91D}" type="pres">
      <dgm:prSet presAssocID="{78B52376-2EF6-4C2C-A97D-9D8C1A356A83}" presName="node" presStyleLbl="revTx" presStyleIdx="1" presStyleCnt="3" custScaleX="121552">
        <dgm:presLayoutVars>
          <dgm:bulletEnabled val="1"/>
        </dgm:presLayoutVars>
      </dgm:prSet>
      <dgm:spPr/>
    </dgm:pt>
    <dgm:pt modelId="{11D8EB99-BEB6-4FD3-8105-D8324C30A472}" type="pres">
      <dgm:prSet presAssocID="{2C67099F-B2E7-4BB3-BB38-869EC441EA0F}" presName="sibTrans" presStyleLbl="node1" presStyleIdx="1" presStyleCnt="3"/>
      <dgm:spPr/>
    </dgm:pt>
    <dgm:pt modelId="{2758FAAE-51C6-42C3-B9C6-48782AF750D1}" type="pres">
      <dgm:prSet presAssocID="{C04DD1A4-20E5-4E4B-A2A9-FB1CC65F3B26}" presName="dummy" presStyleCnt="0"/>
      <dgm:spPr/>
    </dgm:pt>
    <dgm:pt modelId="{11257A39-783C-433B-913B-A8217BF6B7EC}" type="pres">
      <dgm:prSet presAssocID="{C04DD1A4-20E5-4E4B-A2A9-FB1CC65F3B26}" presName="node" presStyleLbl="revTx" presStyleIdx="2" presStyleCnt="3" custScaleX="136184">
        <dgm:presLayoutVars>
          <dgm:bulletEnabled val="1"/>
        </dgm:presLayoutVars>
      </dgm:prSet>
      <dgm:spPr/>
    </dgm:pt>
    <dgm:pt modelId="{07BCB890-56D9-4EAB-A0C6-CB5B2C9ADEF6}" type="pres">
      <dgm:prSet presAssocID="{8D8A67C5-0927-4E30-B823-4940CC6E17EE}" presName="sibTrans" presStyleLbl="node1" presStyleIdx="2" presStyleCnt="3"/>
      <dgm:spPr/>
    </dgm:pt>
  </dgm:ptLst>
  <dgm:cxnLst>
    <dgm:cxn modelId="{4937184C-78A4-4AC7-99A0-E8478636983D}" type="presOf" srcId="{029ABA6B-FB99-4C2D-811F-4E646479E2EB}" destId="{C2B48CEA-C236-4A74-9A03-57198E5B2C8F}" srcOrd="0" destOrd="0" presId="urn:microsoft.com/office/officeart/2005/8/layout/cycle1"/>
    <dgm:cxn modelId="{BBF17673-60A2-4E60-AAE3-A0D55661C883}" type="presOf" srcId="{2C67099F-B2E7-4BB3-BB38-869EC441EA0F}" destId="{11D8EB99-BEB6-4FD3-8105-D8324C30A472}" srcOrd="0" destOrd="0" presId="urn:microsoft.com/office/officeart/2005/8/layout/cycle1"/>
    <dgm:cxn modelId="{5A61A15A-C54F-44EE-A464-78E7C85E88A7}" srcId="{E5433D4F-8641-4851-9162-534BA1D26AC9}" destId="{C04DD1A4-20E5-4E4B-A2A9-FB1CC65F3B26}" srcOrd="2" destOrd="0" parTransId="{3BA19F67-49A9-4004-A6B3-E735BCA797CF}" sibTransId="{8D8A67C5-0927-4E30-B823-4940CC6E17EE}"/>
    <dgm:cxn modelId="{EB121389-847B-46EF-8270-089B41D96871}" type="presOf" srcId="{78B52376-2EF6-4C2C-A97D-9D8C1A356A83}" destId="{4506F573-DB03-4395-A90C-4895BFAFE91D}" srcOrd="0" destOrd="0" presId="urn:microsoft.com/office/officeart/2005/8/layout/cycle1"/>
    <dgm:cxn modelId="{55E08A94-8E6E-460F-98B0-7877450EF523}" srcId="{E5433D4F-8641-4851-9162-534BA1D26AC9}" destId="{35FF07F8-0791-4F2A-9908-A30FA4CC0AD2}" srcOrd="0" destOrd="0" parTransId="{B2325CF1-3ACE-474A-9D78-AF2001C208FD}" sibTransId="{029ABA6B-FB99-4C2D-811F-4E646479E2EB}"/>
    <dgm:cxn modelId="{108988B5-54DE-4C8A-A1D4-5428DC46AD3C}" type="presOf" srcId="{35FF07F8-0791-4F2A-9908-A30FA4CC0AD2}" destId="{42AC4DC2-DAB6-4BA7-A0EE-B30F9349F30D}" srcOrd="0" destOrd="0" presId="urn:microsoft.com/office/officeart/2005/8/layout/cycle1"/>
    <dgm:cxn modelId="{FE2970C7-74D4-47B1-BFE4-40C05CD592EC}" type="presOf" srcId="{C04DD1A4-20E5-4E4B-A2A9-FB1CC65F3B26}" destId="{11257A39-783C-433B-913B-A8217BF6B7EC}" srcOrd="0" destOrd="0" presId="urn:microsoft.com/office/officeart/2005/8/layout/cycle1"/>
    <dgm:cxn modelId="{E92459C7-42C8-4F2C-B7C1-F7B6B87D2638}" type="presOf" srcId="{8D8A67C5-0927-4E30-B823-4940CC6E17EE}" destId="{07BCB890-56D9-4EAB-A0C6-CB5B2C9ADEF6}" srcOrd="0" destOrd="0" presId="urn:microsoft.com/office/officeart/2005/8/layout/cycle1"/>
    <dgm:cxn modelId="{8B98BCDC-3B17-41B0-B47B-14A72F3A520A}" type="presOf" srcId="{E5433D4F-8641-4851-9162-534BA1D26AC9}" destId="{EE518300-F4EC-406C-AD30-41226B1A306E}" srcOrd="0" destOrd="0" presId="urn:microsoft.com/office/officeart/2005/8/layout/cycle1"/>
    <dgm:cxn modelId="{1DC598EE-E8D0-4EE6-A49E-055E3BEE4606}" srcId="{E5433D4F-8641-4851-9162-534BA1D26AC9}" destId="{78B52376-2EF6-4C2C-A97D-9D8C1A356A83}" srcOrd="1" destOrd="0" parTransId="{D2D29FF6-D490-48B7-8A90-CD2C1ACC731D}" sibTransId="{2C67099F-B2E7-4BB3-BB38-869EC441EA0F}"/>
    <dgm:cxn modelId="{379E3732-BA5B-42E6-A529-46954EF45D54}" type="presParOf" srcId="{EE518300-F4EC-406C-AD30-41226B1A306E}" destId="{2AF8EC04-F316-403C-ADE0-AF8589CF3B9B}" srcOrd="0" destOrd="0" presId="urn:microsoft.com/office/officeart/2005/8/layout/cycle1"/>
    <dgm:cxn modelId="{98245FFD-100B-4242-AE30-A430C48DAA2A}" type="presParOf" srcId="{EE518300-F4EC-406C-AD30-41226B1A306E}" destId="{42AC4DC2-DAB6-4BA7-A0EE-B30F9349F30D}" srcOrd="1" destOrd="0" presId="urn:microsoft.com/office/officeart/2005/8/layout/cycle1"/>
    <dgm:cxn modelId="{83A9FB17-D80E-4D79-9449-CD42AF619846}" type="presParOf" srcId="{EE518300-F4EC-406C-AD30-41226B1A306E}" destId="{C2B48CEA-C236-4A74-9A03-57198E5B2C8F}" srcOrd="2" destOrd="0" presId="urn:microsoft.com/office/officeart/2005/8/layout/cycle1"/>
    <dgm:cxn modelId="{0165C898-CF74-4D49-967D-1C7D2B5B028F}" type="presParOf" srcId="{EE518300-F4EC-406C-AD30-41226B1A306E}" destId="{6A5CF3F4-15A7-42D0-9821-829462DFB883}" srcOrd="3" destOrd="0" presId="urn:microsoft.com/office/officeart/2005/8/layout/cycle1"/>
    <dgm:cxn modelId="{E9C5BCB2-F9BD-4053-9784-B0B7B238F1FB}" type="presParOf" srcId="{EE518300-F4EC-406C-AD30-41226B1A306E}" destId="{4506F573-DB03-4395-A90C-4895BFAFE91D}" srcOrd="4" destOrd="0" presId="urn:microsoft.com/office/officeart/2005/8/layout/cycle1"/>
    <dgm:cxn modelId="{DF308ABC-3EEE-4E88-A804-9E9A3F36F78A}" type="presParOf" srcId="{EE518300-F4EC-406C-AD30-41226B1A306E}" destId="{11D8EB99-BEB6-4FD3-8105-D8324C30A472}" srcOrd="5" destOrd="0" presId="urn:microsoft.com/office/officeart/2005/8/layout/cycle1"/>
    <dgm:cxn modelId="{46335793-9A6F-4878-8657-6A0863C65033}" type="presParOf" srcId="{EE518300-F4EC-406C-AD30-41226B1A306E}" destId="{2758FAAE-51C6-42C3-B9C6-48782AF750D1}" srcOrd="6" destOrd="0" presId="urn:microsoft.com/office/officeart/2005/8/layout/cycle1"/>
    <dgm:cxn modelId="{E53589A9-CE2B-476E-977F-8BAEC72D42FC}" type="presParOf" srcId="{EE518300-F4EC-406C-AD30-41226B1A306E}" destId="{11257A39-783C-433B-913B-A8217BF6B7EC}" srcOrd="7" destOrd="0" presId="urn:microsoft.com/office/officeart/2005/8/layout/cycle1"/>
    <dgm:cxn modelId="{17480D9E-5253-4F8C-BAA3-641F080603F5}" type="presParOf" srcId="{EE518300-F4EC-406C-AD30-41226B1A306E}" destId="{07BCB890-56D9-4EAB-A0C6-CB5B2C9ADEF6}" srcOrd="8" destOrd="0" presId="urn:microsoft.com/office/officeart/2005/8/layout/cycle1"/>
  </dgm:cxnLst>
  <dgm:bg/>
  <dgm:whole/>
  <dgm:extLst>
    <a:ext uri="http://schemas.microsoft.com/office/drawing/2008/diagram">
      <dsp:dataModelExt xmlns:dsp="http://schemas.microsoft.com/office/drawing/2008/diagram" relId="rId2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FD389-E0F2-49DD-9E8C-0AE23A953F0D}">
      <dsp:nvSpPr>
        <dsp:cNvPr id="0" name=""/>
        <dsp:cNvSpPr/>
      </dsp:nvSpPr>
      <dsp:spPr>
        <a:xfrm>
          <a:off x="2423" y="1439467"/>
          <a:ext cx="1438563" cy="555285"/>
        </a:xfrm>
        <a:prstGeom prst="chevron">
          <a:avLst>
            <a:gd name="adj" fmla="val 4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9D066D8-5EFA-41B7-BF4E-4364EE1378E5}">
      <dsp:nvSpPr>
        <dsp:cNvPr id="0" name=""/>
        <dsp:cNvSpPr/>
      </dsp:nvSpPr>
      <dsp:spPr>
        <a:xfrm>
          <a:off x="0" y="1841113"/>
          <a:ext cx="1676636" cy="1032503"/>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92456" rIns="92456" bIns="92456" numCol="1" spcCol="1270" anchor="t" anchorCtr="0">
          <a:noAutofit/>
        </a:bodyPr>
        <a:lstStyle/>
        <a:p>
          <a:pPr marL="0" lvl="0" indent="0" algn="l" defTabSz="577850">
            <a:lnSpc>
              <a:spcPct val="90000"/>
            </a:lnSpc>
            <a:spcBef>
              <a:spcPct val="0"/>
            </a:spcBef>
            <a:spcAft>
              <a:spcPct val="35000"/>
            </a:spcAft>
            <a:buNone/>
          </a:pPr>
          <a:r>
            <a:rPr lang="en-US" sz="1300" b="1" kern="1200" dirty="0"/>
            <a:t>1. Get data ready</a:t>
          </a:r>
        </a:p>
        <a:p>
          <a:pPr marL="114300" lvl="1" indent="-114300" algn="l" defTabSz="577850">
            <a:lnSpc>
              <a:spcPct val="90000"/>
            </a:lnSpc>
            <a:spcBef>
              <a:spcPct val="0"/>
            </a:spcBef>
            <a:spcAft>
              <a:spcPct val="15000"/>
            </a:spcAft>
            <a:buChar char="•"/>
          </a:pPr>
          <a:r>
            <a:rPr lang="en-US" sz="1300" kern="1200" dirty="0"/>
            <a:t>Normalize</a:t>
          </a:r>
        </a:p>
        <a:p>
          <a:pPr marL="114300" lvl="1" indent="-114300" algn="l" defTabSz="577850">
            <a:lnSpc>
              <a:spcPct val="90000"/>
            </a:lnSpc>
            <a:spcBef>
              <a:spcPct val="0"/>
            </a:spcBef>
            <a:spcAft>
              <a:spcPct val="15000"/>
            </a:spcAft>
            <a:buChar char="•"/>
          </a:pPr>
          <a:r>
            <a:rPr lang="en-US" sz="1300" kern="1200" dirty="0"/>
            <a:t>Resize</a:t>
          </a:r>
        </a:p>
        <a:p>
          <a:pPr marL="114300" lvl="1" indent="-114300" algn="l" defTabSz="577850">
            <a:lnSpc>
              <a:spcPct val="90000"/>
            </a:lnSpc>
            <a:spcBef>
              <a:spcPct val="0"/>
            </a:spcBef>
            <a:spcAft>
              <a:spcPct val="15000"/>
            </a:spcAft>
            <a:buChar char="•"/>
          </a:pPr>
          <a:r>
            <a:rPr lang="en-US" sz="1300" kern="1200" dirty="0"/>
            <a:t>Turn into tensor</a:t>
          </a:r>
        </a:p>
      </dsp:txBody>
      <dsp:txXfrm>
        <a:off x="30241" y="1871354"/>
        <a:ext cx="1616154" cy="972021"/>
      </dsp:txXfrm>
    </dsp:sp>
    <dsp:sp modelId="{6B12F65A-07E9-4363-9BF1-81401740F56F}">
      <dsp:nvSpPr>
        <dsp:cNvPr id="0" name=""/>
        <dsp:cNvSpPr/>
      </dsp:nvSpPr>
      <dsp:spPr>
        <a:xfrm>
          <a:off x="1876507" y="1464521"/>
          <a:ext cx="1438563" cy="555285"/>
        </a:xfrm>
        <a:prstGeom prst="chevron">
          <a:avLst>
            <a:gd name="adj" fmla="val 40000"/>
          </a:avLst>
        </a:prstGeom>
        <a:solidFill>
          <a:schemeClr val="accent3">
            <a:hueOff val="-3600000"/>
            <a:satOff val="-19208"/>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311CE4-B382-4684-AE68-7EFFB6BB02AC}">
      <dsp:nvSpPr>
        <dsp:cNvPr id="0" name=""/>
        <dsp:cNvSpPr/>
      </dsp:nvSpPr>
      <dsp:spPr>
        <a:xfrm>
          <a:off x="1995002" y="1706016"/>
          <a:ext cx="1506711" cy="1939034"/>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3600000"/>
              <a:satOff val="-19208"/>
              <a:lumOff val="-137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92456" rIns="92456" bIns="92456" numCol="1" spcCol="1270" anchor="t" anchorCtr="0">
          <a:noAutofit/>
        </a:bodyPr>
        <a:lstStyle/>
        <a:p>
          <a:pPr marL="0" lvl="0" indent="0" algn="l" defTabSz="577850">
            <a:lnSpc>
              <a:spcPct val="90000"/>
            </a:lnSpc>
            <a:spcBef>
              <a:spcPct val="0"/>
            </a:spcBef>
            <a:spcAft>
              <a:spcPct val="35000"/>
            </a:spcAft>
            <a:buNone/>
          </a:pPr>
          <a:r>
            <a:rPr lang="en-US" sz="1300" b="1" kern="1200" dirty="0"/>
            <a:t>2. Build model</a:t>
          </a:r>
        </a:p>
        <a:p>
          <a:pPr marL="114300" lvl="1" indent="-114300" algn="l" defTabSz="577850">
            <a:lnSpc>
              <a:spcPct val="90000"/>
            </a:lnSpc>
            <a:spcBef>
              <a:spcPct val="0"/>
            </a:spcBef>
            <a:spcAft>
              <a:spcPct val="15000"/>
            </a:spcAft>
            <a:buChar char="•"/>
          </a:pPr>
          <a:r>
            <a:rPr lang="en-US" sz="1300" kern="1200" dirty="0"/>
            <a:t>Pick a loss function</a:t>
          </a:r>
        </a:p>
        <a:p>
          <a:pPr marL="114300" lvl="1" indent="-114300" algn="l" defTabSz="577850">
            <a:lnSpc>
              <a:spcPct val="90000"/>
            </a:lnSpc>
            <a:spcBef>
              <a:spcPct val="0"/>
            </a:spcBef>
            <a:spcAft>
              <a:spcPct val="15000"/>
            </a:spcAft>
            <a:buChar char="•"/>
          </a:pPr>
          <a:r>
            <a:rPr lang="en-US" sz="1300" kern="1200" dirty="0"/>
            <a:t>Pick optimizers</a:t>
          </a:r>
        </a:p>
        <a:p>
          <a:pPr marL="114300" lvl="1" indent="-114300" algn="l" defTabSz="577850">
            <a:lnSpc>
              <a:spcPct val="90000"/>
            </a:lnSpc>
            <a:spcBef>
              <a:spcPct val="0"/>
            </a:spcBef>
            <a:spcAft>
              <a:spcPct val="15000"/>
            </a:spcAft>
            <a:buChar char="•"/>
          </a:pPr>
          <a:r>
            <a:rPr lang="en-US" sz="1300" kern="1200" dirty="0"/>
            <a:t>Build a training loop</a:t>
          </a:r>
        </a:p>
        <a:p>
          <a:pPr marL="114300" lvl="1" indent="-114300" algn="l" defTabSz="577850">
            <a:lnSpc>
              <a:spcPct val="90000"/>
            </a:lnSpc>
            <a:spcBef>
              <a:spcPct val="0"/>
            </a:spcBef>
            <a:spcAft>
              <a:spcPct val="15000"/>
            </a:spcAft>
            <a:buChar char="•"/>
          </a:pPr>
          <a:r>
            <a:rPr lang="en-US" sz="1300" kern="1200" dirty="0"/>
            <a:t>Build a validation loop</a:t>
          </a:r>
        </a:p>
      </dsp:txBody>
      <dsp:txXfrm>
        <a:off x="2039132" y="1750146"/>
        <a:ext cx="1418451" cy="1850774"/>
      </dsp:txXfrm>
    </dsp:sp>
    <dsp:sp modelId="{8155188C-D8AC-4CC6-92C8-B609086CAFF0}">
      <dsp:nvSpPr>
        <dsp:cNvPr id="0" name=""/>
        <dsp:cNvSpPr/>
      </dsp:nvSpPr>
      <dsp:spPr>
        <a:xfrm>
          <a:off x="3665628" y="1489570"/>
          <a:ext cx="1438563" cy="555285"/>
        </a:xfrm>
        <a:prstGeom prst="chevron">
          <a:avLst>
            <a:gd name="adj" fmla="val 40000"/>
          </a:avLst>
        </a:prstGeom>
        <a:solidFill>
          <a:schemeClr val="accent3">
            <a:hueOff val="-7200000"/>
            <a:satOff val="-38416"/>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A334D6D-C0C4-4E30-8FD6-325505D34E2D}">
      <dsp:nvSpPr>
        <dsp:cNvPr id="0" name=""/>
        <dsp:cNvSpPr/>
      </dsp:nvSpPr>
      <dsp:spPr>
        <a:xfrm>
          <a:off x="3868819" y="1896336"/>
          <a:ext cx="1506711" cy="921645"/>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7200000"/>
              <a:satOff val="-38416"/>
              <a:lumOff val="-274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92456" rIns="92456" bIns="92456" numCol="1" spcCol="1270" anchor="t" anchorCtr="0">
          <a:noAutofit/>
        </a:bodyPr>
        <a:lstStyle/>
        <a:p>
          <a:pPr marL="0" lvl="0" indent="0" algn="l" defTabSz="577850">
            <a:lnSpc>
              <a:spcPct val="90000"/>
            </a:lnSpc>
            <a:spcBef>
              <a:spcPct val="0"/>
            </a:spcBef>
            <a:spcAft>
              <a:spcPct val="35000"/>
            </a:spcAft>
            <a:buNone/>
          </a:pPr>
          <a:r>
            <a:rPr lang="en-US" sz="1300" b="1" kern="1200" dirty="0"/>
            <a:t>3. Fit the model to data</a:t>
          </a:r>
        </a:p>
        <a:p>
          <a:pPr marL="114300" lvl="1" indent="-114300" algn="l" defTabSz="577850">
            <a:lnSpc>
              <a:spcPct val="90000"/>
            </a:lnSpc>
            <a:spcBef>
              <a:spcPct val="0"/>
            </a:spcBef>
            <a:spcAft>
              <a:spcPct val="15000"/>
            </a:spcAft>
            <a:buChar char="•"/>
          </a:pPr>
          <a:r>
            <a:rPr lang="en-US" sz="1300" kern="1200" dirty="0"/>
            <a:t>Make predictions</a:t>
          </a:r>
        </a:p>
      </dsp:txBody>
      <dsp:txXfrm>
        <a:off x="3895813" y="1923330"/>
        <a:ext cx="1452723" cy="867657"/>
      </dsp:txXfrm>
    </dsp:sp>
    <dsp:sp modelId="{71EE243F-AD03-4960-BDBB-2648CEB43930}">
      <dsp:nvSpPr>
        <dsp:cNvPr id="0" name=""/>
        <dsp:cNvSpPr/>
      </dsp:nvSpPr>
      <dsp:spPr>
        <a:xfrm>
          <a:off x="5454749" y="1472873"/>
          <a:ext cx="1438563" cy="555285"/>
        </a:xfrm>
        <a:prstGeom prst="chevron">
          <a:avLst>
            <a:gd name="adj" fmla="val 40000"/>
          </a:avLst>
        </a:prstGeom>
        <a:solidFill>
          <a:schemeClr val="accent3">
            <a:hueOff val="-10800000"/>
            <a:satOff val="-57623"/>
            <a:lumOff val="-411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96EB15-55B1-4F00-ADE1-5571E3DC27DC}">
      <dsp:nvSpPr>
        <dsp:cNvPr id="0" name=""/>
        <dsp:cNvSpPr/>
      </dsp:nvSpPr>
      <dsp:spPr>
        <a:xfrm>
          <a:off x="5692403" y="1866276"/>
          <a:ext cx="1506711" cy="1505123"/>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0800000"/>
              <a:satOff val="-57623"/>
              <a:lumOff val="-411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92456" rIns="92456" bIns="92456" numCol="1" spcCol="1270" anchor="t" anchorCtr="0">
          <a:noAutofit/>
        </a:bodyPr>
        <a:lstStyle/>
        <a:p>
          <a:pPr marL="0" lvl="0" indent="0" algn="l" defTabSz="577850">
            <a:lnSpc>
              <a:spcPct val="90000"/>
            </a:lnSpc>
            <a:spcBef>
              <a:spcPct val="0"/>
            </a:spcBef>
            <a:spcAft>
              <a:spcPct val="35000"/>
            </a:spcAft>
            <a:buNone/>
          </a:pPr>
          <a:r>
            <a:rPr lang="en-US" sz="1300" b="1" kern="1200" dirty="0"/>
            <a:t>4. Evaluate the model</a:t>
          </a:r>
        </a:p>
        <a:p>
          <a:pPr marL="114300" lvl="1" indent="-114300" algn="l" defTabSz="577850">
            <a:lnSpc>
              <a:spcPct val="90000"/>
            </a:lnSpc>
            <a:spcBef>
              <a:spcPct val="0"/>
            </a:spcBef>
            <a:spcAft>
              <a:spcPct val="15000"/>
            </a:spcAft>
            <a:buChar char="•"/>
          </a:pPr>
          <a:r>
            <a:rPr lang="en-US" sz="1300" kern="1200" dirty="0"/>
            <a:t>Loss</a:t>
          </a:r>
        </a:p>
        <a:p>
          <a:pPr marL="114300" lvl="1" indent="-114300" algn="l" defTabSz="577850">
            <a:lnSpc>
              <a:spcPct val="90000"/>
            </a:lnSpc>
            <a:spcBef>
              <a:spcPct val="0"/>
            </a:spcBef>
            <a:spcAft>
              <a:spcPct val="15000"/>
            </a:spcAft>
            <a:buChar char="•"/>
          </a:pPr>
          <a:r>
            <a:rPr lang="en-US" sz="1300" kern="1200" dirty="0"/>
            <a:t>Passing rate</a:t>
          </a:r>
        </a:p>
        <a:p>
          <a:pPr marL="114300" lvl="1" indent="-114300" algn="l" defTabSz="577850">
            <a:lnSpc>
              <a:spcPct val="90000"/>
            </a:lnSpc>
            <a:spcBef>
              <a:spcPct val="0"/>
            </a:spcBef>
            <a:spcAft>
              <a:spcPct val="15000"/>
            </a:spcAft>
            <a:buChar char="•"/>
          </a:pPr>
          <a:r>
            <a:rPr lang="en-US" sz="1300" kern="1200" dirty="0"/>
            <a:t>MSE</a:t>
          </a:r>
        </a:p>
      </dsp:txBody>
      <dsp:txXfrm>
        <a:off x="5736487" y="1910360"/>
        <a:ext cx="1418543" cy="1416955"/>
      </dsp:txXfrm>
    </dsp:sp>
    <dsp:sp modelId="{BBE83B6E-446B-4C03-AF67-1E32CEAE9D41}">
      <dsp:nvSpPr>
        <dsp:cNvPr id="0" name=""/>
        <dsp:cNvSpPr/>
      </dsp:nvSpPr>
      <dsp:spPr>
        <a:xfrm>
          <a:off x="7243871" y="1481224"/>
          <a:ext cx="1438563" cy="555285"/>
        </a:xfrm>
        <a:prstGeom prst="chevron">
          <a:avLst>
            <a:gd name="adj" fmla="val 40000"/>
          </a:avLst>
        </a:prstGeom>
        <a:solidFill>
          <a:schemeClr val="accent3">
            <a:hueOff val="-14400000"/>
            <a:satOff val="-76831"/>
            <a:lumOff val="-549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872E40-54A2-418A-B1FD-1329CBFBE8A2}">
      <dsp:nvSpPr>
        <dsp:cNvPr id="0" name=""/>
        <dsp:cNvSpPr/>
      </dsp:nvSpPr>
      <dsp:spPr>
        <a:xfrm>
          <a:off x="7373700" y="1849880"/>
          <a:ext cx="1662107" cy="1795170"/>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4400000"/>
              <a:satOff val="-76831"/>
              <a:lumOff val="-549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92456" rIns="92456" bIns="92456" numCol="1" spcCol="1270" anchor="t" anchorCtr="0">
          <a:noAutofit/>
        </a:bodyPr>
        <a:lstStyle/>
        <a:p>
          <a:pPr marL="0" lvl="0" indent="0" algn="l" defTabSz="577850">
            <a:lnSpc>
              <a:spcPct val="90000"/>
            </a:lnSpc>
            <a:spcBef>
              <a:spcPct val="0"/>
            </a:spcBef>
            <a:spcAft>
              <a:spcPct val="35000"/>
            </a:spcAft>
            <a:buNone/>
          </a:pPr>
          <a:r>
            <a:rPr lang="en-US" sz="1300" b="1" kern="1200" dirty="0"/>
            <a:t>5. Improve through experimentation</a:t>
          </a:r>
        </a:p>
        <a:p>
          <a:pPr marL="114300" lvl="1" indent="-114300" algn="l" defTabSz="577850">
            <a:lnSpc>
              <a:spcPct val="90000"/>
            </a:lnSpc>
            <a:spcBef>
              <a:spcPct val="0"/>
            </a:spcBef>
            <a:spcAft>
              <a:spcPct val="15000"/>
            </a:spcAft>
            <a:buChar char="•"/>
          </a:pPr>
          <a:r>
            <a:rPr lang="en-US" sz="1300" kern="1200" dirty="0"/>
            <a:t>Hyperparameter tunning : Learning rate, batch size, etc.</a:t>
          </a:r>
        </a:p>
      </dsp:txBody>
      <dsp:txXfrm>
        <a:off x="7422381" y="1898561"/>
        <a:ext cx="1564745" cy="1697808"/>
      </dsp:txXfrm>
    </dsp:sp>
    <dsp:sp modelId="{93CB1F9E-AFB9-4B8B-AD1A-A4E3684406D4}">
      <dsp:nvSpPr>
        <dsp:cNvPr id="0" name=""/>
        <dsp:cNvSpPr/>
      </dsp:nvSpPr>
      <dsp:spPr>
        <a:xfrm>
          <a:off x="9110690" y="1481224"/>
          <a:ext cx="1438563" cy="555285"/>
        </a:xfrm>
        <a:prstGeom prst="chevron">
          <a:avLst>
            <a:gd name="adj" fmla="val 40000"/>
          </a:avLst>
        </a:prstGeom>
        <a:solidFill>
          <a:schemeClr val="accent3">
            <a:hueOff val="-18000000"/>
            <a:satOff val="-96039"/>
            <a:lumOff val="-686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FE6A0D-B633-49E5-A78C-ADDEFAEEF287}">
      <dsp:nvSpPr>
        <dsp:cNvPr id="0" name=""/>
        <dsp:cNvSpPr/>
      </dsp:nvSpPr>
      <dsp:spPr>
        <a:xfrm>
          <a:off x="9350768" y="1880587"/>
          <a:ext cx="1506711" cy="1764463"/>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8000000"/>
              <a:satOff val="-96039"/>
              <a:lumOff val="-686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92456" rIns="92456" bIns="92456" numCol="1" spcCol="1270" anchor="t" anchorCtr="0">
          <a:noAutofit/>
        </a:bodyPr>
        <a:lstStyle/>
        <a:p>
          <a:pPr marL="0" lvl="0" indent="0" algn="l" defTabSz="577850">
            <a:lnSpc>
              <a:spcPct val="90000"/>
            </a:lnSpc>
            <a:spcBef>
              <a:spcPct val="0"/>
            </a:spcBef>
            <a:spcAft>
              <a:spcPct val="35000"/>
            </a:spcAft>
            <a:buNone/>
          </a:pPr>
          <a:r>
            <a:rPr lang="en-US" sz="1300" b="1" kern="1200" dirty="0"/>
            <a:t>6. Save and reload the model</a:t>
          </a:r>
        </a:p>
        <a:p>
          <a:pPr marL="114300" lvl="1" indent="-114300" algn="l" defTabSz="577850">
            <a:lnSpc>
              <a:spcPct val="90000"/>
            </a:lnSpc>
            <a:spcBef>
              <a:spcPct val="0"/>
            </a:spcBef>
            <a:spcAft>
              <a:spcPct val="15000"/>
            </a:spcAft>
            <a:buChar char="•"/>
          </a:pPr>
          <a:r>
            <a:rPr lang="en-US" sz="1300" kern="1200" dirty="0"/>
            <a:t>Choose the model with lowest MSE</a:t>
          </a:r>
        </a:p>
      </dsp:txBody>
      <dsp:txXfrm>
        <a:off x="9394898" y="1924717"/>
        <a:ext cx="1418451" cy="16762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AC4DC2-DAB6-4BA7-A0EE-B30F9349F30D}">
      <dsp:nvSpPr>
        <dsp:cNvPr id="0" name=""/>
        <dsp:cNvSpPr/>
      </dsp:nvSpPr>
      <dsp:spPr>
        <a:xfrm>
          <a:off x="1107475" y="109628"/>
          <a:ext cx="558296" cy="558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Train Critic</a:t>
          </a:r>
        </a:p>
      </dsp:txBody>
      <dsp:txXfrm>
        <a:off x="1107475" y="109628"/>
        <a:ext cx="558296" cy="558296"/>
      </dsp:txXfrm>
    </dsp:sp>
    <dsp:sp modelId="{C2B48CEA-C236-4A74-9A03-57198E5B2C8F}">
      <dsp:nvSpPr>
        <dsp:cNvPr id="0" name=""/>
        <dsp:cNvSpPr/>
      </dsp:nvSpPr>
      <dsp:spPr>
        <a:xfrm>
          <a:off x="256157" y="-469"/>
          <a:ext cx="1321102" cy="1321102"/>
        </a:xfrm>
        <a:prstGeom prst="circularArrow">
          <a:avLst>
            <a:gd name="adj1" fmla="val 8241"/>
            <a:gd name="adj2" fmla="val 575454"/>
            <a:gd name="adj3" fmla="val 2502168"/>
            <a:gd name="adj4" fmla="val 49689"/>
            <a:gd name="adj5" fmla="val 9614"/>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06F573-DB03-4395-A90C-4895BFAFE91D}">
      <dsp:nvSpPr>
        <dsp:cNvPr id="0" name=""/>
        <dsp:cNvSpPr/>
      </dsp:nvSpPr>
      <dsp:spPr>
        <a:xfrm>
          <a:off x="577398" y="923544"/>
          <a:ext cx="678620" cy="558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Train Generator</a:t>
          </a:r>
        </a:p>
      </dsp:txBody>
      <dsp:txXfrm>
        <a:off x="577398" y="923544"/>
        <a:ext cx="678620" cy="558296"/>
      </dsp:txXfrm>
    </dsp:sp>
    <dsp:sp modelId="{11D8EB99-BEB6-4FD3-8105-D8324C30A472}">
      <dsp:nvSpPr>
        <dsp:cNvPr id="0" name=""/>
        <dsp:cNvSpPr/>
      </dsp:nvSpPr>
      <dsp:spPr>
        <a:xfrm>
          <a:off x="256157" y="-469"/>
          <a:ext cx="1321102" cy="1321102"/>
        </a:xfrm>
        <a:prstGeom prst="circularArrow">
          <a:avLst>
            <a:gd name="adj1" fmla="val 8241"/>
            <a:gd name="adj2" fmla="val 575454"/>
            <a:gd name="adj3" fmla="val 10174857"/>
            <a:gd name="adj4" fmla="val 7722378"/>
            <a:gd name="adj5" fmla="val 9614"/>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257A39-783C-433B-913B-A8217BF6B7EC}">
      <dsp:nvSpPr>
        <dsp:cNvPr id="0" name=""/>
        <dsp:cNvSpPr/>
      </dsp:nvSpPr>
      <dsp:spPr>
        <a:xfrm>
          <a:off x="66638" y="109628"/>
          <a:ext cx="760310" cy="558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Update Optimizer</a:t>
          </a:r>
        </a:p>
      </dsp:txBody>
      <dsp:txXfrm>
        <a:off x="66638" y="109628"/>
        <a:ext cx="760310" cy="558296"/>
      </dsp:txXfrm>
    </dsp:sp>
    <dsp:sp modelId="{07BCB890-56D9-4EAB-A0C6-CB5B2C9ADEF6}">
      <dsp:nvSpPr>
        <dsp:cNvPr id="0" name=""/>
        <dsp:cNvSpPr/>
      </dsp:nvSpPr>
      <dsp:spPr>
        <a:xfrm>
          <a:off x="256157" y="-469"/>
          <a:ext cx="1321102" cy="1321102"/>
        </a:xfrm>
        <a:prstGeom prst="circularArrow">
          <a:avLst>
            <a:gd name="adj1" fmla="val 8241"/>
            <a:gd name="adj2" fmla="val 575454"/>
            <a:gd name="adj3" fmla="val 16859556"/>
            <a:gd name="adj4" fmla="val 15628694"/>
            <a:gd name="adj5" fmla="val 9614"/>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466934-79F1-416C-83C3-A7F4E617BC41}" type="datetimeFigureOut">
              <a:rPr lang="en-US" smtClean="0"/>
              <a:t>2/28/2024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B27EB1-2318-44B9-A355-109EE551BAF1}" type="slidenum">
              <a:rPr lang="en-US" smtClean="0"/>
              <a:t>‹#›</a:t>
            </a:fld>
            <a:endParaRPr lang="en-US"/>
          </a:p>
        </p:txBody>
      </p:sp>
    </p:spTree>
    <p:extLst>
      <p:ext uri="{BB962C8B-B14F-4D97-AF65-F5344CB8AC3E}">
        <p14:creationId xmlns:p14="http://schemas.microsoft.com/office/powerpoint/2010/main" val="4021651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This is a presentation of my master thesis “</a:t>
            </a:r>
            <a:r>
              <a:rPr lang="en-US" sz="1200" dirty="0"/>
              <a:t>Accelerating dose calculations in carbon ion therapy </a:t>
            </a:r>
            <a:br>
              <a:rPr lang="en-US" sz="1200" dirty="0"/>
            </a:br>
            <a:r>
              <a:rPr lang="en-US" sz="1200" dirty="0"/>
              <a:t>using a Wasserstein GAN” </a:t>
            </a:r>
            <a:r>
              <a:rPr lang="en-US" dirty="0"/>
              <a:t>The project started in May2023 at PTB Berlin in Metrology for Artificial Intelligence in Medicine group (M4AIM)</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9F5D725-8009-3D46-A493-0180CBBD5244}" type="slidenum">
              <a:rPr kumimoji="0" lang="de-AT"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de-AT"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03376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solidFill>
                  <a:srgbClr val="374151"/>
                </a:solidFill>
                <a:effectLst/>
                <a:latin typeface="Söhne"/>
              </a:rPr>
              <a:t>-Carbon ion beam therapy is a type of radiation therapy that uses beams of carbon ions to treat cancer. It is attractive for cancer treatment.</a:t>
            </a:r>
          </a:p>
          <a:p>
            <a:pPr marL="285750" indent="-285750">
              <a:buFontTx/>
              <a:buChar char="-"/>
            </a:pPr>
            <a:r>
              <a:rPr lang="en-US" sz="1800" dirty="0">
                <a:solidFill>
                  <a:srgbClr val="374151"/>
                </a:solidFill>
                <a:effectLst/>
                <a:latin typeface="Söhne"/>
              </a:rPr>
              <a:t>It has high energy transfer and Bragg peak, allowing for precise targeting of the tumor, </a:t>
            </a:r>
          </a:p>
          <a:p>
            <a:pPr marL="285750" indent="-285750">
              <a:buFontTx/>
              <a:buChar char="-"/>
            </a:pPr>
            <a:r>
              <a:rPr lang="en-US" sz="1800" dirty="0">
                <a:effectLst/>
                <a:latin typeface="Calibri" panose="020F0502020204030204" pitchFamily="34" charset="0"/>
                <a:ea typeface="Calibri" panose="020F0502020204030204" pitchFamily="34" charset="0"/>
                <a:cs typeface="Cordia New" panose="020B0304020202020204" pitchFamily="34" charset="-34"/>
              </a:rPr>
              <a:t>Dose distribution prediction is currently done in treatment planning systems that simulate the delivery of radiation using Monte Carlo (MC) simulation, </a:t>
            </a:r>
            <a:r>
              <a:rPr lang="en-US" sz="1800" b="0" i="0" dirty="0">
                <a:solidFill>
                  <a:srgbClr val="374151"/>
                </a:solidFill>
                <a:effectLst/>
                <a:latin typeface="Söhne"/>
              </a:rPr>
              <a:t>Which </a:t>
            </a:r>
            <a:r>
              <a:rPr lang="en-US" sz="1800" dirty="0">
                <a:solidFill>
                  <a:srgbClr val="374151"/>
                </a:solidFill>
                <a:effectLst/>
                <a:latin typeface="Söhne"/>
              </a:rPr>
              <a:t>is very time-consuming</a:t>
            </a:r>
            <a:endParaRPr lang="en-US" sz="1800" dirty="0">
              <a:effectLst/>
              <a:latin typeface="Calibri" panose="020F0502020204030204" pitchFamily="34" charset="0"/>
              <a:ea typeface="Calibri" panose="020F0502020204030204" pitchFamily="34" charset="0"/>
              <a:cs typeface="Cordia New" panose="020B0304020202020204" pitchFamily="34" charset="-34"/>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800" dirty="0">
                <a:effectLst/>
                <a:latin typeface="Calibri" panose="020F0502020204030204" pitchFamily="34" charset="0"/>
                <a:ea typeface="Calibri" panose="020F0502020204030204" pitchFamily="34" charset="0"/>
                <a:cs typeface="Cordia New" panose="020B0304020202020204" pitchFamily="34" charset="-34"/>
              </a:rPr>
              <a:t>Recently, deep learning algorithms have been used for fast and accurate prediction of the dose distribution. The improvement </a:t>
            </a:r>
            <a:r>
              <a:rPr lang="en-US" sz="1800" dirty="0">
                <a:solidFill>
                  <a:srgbClr val="374151"/>
                </a:solidFill>
                <a:effectLst/>
                <a:latin typeface="Söhne"/>
              </a:rPr>
              <a:t>will lead to better outcomes for patients.</a:t>
            </a:r>
          </a:p>
        </p:txBody>
      </p:sp>
      <p:sp>
        <p:nvSpPr>
          <p:cNvPr id="4" name="Slide Number Placeholder 3"/>
          <p:cNvSpPr>
            <a:spLocks noGrp="1"/>
          </p:cNvSpPr>
          <p:nvPr>
            <p:ph type="sldNum" sz="quarter" idx="5"/>
          </p:nvPr>
        </p:nvSpPr>
        <p:spPr/>
        <p:txBody>
          <a:bodyPr/>
          <a:lstStyle/>
          <a:p>
            <a:pPr>
              <a:defRPr/>
            </a:pPr>
            <a:fld id="{29F5D725-8009-3D46-A493-0180CBBD5244}" type="slidenum">
              <a:rPr lang="de-AT" smtClean="0"/>
              <a:pPr>
                <a:defRPr/>
              </a:pPr>
              <a:t>2</a:t>
            </a:fld>
            <a:endParaRPr lang="de-AT"/>
          </a:p>
        </p:txBody>
      </p:sp>
    </p:spTree>
    <p:extLst>
      <p:ext uri="{BB962C8B-B14F-4D97-AF65-F5344CB8AC3E}">
        <p14:creationId xmlns:p14="http://schemas.microsoft.com/office/powerpoint/2010/main" val="17116305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Cordia New" panose="020B0304020202020204" pitchFamily="34" charset="-34"/>
              </a:rPr>
              <a:t>Various related works in the field of dose computation for radiotherapy used GANs to predict radiation dose </a:t>
            </a:r>
          </a:p>
          <a:p>
            <a:pPr marL="0" marR="0" algn="just">
              <a:lnSpc>
                <a:spcPct val="150000"/>
              </a:lnSpc>
              <a:spcBef>
                <a:spcPts val="0"/>
              </a:spcBef>
              <a:spcAft>
                <a:spcPts val="800"/>
              </a:spcAft>
            </a:pPr>
            <a:r>
              <a:rPr lang="en-US" sz="1200" dirty="0">
                <a:effectLst/>
                <a:latin typeface="Calibri" panose="020F0502020204030204" pitchFamily="34" charset="0"/>
                <a:ea typeface="Calibri" panose="020F0502020204030204" pitchFamily="34" charset="0"/>
                <a:cs typeface="Calibri" panose="020F0502020204030204" pitchFamily="34" charset="0"/>
              </a:rPr>
              <a:t>(Kearney et al., 2020)</a:t>
            </a:r>
            <a:r>
              <a:rPr lang="en-US" sz="1200" dirty="0">
                <a:effectLst/>
                <a:latin typeface="Calibri" panose="020F0502020204030204" pitchFamily="34" charset="0"/>
                <a:ea typeface="Calibri" panose="020F0502020204030204" pitchFamily="34" charset="0"/>
                <a:cs typeface="Cordia New" panose="020B0304020202020204" pitchFamily="34" charset="-34"/>
              </a:rPr>
              <a:t> propose </a:t>
            </a:r>
            <a:r>
              <a:rPr lang="en-US" sz="1200" dirty="0" err="1">
                <a:effectLst/>
                <a:latin typeface="Calibri" panose="020F0502020204030204" pitchFamily="34" charset="0"/>
                <a:ea typeface="Calibri" panose="020F0502020204030204" pitchFamily="34" charset="0"/>
                <a:cs typeface="Cordia New" panose="020B0304020202020204" pitchFamily="34" charset="-34"/>
              </a:rPr>
              <a:t>DoseGAN</a:t>
            </a:r>
            <a:r>
              <a:rPr lang="en-US" sz="1200" dirty="0">
                <a:effectLst/>
                <a:latin typeface="Calibri" panose="020F0502020204030204" pitchFamily="34" charset="0"/>
                <a:ea typeface="Calibri" panose="020F0502020204030204" pitchFamily="34" charset="0"/>
                <a:cs typeface="Cordia New" panose="020B0304020202020204" pitchFamily="34" charset="-34"/>
              </a:rPr>
              <a:t> as dose prediction algorithm., However, there was no depth-dose curves shown to compare the prediction with the MC simulation.</a:t>
            </a:r>
          </a:p>
          <a:p>
            <a:pPr marL="0" marR="0" algn="just">
              <a:lnSpc>
                <a:spcPct val="150000"/>
              </a:lnSpc>
              <a:spcBef>
                <a:spcPts val="0"/>
              </a:spcBef>
              <a:spcAft>
                <a:spcPts val="800"/>
              </a:spcAft>
            </a:pPr>
            <a:r>
              <a:rPr lang="en-US" sz="1200" dirty="0">
                <a:effectLst/>
                <a:latin typeface="Calibri" panose="020F0502020204030204" pitchFamily="34" charset="0"/>
                <a:ea typeface="Calibri" panose="020F0502020204030204" pitchFamily="34" charset="0"/>
                <a:cs typeface="Cordia New" panose="020B0304020202020204" pitchFamily="34" charset="-34"/>
              </a:rPr>
              <a:t>The recent study by </a:t>
            </a:r>
            <a:r>
              <a:rPr lang="en-US" sz="1200" dirty="0">
                <a:effectLst/>
                <a:latin typeface="Calibri" panose="020F0502020204030204" pitchFamily="34" charset="0"/>
                <a:ea typeface="Calibri" panose="020F0502020204030204" pitchFamily="34" charset="0"/>
                <a:cs typeface="Calibri" panose="020F0502020204030204" pitchFamily="34" charset="0"/>
              </a:rPr>
              <a:t>(</a:t>
            </a:r>
            <a:r>
              <a:rPr lang="en-US" sz="1200" dirty="0" err="1">
                <a:effectLst/>
                <a:latin typeface="Calibri" panose="020F0502020204030204" pitchFamily="34" charset="0"/>
                <a:ea typeface="Calibri" panose="020F0502020204030204" pitchFamily="34" charset="0"/>
                <a:cs typeface="Calibri" panose="020F0502020204030204" pitchFamily="34" charset="0"/>
              </a:rPr>
              <a:t>Mentzel</a:t>
            </a:r>
            <a:r>
              <a:rPr lang="en-US" sz="1200" dirty="0">
                <a:effectLst/>
                <a:latin typeface="Calibri" panose="020F0502020204030204" pitchFamily="34" charset="0"/>
                <a:ea typeface="Calibri" panose="020F0502020204030204" pitchFamily="34" charset="0"/>
                <a:cs typeface="Calibri" panose="020F0502020204030204" pitchFamily="34" charset="0"/>
              </a:rPr>
              <a:t> et al., 2022)</a:t>
            </a:r>
            <a:r>
              <a:rPr lang="en-US" sz="1200" dirty="0">
                <a:effectLst/>
                <a:latin typeface="Calibri" panose="020F0502020204030204" pitchFamily="34" charset="0"/>
                <a:ea typeface="Calibri" panose="020F0502020204030204" pitchFamily="34" charset="0"/>
                <a:cs typeface="Cordia New" panose="020B0304020202020204" pitchFamily="34" charset="-34"/>
              </a:rPr>
              <a:t> employed a GAN as a proof-of-concept to predict dose in simplified irradiation scenarios involving a water phantom with a rotating bone slab and varying thickness, as well as a pediatric head phantom.  However, the use of a broad beam instead of a microbeam and the absence of real irradiation scenarios raise questions about the model's performance in more complex and realistic settings. Moreover, none of the above studies explored the application of carbon ion particles.</a:t>
            </a:r>
          </a:p>
          <a:p>
            <a:endParaRPr lang="en-US" dirty="0"/>
          </a:p>
        </p:txBody>
      </p:sp>
      <p:sp>
        <p:nvSpPr>
          <p:cNvPr id="4" name="Slide Number Placeholder 3"/>
          <p:cNvSpPr>
            <a:spLocks noGrp="1"/>
          </p:cNvSpPr>
          <p:nvPr>
            <p:ph type="sldNum" sz="quarter" idx="5"/>
          </p:nvPr>
        </p:nvSpPr>
        <p:spPr/>
        <p:txBody>
          <a:bodyPr/>
          <a:lstStyle/>
          <a:p>
            <a:fld id="{5DB27EB1-2318-44B9-A355-109EE551BAF1}" type="slidenum">
              <a:rPr lang="en-US" smtClean="0"/>
              <a:t>3</a:t>
            </a:fld>
            <a:endParaRPr lang="en-US"/>
          </a:p>
        </p:txBody>
      </p:sp>
    </p:spTree>
    <p:extLst>
      <p:ext uri="{BB962C8B-B14F-4D97-AF65-F5344CB8AC3E}">
        <p14:creationId xmlns:p14="http://schemas.microsoft.com/office/powerpoint/2010/main" val="36257045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Workflow of Investigating model training strategies and optimization of the network.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I utilize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Pytorch</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framwork</a:t>
            </a:r>
            <a:r>
              <a:rPr lang="en-US" sz="1800" dirty="0">
                <a:effectLst/>
                <a:latin typeface="Calibri" panose="020F0502020204030204" pitchFamily="34" charset="0"/>
                <a:ea typeface="Calibri" panose="020F0502020204030204" pitchFamily="34" charset="0"/>
                <a:cs typeface="Times New Roman" panose="02020603050405020304" pitchFamily="18" charset="0"/>
              </a:rPr>
              <a:t> for this project and the workflow is as shown 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First get the data ready. It is most important to understand well the dataset and get the data in the right format for machine learning model. Next, I built the model, define loss function and optimizers. Then defined training loop of critic and generator. After fitting the model and make predictions, the model performance was evaluated by loss , passing rate and Mean square error.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model was improved through experimentation. Lastly the best model can be saved and loaded for making prediction.</a:t>
            </a:r>
          </a:p>
          <a:p>
            <a:endParaRPr lang="en-US" dirty="0"/>
          </a:p>
        </p:txBody>
      </p:sp>
      <p:sp>
        <p:nvSpPr>
          <p:cNvPr id="4" name="Slide Number Placeholder 3"/>
          <p:cNvSpPr>
            <a:spLocks noGrp="1"/>
          </p:cNvSpPr>
          <p:nvPr>
            <p:ph type="sldNum" sz="quarter" idx="5"/>
          </p:nvPr>
        </p:nvSpPr>
        <p:spPr/>
        <p:txBody>
          <a:bodyPr/>
          <a:lstStyle/>
          <a:p>
            <a:fld id="{5DB27EB1-2318-44B9-A355-109EE551BAF1}" type="slidenum">
              <a:rPr lang="en-US" smtClean="0"/>
              <a:t>4</a:t>
            </a:fld>
            <a:endParaRPr lang="en-US"/>
          </a:p>
        </p:txBody>
      </p:sp>
    </p:spTree>
    <p:extLst>
      <p:ext uri="{BB962C8B-B14F-4D97-AF65-F5344CB8AC3E}">
        <p14:creationId xmlns:p14="http://schemas.microsoft.com/office/powerpoint/2010/main" val="2692879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effectLst/>
                <a:latin typeface="Calibri" panose="020F0502020204030204" pitchFamily="34" charset="0"/>
                <a:ea typeface="Calibri" panose="020F0502020204030204" pitchFamily="34" charset="0"/>
                <a:cs typeface="Cordia New" panose="020B0304020202020204" pitchFamily="34" charset="-34"/>
              </a:rPr>
              <a:t>The dataset was already available and provided. It was produced based </a:t>
            </a:r>
            <a:r>
              <a:rPr lang="en-US" sz="1200" i="1" dirty="0">
                <a:solidFill>
                  <a:srgbClr val="7030A0"/>
                </a:solidFill>
              </a:rPr>
              <a:t>GLIS-RT which are </a:t>
            </a:r>
            <a:r>
              <a:rPr lang="en-US" sz="1800" dirty="0">
                <a:effectLst/>
                <a:latin typeface="Calibri" panose="020F0502020204030204" pitchFamily="34" charset="0"/>
                <a:ea typeface="Calibri" panose="020F0502020204030204" pitchFamily="34" charset="0"/>
                <a:cs typeface="Cordia New" panose="020B0304020202020204" pitchFamily="34" charset="-34"/>
              </a:rPr>
              <a:t>CT images of the head and neck region of various patients with a brain tumor.</a:t>
            </a:r>
          </a:p>
          <a:p>
            <a:endParaRPr lang="en-US" sz="1800" dirty="0">
              <a:effectLst/>
              <a:latin typeface="Calibri" panose="020F0502020204030204" pitchFamily="34" charset="0"/>
              <a:ea typeface="Calibri" panose="020F0502020204030204" pitchFamily="34" charset="0"/>
              <a:cs typeface="Cordia New" panose="020B0304020202020204" pitchFamily="34" charset="-34"/>
            </a:endParaRPr>
          </a:p>
          <a:p>
            <a:r>
              <a:rPr lang="en-US" sz="1800" dirty="0">
                <a:effectLst/>
                <a:latin typeface="Calibri" panose="020F0502020204030204" pitchFamily="34" charset="0"/>
                <a:ea typeface="Calibri" panose="020F0502020204030204" pitchFamily="34" charset="0"/>
                <a:cs typeface="Cordia New" panose="020B0304020202020204" pitchFamily="34" charset="-34"/>
              </a:rPr>
              <a:t>Monte-Carlo radiation transport simulations were performed using the simulation software Geant4 </a:t>
            </a:r>
            <a:r>
              <a:rPr lang="en-US" sz="1800" dirty="0">
                <a:effectLst/>
                <a:latin typeface="Calibri" panose="020F0502020204030204" pitchFamily="34" charset="0"/>
                <a:ea typeface="Calibri" panose="020F0502020204030204" pitchFamily="34" charset="0"/>
              </a:rPr>
              <a:t>(</a:t>
            </a:r>
            <a:r>
              <a:rPr lang="en-US" sz="1800" dirty="0" err="1">
                <a:effectLst/>
                <a:latin typeface="Calibri" panose="020F0502020204030204" pitchFamily="34" charset="0"/>
                <a:ea typeface="Calibri" panose="020F0502020204030204" pitchFamily="34" charset="0"/>
              </a:rPr>
              <a:t>Agostinelli</a:t>
            </a:r>
            <a:r>
              <a:rPr lang="en-US" sz="1800" dirty="0">
                <a:effectLst/>
                <a:latin typeface="Calibri" panose="020F0502020204030204" pitchFamily="34" charset="0"/>
                <a:ea typeface="Calibri" panose="020F0502020204030204" pitchFamily="34" charset="0"/>
              </a:rPr>
              <a:t> et al., 2003)</a:t>
            </a:r>
            <a:r>
              <a:rPr lang="en-US" sz="1800" dirty="0">
                <a:effectLst/>
                <a:latin typeface="Calibri" panose="020F0502020204030204" pitchFamily="34" charset="0"/>
                <a:ea typeface="Calibri" panose="020F0502020204030204" pitchFamily="34" charset="0"/>
                <a:cs typeface="Cordia New" panose="020B0304020202020204" pitchFamily="34" charset="-34"/>
              </a:rPr>
              <a:t> to calculate dose distributions. </a:t>
            </a:r>
          </a:p>
          <a:p>
            <a:endParaRPr lang="en-US" sz="1800" dirty="0">
              <a:effectLst/>
              <a:latin typeface="Calibri" panose="020F0502020204030204" pitchFamily="34" charset="0"/>
              <a:ea typeface="Calibri" panose="020F0502020204030204" pitchFamily="34" charset="0"/>
              <a:cs typeface="Cordia New" panose="020B0304020202020204" pitchFamily="34" charset="-34"/>
            </a:endParaRPr>
          </a:p>
        </p:txBody>
      </p:sp>
      <p:sp>
        <p:nvSpPr>
          <p:cNvPr id="4" name="Slide Number Placeholder 3"/>
          <p:cNvSpPr>
            <a:spLocks noGrp="1"/>
          </p:cNvSpPr>
          <p:nvPr>
            <p:ph type="sldNum" sz="quarter" idx="5"/>
          </p:nvPr>
        </p:nvSpPr>
        <p:spPr/>
        <p:txBody>
          <a:bodyPr/>
          <a:lstStyle/>
          <a:p>
            <a:fld id="{5DB27EB1-2318-44B9-A355-109EE551BAF1}" type="slidenum">
              <a:rPr lang="en-US" smtClean="0"/>
              <a:t>5</a:t>
            </a:fld>
            <a:endParaRPr lang="en-US"/>
          </a:p>
        </p:txBody>
      </p:sp>
    </p:spTree>
    <p:extLst>
      <p:ext uri="{BB962C8B-B14F-4D97-AF65-F5344CB8AC3E}">
        <p14:creationId xmlns:p14="http://schemas.microsoft.com/office/powerpoint/2010/main" val="7634468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l" defTabSz="914400" rtl="0" eaLnBrk="1" fontAlgn="auto" latinLnBrk="0" hangingPunct="1">
              <a:lnSpc>
                <a:spcPct val="100000"/>
              </a:lnSpc>
              <a:spcBef>
                <a:spcPts val="0"/>
              </a:spcBef>
              <a:spcAft>
                <a:spcPts val="0"/>
              </a:spcAft>
              <a:buClrTx/>
              <a:buSzTx/>
              <a:buFontTx/>
              <a:buAutoNum type="arabicParenR"/>
              <a:tabLst/>
              <a:defRPr/>
            </a:pPr>
            <a:r>
              <a:rPr lang="en-US" sz="1800" dirty="0">
                <a:effectLst/>
                <a:latin typeface="Calibri" panose="020F0502020204030204" pitchFamily="34" charset="0"/>
                <a:ea typeface="Calibri" panose="020F0502020204030204" pitchFamily="34" charset="0"/>
                <a:cs typeface="Cordia New" panose="020B0304020202020204" pitchFamily="34" charset="-34"/>
              </a:rPr>
              <a:t>The output of the MC simulation was organized as list files containing lines with [voxel index, dose value] voxel index encodes the x, y, z coordinates. To match a voxel grid system, the data required transformation</a:t>
            </a:r>
            <a:r>
              <a:rPr lang="en-US" sz="1200" b="0" i="0" u="none" strike="noStrike" dirty="0">
                <a:solidFill>
                  <a:srgbClr val="222222"/>
                </a:solidFill>
                <a:effectLst/>
                <a:latin typeface="Arial" panose="020B0604020202020204" pitchFamily="34" charset="0"/>
              </a:rPr>
              <a:t> to convert the energy deposition into 3D dose distribution.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cap="none" normalizeH="0" baseline="0" dirty="0">
                <a:ln>
                  <a:noFill/>
                </a:ln>
                <a:solidFill>
                  <a:srgbClr val="222222"/>
                </a:solidFill>
                <a:effectLst/>
                <a:latin typeface="Arial" panose="020B0604020202020204" pitchFamily="34" charset="0"/>
              </a:rPr>
              <a:t>2)</a:t>
            </a:r>
            <a:r>
              <a:rPr lang="en-US" sz="1200" dirty="0">
                <a:effectLst/>
                <a:latin typeface="Calibri" panose="020F0502020204030204" pitchFamily="34" charset="0"/>
                <a:ea typeface="Calibri" panose="020F0502020204030204" pitchFamily="34" charset="0"/>
                <a:cs typeface="Cordia New" panose="020B0304020202020204" pitchFamily="34" charset="-34"/>
              </a:rPr>
              <a:t> There were 6 patient datasets available for the project and each has a different number of voxels and different source locations to provide geometric variety. </a:t>
            </a:r>
            <a:endParaRPr kumimoji="0" lang="en-US" altLang="en-US" sz="1200" b="0" i="0" u="none" strike="noStrike" cap="none" normalizeH="0" baseline="0" dirty="0">
              <a:ln>
                <a:noFill/>
              </a:ln>
              <a:solidFill>
                <a:srgbClr val="1D1C1D"/>
              </a:solidFill>
              <a:effectLst/>
              <a:latin typeface="inheri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u="none" strike="noStrike" dirty="0">
                <a:solidFill>
                  <a:srgbClr val="222222"/>
                </a:solidFill>
                <a:effectLst/>
                <a:latin typeface="Arial" panose="020B0604020202020204" pitchFamily="34" charset="0"/>
              </a:rPr>
              <a:t>3</a:t>
            </a:r>
            <a:r>
              <a:rPr lang="en-US" sz="1050" b="0" i="0" u="none" strike="noStrike" dirty="0">
                <a:solidFill>
                  <a:srgbClr val="222222"/>
                </a:solidFill>
                <a:effectLst/>
                <a:latin typeface="Arial" panose="020B0604020202020204" pitchFamily="34" charset="0"/>
              </a:rPr>
              <a:t>) Energy deposition in water phantom </a:t>
            </a:r>
            <a:r>
              <a:rPr lang="en-US" sz="1050" dirty="0">
                <a:effectLst/>
                <a:latin typeface="Calibri" panose="020F0502020204030204" pitchFamily="34" charset="0"/>
                <a:ea typeface="Calibri" panose="020F0502020204030204" pitchFamily="34" charset="0"/>
                <a:cs typeface="Cordia New" panose="020B0304020202020204" pitchFamily="34" charset="-34"/>
              </a:rPr>
              <a:t>was simulated and saved as raw csv data. </a:t>
            </a:r>
            <a:r>
              <a:rPr lang="en-US" sz="1800" dirty="0">
                <a:effectLst/>
                <a:latin typeface="Calibri" panose="020F0502020204030204" pitchFamily="34" charset="0"/>
                <a:ea typeface="Calibri" panose="020F0502020204030204" pitchFamily="34" charset="0"/>
                <a:cs typeface="Cordia New" panose="020B0304020202020204" pitchFamily="34" charset="-34"/>
              </a:rPr>
              <a:t>The simulation output was processed to convert the raw simulation data into a three-dimensional dose map. The dose calculation was done for each carbon ion energy in the dataset…..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050" b="0" i="0" u="none" strike="noStrike" cap="none" normalizeH="0" baseline="0" dirty="0">
              <a:ln>
                <a:noFill/>
              </a:ln>
              <a:solidFill>
                <a:schemeClr val="tx1"/>
              </a:solidFill>
              <a:effectLst/>
            </a:endParaRPr>
          </a:p>
          <a:p>
            <a:endParaRPr lang="en-US" dirty="0"/>
          </a:p>
        </p:txBody>
      </p:sp>
      <p:sp>
        <p:nvSpPr>
          <p:cNvPr id="4" name="Slide Number Placeholder 3"/>
          <p:cNvSpPr>
            <a:spLocks noGrp="1"/>
          </p:cNvSpPr>
          <p:nvPr>
            <p:ph type="sldNum" sz="quarter" idx="5"/>
          </p:nvPr>
        </p:nvSpPr>
        <p:spPr/>
        <p:txBody>
          <a:bodyPr/>
          <a:lstStyle/>
          <a:p>
            <a:fld id="{5DB27EB1-2318-44B9-A355-109EE551BAF1}" type="slidenum">
              <a:rPr lang="en-US" smtClean="0"/>
              <a:t>6</a:t>
            </a:fld>
            <a:endParaRPr lang="en-US"/>
          </a:p>
        </p:txBody>
      </p:sp>
    </p:spTree>
    <p:extLst>
      <p:ext uri="{BB962C8B-B14F-4D97-AF65-F5344CB8AC3E}">
        <p14:creationId xmlns:p14="http://schemas.microsoft.com/office/powerpoint/2010/main" val="3698316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600" dirty="0">
                <a:solidFill>
                  <a:srgbClr val="3F3F3F"/>
                </a:solidFill>
                <a:latin typeface="Roboto" panose="02000000000000000000" pitchFamily="2" charset="0"/>
              </a:rPr>
              <a:t>Resampling = </a:t>
            </a:r>
            <a:r>
              <a:rPr lang="en-US" sz="1800" dirty="0">
                <a:effectLst/>
                <a:latin typeface="Calibri" panose="020F0502020204030204" pitchFamily="34" charset="0"/>
                <a:ea typeface="Calibri" panose="020F0502020204030204" pitchFamily="34" charset="0"/>
                <a:cs typeface="Cordia New" panose="020B0304020202020204" pitchFamily="34" charset="-34"/>
              </a:rPr>
              <a:t>ensure their consistency in terms of voxel size and range. </a:t>
            </a:r>
          </a:p>
          <a:p>
            <a:r>
              <a:rPr lang="en-US" sz="1800" dirty="0">
                <a:effectLst/>
                <a:latin typeface="Calibri" panose="020F0502020204030204" pitchFamily="34" charset="0"/>
                <a:ea typeface="Calibri" panose="020F0502020204030204" pitchFamily="34" charset="0"/>
                <a:cs typeface="Cordia New" panose="020B0304020202020204" pitchFamily="34" charset="-34"/>
              </a:rPr>
              <a:t>The next step involved cropping the data to precisely determine the beam center. It was mainly driven by the goal to optimize efficiency and reduce computational resource demands. </a:t>
            </a:r>
          </a:p>
          <a:p>
            <a:r>
              <a:rPr lang="en-US" sz="1800" b="0" i="0" u="none" strike="noStrike" dirty="0">
                <a:solidFill>
                  <a:srgbClr val="3F3F3F"/>
                </a:solidFill>
                <a:effectLst/>
                <a:latin typeface="Calibri" panose="020F0502020204030204" pitchFamily="34" charset="0"/>
                <a:cs typeface="Cordia New" panose="020B0304020202020204" pitchFamily="34" charset="-34"/>
              </a:rPr>
              <a:t>….</a:t>
            </a:r>
          </a:p>
          <a:p>
            <a:r>
              <a:rPr lang="en-US" sz="1800" dirty="0">
                <a:effectLst/>
                <a:latin typeface="Calibri" panose="020F0502020204030204" pitchFamily="34" charset="0"/>
                <a:ea typeface="Calibri" panose="020F0502020204030204" pitchFamily="34" charset="0"/>
                <a:cs typeface="Cordia New" panose="020B0304020202020204" pitchFamily="34" charset="-34"/>
              </a:rPr>
              <a:t>Finally, to optimize GPU utilization, a </a:t>
            </a:r>
            <a:r>
              <a:rPr lang="en-US" sz="1800" dirty="0" err="1">
                <a:effectLst/>
                <a:latin typeface="Calibri" panose="020F0502020204030204" pitchFamily="34" charset="0"/>
                <a:ea typeface="Calibri" panose="020F0502020204030204" pitchFamily="34" charset="0"/>
                <a:cs typeface="Cordia New" panose="020B0304020202020204" pitchFamily="34" charset="-34"/>
              </a:rPr>
              <a:t>DataLoader</a:t>
            </a:r>
            <a:r>
              <a:rPr lang="en-US" sz="1800" dirty="0">
                <a:effectLst/>
                <a:latin typeface="Calibri" panose="020F0502020204030204" pitchFamily="34" charset="0"/>
                <a:ea typeface="Calibri" panose="020F0502020204030204" pitchFamily="34" charset="0"/>
                <a:cs typeface="Cordia New" panose="020B0304020202020204" pitchFamily="34" charset="-34"/>
              </a:rPr>
              <a:t> was employed to load the data in batches of 32 samples. </a:t>
            </a:r>
            <a:endParaRPr lang="en-US" dirty="0"/>
          </a:p>
        </p:txBody>
      </p:sp>
      <p:sp>
        <p:nvSpPr>
          <p:cNvPr id="4" name="Slide Number Placeholder 3"/>
          <p:cNvSpPr>
            <a:spLocks noGrp="1"/>
          </p:cNvSpPr>
          <p:nvPr>
            <p:ph type="sldNum" sz="quarter" idx="5"/>
          </p:nvPr>
        </p:nvSpPr>
        <p:spPr/>
        <p:txBody>
          <a:bodyPr/>
          <a:lstStyle/>
          <a:p>
            <a:fld id="{5DB27EB1-2318-44B9-A355-109EE551BAF1}" type="slidenum">
              <a:rPr lang="en-US" smtClean="0"/>
              <a:t>7</a:t>
            </a:fld>
            <a:endParaRPr lang="en-US"/>
          </a:p>
        </p:txBody>
      </p:sp>
    </p:spTree>
    <p:extLst>
      <p:ext uri="{BB962C8B-B14F-4D97-AF65-F5344CB8AC3E}">
        <p14:creationId xmlns:p14="http://schemas.microsoft.com/office/powerpoint/2010/main" val="555653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dirty="0">
                <a:solidFill>
                  <a:srgbClr val="374151"/>
                </a:solidFill>
                <a:effectLst/>
                <a:latin typeface="Calibri" panose="020F0502020204030204" pitchFamily="34" charset="0"/>
              </a:rPr>
              <a:t> </a:t>
            </a:r>
          </a:p>
          <a:p>
            <a:pPr marL="0" marR="0">
              <a:spcBef>
                <a:spcPts val="0"/>
              </a:spcBef>
              <a:spcAft>
                <a:spcPts val="0"/>
              </a:spcAft>
            </a:pPr>
            <a:r>
              <a:rPr lang="en-US" sz="1800" dirty="0">
                <a:solidFill>
                  <a:srgbClr val="374151"/>
                </a:solidFill>
                <a:effectLst/>
                <a:latin typeface="Söhne"/>
              </a:rPr>
              <a:t> architecture of generator is a type of convolutional neural network (CNN) that is designed for 3D image segmentation tasks.</a:t>
            </a:r>
          </a:p>
          <a:p>
            <a:pPr marL="0" marR="0">
              <a:spcBef>
                <a:spcPts val="0"/>
              </a:spcBef>
              <a:spcAft>
                <a:spcPts val="0"/>
              </a:spcAft>
            </a:pPr>
            <a:r>
              <a:rPr lang="en-US" sz="1800" dirty="0">
                <a:solidFill>
                  <a:srgbClr val="374151"/>
                </a:solidFill>
                <a:effectLst/>
                <a:latin typeface="Söhne"/>
              </a:rPr>
              <a:t>It is composed of </a:t>
            </a:r>
          </a:p>
          <a:p>
            <a:pPr rtl="0" fontAlgn="ctr">
              <a:spcBef>
                <a:spcPts val="0"/>
              </a:spcBef>
              <a:spcAft>
                <a:spcPts val="0"/>
              </a:spcAft>
              <a:buFont typeface="Arial" panose="020B0604020202020204" pitchFamily="34" charset="0"/>
              <a:buChar char="•"/>
            </a:pPr>
            <a:r>
              <a:rPr lang="en-US" sz="1800" dirty="0">
                <a:solidFill>
                  <a:srgbClr val="374151"/>
                </a:solidFill>
                <a:effectLst/>
                <a:latin typeface="Söhne"/>
              </a:rPr>
              <a:t>encoder network that extracts features from the input 3D image,</a:t>
            </a:r>
            <a:endParaRPr lang="en-US" sz="1800" dirty="0">
              <a:solidFill>
                <a:srgbClr val="374151"/>
              </a:solidFill>
              <a:effectLst/>
              <a:latin typeface="Calibri" panose="020F0502020204030204" pitchFamily="34" charset="0"/>
            </a:endParaRPr>
          </a:p>
          <a:p>
            <a:pPr rtl="0" fontAlgn="ctr">
              <a:spcBef>
                <a:spcPts val="0"/>
              </a:spcBef>
              <a:spcAft>
                <a:spcPts val="0"/>
              </a:spcAft>
              <a:buFont typeface="Arial" panose="020B0604020202020204" pitchFamily="34" charset="0"/>
              <a:buChar char="•"/>
            </a:pPr>
            <a:r>
              <a:rPr lang="en-US" sz="1800" dirty="0">
                <a:solidFill>
                  <a:srgbClr val="374151"/>
                </a:solidFill>
                <a:effectLst/>
                <a:latin typeface="Söhne"/>
              </a:rPr>
              <a:t> a decoder network </a:t>
            </a:r>
          </a:p>
          <a:p>
            <a:pPr rtl="0" fontAlgn="ctr">
              <a:spcBef>
                <a:spcPts val="0"/>
              </a:spcBef>
              <a:spcAft>
                <a:spcPts val="0"/>
              </a:spcAft>
              <a:buFont typeface="Arial" panose="020B0604020202020204" pitchFamily="34" charset="0"/>
              <a:buChar char="•"/>
            </a:pPr>
            <a:r>
              <a:rPr lang="en-US" sz="1800" dirty="0">
                <a:solidFill>
                  <a:srgbClr val="374151"/>
                </a:solidFill>
                <a:effectLst/>
                <a:latin typeface="Söhne"/>
              </a:rPr>
              <a:t>skip connections that allow the network to preserve spatial information.</a:t>
            </a:r>
            <a:endParaRPr lang="en-US" sz="1800" dirty="0">
              <a:solidFill>
                <a:srgbClr val="374151"/>
              </a:solidFill>
              <a:effectLst/>
              <a:latin typeface="Calibri" panose="020F0502020204030204" pitchFamily="34" charset="0"/>
            </a:endParaRPr>
          </a:p>
          <a:p>
            <a:pPr marL="0" marR="0">
              <a:spcBef>
                <a:spcPts val="0"/>
              </a:spcBef>
              <a:spcAft>
                <a:spcPts val="0"/>
              </a:spcAft>
            </a:pPr>
            <a:r>
              <a:rPr lang="en-US" sz="1800" dirty="0">
                <a:solidFill>
                  <a:srgbClr val="374151"/>
                </a:solidFill>
                <a:effectLst/>
                <a:latin typeface="Calibri" panose="020F0502020204030204" pitchFamily="34" charset="0"/>
              </a:rPr>
              <a:t> </a:t>
            </a:r>
          </a:p>
          <a:p>
            <a:pPr marL="0" marR="0">
              <a:spcBef>
                <a:spcPts val="0"/>
              </a:spcBef>
              <a:spcAft>
                <a:spcPts val="0"/>
              </a:spcAft>
            </a:pPr>
            <a:r>
              <a:rPr lang="en-US" sz="1800" dirty="0">
                <a:solidFill>
                  <a:srgbClr val="374151"/>
                </a:solidFill>
                <a:effectLst/>
                <a:latin typeface="Söhne"/>
              </a:rPr>
              <a:t> the generator network takes both a random noise vector and a conditional input. The conditional input provides additional information to the generator</a:t>
            </a:r>
          </a:p>
          <a:p>
            <a:pPr marL="0" marR="0">
              <a:spcBef>
                <a:spcPts val="0"/>
              </a:spcBef>
              <a:spcAft>
                <a:spcPts val="0"/>
              </a:spcAft>
            </a:pPr>
            <a:r>
              <a:rPr lang="en-US" sz="1800" dirty="0">
                <a:effectLst/>
                <a:latin typeface="Calibri" panose="020F0502020204030204" pitchFamily="34" charset="0"/>
              </a:rPr>
              <a:t> </a:t>
            </a:r>
            <a:r>
              <a:rPr lang="en-US" sz="1800" u="sng" dirty="0">
                <a:effectLst/>
                <a:latin typeface="Calibri" panose="020F0502020204030204" pitchFamily="34" charset="0"/>
              </a:rPr>
              <a:t>output</a:t>
            </a:r>
            <a:r>
              <a:rPr lang="en-US" sz="1800" dirty="0">
                <a:effectLst/>
                <a:latin typeface="Calibri" panose="020F0502020204030204" pitchFamily="34" charset="0"/>
              </a:rPr>
              <a:t> = 3D matrix of dose map of specific size</a:t>
            </a:r>
          </a:p>
          <a:p>
            <a:endParaRPr lang="en-US" dirty="0"/>
          </a:p>
        </p:txBody>
      </p:sp>
      <p:sp>
        <p:nvSpPr>
          <p:cNvPr id="4" name="Slide Number Placeholder 3"/>
          <p:cNvSpPr>
            <a:spLocks noGrp="1"/>
          </p:cNvSpPr>
          <p:nvPr>
            <p:ph type="sldNum" sz="quarter" idx="5"/>
          </p:nvPr>
        </p:nvSpPr>
        <p:spPr/>
        <p:txBody>
          <a:bodyPr/>
          <a:lstStyle/>
          <a:p>
            <a:pPr>
              <a:defRPr/>
            </a:pPr>
            <a:fld id="{29F5D725-8009-3D46-A493-0180CBBD5244}" type="slidenum">
              <a:rPr lang="de-AT" smtClean="0"/>
              <a:pPr>
                <a:defRPr/>
              </a:pPr>
              <a:t>8</a:t>
            </a:fld>
            <a:endParaRPr lang="de-AT"/>
          </a:p>
        </p:txBody>
      </p:sp>
    </p:spTree>
    <p:extLst>
      <p:ext uri="{BB962C8B-B14F-4D97-AF65-F5344CB8AC3E}">
        <p14:creationId xmlns:p14="http://schemas.microsoft.com/office/powerpoint/2010/main" val="81573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200" dirty="0">
                <a:solidFill>
                  <a:srgbClr val="374151"/>
                </a:solidFill>
                <a:effectLst/>
                <a:latin typeface="Söhne"/>
              </a:rPr>
              <a:t>It is a relatively simple 3D convolutional network. The critic network receives both the generated images and the corresponding conditional input</a:t>
            </a:r>
            <a:endParaRPr lang="en-US" sz="1200" dirty="0">
              <a:solidFill>
                <a:srgbClr val="374151"/>
              </a:solidFill>
              <a:effectLst/>
              <a:latin typeface="Calibri" panose="020F0502020204030204" pitchFamily="34" charset="0"/>
            </a:endParaRPr>
          </a:p>
          <a:p>
            <a:pPr marL="0" marR="0">
              <a:spcBef>
                <a:spcPts val="0"/>
              </a:spcBef>
              <a:spcAft>
                <a:spcPts val="0"/>
              </a:spcAft>
            </a:pPr>
            <a:r>
              <a:rPr lang="en-US" sz="1200" dirty="0">
                <a:solidFill>
                  <a:srgbClr val="374151"/>
                </a:solidFill>
                <a:effectLst/>
                <a:latin typeface="Calibri" panose="020F0502020204030204" pitchFamily="34" charset="0"/>
              </a:rPr>
              <a:t>The three input matrices are concatenated and passed through consecutive 3D convolutions of decreasing ﬁlter size </a:t>
            </a:r>
          </a:p>
          <a:p>
            <a:pPr marL="0" marR="0">
              <a:spcBef>
                <a:spcPts val="0"/>
              </a:spcBef>
              <a:spcAft>
                <a:spcPts val="0"/>
              </a:spcAft>
            </a:pPr>
            <a:r>
              <a:rPr lang="en-US" sz="1200" dirty="0">
                <a:solidFill>
                  <a:srgbClr val="374151"/>
                </a:solidFill>
                <a:effectLst/>
                <a:latin typeface="Calibri" panose="020F0502020204030204" pitchFamily="34" charset="0"/>
              </a:rPr>
              <a:t>The last single linear unit gives a continuous and quantitative rating, which distinguishes simulated from generated samples </a:t>
            </a:r>
          </a:p>
          <a:p>
            <a:endParaRPr lang="en-US" dirty="0"/>
          </a:p>
        </p:txBody>
      </p:sp>
      <p:sp>
        <p:nvSpPr>
          <p:cNvPr id="4" name="Slide Number Placeholder 3"/>
          <p:cNvSpPr>
            <a:spLocks noGrp="1"/>
          </p:cNvSpPr>
          <p:nvPr>
            <p:ph type="sldNum" sz="quarter" idx="5"/>
          </p:nvPr>
        </p:nvSpPr>
        <p:spPr/>
        <p:txBody>
          <a:bodyPr/>
          <a:lstStyle/>
          <a:p>
            <a:pPr>
              <a:defRPr/>
            </a:pPr>
            <a:fld id="{29F5D725-8009-3D46-A493-0180CBBD5244}" type="slidenum">
              <a:rPr lang="de-AT" smtClean="0"/>
              <a:pPr>
                <a:defRPr/>
              </a:pPr>
              <a:t>9</a:t>
            </a:fld>
            <a:endParaRPr lang="de-AT"/>
          </a:p>
        </p:txBody>
      </p:sp>
    </p:spTree>
    <p:extLst>
      <p:ext uri="{BB962C8B-B14F-4D97-AF65-F5344CB8AC3E}">
        <p14:creationId xmlns:p14="http://schemas.microsoft.com/office/powerpoint/2010/main" val="39182253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Cordia New" panose="020B0304020202020204" pitchFamily="34" charset="-34"/>
                  </a:rPr>
                  <a:t>two primary components: the generator (G) and the discriminator (D) which are trained in a game-like fashion. </a:t>
                </a:r>
              </a:p>
              <a:p>
                <a:endParaRPr lang="en-US" dirty="0"/>
              </a:p>
              <a:p>
                <a:r>
                  <a:rPr lang="en-US" dirty="0"/>
                  <a:t>The loss function is based on </a:t>
                </a:r>
                <a:r>
                  <a:rPr lang="en-US" b="0" i="0" dirty="0">
                    <a:solidFill>
                      <a:srgbClr val="1F1F1F"/>
                    </a:solidFill>
                    <a:effectLst/>
                    <a:latin typeface="Source Sans Pro" panose="020B0503030403020204" pitchFamily="34" charset="0"/>
                  </a:rPr>
                  <a:t>Binary Cross Entropy </a:t>
                </a:r>
                <a:r>
                  <a:rPr lang="en-US" b="0" i="0" dirty="0" err="1">
                    <a:solidFill>
                      <a:srgbClr val="1F1F1F"/>
                    </a:solidFill>
                    <a:effectLst/>
                    <a:latin typeface="Source Sans Pro" panose="020B0503030403020204" pitchFamily="34" charset="0"/>
                  </a:rPr>
                  <a:t>function,</a:t>
                </a:r>
                <a:r>
                  <a:rPr lang="en-US" dirty="0" err="1"/>
                  <a:t>BCE</a:t>
                </a:r>
                <a:r>
                  <a:rPr lang="en-US" dirty="0"/>
                  <a:t> loss. It is optimized so that On one hand, discriminator to </a:t>
                </a:r>
                <a:r>
                  <a:rPr lang="en-US" dirty="0" err="1"/>
                  <a:t>maximiz</a:t>
                </a:r>
                <a:r>
                  <a:rPr lang="en-US" dirty="0"/>
                  <a:t> this term. On the other hand, the generator is trained to minimize it.</a:t>
                </a:r>
              </a:p>
              <a:p>
                <a:r>
                  <a:rPr lang="en-US" dirty="0"/>
                  <a:t>( NOTE: First term associating with x coming from the True probability distribution. The loss is 0 when the prediction is close to real label and minus infinity when it is predicting otherwise. The second term is related when the it is fake (x from Pg) but it classified  as real so will give minus infinity)</a:t>
                </a:r>
              </a:p>
              <a:p>
                <a:pPr marR="0" defTabSz="342900" eaLnBrk="1" hangingPunct="1">
                  <a:lnSpc>
                    <a:spcPct val="120000"/>
                  </a:lnSpc>
                  <a:spcBef>
                    <a:spcPts val="0"/>
                  </a:spcBef>
                  <a:spcAft>
                    <a:spcPts val="600"/>
                  </a:spcAft>
                  <a:buClr>
                    <a:srgbClr val="D40009"/>
                  </a:buClr>
                </a:pPr>
                <a:r>
                  <a:rPr lang="en-US" sz="1800" dirty="0">
                    <a:effectLst/>
                    <a:latin typeface="Calibri" panose="020F0502020204030204" pitchFamily="34" charset="0"/>
                  </a:rPr>
                  <a:t> Limitation …</a:t>
                </a:r>
              </a:p>
              <a:p>
                <a:pPr marR="0" defTabSz="342900" eaLnBrk="1" hangingPunct="1">
                  <a:lnSpc>
                    <a:spcPct val="120000"/>
                  </a:lnSpc>
                  <a:spcBef>
                    <a:spcPts val="0"/>
                  </a:spcBef>
                  <a:spcAft>
                    <a:spcPts val="600"/>
                  </a:spcAft>
                  <a:buClr>
                    <a:srgbClr val="D40009"/>
                  </a:buClr>
                </a:pPr>
                <a:r>
                  <a:rPr lang="de-DE" sz="1800" dirty="0">
                    <a:solidFill>
                      <a:prstClr val="black"/>
                    </a:solidFill>
                    <a:latin typeface="Source Sans Pro" charset="0"/>
                    <a:ea typeface="Source Sans Pro" charset="0"/>
                  </a:rPr>
                  <a:t>mode collapse = </a:t>
                </a:r>
                <a:r>
                  <a:rPr lang="en-US" sz="1800" dirty="0">
                    <a:effectLst/>
                    <a:latin typeface="Calibri" panose="020F0502020204030204" pitchFamily="34" charset="0"/>
                    <a:ea typeface="Calibri" panose="020F0502020204030204" pitchFamily="34" charset="0"/>
                    <a:cs typeface="Cordia New" panose="020B0304020202020204" pitchFamily="34" charset="-34"/>
                  </a:rPr>
                  <a:t>the generator can produce less variety of images because it learns that it can get high score for some of the images. </a:t>
                </a:r>
              </a:p>
              <a:p>
                <a:pPr rtl="0" fontAlgn="ctr">
                  <a:spcBef>
                    <a:spcPts val="0"/>
                  </a:spcBef>
                  <a:spcAft>
                    <a:spcPts val="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Cordia New" panose="020B0304020202020204" pitchFamily="34" charset="-34"/>
                  </a:rPr>
                  <a:t>Vanishing gradient occurs when </a:t>
                </a:r>
                <a14:m>
                  <m:oMath xmlns:m="http://schemas.openxmlformats.org/officeDocument/2006/math">
                    <m:sSub>
                      <m:sSubPr>
                        <m:ctrlPr>
                          <a:rPr lang="en-US" sz="1800" i="1">
                            <a:effectLst/>
                            <a:latin typeface="Cambria Math" panose="02040503050406030204" pitchFamily="18" charset="0"/>
                            <a:ea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Cordia New" panose="020B0304020202020204" pitchFamily="34" charset="-34"/>
                          </a:rPr>
                          <m:t>𝑝</m:t>
                        </m:r>
                      </m:e>
                      <m:sub>
                        <m:r>
                          <a:rPr lang="en-US" sz="1800" i="1">
                            <a:effectLst/>
                            <a:latin typeface="Cambria Math" panose="02040503050406030204" pitchFamily="18" charset="0"/>
                            <a:ea typeface="Times New Roman" panose="02020603050405020304" pitchFamily="18" charset="0"/>
                            <a:cs typeface="Cordia New" panose="020B0304020202020204" pitchFamily="34" charset="-34"/>
                          </a:rPr>
                          <m:t>𝑟</m:t>
                        </m:r>
                      </m:sub>
                    </m:sSub>
                  </m:oMath>
                </a14:m>
                <a:r>
                  <a:rPr lang="en-US" sz="1800" dirty="0">
                    <a:effectLst/>
                    <a:latin typeface="Calibri" panose="020F0502020204030204" pitchFamily="34" charset="0"/>
                    <a:ea typeface="Times New Roman" panose="02020603050405020304" pitchFamily="18" charset="0"/>
                    <a:cs typeface="Cordia New" panose="020B0304020202020204" pitchFamily="34" charset="-34"/>
                  </a:rPr>
                  <a:t> </a:t>
                </a:r>
                <a:r>
                  <a:rPr lang="en-US" sz="1800" dirty="0">
                    <a:effectLst/>
                    <a:latin typeface="Calibri" panose="020F0502020204030204" pitchFamily="34" charset="0"/>
                    <a:ea typeface="Calibri" panose="020F0502020204030204" pitchFamily="34" charset="0"/>
                    <a:cs typeface="Cordia New" panose="020B0304020202020204" pitchFamily="34" charset="-34"/>
                  </a:rPr>
                  <a:t>and  </a:t>
                </a:r>
                <a14:m>
                  <m:oMath xmlns:m="http://schemas.openxmlformats.org/officeDocument/2006/math">
                    <m:sSub>
                      <m:sSubPr>
                        <m:ctrlPr>
                          <a:rPr lang="en-US" sz="1800" i="1">
                            <a:effectLst/>
                            <a:latin typeface="Cambria Math" panose="02040503050406030204" pitchFamily="18" charset="0"/>
                            <a:ea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Cordia New" panose="020B0304020202020204" pitchFamily="34" charset="-34"/>
                          </a:rPr>
                          <m:t>𝑝</m:t>
                        </m:r>
                      </m:e>
                      <m:sub>
                        <m:r>
                          <a:rPr lang="en-US" sz="1800" i="1">
                            <a:effectLst/>
                            <a:latin typeface="Cambria Math" panose="02040503050406030204" pitchFamily="18" charset="0"/>
                            <a:ea typeface="Times New Roman" panose="02020603050405020304" pitchFamily="18" charset="0"/>
                            <a:cs typeface="Cordia New" panose="020B0304020202020204" pitchFamily="34" charset="-34"/>
                          </a:rPr>
                          <m:t>𝑔</m:t>
                        </m:r>
                      </m:sub>
                    </m:sSub>
                  </m:oMath>
                </a14:m>
                <a:r>
                  <a:rPr lang="en-US" sz="1800" dirty="0">
                    <a:effectLst/>
                    <a:latin typeface="Calibri" panose="020F0502020204030204" pitchFamily="34" charset="0"/>
                    <a:ea typeface="Calibri" panose="020F0502020204030204" pitchFamily="34" charset="0"/>
                    <a:cs typeface="Cordia New" panose="020B0304020202020204" pitchFamily="34" charset="-34"/>
                  </a:rPr>
                  <a:t> are disjoint. If the discriminator is perfect, the gradient of the loss function approaches zero. There is no gradient to update the loss during training iterations.</a:t>
                </a:r>
              </a:p>
              <a:p>
                <a:pPr rtl="0" fontAlgn="ctr">
                  <a:spcBef>
                    <a:spcPts val="0"/>
                  </a:spcBef>
                  <a:spcAft>
                    <a:spcPts val="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Cordia New" panose="020B0304020202020204" pitchFamily="34" charset="-34"/>
                  </a:rPr>
                  <a:t>when the discriminator performs poorly, the generator lacks precise feedback, leading to a loss function that fails to accurately represent reality. </a:t>
                </a:r>
              </a:p>
              <a:p>
                <a:pPr marL="0" marR="0">
                  <a:spcBef>
                    <a:spcPts val="0"/>
                  </a:spcBef>
                  <a:spcAft>
                    <a:spcPts val="0"/>
                  </a:spcAft>
                </a:pPr>
                <a:endParaRPr lang="en-US" sz="1800" dirty="0">
                  <a:effectLst/>
                  <a:latin typeface="Calibri" panose="020F0502020204030204" pitchFamily="34" charset="0"/>
                </a:endParaRPr>
              </a:p>
              <a:p>
                <a:pPr marL="0" marR="0">
                  <a:spcBef>
                    <a:spcPts val="0"/>
                  </a:spcBef>
                  <a:spcAft>
                    <a:spcPts val="0"/>
                  </a:spcAft>
                </a:pPr>
                <a:r>
                  <a:rPr lang="en-US" sz="1800" dirty="0">
                    <a:effectLst/>
                    <a:latin typeface="Calibri" panose="020F0502020204030204" pitchFamily="34" charset="0"/>
                  </a:rPr>
                  <a:t>The main reason behind non-convergence is that the divergence used by the classic GAN doesn't account for  "distance"</a:t>
                </a:r>
              </a:p>
              <a:p>
                <a:pPr marL="0" marR="0">
                  <a:spcBef>
                    <a:spcPts val="0"/>
                  </a:spcBef>
                  <a:spcAft>
                    <a:spcPts val="0"/>
                  </a:spcAft>
                </a:pPr>
                <a:r>
                  <a:rPr lang="en-US" sz="1800" dirty="0">
                    <a:effectLst/>
                    <a:latin typeface="Calibri" panose="020F0502020204030204" pitchFamily="34" charset="0"/>
                  </a:rPr>
                  <a:t>This is why it is difficult to get the meaningful gradient when the G is very bad. Because the gradient should tell you to move closer to the real probability distribution but it does ‘t know that information.</a:t>
                </a:r>
              </a:p>
              <a:p>
                <a:endParaRPr lang="en-US" dirty="0"/>
              </a:p>
            </p:txBody>
          </p:sp>
        </mc:Choice>
        <mc:Fallback>
          <p:sp>
            <p:nvSpPr>
              <p:cNvPr id="3" name="Notes Placeholder 2"/>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Cordia New" panose="020B0304020202020204" pitchFamily="34" charset="-34"/>
                  </a:rPr>
                  <a:t>two primary components: the generator (G) and the discriminator (D) which are trained in a game-like fashion. </a:t>
                </a:r>
              </a:p>
              <a:p>
                <a:endParaRPr lang="en-US" dirty="0"/>
              </a:p>
              <a:p>
                <a:r>
                  <a:rPr lang="en-US" dirty="0"/>
                  <a:t>The loss function is based on </a:t>
                </a:r>
                <a:r>
                  <a:rPr lang="en-US" b="0" i="0" dirty="0">
                    <a:solidFill>
                      <a:srgbClr val="1F1F1F"/>
                    </a:solidFill>
                    <a:effectLst/>
                    <a:latin typeface="Source Sans Pro" panose="020B0503030403020204" pitchFamily="34" charset="0"/>
                  </a:rPr>
                  <a:t>Binary Cross Entropy </a:t>
                </a:r>
                <a:r>
                  <a:rPr lang="en-US" b="0" i="0" dirty="0" err="1">
                    <a:solidFill>
                      <a:srgbClr val="1F1F1F"/>
                    </a:solidFill>
                    <a:effectLst/>
                    <a:latin typeface="Source Sans Pro" panose="020B0503030403020204" pitchFamily="34" charset="0"/>
                  </a:rPr>
                  <a:t>function,</a:t>
                </a:r>
                <a:r>
                  <a:rPr lang="en-US" dirty="0" err="1"/>
                  <a:t>BCE</a:t>
                </a:r>
                <a:r>
                  <a:rPr lang="en-US" dirty="0"/>
                  <a:t> loss. It is optimized so that On one hand, discriminator to </a:t>
                </a:r>
                <a:r>
                  <a:rPr lang="en-US" dirty="0" err="1"/>
                  <a:t>maximiz</a:t>
                </a:r>
                <a:r>
                  <a:rPr lang="en-US" dirty="0"/>
                  <a:t> this term. On the other hand, the generator is trained to minimize it.</a:t>
                </a:r>
              </a:p>
              <a:p>
                <a:r>
                  <a:rPr lang="en-US" dirty="0"/>
                  <a:t>( NOTE: First term associating with x coming from the True probability distribution. The loss is 0 when the prediction is close to real label and minus infinity when it is predicting otherwise. The second term is related when the it is fake (x from Pg) but it classified  as real so will give minus infinity)</a:t>
                </a:r>
              </a:p>
              <a:p>
                <a:pPr marR="0" defTabSz="342900" eaLnBrk="1" hangingPunct="1">
                  <a:lnSpc>
                    <a:spcPct val="120000"/>
                  </a:lnSpc>
                  <a:spcBef>
                    <a:spcPts val="0"/>
                  </a:spcBef>
                  <a:spcAft>
                    <a:spcPts val="600"/>
                  </a:spcAft>
                  <a:buClr>
                    <a:srgbClr val="D40009"/>
                  </a:buClr>
                </a:pPr>
                <a:r>
                  <a:rPr lang="en-US" sz="1800" dirty="0">
                    <a:effectLst/>
                    <a:latin typeface="Calibri" panose="020F0502020204030204" pitchFamily="34" charset="0"/>
                  </a:rPr>
                  <a:t> Limitation …</a:t>
                </a:r>
              </a:p>
              <a:p>
                <a:pPr marR="0" defTabSz="342900" eaLnBrk="1" hangingPunct="1">
                  <a:lnSpc>
                    <a:spcPct val="120000"/>
                  </a:lnSpc>
                  <a:spcBef>
                    <a:spcPts val="0"/>
                  </a:spcBef>
                  <a:spcAft>
                    <a:spcPts val="600"/>
                  </a:spcAft>
                  <a:buClr>
                    <a:srgbClr val="D40009"/>
                  </a:buClr>
                </a:pPr>
                <a:r>
                  <a:rPr lang="de-DE" sz="1800" dirty="0">
                    <a:solidFill>
                      <a:prstClr val="black"/>
                    </a:solidFill>
                    <a:latin typeface="Source Sans Pro" charset="0"/>
                    <a:ea typeface="Source Sans Pro" charset="0"/>
                  </a:rPr>
                  <a:t>mode collapse = </a:t>
                </a:r>
                <a:r>
                  <a:rPr lang="en-US" sz="1800" dirty="0">
                    <a:effectLst/>
                    <a:latin typeface="Calibri" panose="020F0502020204030204" pitchFamily="34" charset="0"/>
                    <a:ea typeface="Calibri" panose="020F0502020204030204" pitchFamily="34" charset="0"/>
                    <a:cs typeface="Cordia New" panose="020B0304020202020204" pitchFamily="34" charset="-34"/>
                  </a:rPr>
                  <a:t>the generator can produce less variety of images because it learns that it can get high score for some of the images. </a:t>
                </a:r>
              </a:p>
              <a:p>
                <a:pPr rtl="0" fontAlgn="ctr">
                  <a:spcBef>
                    <a:spcPts val="0"/>
                  </a:spcBef>
                  <a:spcAft>
                    <a:spcPts val="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Cordia New" panose="020B0304020202020204" pitchFamily="34" charset="-34"/>
                  </a:rPr>
                  <a:t>Vanishing gradient occurs when </a:t>
                </a:r>
                <a:r>
                  <a:rPr lang="en-US" sz="1800" i="0">
                    <a:effectLst/>
                    <a:latin typeface="Cambria Math" panose="02040503050406030204" pitchFamily="18" charset="0"/>
                    <a:ea typeface="Times New Roman" panose="02020603050405020304" pitchFamily="18" charset="0"/>
                    <a:cs typeface="Cordia New" panose="020B0304020202020204" pitchFamily="34" charset="-34"/>
                  </a:rPr>
                  <a:t>𝑝_𝑟</a:t>
                </a:r>
                <a:r>
                  <a:rPr lang="en-US" sz="1800" dirty="0">
                    <a:effectLst/>
                    <a:latin typeface="Calibri" panose="020F0502020204030204" pitchFamily="34" charset="0"/>
                    <a:ea typeface="Times New Roman" panose="02020603050405020304" pitchFamily="18" charset="0"/>
                    <a:cs typeface="Cordia New" panose="020B0304020202020204" pitchFamily="34" charset="-34"/>
                  </a:rPr>
                  <a:t> </a:t>
                </a:r>
                <a:r>
                  <a:rPr lang="en-US" sz="1800" dirty="0">
                    <a:effectLst/>
                    <a:latin typeface="Calibri" panose="020F0502020204030204" pitchFamily="34" charset="0"/>
                    <a:ea typeface="Calibri" panose="020F0502020204030204" pitchFamily="34" charset="0"/>
                    <a:cs typeface="Cordia New" panose="020B0304020202020204" pitchFamily="34" charset="-34"/>
                  </a:rPr>
                  <a:t>and  </a:t>
                </a:r>
                <a:r>
                  <a:rPr lang="en-US" sz="1800" i="0">
                    <a:effectLst/>
                    <a:latin typeface="Cambria Math" panose="02040503050406030204" pitchFamily="18" charset="0"/>
                    <a:ea typeface="Times New Roman" panose="02020603050405020304" pitchFamily="18" charset="0"/>
                    <a:cs typeface="Cordia New" panose="020B0304020202020204" pitchFamily="34" charset="-34"/>
                  </a:rPr>
                  <a:t>𝑝_𝑔</a:t>
                </a:r>
                <a:r>
                  <a:rPr lang="en-US" sz="1800" dirty="0">
                    <a:effectLst/>
                    <a:latin typeface="Calibri" panose="020F0502020204030204" pitchFamily="34" charset="0"/>
                    <a:ea typeface="Calibri" panose="020F0502020204030204" pitchFamily="34" charset="0"/>
                    <a:cs typeface="Cordia New" panose="020B0304020202020204" pitchFamily="34" charset="-34"/>
                  </a:rPr>
                  <a:t> are disjoint. If the discriminator is perfect, the gradient of the loss function approaches zero. There is no gradient to update the loss during training iterations.</a:t>
                </a:r>
              </a:p>
              <a:p>
                <a:pPr rtl="0" fontAlgn="ctr">
                  <a:spcBef>
                    <a:spcPts val="0"/>
                  </a:spcBef>
                  <a:spcAft>
                    <a:spcPts val="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Cordia New" panose="020B0304020202020204" pitchFamily="34" charset="-34"/>
                  </a:rPr>
                  <a:t>when the discriminator performs poorly, the generator lacks precise feedback, leading to a loss function that fails to accurately represent reality. </a:t>
                </a:r>
              </a:p>
              <a:p>
                <a:pPr marL="0" marR="0">
                  <a:spcBef>
                    <a:spcPts val="0"/>
                  </a:spcBef>
                  <a:spcAft>
                    <a:spcPts val="0"/>
                  </a:spcAft>
                </a:pPr>
                <a:endParaRPr lang="en-US" sz="1800" dirty="0">
                  <a:effectLst/>
                  <a:latin typeface="Calibri" panose="020F0502020204030204" pitchFamily="34" charset="0"/>
                </a:endParaRPr>
              </a:p>
              <a:p>
                <a:pPr marL="0" marR="0">
                  <a:spcBef>
                    <a:spcPts val="0"/>
                  </a:spcBef>
                  <a:spcAft>
                    <a:spcPts val="0"/>
                  </a:spcAft>
                </a:pPr>
                <a:r>
                  <a:rPr lang="en-US" sz="1800" dirty="0">
                    <a:effectLst/>
                    <a:latin typeface="Calibri" panose="020F0502020204030204" pitchFamily="34" charset="0"/>
                  </a:rPr>
                  <a:t>The main reason behind non-convergence is that the divergence used by the classic GAN doesn't account for  "distance"</a:t>
                </a:r>
              </a:p>
              <a:p>
                <a:pPr marL="0" marR="0">
                  <a:spcBef>
                    <a:spcPts val="0"/>
                  </a:spcBef>
                  <a:spcAft>
                    <a:spcPts val="0"/>
                  </a:spcAft>
                </a:pPr>
                <a:r>
                  <a:rPr lang="en-US" sz="1800" dirty="0">
                    <a:effectLst/>
                    <a:latin typeface="Calibri" panose="020F0502020204030204" pitchFamily="34" charset="0"/>
                  </a:rPr>
                  <a:t>This is why it is difficult to get the meaningful gradient when the G is very bad. Because the gradient should tell you to move closer to the real probability distribution but it does ‘t know that information.</a:t>
                </a:r>
              </a:p>
              <a:p>
                <a:endParaRPr lang="en-US" dirty="0"/>
              </a:p>
            </p:txBody>
          </p:sp>
        </mc:Fallback>
      </mc:AlternateContent>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9F5D725-8009-3D46-A493-0180CBBD5244}" type="slidenum">
              <a:rPr kumimoji="0" lang="de-AT"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de-AT"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280894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Cordia New" panose="020B0304020202020204" pitchFamily="34" charset="-34"/>
                  </a:rPr>
                  <a:t>WGAN extends traditional GANs by employing the Wasserstein distance as the loss function instead </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rPr>
                  <a:t>Earth mover's distance </a:t>
                </a:r>
                <a:r>
                  <a:rPr lang="en-US" sz="1200" kern="1200" dirty="0">
                    <a:solidFill>
                      <a:schemeClr val="tx1"/>
                    </a:solidFill>
                    <a:effectLst/>
                    <a:latin typeface="+mn-lt"/>
                    <a:ea typeface="+mn-ea"/>
                    <a:cs typeface="+mn-cs"/>
                  </a:rPr>
                  <a:t>can tells how far we must go to transport points from one distribution to another. </a:t>
                </a:r>
                <a:r>
                  <a:rPr lang="en-US" sz="1200" dirty="0">
                    <a:effectLst/>
                    <a:latin typeface="Calibri" panose="020F0502020204030204" pitchFamily="34" charset="0"/>
                  </a:rPr>
                  <a:t>. However, </a:t>
                </a:r>
                <a:r>
                  <a:rPr lang="en-US" sz="1800" dirty="0">
                    <a:effectLst/>
                    <a:latin typeface="Calibri" panose="020F0502020204030204" pitchFamily="34" charset="0"/>
                    <a:ea typeface="Calibri" panose="020F0502020204030204" pitchFamily="34" charset="0"/>
                    <a:cs typeface="Cordia New" panose="020B0304020202020204" pitchFamily="34" charset="-34"/>
                  </a:rPr>
                  <a:t>exploring all potential joint distributions to compute</a:t>
                </a:r>
                <a:r>
                  <a:rPr lang="en-US" sz="1800" baseline="0" dirty="0">
                    <a:effectLst/>
                    <a:latin typeface="Calibri" panose="020F0502020204030204" pitchFamily="34" charset="0"/>
                    <a:ea typeface="Calibri" panose="020F0502020204030204" pitchFamily="34" charset="0"/>
                    <a:cs typeface="Cordia New" panose="020B0304020202020204" pitchFamily="34" charset="-34"/>
                  </a:rPr>
                  <a:t> the distance </a:t>
                </a:r>
                <a:r>
                  <a:rPr lang="en-US" sz="1800" dirty="0">
                    <a:effectLst/>
                    <a:latin typeface="Calibri" panose="020F0502020204030204" pitchFamily="34" charset="0"/>
                    <a:ea typeface="Calibri" panose="020F0502020204030204" pitchFamily="34" charset="0"/>
                    <a:cs typeface="Cordia New" panose="020B0304020202020204" pitchFamily="34" charset="-34"/>
                  </a:rPr>
                  <a:t>is impractical. Therefore, </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err="1">
                    <a:effectLst/>
                    <a:latin typeface="Calibri" panose="020F0502020204030204" pitchFamily="34" charset="0"/>
                    <a:ea typeface="Calibri" panose="020F0502020204030204" pitchFamily="34" charset="0"/>
                    <a:cs typeface="Calibri" panose="020F0502020204030204" pitchFamily="34" charset="0"/>
                  </a:rPr>
                  <a:t>Arjovsky</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a:effectLst/>
                    <a:latin typeface="Calibri" panose="020F0502020204030204" pitchFamily="34" charset="0"/>
                    <a:ea typeface="Calibri" panose="020F0502020204030204" pitchFamily="34" charset="0"/>
                    <a:cs typeface="Cordia New" panose="020B0304020202020204" pitchFamily="34" charset="-34"/>
                  </a:rPr>
                  <a:t> suggest a transformation of the formula using Kantorovich-Rubinstein duality to derive the WGAN value function</a:t>
                </a:r>
              </a:p>
              <a:p>
                <a:pPr marL="0" marR="0">
                  <a:spcBef>
                    <a:spcPts val="0"/>
                  </a:spcBef>
                  <a:spcAft>
                    <a:spcPts val="0"/>
                  </a:spcAft>
                </a:pPr>
                <a:r>
                  <a:rPr lang="en-US" sz="1200" dirty="0">
                    <a:effectLst/>
                    <a:latin typeface="Calibri" panose="020F0502020204030204" pitchFamily="34" charset="0"/>
                  </a:rPr>
                  <a:t>Finally, we take the minimum one among the costs of all moving solutions as the EM distance.</a:t>
                </a: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How to implement it?. We want the function’s rate of change to be bounded to grow linearly. This will increase the stability.</a:t>
                </a:r>
              </a:p>
              <a:p>
                <a:pPr marL="0" indent="0" defTabSz="914400">
                  <a:lnSpc>
                    <a:spcPct val="100000"/>
                  </a:lnSpc>
                  <a:spcBef>
                    <a:spcPts val="0"/>
                  </a:spcBef>
                  <a:spcAft>
                    <a:spcPts val="0"/>
                  </a:spcAft>
                  <a:buClrTx/>
                  <a:buFont typeface="Arial" panose="020B0604020202020204" pitchFamily="34" charset="0"/>
                  <a:buNone/>
                  <a:defRPr/>
                </a:pPr>
                <a:r>
                  <a:rPr lang="en-US" sz="1800" dirty="0">
                    <a:latin typeface="Calibri" panose="020F0502020204030204" pitchFamily="34" charset="0"/>
                  </a:rPr>
                  <a:t>Weight clipping  = </a:t>
                </a:r>
                <a:r>
                  <a:rPr lang="en-US" dirty="0">
                    <a:latin typeface="Calibri" panose="020F0502020204030204" pitchFamily="34" charset="0"/>
                  </a:rPr>
                  <a:t>Clip the weight of the discriminator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latin typeface="Calibri" panose="020F0502020204030204" pitchFamily="34" charset="0"/>
                  </a:rPr>
                  <a:t>gradient penalty (GP)</a:t>
                </a:r>
                <a:r>
                  <a:rPr lang="en-US" sz="1200" dirty="0">
                    <a:effectLst/>
                    <a:latin typeface="Calibri" panose="020F0502020204030204" pitchFamily="34" charset="0"/>
                  </a:rPr>
                  <a:t> to regularize and stabilize the weight updates. </a:t>
                </a:r>
                <a:endParaRPr lang="en-US" sz="1800" dirty="0">
                  <a:effectLst/>
                  <a:latin typeface="Calibri" panose="020F0502020204030204" pitchFamily="34" charset="0"/>
                  <a:ea typeface="Calibri" panose="020F0502020204030204" pitchFamily="34" charset="0"/>
                  <a:cs typeface="Cordia New" panose="020B0304020202020204" pitchFamily="34" charset="-34"/>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effectLst/>
                    <a:latin typeface="Calibri" panose="020F0502020204030204" pitchFamily="34" charset="0"/>
                    <a:ea typeface="Calibri" panose="020F0502020204030204" pitchFamily="34" charset="0"/>
                    <a:cs typeface="Cordia New" panose="020B0304020202020204" pitchFamily="34" charset="-34"/>
                  </a:rPr>
                  <a:t>We can express </a:t>
                </a:r>
                <a:r>
                  <a:rPr lang="en-US" sz="1800" b="1" i="1" dirty="0">
                    <a:effectLst/>
                    <a:latin typeface="Calibri" panose="020F0502020204030204" pitchFamily="34" charset="0"/>
                    <a:ea typeface="Calibri" panose="020F0502020204030204" pitchFamily="34" charset="0"/>
                    <a:cs typeface="Cordia New" panose="020B0304020202020204" pitchFamily="34" charset="-34"/>
                  </a:rPr>
                  <a:t>Eq.3 </a:t>
                </a:r>
                <a:r>
                  <a:rPr lang="en-US" sz="1800" dirty="0">
                    <a:effectLst/>
                    <a:latin typeface="Calibri" panose="020F0502020204030204" pitchFamily="34" charset="0"/>
                    <a:ea typeface="Calibri" panose="020F0502020204030204" pitchFamily="34" charset="0"/>
                    <a:cs typeface="Cordia New" panose="020B0304020202020204" pitchFamily="34" charset="-34"/>
                  </a:rPr>
                  <a:t> in terms of the generator </a:t>
                </a:r>
                <a14:m>
                  <m:oMath xmlns:m="http://schemas.openxmlformats.org/officeDocument/2006/math">
                    <m:r>
                      <a:rPr lang="en-US" sz="1800" i="1">
                        <a:effectLst/>
                        <a:latin typeface="Cambria Math" panose="02040503050406030204" pitchFamily="18" charset="0"/>
                        <a:ea typeface="Calibri" panose="020F0502020204030204" pitchFamily="34" charset="0"/>
                        <a:cs typeface="Cordia New" panose="020B0304020202020204" pitchFamily="34" charset="-34"/>
                      </a:rPr>
                      <m:t>𝐺</m:t>
                    </m:r>
                  </m:oMath>
                </a14:m>
                <a:r>
                  <a:rPr lang="en-US" sz="1800" dirty="0">
                    <a:effectLst/>
                    <a:latin typeface="Calibri" panose="020F0502020204030204" pitchFamily="34" charset="0"/>
                    <a:ea typeface="Calibri" panose="020F0502020204030204" pitchFamily="34" charset="0"/>
                    <a:cs typeface="Cordia New" panose="020B0304020202020204" pitchFamily="34" charset="-34"/>
                  </a:rPr>
                  <a:t>  and the critic </a:t>
                </a:r>
                <a14:m>
                  <m:oMath xmlns:m="http://schemas.openxmlformats.org/officeDocument/2006/math">
                    <m:r>
                      <a:rPr lang="en-US" sz="1800" i="1">
                        <a:effectLst/>
                        <a:latin typeface="Cambria Math" panose="02040503050406030204" pitchFamily="18" charset="0"/>
                        <a:ea typeface="Calibri" panose="020F0502020204030204" pitchFamily="34" charset="0"/>
                        <a:cs typeface="Cordia New" panose="020B0304020202020204" pitchFamily="34" charset="-34"/>
                      </a:rPr>
                      <m:t>𝐷</m:t>
                    </m:r>
                  </m:oMath>
                </a14:m>
                <a:r>
                  <a:rPr lang="en-US" sz="1800" dirty="0">
                    <a:effectLst/>
                    <a:latin typeface="Calibri" panose="020F0502020204030204" pitchFamily="34" charset="0"/>
                    <a:ea typeface="Calibri" panose="020F0502020204030204" pitchFamily="34" charset="0"/>
                    <a:cs typeface="Cordia New" panose="020B0304020202020204" pitchFamily="34" charset="-34"/>
                  </a:rPr>
                  <a:t> of the GAN. where </a:t>
                </a:r>
                <a14:m>
                  <m:oMath xmlns:m="http://schemas.openxmlformats.org/officeDocument/2006/math">
                    <m:r>
                      <a:rPr lang="en-US" sz="1800" i="1">
                        <a:effectLst/>
                        <a:latin typeface="Cambria Math" panose="02040503050406030204" pitchFamily="18" charset="0"/>
                        <a:ea typeface="Calibri" panose="020F0502020204030204" pitchFamily="34" charset="0"/>
                        <a:cs typeface="Cordia New" panose="020B0304020202020204" pitchFamily="34" charset="-34"/>
                      </a:rPr>
                      <m:t>𝑧</m:t>
                    </m:r>
                    <m:r>
                      <a:rPr lang="en-US" sz="1800" i="1">
                        <a:effectLst/>
                        <a:latin typeface="Cambria Math" panose="02040503050406030204" pitchFamily="18" charset="0"/>
                        <a:ea typeface="Calibri" panose="020F0502020204030204" pitchFamily="34" charset="0"/>
                        <a:cs typeface="Cordia New" panose="020B0304020202020204" pitchFamily="34" charset="-34"/>
                      </a:rPr>
                      <m:t> </m:t>
                    </m:r>
                  </m:oMath>
                </a14:m>
                <a:r>
                  <a:rPr lang="en-US" sz="1800" dirty="0">
                    <a:effectLst/>
                    <a:latin typeface="Calibri" panose="020F0502020204030204" pitchFamily="34" charset="0"/>
                    <a:ea typeface="Calibri" panose="020F0502020204030204" pitchFamily="34" charset="0"/>
                    <a:cs typeface="Cordia New" panose="020B0304020202020204" pitchFamily="34" charset="-34"/>
                  </a:rPr>
                  <a:t> is drawn from a noise distribution. The WGAN value function is then defined as</a:t>
                </a:r>
                <a:r>
                  <a:rPr lang="en-US" sz="1800" baseline="0" dirty="0">
                    <a:effectLst/>
                    <a:latin typeface="Calibri" panose="020F0502020204030204" pitchFamily="34" charset="0"/>
                    <a:ea typeface="Calibri" panose="020F0502020204030204" pitchFamily="34" charset="0"/>
                    <a:cs typeface="Cordia New" panose="020B0304020202020204" pitchFamily="34" charset="-34"/>
                  </a:rPr>
                  <a:t> Eq.4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generator aims to minimize the value function in </a:t>
                </a:r>
                <a:r>
                  <a:rPr lang="en-US" sz="1800" b="1" i="1" dirty="0">
                    <a:effectLst/>
                    <a:latin typeface="Calibri" panose="020F0502020204030204" pitchFamily="34" charset="0"/>
                    <a:ea typeface="Calibri" panose="020F0502020204030204" pitchFamily="34" charset="0"/>
                    <a:cs typeface="Cordia New" panose="020B0304020202020204" pitchFamily="34" charset="-34"/>
                  </a:rPr>
                  <a:t>Eq. 4</a:t>
                </a:r>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Its goal is to produce data that receives a high score from the critic or is considered real.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800" dirty="0">
                  <a:solidFill>
                    <a:srgbClr val="000000"/>
                  </a:solidFill>
                  <a:effectLst/>
                  <a:latin typeface="Calibri" panose="020F0502020204030204" pitchFamily="34" charset="0"/>
                  <a:ea typeface="Times New Roman" panose="02020603050405020304" pitchFamily="18" charset="0"/>
                </a:endParaRPr>
              </a:p>
              <a:p>
                <a:pPr algn="l"/>
                <a:r>
                  <a:rPr lang="en-US" b="0" i="0" dirty="0">
                    <a:solidFill>
                      <a:srgbClr val="0D0D0D"/>
                    </a:solidFill>
                    <a:effectLst/>
                    <a:latin typeface="Söhne"/>
                  </a:rPr>
                  <a:t>Critic loss: </a:t>
                </a:r>
                <a:r>
                  <a:rPr lang="en-US" sz="1200" dirty="0">
                    <a:solidFill>
                      <a:srgbClr val="000000"/>
                    </a:solidFill>
                    <a:effectLst/>
                    <a:latin typeface="Calibri" panose="020F0502020204030204" pitchFamily="34" charset="0"/>
                    <a:ea typeface="Times New Roman" panose="02020603050405020304" pitchFamily="18" charset="0"/>
                  </a:rPr>
                  <a:t>With the gradient penalty term added, we train the critic to minimize the following function </a:t>
                </a:r>
                <a:r>
                  <a:rPr lang="en-US" sz="1000" dirty="0">
                    <a:effectLst/>
                    <a:latin typeface="Calibri" panose="020F0502020204030204" pitchFamily="34" charset="0"/>
                  </a:rPr>
                  <a:t>(</a:t>
                </a:r>
                <a:r>
                  <a:rPr lang="en-US" sz="1200" dirty="0">
                    <a:effectLst/>
                    <a:latin typeface="Calibri" panose="020F0502020204030204" pitchFamily="34" charset="0"/>
                    <a:ea typeface="Calibri" panose="020F0502020204030204" pitchFamily="34" charset="0"/>
                    <a:cs typeface="Cordia New" panose="020B0304020202020204" pitchFamily="34" charset="-34"/>
                  </a:rPr>
                  <a:t>The intuitive of gradient penalty is that it ensures the norm of the gradient or slope to be at most 1 for every point. )</a:t>
                </a:r>
              </a:p>
              <a:p>
                <a:pPr algn="l"/>
                <a:endParaRPr lang="en-US" sz="1200" b="0" i="0" dirty="0">
                  <a:solidFill>
                    <a:srgbClr val="0D0D0D"/>
                  </a:solidFill>
                  <a:effectLst/>
                  <a:latin typeface="Söhne"/>
                </a:endParaRPr>
              </a:p>
              <a:p>
                <a:pPr algn="l"/>
                <a:r>
                  <a:rPr lang="en-US" b="0" i="0" dirty="0">
                    <a:solidFill>
                      <a:srgbClr val="0D0D0D"/>
                    </a:solidFill>
                    <a:effectLst/>
                    <a:latin typeface="Söhne"/>
                  </a:rPr>
                  <a:t>In practice, the training of the Wasserstein GAN involves alternating between updating the critic and updating the generator. The critic is trained more times  in each iteration to ensure a good approximation of the Wasserstein distance. The generator is then updated based on the current critic.</a:t>
                </a:r>
                <a:endParaRPr lang="en-US" sz="1200" dirty="0">
                  <a:effectLst/>
                  <a:latin typeface="Calibri" panose="020F0502020204030204" pitchFamily="34" charset="0"/>
                </a:endParaRPr>
              </a:p>
              <a:p>
                <a:pPr rtl="0" fontAlgn="ctr">
                  <a:spcBef>
                    <a:spcPts val="0"/>
                  </a:spcBef>
                  <a:spcAft>
                    <a:spcPts val="0"/>
                  </a:spcAft>
                  <a:buFont typeface="Arial" panose="020B0604020202020204" pitchFamily="34" charset="0"/>
                  <a:buChar char="•"/>
                </a:pPr>
                <a:endParaRPr lang="en-US" sz="1200" dirty="0">
                  <a:effectLst/>
                  <a:latin typeface="Calibri" panose="020F0502020204030204" pitchFamily="34" charset="0"/>
                </a:endParaRPr>
              </a:p>
            </p:txBody>
          </p:sp>
        </mc:Choice>
        <mc:Fallback xmlns="">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rPr>
                  <a:t>We need new metric to tell how far apart the bits of probability distributions are in Euclidean space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rPr>
                  <a:t>Earth mover's distance tells how far do you have to go to transport one distribution to another. </a:t>
                </a:r>
                <a:r>
                  <a:rPr lang="en-US" sz="1800" dirty="0">
                    <a:effectLst/>
                    <a:latin typeface="Calibri" panose="020F0502020204030204" pitchFamily="34" charset="0"/>
                    <a:ea typeface="Calibri" panose="020F0502020204030204" pitchFamily="34" charset="0"/>
                    <a:cs typeface="Cordia New" panose="020B0304020202020204" pitchFamily="34" charset="-34"/>
                  </a:rPr>
                  <a:t>exploring all potential joint distributions in </a:t>
                </a:r>
                <a:r>
                  <a:rPr lang="en-US" sz="1800" i="0">
                    <a:effectLst/>
                    <a:latin typeface="Cambria Math" panose="02040503050406030204" pitchFamily="18" charset="0"/>
                    <a:ea typeface="Calibri" panose="020F0502020204030204" pitchFamily="34" charset="0"/>
                    <a:cs typeface="Cordia New" panose="020B0304020202020204" pitchFamily="34" charset="-34"/>
                  </a:rPr>
                  <a:t>Π</a:t>
                </a:r>
                <a:r>
                  <a:rPr lang="en-US" sz="1800" i="0">
                    <a:effectLst/>
                    <a:latin typeface="Cambria Math" panose="02040503050406030204" pitchFamily="18" charset="0"/>
                    <a:cs typeface="Cordia New" panose="020B0304020202020204" pitchFamily="34" charset="-34"/>
                  </a:rPr>
                  <a:t>(</a:t>
                </a:r>
                <a:r>
                  <a:rPr lang="en-US" sz="1800" i="0">
                    <a:effectLst/>
                    <a:latin typeface="Cambria Math" panose="02040503050406030204" pitchFamily="18" charset="0"/>
                    <a:ea typeface="Calibri" panose="020F0502020204030204" pitchFamily="34" charset="0"/>
                    <a:cs typeface="Cordia New" panose="020B0304020202020204" pitchFamily="34" charset="-34"/>
                  </a:rPr>
                  <a:t>𝑃_𝑟,𝑃_𝑔 )</a:t>
                </a:r>
                <a:r>
                  <a:rPr lang="en-US" sz="1800" dirty="0">
                    <a:effectLst/>
                    <a:latin typeface="Calibri" panose="020F0502020204030204" pitchFamily="34" charset="0"/>
                    <a:ea typeface="Calibri" panose="020F0502020204030204" pitchFamily="34" charset="0"/>
                    <a:cs typeface="Cordia New" panose="020B0304020202020204" pitchFamily="34" charset="-34"/>
                  </a:rPr>
                  <a:t> to compute </a:t>
                </a:r>
                <a:r>
                  <a:rPr lang="en-US" sz="1800" i="0">
                    <a:effectLst/>
                    <a:latin typeface="Cambria Math" panose="02040503050406030204" pitchFamily="18" charset="0"/>
                    <a:cs typeface="Cordia New" panose="020B0304020202020204" pitchFamily="34" charset="-34"/>
                  </a:rPr>
                  <a:t>〖</a:t>
                </a:r>
                <a:r>
                  <a:rPr lang="en-US" sz="1800" i="0">
                    <a:effectLst/>
                    <a:latin typeface="Cambria Math" panose="02040503050406030204" pitchFamily="18" charset="0"/>
                    <a:ea typeface="Calibri" panose="020F0502020204030204" pitchFamily="34" charset="0"/>
                    <a:cs typeface="Cordia New" panose="020B0304020202020204" pitchFamily="34" charset="-34"/>
                  </a:rPr>
                  <a:t>𝑖𝑛𝑓〗_(γ∈Π(𝑃_𝑟,𝑃_𝑔 ) )</a:t>
                </a:r>
                <a:r>
                  <a:rPr lang="en-US" sz="1800" dirty="0">
                    <a:effectLst/>
                    <a:latin typeface="Calibri" panose="020F0502020204030204" pitchFamily="34" charset="0"/>
                    <a:ea typeface="Calibri" panose="020F0502020204030204" pitchFamily="34" charset="0"/>
                    <a:cs typeface="Cordia New" panose="020B0304020202020204" pitchFamily="34" charset="-34"/>
                  </a:rPr>
                  <a:t> is impractical. Therefore, </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err="1">
                    <a:effectLst/>
                    <a:latin typeface="Calibri" panose="020F0502020204030204" pitchFamily="34" charset="0"/>
                    <a:ea typeface="Calibri" panose="020F0502020204030204" pitchFamily="34" charset="0"/>
                    <a:cs typeface="Calibri" panose="020F0502020204030204" pitchFamily="34" charset="0"/>
                  </a:rPr>
                  <a:t>Arjovsky</a:t>
                </a: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a:effectLst/>
                    <a:latin typeface="Calibri" panose="020F0502020204030204" pitchFamily="34" charset="0"/>
                    <a:ea typeface="Calibri" panose="020F0502020204030204" pitchFamily="34" charset="0"/>
                    <a:cs typeface="Cordia New" panose="020B0304020202020204" pitchFamily="34" charset="-34"/>
                  </a:rPr>
                  <a:t> suggest a transformation of the formula using Kantorovich-Rubinstein duality to derive the WGAN value function :where the supremum is over all the 1-Lipschitz functions f</a:t>
                </a:r>
              </a:p>
              <a:p>
                <a:pPr marL="0" marR="0">
                  <a:spcBef>
                    <a:spcPts val="0"/>
                  </a:spcBef>
                  <a:spcAft>
                    <a:spcPts val="0"/>
                  </a:spcAft>
                </a:pPr>
                <a:r>
                  <a:rPr lang="en-US" sz="1200" dirty="0">
                    <a:effectLst/>
                    <a:latin typeface="Calibri" panose="020F0502020204030204" pitchFamily="34" charset="0"/>
                  </a:rPr>
                  <a:t>Finally, we take the minimum one among the costs of all dirt moving solutions as the EM distance.</a:t>
                </a:r>
              </a:p>
              <a:p>
                <a:pPr rtl="0" fontAlgn="ctr">
                  <a:spcBef>
                    <a:spcPts val="0"/>
                  </a:spcBef>
                  <a:spcAft>
                    <a:spcPts val="0"/>
                  </a:spcAft>
                  <a:buFont typeface="Arial" panose="020B0604020202020204" pitchFamily="34" charset="0"/>
                  <a:buChar char="•"/>
                </a:pPr>
                <a:r>
                  <a:rPr lang="en-US" sz="1000" dirty="0">
                    <a:effectLst/>
                    <a:latin typeface="Calibri" panose="020F0502020204030204" pitchFamily="34" charset="0"/>
                  </a:rPr>
                  <a:t>Wasserstein loss Function i</a:t>
                </a:r>
                <a:r>
                  <a:rPr lang="en-US" sz="1200" dirty="0">
                    <a:effectLst/>
                    <a:latin typeface="Calibri" panose="020F0502020204030204" pitchFamily="34" charset="0"/>
                  </a:rPr>
                  <a:t>s like finding the optimal plan in moving points in </a:t>
                </a:r>
                <a:r>
                  <a:rPr lang="en-US" sz="1200" dirty="0" err="1">
                    <a:effectLst/>
                    <a:latin typeface="Calibri" panose="020F0502020204030204" pitchFamily="34" charset="0"/>
                  </a:rPr>
                  <a:t>Pr</a:t>
                </a:r>
                <a:r>
                  <a:rPr lang="en-US" sz="1200" dirty="0">
                    <a:effectLst/>
                    <a:latin typeface="Calibri" panose="020F0502020204030204" pitchFamily="34" charset="0"/>
                  </a:rPr>
                  <a:t> into Pg.</a:t>
                </a:r>
              </a:p>
              <a:p>
                <a:pPr rtl="0" fontAlgn="ctr">
                  <a:spcBef>
                    <a:spcPts val="0"/>
                  </a:spcBef>
                  <a:spcAft>
                    <a:spcPts val="0"/>
                  </a:spcAft>
                  <a:buFont typeface="Arial" panose="020B0604020202020204" pitchFamily="34" charset="0"/>
                  <a:buChar char="•"/>
                </a:pPr>
                <a:endParaRPr lang="en-US" sz="1200" dirty="0">
                  <a:effectLst/>
                  <a:latin typeface="Calibri" panose="020F0502020204030204" pitchFamily="34" charset="0"/>
                </a:endParaRP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How to implement it? We have to make sure that the norm of the gradient (slope) should be at most 1 for every point . We want the function be bounded to grow linearly. This will increase the stability.</a:t>
                </a:r>
              </a:p>
              <a:p>
                <a:pPr marL="285750" indent="-285750" defTabSz="914400">
                  <a:lnSpc>
                    <a:spcPct val="100000"/>
                  </a:lnSpc>
                  <a:spcBef>
                    <a:spcPts val="0"/>
                  </a:spcBef>
                  <a:spcAft>
                    <a:spcPts val="0"/>
                  </a:spcAft>
                  <a:buClrTx/>
                  <a:buFont typeface="Arial" panose="020B0604020202020204" pitchFamily="34" charset="0"/>
                  <a:buChar char="•"/>
                  <a:defRPr/>
                </a:pPr>
                <a:r>
                  <a:rPr lang="en-US" sz="1800" dirty="0">
                    <a:latin typeface="Calibri" panose="020F0502020204030204" pitchFamily="34" charset="0"/>
                  </a:rPr>
                  <a:t>Weight clipping  </a:t>
                </a:r>
                <a:endParaRPr lang="en-US" sz="1200" i="1" dirty="0">
                  <a:solidFill>
                    <a:srgbClr val="00B0F0"/>
                  </a:solidFill>
                  <a:latin typeface="Calibri" panose="020F0502020204030204" pitchFamily="34" charset="0"/>
                </a:endParaRPr>
              </a:p>
              <a:p>
                <a:pPr marL="0" indent="0" defTabSz="914400">
                  <a:lnSpc>
                    <a:spcPct val="100000"/>
                  </a:lnSpc>
                  <a:spcBef>
                    <a:spcPts val="0"/>
                  </a:spcBef>
                  <a:spcAft>
                    <a:spcPts val="0"/>
                  </a:spcAft>
                  <a:buClrTx/>
                  <a:buFont typeface="Arial" panose="020B0604020202020204" pitchFamily="34" charset="0"/>
                  <a:buNone/>
                  <a:defRPr/>
                </a:pPr>
                <a:r>
                  <a:rPr lang="en-US" dirty="0">
                    <a:latin typeface="Calibri" panose="020F0502020204030204" pitchFamily="34" charset="0"/>
                  </a:rPr>
                  <a:t>Clip the weight of the discriminator </a:t>
                </a:r>
              </a:p>
              <a:p>
                <a:pPr marL="0" indent="0" defTabSz="914400">
                  <a:lnSpc>
                    <a:spcPct val="100000"/>
                  </a:lnSpc>
                  <a:spcBef>
                    <a:spcPts val="0"/>
                  </a:spcBef>
                  <a:spcAft>
                    <a:spcPts val="0"/>
                  </a:spcAft>
                  <a:buClrTx/>
                  <a:buFont typeface="Arial" panose="020B0604020202020204" pitchFamily="34" charset="0"/>
                  <a:buNone/>
                  <a:defRPr/>
                </a:pPr>
                <a:r>
                  <a:rPr lang="en-US" sz="1200" dirty="0">
                    <a:latin typeface="Calibri" panose="020F0502020204030204" pitchFamily="34" charset="0"/>
                  </a:rPr>
                  <a:t>gradient penalty (GP)</a:t>
                </a:r>
                <a:r>
                  <a:rPr lang="en-US" sz="1200" dirty="0">
                    <a:effectLst/>
                    <a:latin typeface="Calibri" panose="020F0502020204030204" pitchFamily="34" charset="0"/>
                  </a:rPr>
                  <a:t> to regularize and stabilize the weight updates.</a:t>
                </a:r>
              </a:p>
              <a:p>
                <a:pPr rtl="0" fontAlgn="ctr">
                  <a:spcBef>
                    <a:spcPts val="0"/>
                  </a:spcBef>
                  <a:spcAft>
                    <a:spcPts val="0"/>
                  </a:spcAft>
                  <a:buFont typeface="Arial" panose="020B0604020202020204" pitchFamily="34" charset="0"/>
                  <a:buNone/>
                </a:pPr>
                <a:endParaRPr lang="en-US" sz="1200" dirty="0">
                  <a:effectLst/>
                  <a:latin typeface="Calibri" panose="020F0502020204030204" pitchFamily="34" charset="0"/>
                </a:endParaRPr>
              </a:p>
              <a:p>
                <a:pPr rtl="0" fontAlgn="ctr">
                  <a:spcBef>
                    <a:spcPts val="0"/>
                  </a:spcBef>
                  <a:spcAft>
                    <a:spcPts val="0"/>
                  </a:spcAft>
                  <a:buFont typeface="Arial" panose="020B0604020202020204" pitchFamily="34" charset="0"/>
                  <a:buChar char="•"/>
                </a:pPr>
                <a:endParaRPr lang="en-US" sz="1200" dirty="0">
                  <a:effectLst/>
                  <a:latin typeface="Calibri" panose="020F0502020204030204" pitchFamily="34" charset="0"/>
                </a:endParaRPr>
              </a:p>
              <a:p>
                <a:endParaRPr lang="en-US" dirty="0"/>
              </a:p>
            </p:txBody>
          </p:sp>
        </mc:Fallback>
      </mc:AlternateContent>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9F5D725-8009-3D46-A493-0180CBBD5244}" type="slidenum">
              <a:rPr kumimoji="0" lang="de-AT"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de-AT"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75723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rtl="0" fontAlgn="ctr">
                  <a:spcBef>
                    <a:spcPts val="0"/>
                  </a:spcBef>
                  <a:spcAft>
                    <a:spcPts val="0"/>
                  </a:spcAft>
                  <a:buFont typeface="Arial" panose="020B0604020202020204" pitchFamily="34" charset="0"/>
                  <a:buChar char="•"/>
                </a:pPr>
                <a:endParaRPr lang="en-US" sz="1200" dirty="0">
                  <a:effectLst/>
                  <a:latin typeface="Calibri" panose="020F0502020204030204" pitchFamily="34" charset="0"/>
                </a:endParaRP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As we can see, the discriminator of a classic GAN saturates and results in vanishing gradients. On the other hand WGAN critic provides very clean gradients on all parts of the space.</a:t>
                </a:r>
              </a:p>
              <a:p>
                <a:pPr marL="0" marR="0">
                  <a:spcBef>
                    <a:spcPts val="0"/>
                  </a:spcBef>
                  <a:spcAft>
                    <a:spcPts val="0"/>
                  </a:spcAft>
                </a:pPr>
                <a:r>
                  <a:rPr lang="en-US" sz="1200" dirty="0">
                    <a:effectLst/>
                    <a:latin typeface="Calibri" panose="020F0502020204030204" pitchFamily="34" charset="0"/>
                  </a:rPr>
                  <a:t> </a:t>
                </a:r>
              </a:p>
              <a:p>
                <a:pPr marL="171450" marR="0" lvl="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200" dirty="0">
                    <a:effectLst/>
                    <a:latin typeface="Calibri" panose="020F0502020204030204" pitchFamily="34" charset="0"/>
                  </a:rPr>
                  <a:t>It does not limit the output to be between 0 and1</a:t>
                </a: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Thus it is not a direct critic of telling the fake samples apart from the real ones anymore. </a:t>
                </a:r>
                <a:r>
                  <a:rPr lang="en-US" sz="1000" dirty="0">
                    <a:effectLst/>
                    <a:latin typeface="Calibri" panose="020F0502020204030204" pitchFamily="34" charset="0"/>
                  </a:rPr>
                  <a:t>. </a:t>
                </a:r>
                <a:r>
                  <a:rPr lang="en-US" sz="1200" dirty="0">
                    <a:effectLst/>
                    <a:latin typeface="Calibri" panose="020F0502020204030204" pitchFamily="34" charset="0"/>
                  </a:rPr>
                  <a:t>Instead, it is trained to learn a function to help compute Wasserstein distance.</a:t>
                </a:r>
              </a:p>
              <a:p>
                <a:pPr rtl="0" fontAlgn="ctr">
                  <a:spcBef>
                    <a:spcPts val="0"/>
                  </a:spcBef>
                  <a:spcAft>
                    <a:spcPts val="0"/>
                  </a:spcAft>
                  <a:buFont typeface="Arial" panose="020B0604020202020204" pitchFamily="34" charset="0"/>
                  <a:buNone/>
                </a:pPr>
                <a:endParaRPr lang="en-US" sz="1200" dirty="0">
                  <a:effectLst/>
                  <a:latin typeface="Calibri" panose="020F0502020204030204" pitchFamily="34" charset="0"/>
                </a:endParaRPr>
              </a:p>
              <a:p>
                <a:pPr rtl="0" fontAlgn="ctr">
                  <a:spcBef>
                    <a:spcPts val="0"/>
                  </a:spcBef>
                  <a:spcAft>
                    <a:spcPts val="0"/>
                  </a:spcAft>
                  <a:buFont typeface="Arial" panose="020B0604020202020204" pitchFamily="34" charset="0"/>
                  <a:buNone/>
                </a:pPr>
                <a:r>
                  <a:rPr lang="en-US" sz="1200" dirty="0">
                    <a:effectLst/>
                    <a:latin typeface="Calibri" panose="020F0502020204030204" pitchFamily="34" charset="0"/>
                  </a:rPr>
                  <a:t>Two main benefits:</a:t>
                </a: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 a meaningful loss metric that correlates with the generator's convergence </a:t>
                </a: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 improved stability of the optimization process</a:t>
                </a:r>
              </a:p>
              <a:p>
                <a:endParaRPr lang="en-US" dirty="0"/>
              </a:p>
            </p:txBody>
          </p:sp>
        </mc:Choice>
        <mc:Fallback xmlns="">
          <p:sp>
            <p:nvSpPr>
              <p:cNvPr id="3" name="Notes Placeholder 2"/>
              <p:cNvSpPr>
                <a:spLocks noGrp="1"/>
              </p:cNvSpPr>
              <p:nvPr>
                <p:ph type="body" idx="1"/>
              </p:nvPr>
            </p:nvSpPr>
            <p:spPr/>
            <p:txBody>
              <a:bodyPr/>
              <a:lstStyle/>
              <a:p>
                <a:pPr rtl="0" fontAlgn="ctr">
                  <a:spcBef>
                    <a:spcPts val="0"/>
                  </a:spcBef>
                  <a:spcAft>
                    <a:spcPts val="0"/>
                  </a:spcAft>
                  <a:buFont typeface="Arial" panose="020B0604020202020204" pitchFamily="34" charset="0"/>
                  <a:buChar char="•"/>
                </a:pPr>
                <a:r>
                  <a:rPr lang="de-DE" sz="1800" dirty="0">
                    <a:solidFill>
                      <a:prstClr val="black"/>
                    </a:solidFill>
                    <a:latin typeface="Source Sans Pro" charset="0"/>
                    <a:ea typeface="Source Sans Pro" charset="0"/>
                  </a:rPr>
                  <a:t>mode collapse = </a:t>
                </a:r>
                <a:r>
                  <a:rPr lang="en-US" sz="1800" dirty="0">
                    <a:effectLst/>
                    <a:latin typeface="Calibri" panose="020F0502020204030204" pitchFamily="34" charset="0"/>
                    <a:ea typeface="Calibri" panose="020F0502020204030204" pitchFamily="34" charset="0"/>
                    <a:cs typeface="Cordia New" panose="020B0304020202020204" pitchFamily="34" charset="-34"/>
                  </a:rPr>
                  <a:t>the generator can produce less variety of images because it learns that it can get high score for some of the images. </a:t>
                </a:r>
              </a:p>
              <a:p>
                <a:pPr rtl="0" fontAlgn="ctr">
                  <a:spcBef>
                    <a:spcPts val="0"/>
                  </a:spcBef>
                  <a:spcAft>
                    <a:spcPts val="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Cordia New" panose="020B0304020202020204" pitchFamily="34" charset="-34"/>
                  </a:rPr>
                  <a:t>Vanishing gradient occurs when </a:t>
                </a:r>
                <a:r>
                  <a:rPr lang="en-US" sz="1800" i="0">
                    <a:effectLst/>
                    <a:latin typeface="Cambria Math" panose="02040503050406030204" pitchFamily="18" charset="0"/>
                    <a:ea typeface="Times New Roman" panose="02020603050405020304" pitchFamily="18" charset="0"/>
                    <a:cs typeface="Cordia New" panose="020B0304020202020204" pitchFamily="34" charset="-34"/>
                  </a:rPr>
                  <a:t>𝑝_𝑟</a:t>
                </a:r>
                <a:r>
                  <a:rPr lang="en-US" sz="1800" dirty="0">
                    <a:effectLst/>
                    <a:latin typeface="Calibri" panose="020F0502020204030204" pitchFamily="34" charset="0"/>
                    <a:ea typeface="Times New Roman" panose="02020603050405020304" pitchFamily="18" charset="0"/>
                    <a:cs typeface="Cordia New" panose="020B0304020202020204" pitchFamily="34" charset="-34"/>
                  </a:rPr>
                  <a:t> </a:t>
                </a:r>
                <a:r>
                  <a:rPr lang="en-US" sz="1800" dirty="0">
                    <a:effectLst/>
                    <a:latin typeface="Calibri" panose="020F0502020204030204" pitchFamily="34" charset="0"/>
                    <a:ea typeface="Calibri" panose="020F0502020204030204" pitchFamily="34" charset="0"/>
                    <a:cs typeface="Cordia New" panose="020B0304020202020204" pitchFamily="34" charset="-34"/>
                  </a:rPr>
                  <a:t>and  </a:t>
                </a:r>
                <a:r>
                  <a:rPr lang="en-US" sz="1800" i="0">
                    <a:effectLst/>
                    <a:latin typeface="Cambria Math" panose="02040503050406030204" pitchFamily="18" charset="0"/>
                    <a:ea typeface="Times New Roman" panose="02020603050405020304" pitchFamily="18" charset="0"/>
                    <a:cs typeface="Cordia New" panose="020B0304020202020204" pitchFamily="34" charset="-34"/>
                  </a:rPr>
                  <a:t>𝑝_𝑔</a:t>
                </a:r>
                <a:r>
                  <a:rPr lang="en-US" sz="1800" dirty="0">
                    <a:effectLst/>
                    <a:latin typeface="Calibri" panose="020F0502020204030204" pitchFamily="34" charset="0"/>
                    <a:ea typeface="Calibri" panose="020F0502020204030204" pitchFamily="34" charset="0"/>
                    <a:cs typeface="Cordia New" panose="020B0304020202020204" pitchFamily="34" charset="-34"/>
                  </a:rPr>
                  <a:t> are disjoint. If the discriminator is perfect, the gradient of the loss function approaches zero. There is no gradient to update the loss during training iterations.</a:t>
                </a:r>
              </a:p>
              <a:p>
                <a:pPr rtl="0" fontAlgn="ctr">
                  <a:spcBef>
                    <a:spcPts val="0"/>
                  </a:spcBef>
                  <a:spcAft>
                    <a:spcPts val="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Cordia New" panose="020B0304020202020204" pitchFamily="34" charset="-34"/>
                  </a:rPr>
                  <a:t>when the discriminator performs poorly, the generator lacks precise feedback, leading to a loss function that fails to accurately represent reality. </a:t>
                </a:r>
              </a:p>
              <a:p>
                <a:pPr rtl="0" fontAlgn="ctr">
                  <a:spcBef>
                    <a:spcPts val="0"/>
                  </a:spcBef>
                  <a:spcAft>
                    <a:spcPts val="0"/>
                  </a:spcAft>
                  <a:buFont typeface="Arial" panose="020B0604020202020204" pitchFamily="34" charset="0"/>
                  <a:buChar char="•"/>
                </a:pPr>
                <a:endParaRPr lang="en-US" sz="1200" dirty="0">
                  <a:effectLst/>
                  <a:latin typeface="Calibri" panose="020F0502020204030204" pitchFamily="34" charset="0"/>
                </a:endParaRP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As we can see, the discriminator of a classic GAN saturates and results in vanishing gradients. On the other hand WGAN critic provides very clean gradients on all parts of the space.</a:t>
                </a:r>
              </a:p>
              <a:p>
                <a:pPr marL="0" marR="0">
                  <a:spcBef>
                    <a:spcPts val="0"/>
                  </a:spcBef>
                  <a:spcAft>
                    <a:spcPts val="0"/>
                  </a:spcAft>
                </a:pPr>
                <a:r>
                  <a:rPr lang="en-US" sz="1200" dirty="0">
                    <a:effectLst/>
                    <a:latin typeface="Calibri" panose="020F0502020204030204" pitchFamily="34" charset="0"/>
                  </a:rPr>
                  <a:t> </a:t>
                </a:r>
              </a:p>
              <a:p>
                <a:pPr marL="171450" marR="0" lvl="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200" dirty="0">
                    <a:effectLst/>
                    <a:latin typeface="Calibri" panose="020F0502020204030204" pitchFamily="34" charset="0"/>
                  </a:rPr>
                  <a:t>It does not limit the output to be between 0 and1</a:t>
                </a: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Thus it is not a direct critic of telling the fake samples apart from the real ones anymore. </a:t>
                </a:r>
                <a:r>
                  <a:rPr lang="en-US" sz="1000" dirty="0">
                    <a:effectLst/>
                    <a:latin typeface="Calibri" panose="020F0502020204030204" pitchFamily="34" charset="0"/>
                  </a:rPr>
                  <a:t>. </a:t>
                </a:r>
                <a:r>
                  <a:rPr lang="en-US" sz="1200" dirty="0">
                    <a:effectLst/>
                    <a:latin typeface="Calibri" panose="020F0502020204030204" pitchFamily="34" charset="0"/>
                  </a:rPr>
                  <a:t>Instead, it is trained to learn a function to help compute Wasserstein distance.</a:t>
                </a:r>
              </a:p>
              <a:p>
                <a:pPr rtl="0" fontAlgn="ctr">
                  <a:spcBef>
                    <a:spcPts val="0"/>
                  </a:spcBef>
                  <a:spcAft>
                    <a:spcPts val="0"/>
                  </a:spcAft>
                  <a:buFont typeface="Arial" panose="020B0604020202020204" pitchFamily="34" charset="0"/>
                  <a:buNone/>
                </a:pPr>
                <a:endParaRPr lang="en-US" sz="1200" dirty="0">
                  <a:effectLst/>
                  <a:latin typeface="Calibri" panose="020F0502020204030204" pitchFamily="34" charset="0"/>
                </a:endParaRPr>
              </a:p>
              <a:p>
                <a:pPr rtl="0" fontAlgn="ctr">
                  <a:spcBef>
                    <a:spcPts val="0"/>
                  </a:spcBef>
                  <a:spcAft>
                    <a:spcPts val="0"/>
                  </a:spcAft>
                  <a:buFont typeface="Arial" panose="020B0604020202020204" pitchFamily="34" charset="0"/>
                  <a:buNone/>
                </a:pPr>
                <a:r>
                  <a:rPr lang="en-US" sz="1200" dirty="0">
                    <a:effectLst/>
                    <a:latin typeface="Calibri" panose="020F0502020204030204" pitchFamily="34" charset="0"/>
                  </a:rPr>
                  <a:t>Two main benefits:</a:t>
                </a: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 a meaningful loss metric that correlates with the generator's convergence </a:t>
                </a:r>
              </a:p>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 improved stability of the optimization process</a:t>
                </a:r>
              </a:p>
              <a:p>
                <a:endParaRPr lang="en-US" dirty="0"/>
              </a:p>
            </p:txBody>
          </p:sp>
        </mc:Fallback>
      </mc:AlternateContent>
      <p:sp>
        <p:nvSpPr>
          <p:cNvPr id="4" name="Slide Number Placeholder 3"/>
          <p:cNvSpPr>
            <a:spLocks noGrp="1"/>
          </p:cNvSpPr>
          <p:nvPr>
            <p:ph type="sldNum" sz="quarter" idx="5"/>
          </p:nvPr>
        </p:nvSpPr>
        <p:spPr/>
        <p:txBody>
          <a:bodyPr/>
          <a:lstStyle/>
          <a:p>
            <a:fld id="{5DB27EB1-2318-44B9-A355-109EE551BAF1}" type="slidenum">
              <a:rPr lang="en-US" smtClean="0"/>
              <a:t>12</a:t>
            </a:fld>
            <a:endParaRPr lang="en-US"/>
          </a:p>
        </p:txBody>
      </p:sp>
    </p:spTree>
    <p:extLst>
      <p:ext uri="{BB962C8B-B14F-4D97-AF65-F5344CB8AC3E}">
        <p14:creationId xmlns:p14="http://schemas.microsoft.com/office/powerpoint/2010/main" val="15054642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ctr">
              <a:spcBef>
                <a:spcPts val="0"/>
              </a:spcBef>
              <a:spcAft>
                <a:spcPts val="0"/>
              </a:spcAft>
              <a:buFont typeface="Arial" panose="020B0604020202020204" pitchFamily="34" charset="0"/>
              <a:buChar char="•"/>
            </a:pPr>
            <a:r>
              <a:rPr lang="en-US" sz="1200" dirty="0">
                <a:effectLst/>
                <a:latin typeface="Calibri" panose="020F0502020204030204" pitchFamily="34" charset="0"/>
              </a:rPr>
              <a:t>Conditional GAN (</a:t>
            </a:r>
            <a:r>
              <a:rPr lang="en-US" sz="1200" dirty="0" err="1">
                <a:effectLst/>
                <a:latin typeface="Calibri" panose="020F0502020204030204" pitchFamily="34" charset="0"/>
              </a:rPr>
              <a:t>cGAN</a:t>
            </a:r>
            <a:r>
              <a:rPr lang="en-US" sz="1200" dirty="0">
                <a:effectLst/>
                <a:latin typeface="Calibri" panose="020F0502020204030204" pitchFamily="34" charset="0"/>
              </a:rPr>
              <a:t>) allows us to condition the network with additional information such as class labels. It means that during the training, we pass images to the network with their actual labels for it to learn the difference between them. That way, we gain the ability to ask our model to generate images of specific input. </a:t>
            </a:r>
          </a:p>
          <a:p>
            <a:pPr rtl="0" fontAlgn="ctr">
              <a:spcBef>
                <a:spcPts val="0"/>
              </a:spcBef>
              <a:spcAft>
                <a:spcPts val="0"/>
              </a:spcAft>
              <a:buFont typeface="Arial" panose="020B0604020202020204" pitchFamily="34" charset="0"/>
              <a:buChar char="•"/>
            </a:pPr>
            <a:endParaRPr lang="en-US" sz="1200" dirty="0">
              <a:effectLst/>
              <a:latin typeface="Calibri" panose="020F0502020204030204" pitchFamily="34" charset="0"/>
            </a:endParaRPr>
          </a:p>
          <a:p>
            <a:pPr marL="0" marR="0" lvl="0" indent="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200" dirty="0">
                <a:effectLst/>
                <a:latin typeface="Calibri" panose="020F0502020204030204" pitchFamily="34" charset="0"/>
                <a:ea typeface="Calibri" panose="020F0502020204030204" pitchFamily="34" charset="0"/>
                <a:cs typeface="Cordia New" panose="020B0304020202020204" pitchFamily="34" charset="-34"/>
              </a:rPr>
              <a:t>3D energy depositions within a pure water phantom provides crucial information about properties of the beam, including its energy and depth-dose profile. This data offered neural network information about the beam's interaction with a default material, presented in the same format as the brain simulation. Utilizing this knowledge could enhance the model's capability to learn.</a:t>
            </a:r>
            <a:endParaRPr lang="en-US" dirty="0"/>
          </a:p>
          <a:p>
            <a:pPr rtl="0" fontAlgn="ctr">
              <a:spcBef>
                <a:spcPts val="0"/>
              </a:spcBef>
              <a:spcAft>
                <a:spcPts val="0"/>
              </a:spcAft>
              <a:buFont typeface="Arial" panose="020B0604020202020204" pitchFamily="34" charset="0"/>
              <a:buChar char="•"/>
            </a:pPr>
            <a:endParaRPr lang="en-US" sz="1200" dirty="0">
              <a:effectLst/>
              <a:latin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pPr>
              <a:defRPr/>
            </a:pPr>
            <a:fld id="{29F5D725-8009-3D46-A493-0180CBBD5244}" type="slidenum">
              <a:rPr lang="de-AT" smtClean="0"/>
              <a:pPr>
                <a:defRPr/>
              </a:pPr>
              <a:t>13</a:t>
            </a:fld>
            <a:endParaRPr lang="de-AT"/>
          </a:p>
        </p:txBody>
      </p:sp>
    </p:spTree>
    <p:extLst>
      <p:ext uri="{BB962C8B-B14F-4D97-AF65-F5344CB8AC3E}">
        <p14:creationId xmlns:p14="http://schemas.microsoft.com/office/powerpoint/2010/main" val="10011924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alibri" panose="020F0502020204030204" pitchFamily="34" charset="0"/>
              </a:rPr>
              <a:t>Voxel-wise similarity or accuracy of dose predictions is a primary concern.</a:t>
            </a:r>
          </a:p>
          <a:p>
            <a:pPr marL="0" marR="0">
              <a:spcBef>
                <a:spcPts val="0"/>
              </a:spcBef>
              <a:spcAft>
                <a:spcPts val="0"/>
              </a:spcAft>
            </a:pPr>
            <a:r>
              <a:rPr lang="en-US" sz="1200" b="1" i="1" dirty="0">
                <a:effectLst/>
                <a:highlight>
                  <a:srgbClr val="FFFF00"/>
                </a:highlight>
                <a:latin typeface="Calibri" panose="020F0502020204030204" pitchFamily="34" charset="0"/>
              </a:rPr>
              <a:t>delta was used in </a:t>
            </a:r>
            <a:r>
              <a:rPr lang="en-US" sz="1200" b="1" i="1" dirty="0" err="1">
                <a:effectLst/>
                <a:highlight>
                  <a:srgbClr val="FFFF00"/>
                </a:highlight>
                <a:latin typeface="Calibri" panose="020F0502020204030204" pitchFamily="34" charset="0"/>
              </a:rPr>
              <a:t>Mentzel</a:t>
            </a:r>
            <a:endParaRPr lang="en-US" sz="1200" dirty="0">
              <a:effectLst/>
              <a:latin typeface="Calibri" panose="020F0502020204030204" pitchFamily="34" charset="0"/>
            </a:endParaRPr>
          </a:p>
          <a:p>
            <a:pPr marL="0" marR="0">
              <a:spcBef>
                <a:spcPts val="0"/>
              </a:spcBef>
              <a:spcAft>
                <a:spcPts val="0"/>
              </a:spcAft>
            </a:pPr>
            <a:r>
              <a:rPr lang="en-US" sz="1200" dirty="0">
                <a:effectLst/>
                <a:latin typeface="Calibri" panose="020F0502020204030204" pitchFamily="34" charset="0"/>
              </a:rPr>
              <a:t>The delta index is calculated for each voxel . Passing rate….</a:t>
            </a:r>
          </a:p>
          <a:p>
            <a:endParaRPr lang="en-US" dirty="0"/>
          </a:p>
          <a:p>
            <a:r>
              <a:rPr lang="en-GB" sz="1800" dirty="0">
                <a:effectLst/>
                <a:latin typeface="Calibri" panose="020F0502020204030204" pitchFamily="34" charset="0"/>
                <a:ea typeface="Calibri" panose="020F0502020204030204" pitchFamily="34" charset="0"/>
                <a:cs typeface="Cordia New" panose="020B0304020202020204" pitchFamily="34" charset="-34"/>
              </a:rPr>
              <a:t>However, it was found that the model could predict almost all the voxels with near zero value correctly, which were the majority information. Therefore, the passing rate of the delta criterion tended to be high from early training iterations. The interpretation of this value only could be misleading.</a:t>
            </a:r>
          </a:p>
          <a:p>
            <a:endParaRPr lang="en-GB" sz="1800" dirty="0">
              <a:effectLst/>
              <a:latin typeface="Calibri" panose="020F0502020204030204" pitchFamily="34" charset="0"/>
              <a:cs typeface="Cordia New" panose="020B0304020202020204" pitchFamily="34" charset="-34"/>
            </a:endParaRPr>
          </a:p>
          <a:p>
            <a:pPr marL="0" marR="0" algn="just">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Cordia New" panose="020B0304020202020204" pitchFamily="34" charset="-34"/>
              </a:rPr>
              <a:t>the Mean Squared Error (MSE) was chosen to measure the difference between the generated and simulated dose in every voxel, making it easier to interpret in the context of voxel-level tasks.</a:t>
            </a:r>
          </a:p>
          <a:p>
            <a:pPr marL="0" marR="0" algn="just">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Cordia New" panose="020B0304020202020204" pitchFamily="34" charset="-34"/>
              </a:rPr>
              <a:t>The MSE is calculated using the following formula:</a:t>
            </a:r>
          </a:p>
          <a:p>
            <a:r>
              <a:rPr lang="en-US" sz="1800" dirty="0">
                <a:effectLst/>
                <a:latin typeface="Calibri" panose="020F0502020204030204" pitchFamily="34" charset="0"/>
                <a:ea typeface="Calibri" panose="020F0502020204030204" pitchFamily="34" charset="0"/>
                <a:cs typeface="Cordia New" panose="020B0304020202020204" pitchFamily="34" charset="-34"/>
              </a:rPr>
              <a:t>The MSE loss is monitored during training to ensure that it is decreasing over time. </a:t>
            </a:r>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9F5D725-8009-3D46-A493-0180CBBD5244}" type="slidenum">
              <a:rPr kumimoji="0" lang="de-AT"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de-AT"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442958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a:lnSpc>
                <a:spcPct val="150000"/>
              </a:lnSpc>
              <a:spcBef>
                <a:spcPts val="0"/>
              </a:spcBef>
              <a:spcAft>
                <a:spcPts val="0"/>
              </a:spcAft>
              <a:buFont typeface="+mj-lt"/>
              <a:buNone/>
            </a:pPr>
            <a:r>
              <a:rPr lang="en-US" sz="1800" dirty="0">
                <a:effectLst/>
                <a:latin typeface="Calibri" panose="020F0502020204030204" pitchFamily="34" charset="0"/>
                <a:ea typeface="Calibri" panose="020F0502020204030204" pitchFamily="34" charset="0"/>
                <a:cs typeface="Cordia New" panose="020B0304020202020204" pitchFamily="34" charset="-34"/>
              </a:rPr>
              <a:t>The model was compiled using the Wasserstein loss function and the Mean Squared Error (MSE) was employed as the evaluation metric.</a:t>
            </a:r>
          </a:p>
          <a:p>
            <a:pPr marL="0" marR="0" lvl="0" indent="0" algn="just">
              <a:lnSpc>
                <a:spcPct val="150000"/>
              </a:lnSpc>
              <a:spcBef>
                <a:spcPts val="0"/>
              </a:spcBef>
              <a:spcAft>
                <a:spcPts val="800"/>
              </a:spcAft>
              <a:buFont typeface="+mj-lt"/>
              <a:buNone/>
            </a:pPr>
            <a:r>
              <a:rPr lang="en-US" sz="1800" dirty="0">
                <a:effectLst/>
                <a:latin typeface="Calibri" panose="020F0502020204030204" pitchFamily="34" charset="0"/>
                <a:ea typeface="Calibri" panose="020F0502020204030204" pitchFamily="34" charset="0"/>
                <a:cs typeface="Cordia New" panose="020B0304020202020204" pitchFamily="34" charset="-34"/>
              </a:rPr>
              <a:t>Training was conducted in a GPU-accelerated environment to speed up convergence and use parallel processing capabilities.</a:t>
            </a:r>
          </a:p>
          <a:p>
            <a:r>
              <a:rPr lang="en-US" sz="1800" dirty="0">
                <a:effectLst/>
                <a:latin typeface="Calibri" panose="020F0502020204030204" pitchFamily="34" charset="0"/>
                <a:ea typeface="Calibri" panose="020F0502020204030204" pitchFamily="34" charset="0"/>
                <a:cs typeface="Cordia New" panose="020B0304020202020204" pitchFamily="34" charset="-34"/>
              </a:rPr>
              <a:t>The "train-validation-test split" method was employed for hyperparameter tuning and model evaluation. The validation set serves as the basis for comparing various hyperparameter configurations and choosing the most effective one. However, after identifying the optimal hyperparameters, the model underwent retraining using both the training and validation sets. </a:t>
            </a:r>
            <a:endParaRPr lang="en-US" dirty="0"/>
          </a:p>
        </p:txBody>
      </p:sp>
      <p:sp>
        <p:nvSpPr>
          <p:cNvPr id="4" name="Slide Number Placeholder 3"/>
          <p:cNvSpPr>
            <a:spLocks noGrp="1"/>
          </p:cNvSpPr>
          <p:nvPr>
            <p:ph type="sldNum" sz="quarter" idx="5"/>
          </p:nvPr>
        </p:nvSpPr>
        <p:spPr/>
        <p:txBody>
          <a:bodyPr/>
          <a:lstStyle/>
          <a:p>
            <a:fld id="{5DB27EB1-2318-44B9-A355-109EE551BAF1}" type="slidenum">
              <a:rPr lang="en-US" smtClean="0"/>
              <a:t>15</a:t>
            </a:fld>
            <a:endParaRPr lang="en-US"/>
          </a:p>
        </p:txBody>
      </p:sp>
    </p:spTree>
    <p:extLst>
      <p:ext uri="{BB962C8B-B14F-4D97-AF65-F5344CB8AC3E}">
        <p14:creationId xmlns:p14="http://schemas.microsoft.com/office/powerpoint/2010/main" val="27107223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038CE-55D8-63CB-9A27-FCD3E00B4F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C47068-18B3-AE91-40F0-7B63BFF5B0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2E7A08-72E4-DEBF-C5E0-5BA6712B36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47303F-7E42-3FA1-FBA5-CB42B262BC4B}"/>
              </a:ext>
            </a:extLst>
          </p:cNvPr>
          <p:cNvSpPr>
            <a:spLocks noGrp="1"/>
          </p:cNvSpPr>
          <p:nvPr>
            <p:ph type="sldNum" sz="quarter" idx="5"/>
          </p:nvPr>
        </p:nvSpPr>
        <p:spPr/>
        <p:txBody>
          <a:bodyPr/>
          <a:lstStyle/>
          <a:p>
            <a:pPr>
              <a:defRPr/>
            </a:pPr>
            <a:fld id="{29F5D725-8009-3D46-A493-0180CBBD5244}" type="slidenum">
              <a:rPr lang="de-AT" smtClean="0"/>
              <a:pPr>
                <a:defRPr/>
              </a:pPr>
              <a:t>16</a:t>
            </a:fld>
            <a:endParaRPr lang="de-AT"/>
          </a:p>
        </p:txBody>
      </p:sp>
    </p:spTree>
    <p:extLst>
      <p:ext uri="{BB962C8B-B14F-4D97-AF65-F5344CB8AC3E}">
        <p14:creationId xmlns:p14="http://schemas.microsoft.com/office/powerpoint/2010/main" val="19201014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ea typeface="Calibri" panose="020F0502020204030204" pitchFamily="34" charset="0"/>
                <a:cs typeface="Cordia New" panose="020B0304020202020204" pitchFamily="34" charset="-34"/>
              </a:rPr>
              <a:t>Extensive experiments were conducted to find the best performance for convergence on the validation set. </a:t>
            </a:r>
            <a:endParaRPr lang="en-US" sz="1100" dirty="0">
              <a:effectLst/>
              <a:latin typeface="Calibri" panose="020F0502020204030204" pitchFamily="34" charset="0"/>
              <a:ea typeface="Calibri" panose="020F0502020204030204" pitchFamily="34" charset="0"/>
              <a:cs typeface="Cordia New" panose="020B0304020202020204" pitchFamily="34" charset="-34"/>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ea typeface="Calibri" panose="020F0502020204030204" pitchFamily="34" charset="0"/>
                <a:cs typeface="Cordia New" panose="020B0304020202020204" pitchFamily="34" charset="-34"/>
              </a:rPr>
              <a:t>The optimizer RMSprop with a generator learning rate of 0.003, a critic learning rate of </a:t>
            </a:r>
            <a:r>
              <a:rPr lang="en-US" b="0" i="0" dirty="0">
                <a:solidFill>
                  <a:srgbClr val="0D0D0D"/>
                </a:solidFill>
                <a:effectLst/>
                <a:latin typeface="Söhne"/>
              </a:rPr>
              <a:t>eight times ten to the minus six</a:t>
            </a:r>
            <a:r>
              <a:rPr lang="en-US" sz="1200" dirty="0">
                <a:effectLst/>
                <a:latin typeface="Calibri" panose="020F0502020204030204" pitchFamily="34" charset="0"/>
                <a:ea typeface="Calibri" panose="020F0502020204030204" pitchFamily="34" charset="0"/>
                <a:cs typeface="Cordia New" panose="020B0304020202020204" pitchFamily="34" charset="-34"/>
              </a:rPr>
              <a:t>, a Lambda of 10, and 5 critic iterations showed the best performance .</a:t>
            </a:r>
            <a:endParaRPr lang="en-US" dirty="0"/>
          </a:p>
        </p:txBody>
      </p:sp>
      <p:sp>
        <p:nvSpPr>
          <p:cNvPr id="4" name="Slide Number Placeholder 3"/>
          <p:cNvSpPr>
            <a:spLocks noGrp="1"/>
          </p:cNvSpPr>
          <p:nvPr>
            <p:ph type="sldNum" sz="quarter" idx="5"/>
          </p:nvPr>
        </p:nvSpPr>
        <p:spPr/>
        <p:txBody>
          <a:bodyPr/>
          <a:lstStyle/>
          <a:p>
            <a:fld id="{5DB27EB1-2318-44B9-A355-109EE551BAF1}" type="slidenum">
              <a:rPr lang="en-US" smtClean="0"/>
              <a:t>17</a:t>
            </a:fld>
            <a:endParaRPr lang="en-US"/>
          </a:p>
        </p:txBody>
      </p:sp>
    </p:spTree>
    <p:extLst>
      <p:ext uri="{BB962C8B-B14F-4D97-AF65-F5344CB8AC3E}">
        <p14:creationId xmlns:p14="http://schemas.microsoft.com/office/powerpoint/2010/main" val="4363327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Cordia New" panose="020B0304020202020204" pitchFamily="34" charset="-34"/>
              </a:rPr>
              <a:t>The figure shows samples in the form of heat maps representing the simulated dose, generated dose, and their delta in three orthogonal planes. Within the first initial hundred training epochs, the model demonstrates an improved ability to predict dose distributions that closely align with the ground truth. This suggests a strong learning capability of the model based on the input data. Beyond five hundred training epochs, the model consistently produced dose prediction results that are deemed satisfactory.</a:t>
            </a:r>
          </a:p>
          <a:p>
            <a:endParaRPr lang="en-US" sz="1800" dirty="0">
              <a:effectLst/>
              <a:latin typeface="Calibri" panose="020F0502020204030204" pitchFamily="34" charset="0"/>
              <a:ea typeface="Calibri" panose="020F0502020204030204" pitchFamily="34" charset="0"/>
              <a:cs typeface="Cordia New" panose="020B0304020202020204" pitchFamily="34" charset="-34"/>
            </a:endParaRPr>
          </a:p>
          <a:p>
            <a:r>
              <a:rPr lang="en-US" sz="1200" i="1" dirty="0">
                <a:solidFill>
                  <a:srgbClr val="44546A"/>
                </a:solidFill>
                <a:effectLst/>
                <a:latin typeface="Calibri" panose="020F0502020204030204" pitchFamily="34" charset="0"/>
                <a:ea typeface="Calibri" panose="020F0502020204030204" pitchFamily="34" charset="0"/>
                <a:cs typeface="Cordia New" panose="020B0304020202020204" pitchFamily="34" charset="-34"/>
              </a:rPr>
              <a:t>: YZ plane (left), XZ plane (middle), and XY plane (right). X axis corresponds to beam direction. YZ plane was plotted at the x-value of maximum dose, indicating the probable location of the Bragg peak.</a:t>
            </a:r>
            <a:endParaRPr lang="en-US" dirty="0"/>
          </a:p>
        </p:txBody>
      </p:sp>
      <p:sp>
        <p:nvSpPr>
          <p:cNvPr id="4" name="Slide Number Placeholder 3"/>
          <p:cNvSpPr>
            <a:spLocks noGrp="1"/>
          </p:cNvSpPr>
          <p:nvPr>
            <p:ph type="sldNum" sz="quarter" idx="5"/>
          </p:nvPr>
        </p:nvSpPr>
        <p:spPr/>
        <p:txBody>
          <a:bodyPr/>
          <a:lstStyle/>
          <a:p>
            <a:fld id="{5DB27EB1-2318-44B9-A355-109EE551BAF1}" type="slidenum">
              <a:rPr lang="en-US" smtClean="0"/>
              <a:t>18</a:t>
            </a:fld>
            <a:endParaRPr lang="en-US"/>
          </a:p>
        </p:txBody>
      </p:sp>
    </p:spTree>
    <p:extLst>
      <p:ext uri="{BB962C8B-B14F-4D97-AF65-F5344CB8AC3E}">
        <p14:creationId xmlns:p14="http://schemas.microsoft.com/office/powerpoint/2010/main" val="2704633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50000"/>
              </a:lnSpc>
              <a:spcBef>
                <a:spcPts val="0"/>
              </a:spcBef>
              <a:spcAft>
                <a:spcPts val="800"/>
              </a:spcAft>
            </a:pPr>
            <a:endParaRPr lang="en-US" sz="1800" dirty="0">
              <a:effectLst/>
              <a:latin typeface="Calibri" panose="020F0502020204030204" pitchFamily="34" charset="0"/>
              <a:ea typeface="Calibri" panose="020F0502020204030204" pitchFamily="34" charset="0"/>
              <a:cs typeface="Cordia New" panose="020B0304020202020204" pitchFamily="34" charset="-34"/>
            </a:endParaRPr>
          </a:p>
          <a:p>
            <a:pPr marL="0" marR="0" algn="just">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Cordia New" panose="020B0304020202020204" pitchFamily="34" charset="-34"/>
              </a:rPr>
              <a:t>These plots</a:t>
            </a:r>
            <a:r>
              <a:rPr lang="th-TH" sz="1800" dirty="0">
                <a:effectLst/>
                <a:latin typeface="Calibri" panose="020F0502020204030204" pitchFamily="34" charset="0"/>
                <a:ea typeface="Calibri" panose="020F0502020204030204" pitchFamily="34" charset="0"/>
                <a:cs typeface="Cordia New" panose="020B0304020202020204" pitchFamily="34" charset="-34"/>
              </a:rPr>
              <a:t> </a:t>
            </a:r>
            <a:r>
              <a:rPr lang="en-US" sz="1800" dirty="0">
                <a:effectLst/>
                <a:latin typeface="Calibri" panose="020F0502020204030204" pitchFamily="34" charset="0"/>
                <a:ea typeface="Calibri" panose="020F0502020204030204" pitchFamily="34" charset="0"/>
                <a:cs typeface="Cordia New" panose="020B0304020202020204" pitchFamily="34" charset="-34"/>
              </a:rPr>
              <a:t>presents random samples of prediction outcomes from the model using the test dataset. Comparison between the MC simulated dose and the generated dose from the GAN model is shown for various carbon beam energy. The plot shows dose distribution at the center of the beam in the beam direction, revealing a distinct Bragg peak within the head region. The relative deviations between simulated and generated dose are mostly within 10% and the model shows a good ability to interpolate to test dataset.</a:t>
            </a:r>
            <a:endParaRPr lang="en-US" dirty="0"/>
          </a:p>
        </p:txBody>
      </p:sp>
      <p:sp>
        <p:nvSpPr>
          <p:cNvPr id="4" name="Slide Number Placeholder 3"/>
          <p:cNvSpPr>
            <a:spLocks noGrp="1"/>
          </p:cNvSpPr>
          <p:nvPr>
            <p:ph type="sldNum" sz="quarter" idx="5"/>
          </p:nvPr>
        </p:nvSpPr>
        <p:spPr/>
        <p:txBody>
          <a:bodyPr/>
          <a:lstStyle/>
          <a:p>
            <a:fld id="{5DB27EB1-2318-44B9-A355-109EE551BAF1}" type="slidenum">
              <a:rPr lang="en-US" smtClean="0"/>
              <a:t>19</a:t>
            </a:fld>
            <a:endParaRPr lang="en-US"/>
          </a:p>
        </p:txBody>
      </p:sp>
    </p:spTree>
    <p:extLst>
      <p:ext uri="{BB962C8B-B14F-4D97-AF65-F5344CB8AC3E}">
        <p14:creationId xmlns:p14="http://schemas.microsoft.com/office/powerpoint/2010/main" val="14334058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ea typeface="Calibri" panose="020F0502020204030204" pitchFamily="34" charset="0"/>
                <a:cs typeface="Cordia New" panose="020B0304020202020204" pitchFamily="34" charset="-34"/>
              </a:rPr>
              <a:t> In cases where there is more occurrence of density transition regions, the model exhibits poor performance, with deviations exceeding 10% (f). It is noted that the deviation is more noticeable in high-energy scenarios than in low-energy scenarios, particularly when the Bragg peak extends deeper into the head region.</a:t>
            </a:r>
          </a:p>
          <a:p>
            <a:endParaRPr lang="en-US" dirty="0"/>
          </a:p>
        </p:txBody>
      </p:sp>
      <p:sp>
        <p:nvSpPr>
          <p:cNvPr id="4" name="Slide Number Placeholder 3"/>
          <p:cNvSpPr>
            <a:spLocks noGrp="1"/>
          </p:cNvSpPr>
          <p:nvPr>
            <p:ph type="sldNum" sz="quarter" idx="5"/>
          </p:nvPr>
        </p:nvSpPr>
        <p:spPr/>
        <p:txBody>
          <a:bodyPr/>
          <a:lstStyle/>
          <a:p>
            <a:fld id="{5DB27EB1-2318-44B9-A355-109EE551BAF1}" type="slidenum">
              <a:rPr lang="en-US" smtClean="0"/>
              <a:t>20</a:t>
            </a:fld>
            <a:endParaRPr lang="en-US"/>
          </a:p>
        </p:txBody>
      </p:sp>
    </p:spTree>
    <p:extLst>
      <p:ext uri="{BB962C8B-B14F-4D97-AF65-F5344CB8AC3E}">
        <p14:creationId xmlns:p14="http://schemas.microsoft.com/office/powerpoint/2010/main" val="18574848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Cordia New" panose="020B0304020202020204" pitchFamily="34" charset="-34"/>
              </a:rPr>
              <a:t>Table  presents performance metrics for the model evaluated on both the validation and test datasets as well as the unseen geometry. This shows achievement in MSE and passing rates when tested with the test dataset. The model is effective in capturing and generalizing patterns from the data.  However, the model faces challenges with the unseen geometry as conditional input, leading to a significantly higher MSE.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cs typeface="Cordia New" panose="020B0304020202020204" pitchFamily="34" charset="-34"/>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Cordia New" panose="020B0304020202020204" pitchFamily="34" charset="-34"/>
              </a:rPr>
              <a:t>Lastly, the time required for one dose prediction using Geant4 ranged from 1 to 3 hours, depending on the beam energy. For the trained GAN model, the average computational time per prediction was 12 milliseconds on a CPU and 9 milliseconds on a GPU.</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5DB27EB1-2318-44B9-A355-109EE551BAF1}" type="slidenum">
              <a:rPr lang="en-US" smtClean="0"/>
              <a:t>21</a:t>
            </a:fld>
            <a:endParaRPr lang="en-US"/>
          </a:p>
        </p:txBody>
      </p:sp>
    </p:spTree>
    <p:extLst>
      <p:ext uri="{BB962C8B-B14F-4D97-AF65-F5344CB8AC3E}">
        <p14:creationId xmlns:p14="http://schemas.microsoft.com/office/powerpoint/2010/main" val="20952742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Cordia New" panose="020B0304020202020204" pitchFamily="34" charset="-34"/>
              </a:rPr>
              <a:t>To explore the generalization capability of the trained model, the performance on a held-out test dataset is shown in Figure 16. It displays the MSE for all source positions in the head , overlayed to the geometry slice image. The highest MSE values are found when the beam traverses the skull or propagates close to it, while the lowest values are found when the beam is in the inner part of the brain. However, exceptions can also be seen.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Cordia New" panose="020B0304020202020204" pitchFamily="34" charset="-34"/>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Cordia New" panose="020B0304020202020204" pitchFamily="34" charset="-34"/>
              </a:rPr>
              <a:t>When plotting the MSE for beam energies ranging from 1250 MeV to 3000 MeV, The trend can be observed to be dependent on the beam energy. The MSE values are also influenced by the lateral and vertical positions of the beam source.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Cordia New" panose="020B0304020202020204" pitchFamily="34" charset="-34"/>
              </a:rPr>
              <a:t>This discrepancy arose when dealing with the unseen geometry of an individual patient, as opposed to the test dataset, which comprised five patients encountered during the training phase. To address this, examining the characteristics of the unseen geometry to identify what sets it apart from the other test datasets would be beneficial but was beyond the scope of this work. </a:t>
            </a:r>
          </a:p>
          <a:p>
            <a:endParaRPr lang="en-US" dirty="0"/>
          </a:p>
        </p:txBody>
      </p:sp>
      <p:sp>
        <p:nvSpPr>
          <p:cNvPr id="4" name="Slide Number Placeholder 3"/>
          <p:cNvSpPr>
            <a:spLocks noGrp="1"/>
          </p:cNvSpPr>
          <p:nvPr>
            <p:ph type="sldNum" sz="quarter" idx="5"/>
          </p:nvPr>
        </p:nvSpPr>
        <p:spPr/>
        <p:txBody>
          <a:bodyPr/>
          <a:lstStyle/>
          <a:p>
            <a:fld id="{5DB27EB1-2318-44B9-A355-109EE551BAF1}" type="slidenum">
              <a:rPr lang="en-US" smtClean="0"/>
              <a:t>22</a:t>
            </a:fld>
            <a:endParaRPr lang="en-US"/>
          </a:p>
        </p:txBody>
      </p:sp>
    </p:spTree>
    <p:extLst>
      <p:ext uri="{BB962C8B-B14F-4D97-AF65-F5344CB8AC3E}">
        <p14:creationId xmlns:p14="http://schemas.microsoft.com/office/powerpoint/2010/main" val="34085773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just">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Cordia New" panose="020B0304020202020204" pitchFamily="34" charset="-34"/>
              </a:rPr>
              <a:t>There are still potential for improvement.</a:t>
            </a:r>
          </a:p>
          <a:p>
            <a:pPr marL="0" marR="0" algn="just">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Cordia New" panose="020B0304020202020204" pitchFamily="34" charset="-34"/>
              </a:rPr>
              <a:t>Considering additional performance metrics will give better understanding of the model's performance on the unseen geometry. For instance, even if the overall dose distribution appears similar, a slight shift of one voxel due to this error may lead to a high MSE. In such cases, one can in future also consider other performance metrics, like the Fréchet Inception Distance (FID),</a:t>
            </a:r>
            <a:r>
              <a:rPr lang="en-US" sz="1800" dirty="0">
                <a:solidFill>
                  <a:srgbClr val="0D0D0D"/>
                </a:solidFill>
                <a:effectLst/>
                <a:latin typeface="Segoe UI" panose="020B0502040204020203" pitchFamily="34" charset="0"/>
                <a:ea typeface="Aptos" panose="020B0004020202020204" pitchFamily="34" charset="0"/>
              </a:rPr>
              <a:t> to measure the similarity between real and generated images.</a:t>
            </a:r>
          </a:p>
          <a:p>
            <a:pPr marL="0" marR="0" algn="just">
              <a:lnSpc>
                <a:spcPct val="150000"/>
              </a:lnSpc>
              <a:spcBef>
                <a:spcPts val="0"/>
              </a:spcBef>
              <a:spcAft>
                <a:spcPts val="800"/>
              </a:spcAft>
            </a:pPr>
            <a:endParaRPr lang="en-US" sz="1800" dirty="0">
              <a:effectLst/>
              <a:latin typeface="Calibri" panose="020F0502020204030204" pitchFamily="34" charset="0"/>
              <a:ea typeface="Calibri" panose="020F0502020204030204" pitchFamily="34" charset="0"/>
              <a:cs typeface="Cordia New" panose="020B0304020202020204" pitchFamily="34" charset="-34"/>
            </a:endParaRPr>
          </a:p>
          <a:p>
            <a:pPr marL="0" marR="0" algn="just">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Cordia New" panose="020B0304020202020204" pitchFamily="34" charset="-34"/>
              </a:rPr>
              <a:t>The identified dependencies of MSE on beam energies and source positions suggested promising avenues for future exploration. Examining the underlying mechanisms and dependencies could help with the fine-tuning of the model and improve its accuracy. </a:t>
            </a:r>
          </a:p>
          <a:p>
            <a:pPr marL="0" marR="0" algn="just">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Cordia New" panose="020B0304020202020204" pitchFamily="34" charset="-34"/>
              </a:rPr>
              <a:t>Moreover, obtaining more datasets from additional patients or different geometries for training and testing the model. The training process could benefit from employing techniques such as leave-one-patient-out cross-validation to enhance the robustness and generalization capabilities of the model.</a:t>
            </a:r>
          </a:p>
          <a:p>
            <a:pPr marL="0" marR="0" algn="just">
              <a:lnSpc>
                <a:spcPct val="150000"/>
              </a:lnSpc>
              <a:spcBef>
                <a:spcPts val="0"/>
              </a:spcBef>
              <a:spcAft>
                <a:spcPts val="800"/>
              </a:spcAft>
            </a:pPr>
            <a:endParaRPr lang="en-US" sz="1800" dirty="0">
              <a:effectLst/>
              <a:latin typeface="Calibri" panose="020F0502020204030204" pitchFamily="34" charset="0"/>
              <a:ea typeface="Calibri" panose="020F0502020204030204" pitchFamily="34" charset="0"/>
              <a:cs typeface="Cordia New" panose="020B0304020202020204" pitchFamily="34" charset="-34"/>
            </a:endParaRPr>
          </a:p>
          <a:p>
            <a:pPr marL="0" marR="0" algn="just">
              <a:lnSpc>
                <a:spcPct val="150000"/>
              </a:lnSpc>
              <a:spcBef>
                <a:spcPts val="0"/>
              </a:spcBef>
              <a:spcAft>
                <a:spcPts val="800"/>
              </a:spcAft>
            </a:pPr>
            <a:endParaRPr lang="en-US" sz="1800" dirty="0">
              <a:solidFill>
                <a:srgbClr val="0D0D0D"/>
              </a:solidFill>
              <a:effectLst/>
              <a:latin typeface="Segoe UI" panose="020B0502040204020203" pitchFamily="34" charset="0"/>
              <a:ea typeface="Aptos" panose="020B0004020202020204" pitchFamily="34" charset="0"/>
            </a:endParaRPr>
          </a:p>
          <a:p>
            <a:endParaRPr lang="en-US" dirty="0"/>
          </a:p>
        </p:txBody>
      </p:sp>
      <p:sp>
        <p:nvSpPr>
          <p:cNvPr id="4" name="Slide Number Placeholder 3"/>
          <p:cNvSpPr>
            <a:spLocks noGrp="1"/>
          </p:cNvSpPr>
          <p:nvPr>
            <p:ph type="sldNum" sz="quarter" idx="5"/>
          </p:nvPr>
        </p:nvSpPr>
        <p:spPr/>
        <p:txBody>
          <a:bodyPr/>
          <a:lstStyle/>
          <a:p>
            <a:fld id="{5DB27EB1-2318-44B9-A355-109EE551BAF1}" type="slidenum">
              <a:rPr lang="en-US" smtClean="0"/>
              <a:t>23</a:t>
            </a:fld>
            <a:endParaRPr lang="en-US"/>
          </a:p>
        </p:txBody>
      </p:sp>
    </p:spTree>
    <p:extLst>
      <p:ext uri="{BB962C8B-B14F-4D97-AF65-F5344CB8AC3E}">
        <p14:creationId xmlns:p14="http://schemas.microsoft.com/office/powerpoint/2010/main" val="12874111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D9C84-FDC9-2BB0-183C-598BC504D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3D439B-F42B-30A9-5F90-1F508583FB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226B92-2371-C220-5402-4D5029115E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4A89AD-D8C3-3F58-F513-C331CED7C38F}"/>
              </a:ext>
            </a:extLst>
          </p:cNvPr>
          <p:cNvSpPr>
            <a:spLocks noGrp="1"/>
          </p:cNvSpPr>
          <p:nvPr>
            <p:ph type="sldNum" sz="quarter" idx="5"/>
          </p:nvPr>
        </p:nvSpPr>
        <p:spPr/>
        <p:txBody>
          <a:bodyPr/>
          <a:lstStyle/>
          <a:p>
            <a:pPr>
              <a:defRPr/>
            </a:pPr>
            <a:fld id="{29F5D725-8009-3D46-A493-0180CBBD5244}" type="slidenum">
              <a:rPr lang="de-AT" smtClean="0"/>
              <a:pPr>
                <a:defRPr/>
              </a:pPr>
              <a:t>24</a:t>
            </a:fld>
            <a:endParaRPr lang="de-AT"/>
          </a:p>
        </p:txBody>
      </p:sp>
    </p:spTree>
    <p:extLst>
      <p:ext uri="{BB962C8B-B14F-4D97-AF65-F5344CB8AC3E}">
        <p14:creationId xmlns:p14="http://schemas.microsoft.com/office/powerpoint/2010/main" val="36779773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2400" dirty="0">
                <a:effectLst/>
                <a:latin typeface="Calibri" panose="020F0502020204030204" pitchFamily="34" charset="0"/>
                <a:ea typeface="Calibri" panose="020F0502020204030204" pitchFamily="34" charset="0"/>
                <a:cs typeface="Cordia New" panose="020B0304020202020204" pitchFamily="34" charset="-34"/>
              </a:rPr>
              <a:t>This master thesis served as a proof-of-concept exploration into accelerating dose distribution calculations in carbon ion radiation therapy through a Wasserstein Generative Adversarial Network (WGAN). </a:t>
            </a:r>
          </a:p>
          <a:p>
            <a:r>
              <a:rPr lang="en-US" sz="2400" dirty="0">
                <a:effectLst/>
                <a:latin typeface="Calibri" panose="020F0502020204030204" pitchFamily="34" charset="0"/>
                <a:ea typeface="Calibri" panose="020F0502020204030204" pitchFamily="34" charset="0"/>
                <a:cs typeface="Cordia New" panose="020B0304020202020204" pitchFamily="34" charset="-34"/>
              </a:rPr>
              <a:t>The training of the network utilized simulated dose maps from Geant4 simulations of carbon ion beams in the human brain and in water.</a:t>
            </a:r>
            <a:r>
              <a:rPr lang="en-GB" sz="2400" dirty="0">
                <a:effectLst/>
                <a:latin typeface="Calibri" panose="020F0502020204030204" pitchFamily="34" charset="0"/>
                <a:ea typeface="Calibri" panose="020F0502020204030204" pitchFamily="34" charset="0"/>
                <a:cs typeface="Cordia New" panose="020B0304020202020204" pitchFamily="34" charset="-34"/>
              </a:rPr>
              <a:t> </a:t>
            </a:r>
          </a:p>
          <a:p>
            <a:r>
              <a:rPr lang="en-US" sz="2400" dirty="0">
                <a:effectLst/>
                <a:latin typeface="Calibri" panose="020F0502020204030204" pitchFamily="34" charset="0"/>
                <a:ea typeface="Calibri" panose="020F0502020204030204" pitchFamily="34" charset="0"/>
                <a:cs typeface="Cordia New" panose="020B0304020202020204" pitchFamily="34" charset="-34"/>
              </a:rPr>
              <a:t>The "train-validation-test split" method was employed for hyperparameter tuning and model evaluation.</a:t>
            </a:r>
          </a:p>
          <a:p>
            <a:r>
              <a:rPr lang="en-US" sz="1800" dirty="0">
                <a:effectLst/>
                <a:latin typeface="Calibri" panose="020F0502020204030204" pitchFamily="34" charset="0"/>
                <a:ea typeface="Calibri" panose="020F0502020204030204" pitchFamily="34" charset="0"/>
                <a:cs typeface="Cordia New" panose="020B0304020202020204" pitchFamily="34" charset="-34"/>
              </a:rPr>
              <a:t>It achieved a five-orders-of-magnitude reduction in dose calculation time compared to Geant4 simulations. </a:t>
            </a:r>
            <a:endParaRPr lang="en-GB" sz="2400" dirty="0">
              <a:effectLst/>
              <a:latin typeface="Calibri" panose="020F0502020204030204" pitchFamily="34" charset="0"/>
              <a:ea typeface="Calibri" panose="020F0502020204030204" pitchFamily="34" charset="0"/>
              <a:cs typeface="Cordia New" panose="020B0304020202020204" pitchFamily="34" charset="-34"/>
            </a:endParaRPr>
          </a:p>
          <a:p>
            <a:r>
              <a:rPr lang="en-US" sz="2400" dirty="0">
                <a:effectLst/>
                <a:latin typeface="Calibri" panose="020F0502020204030204" pitchFamily="34" charset="0"/>
                <a:ea typeface="Calibri" panose="020F0502020204030204" pitchFamily="34" charset="0"/>
                <a:cs typeface="Cordia New" panose="020B0304020202020204" pitchFamily="34" charset="-34"/>
              </a:rPr>
              <a:t>.It successfully predicted dose distributions with high accuracy on the test dataset, producing greater than 99% passing rate in all cases. The result aligned with the objectives of this study.</a:t>
            </a:r>
          </a:p>
          <a:p>
            <a:r>
              <a:rPr lang="en-US" sz="2400" dirty="0">
                <a:effectLst/>
                <a:latin typeface="Calibri" panose="020F0502020204030204" pitchFamily="34" charset="0"/>
                <a:ea typeface="Calibri" panose="020F0502020204030204" pitchFamily="34" charset="0"/>
                <a:cs typeface="Cordia New" panose="020B0304020202020204" pitchFamily="34" charset="-34"/>
              </a:rPr>
              <a:t> </a:t>
            </a:r>
          </a:p>
          <a:p>
            <a:endParaRPr lang="en-US" sz="2400" dirty="0"/>
          </a:p>
        </p:txBody>
      </p:sp>
      <p:sp>
        <p:nvSpPr>
          <p:cNvPr id="4" name="Slide Number Placeholder 3"/>
          <p:cNvSpPr>
            <a:spLocks noGrp="1"/>
          </p:cNvSpPr>
          <p:nvPr>
            <p:ph type="sldNum" sz="quarter" idx="5"/>
          </p:nvPr>
        </p:nvSpPr>
        <p:spPr/>
        <p:txBody>
          <a:bodyPr/>
          <a:lstStyle/>
          <a:p>
            <a:fld id="{5DB27EB1-2318-44B9-A355-109EE551BAF1}" type="slidenum">
              <a:rPr lang="en-US" smtClean="0"/>
              <a:t>25</a:t>
            </a:fld>
            <a:endParaRPr lang="en-US"/>
          </a:p>
        </p:txBody>
      </p:sp>
    </p:spTree>
    <p:extLst>
      <p:ext uri="{BB962C8B-B14F-4D97-AF65-F5344CB8AC3E}">
        <p14:creationId xmlns:p14="http://schemas.microsoft.com/office/powerpoint/2010/main" val="16122588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B27EB1-2318-44B9-A355-109EE551BAF1}" type="slidenum">
              <a:rPr lang="en-US" smtClean="0"/>
              <a:t>26</a:t>
            </a:fld>
            <a:endParaRPr lang="en-US"/>
          </a:p>
        </p:txBody>
      </p:sp>
    </p:spTree>
    <p:extLst>
      <p:ext uri="{BB962C8B-B14F-4D97-AF65-F5344CB8AC3E}">
        <p14:creationId xmlns:p14="http://schemas.microsoft.com/office/powerpoint/2010/main" val="9688136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9F5D725-8009-3D46-A493-0180CBBD5244}" type="slidenum">
              <a:rPr lang="de-AT" smtClean="0"/>
              <a:pPr>
                <a:defRPr/>
              </a:pPr>
              <a:t>30</a:t>
            </a:fld>
            <a:endParaRPr lang="de-AT"/>
          </a:p>
        </p:txBody>
      </p:sp>
    </p:spTree>
    <p:extLst>
      <p:ext uri="{BB962C8B-B14F-4D97-AF65-F5344CB8AC3E}">
        <p14:creationId xmlns:p14="http://schemas.microsoft.com/office/powerpoint/2010/main" val="29117269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HSA - Titelfolie 1">
    <p:spTree>
      <p:nvGrpSpPr>
        <p:cNvPr id="1" name=""/>
        <p:cNvGrpSpPr/>
        <p:nvPr/>
      </p:nvGrpSpPr>
      <p:grpSpPr>
        <a:xfrm>
          <a:off x="0" y="0"/>
          <a:ext cx="0" cy="0"/>
          <a:chOff x="0" y="0"/>
          <a:chExt cx="0" cy="0"/>
        </a:xfrm>
      </p:grpSpPr>
      <p:sp>
        <p:nvSpPr>
          <p:cNvPr id="4" name="Rechteck 3"/>
          <p:cNvSpPr/>
          <p:nvPr/>
        </p:nvSpPr>
        <p:spPr>
          <a:xfrm>
            <a:off x="0" y="960968"/>
            <a:ext cx="12192000" cy="5897033"/>
          </a:xfrm>
          <a:prstGeom prst="rect">
            <a:avLst/>
          </a:prstGeom>
          <a:gradFill>
            <a:gsLst>
              <a:gs pos="50000">
                <a:srgbClr val="D40009"/>
              </a:gs>
              <a:gs pos="100000">
                <a:srgbClr val="13017C"/>
              </a:gs>
            </a:gsLst>
            <a:lin ang="4500000" scaled="0"/>
          </a:gradFill>
          <a:ln>
            <a:noFill/>
          </a:ln>
        </p:spPr>
        <p:style>
          <a:lnRef idx="2">
            <a:schemeClr val="accent2">
              <a:shade val="50000"/>
            </a:schemeClr>
          </a:lnRef>
          <a:fillRef idx="1">
            <a:schemeClr val="accent2"/>
          </a:fillRef>
          <a:effectRef idx="0">
            <a:schemeClr val="accent2"/>
          </a:effectRef>
          <a:fontRef idx="minor">
            <a:schemeClr val="lt1"/>
          </a:fontRef>
        </p:style>
        <p:txBody>
          <a:bodyPr lIns="0" tIns="0" rIns="0" bIns="0" anchor="ctr"/>
          <a:lstStyle/>
          <a:p>
            <a:pPr algn="ctr" eaLnBrk="1" fontAlgn="auto" hangingPunct="1">
              <a:spcBef>
                <a:spcPts val="0"/>
              </a:spcBef>
              <a:spcAft>
                <a:spcPts val="0"/>
              </a:spcAft>
              <a:defRPr/>
            </a:pPr>
            <a:endParaRPr lang="de-DE" sz="1800">
              <a:solidFill>
                <a:schemeClr val="bg2"/>
              </a:solidFill>
            </a:endParaRPr>
          </a:p>
        </p:txBody>
      </p:sp>
      <p:sp>
        <p:nvSpPr>
          <p:cNvPr id="5" name="Textfeld 4"/>
          <p:cNvSpPr txBox="1"/>
          <p:nvPr/>
        </p:nvSpPr>
        <p:spPr>
          <a:xfrm>
            <a:off x="-14817" y="-228600"/>
            <a:ext cx="184731" cy="369332"/>
          </a:xfrm>
          <a:prstGeom prst="rect">
            <a:avLst/>
          </a:prstGeom>
          <a:noFill/>
        </p:spPr>
        <p:txBody>
          <a:bodyPr wrap="none">
            <a:spAutoFit/>
          </a:bodyPr>
          <a:lstStyle/>
          <a:p>
            <a:pPr eaLnBrk="1" fontAlgn="auto" hangingPunct="1">
              <a:spcBef>
                <a:spcPts val="0"/>
              </a:spcBef>
              <a:spcAft>
                <a:spcPts val="0"/>
              </a:spcAft>
              <a:defRPr/>
            </a:pPr>
            <a:endParaRPr lang="de-DE" sz="1800">
              <a:latin typeface="+mn-lt"/>
            </a:endParaRPr>
          </a:p>
        </p:txBody>
      </p:sp>
      <p:sp>
        <p:nvSpPr>
          <p:cNvPr id="8" name="Titel 1"/>
          <p:cNvSpPr>
            <a:spLocks noGrp="1"/>
          </p:cNvSpPr>
          <p:nvPr>
            <p:ph type="title"/>
          </p:nvPr>
        </p:nvSpPr>
        <p:spPr>
          <a:xfrm>
            <a:off x="480000" y="1440000"/>
            <a:ext cx="11280000" cy="1200000"/>
          </a:xfrm>
        </p:spPr>
        <p:txBody>
          <a:bodyPr>
            <a:normAutofit/>
          </a:bodyPr>
          <a:lstStyle>
            <a:lvl1pPr algn="l">
              <a:lnSpc>
                <a:spcPct val="120000"/>
              </a:lnSpc>
              <a:defRPr sz="3200" b="1">
                <a:solidFill>
                  <a:schemeClr val="bg1"/>
                </a:solidFill>
              </a:defRPr>
            </a:lvl1pPr>
          </a:lstStyle>
          <a:p>
            <a:r>
              <a:rPr lang="de-DE"/>
              <a:t>Mastertitelformat bearbeiten</a:t>
            </a:r>
            <a:endParaRPr lang="de-DE" dirty="0"/>
          </a:p>
        </p:txBody>
      </p:sp>
      <p:sp>
        <p:nvSpPr>
          <p:cNvPr id="6" name="Inhaltsplatzhalter 6"/>
          <p:cNvSpPr>
            <a:spLocks noGrp="1"/>
          </p:cNvSpPr>
          <p:nvPr>
            <p:ph sz="quarter" idx="10"/>
          </p:nvPr>
        </p:nvSpPr>
        <p:spPr>
          <a:xfrm>
            <a:off x="480485" y="2880000"/>
            <a:ext cx="11279716" cy="3520016"/>
          </a:xfrm>
        </p:spPr>
        <p:txBody>
          <a:bodyPr/>
          <a:lstStyle>
            <a:lvl1pPr marL="0" indent="0" algn="l">
              <a:buFontTx/>
              <a:buNone/>
              <a:tabLst/>
              <a:defRPr>
                <a:solidFill>
                  <a:schemeClr val="bg1"/>
                </a:solidFill>
              </a:defRPr>
            </a:lvl1pPr>
            <a:lvl2pPr marL="0" indent="0" algn="l">
              <a:buFontTx/>
              <a:buNone/>
              <a:tabLst/>
              <a:defRPr>
                <a:solidFill>
                  <a:schemeClr val="bg1"/>
                </a:solidFill>
              </a:defRPr>
            </a:lvl2pPr>
            <a:lvl3pPr marL="0" indent="0" algn="l">
              <a:buFontTx/>
              <a:buNone/>
              <a:tabLst/>
              <a:defRPr>
                <a:solidFill>
                  <a:schemeClr val="bg1"/>
                </a:solidFill>
              </a:defRPr>
            </a:lvl3pPr>
            <a:lvl4pPr marL="0" indent="0" algn="l">
              <a:buFontTx/>
              <a:buNone/>
              <a:tabLst/>
              <a:defRPr>
                <a:solidFill>
                  <a:schemeClr val="bg1"/>
                </a:solidFill>
              </a:defRPr>
            </a:lvl4pPr>
            <a:lvl5pPr marL="0" indent="0" algn="l">
              <a:buFontTx/>
              <a:buNone/>
              <a:tabLst/>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1300447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SA - Zwischentitel (blau)">
    <p:spTree>
      <p:nvGrpSpPr>
        <p:cNvPr id="1" name=""/>
        <p:cNvGrpSpPr/>
        <p:nvPr/>
      </p:nvGrpSpPr>
      <p:grpSpPr>
        <a:xfrm>
          <a:off x="0" y="0"/>
          <a:ext cx="0" cy="0"/>
          <a:chOff x="0" y="0"/>
          <a:chExt cx="0" cy="0"/>
        </a:xfrm>
      </p:grpSpPr>
      <p:sp>
        <p:nvSpPr>
          <p:cNvPr id="4" name="Rechteck 3"/>
          <p:cNvSpPr/>
          <p:nvPr/>
        </p:nvSpPr>
        <p:spPr>
          <a:xfrm>
            <a:off x="0" y="973667"/>
            <a:ext cx="12192000" cy="5884333"/>
          </a:xfrm>
          <a:prstGeom prst="rect">
            <a:avLst/>
          </a:prstGeom>
          <a:solidFill>
            <a:srgbClr val="13017C"/>
          </a:solidFill>
          <a:ln>
            <a:noFill/>
          </a:ln>
        </p:spPr>
        <p:style>
          <a:lnRef idx="2">
            <a:schemeClr val="accent2">
              <a:shade val="50000"/>
            </a:schemeClr>
          </a:lnRef>
          <a:fillRef idx="1">
            <a:schemeClr val="accent2"/>
          </a:fillRef>
          <a:effectRef idx="0">
            <a:schemeClr val="accent2"/>
          </a:effectRef>
          <a:fontRef idx="minor">
            <a:schemeClr val="lt1"/>
          </a:fontRef>
        </p:style>
        <p:txBody>
          <a:bodyPr lIns="0" tIns="0" rIns="0" bIns="0" anchor="ctr"/>
          <a:lstStyle/>
          <a:p>
            <a:pPr algn="ctr" eaLnBrk="1" fontAlgn="auto" hangingPunct="1">
              <a:spcBef>
                <a:spcPts val="0"/>
              </a:spcBef>
              <a:spcAft>
                <a:spcPts val="0"/>
              </a:spcAft>
              <a:defRPr/>
            </a:pPr>
            <a:endParaRPr lang="de-DE" sz="1800">
              <a:solidFill>
                <a:schemeClr val="bg2"/>
              </a:solidFill>
            </a:endParaRPr>
          </a:p>
        </p:txBody>
      </p:sp>
      <p:sp>
        <p:nvSpPr>
          <p:cNvPr id="5" name="Textfeld 4"/>
          <p:cNvSpPr txBox="1"/>
          <p:nvPr/>
        </p:nvSpPr>
        <p:spPr>
          <a:xfrm>
            <a:off x="-14817" y="-228600"/>
            <a:ext cx="184731" cy="369332"/>
          </a:xfrm>
          <a:prstGeom prst="rect">
            <a:avLst/>
          </a:prstGeom>
          <a:noFill/>
        </p:spPr>
        <p:txBody>
          <a:bodyPr wrap="none">
            <a:spAutoFit/>
          </a:bodyPr>
          <a:lstStyle/>
          <a:p>
            <a:pPr eaLnBrk="1" fontAlgn="auto" hangingPunct="1">
              <a:spcBef>
                <a:spcPts val="0"/>
              </a:spcBef>
              <a:spcAft>
                <a:spcPts val="0"/>
              </a:spcAft>
              <a:defRPr/>
            </a:pPr>
            <a:endParaRPr lang="de-DE" sz="1800">
              <a:latin typeface="+mn-lt"/>
            </a:endParaRPr>
          </a:p>
        </p:txBody>
      </p:sp>
      <p:sp>
        <p:nvSpPr>
          <p:cNvPr id="8" name="Titel 1"/>
          <p:cNvSpPr>
            <a:spLocks noGrp="1"/>
          </p:cNvSpPr>
          <p:nvPr>
            <p:ph type="title"/>
          </p:nvPr>
        </p:nvSpPr>
        <p:spPr>
          <a:xfrm>
            <a:off x="480000" y="1440000"/>
            <a:ext cx="11280000" cy="1200000"/>
          </a:xfrm>
        </p:spPr>
        <p:txBody>
          <a:bodyPr>
            <a:normAutofit/>
          </a:bodyPr>
          <a:lstStyle>
            <a:lvl1pPr algn="l">
              <a:lnSpc>
                <a:spcPct val="120000"/>
              </a:lnSpc>
              <a:defRPr sz="3200" b="1">
                <a:solidFill>
                  <a:schemeClr val="bg1"/>
                </a:solidFill>
              </a:defRPr>
            </a:lvl1pPr>
          </a:lstStyle>
          <a:p>
            <a:r>
              <a:rPr lang="de-DE"/>
              <a:t>Mastertitelformat bearbeiten</a:t>
            </a:r>
            <a:endParaRPr lang="de-DE" dirty="0"/>
          </a:p>
        </p:txBody>
      </p:sp>
      <p:sp>
        <p:nvSpPr>
          <p:cNvPr id="7" name="Inhaltsplatzhalter 6"/>
          <p:cNvSpPr>
            <a:spLocks noGrp="1"/>
          </p:cNvSpPr>
          <p:nvPr>
            <p:ph sz="quarter" idx="10"/>
          </p:nvPr>
        </p:nvSpPr>
        <p:spPr>
          <a:xfrm>
            <a:off x="480485" y="2880000"/>
            <a:ext cx="11279716" cy="3520016"/>
          </a:xfrm>
        </p:spPr>
        <p:txBody>
          <a:bodyPr/>
          <a:lstStyle>
            <a:lvl1pPr marL="0" indent="0" algn="l">
              <a:buFontTx/>
              <a:buNone/>
              <a:tabLst/>
              <a:defRPr>
                <a:solidFill>
                  <a:schemeClr val="bg1"/>
                </a:solidFill>
              </a:defRPr>
            </a:lvl1pPr>
            <a:lvl2pPr marL="0" indent="0" algn="l">
              <a:buFontTx/>
              <a:buNone/>
              <a:tabLst/>
              <a:defRPr>
                <a:solidFill>
                  <a:schemeClr val="bg1"/>
                </a:solidFill>
              </a:defRPr>
            </a:lvl2pPr>
            <a:lvl3pPr marL="0" indent="0" algn="l">
              <a:buFontTx/>
              <a:buNone/>
              <a:tabLst/>
              <a:defRPr>
                <a:solidFill>
                  <a:schemeClr val="bg1"/>
                </a:solidFill>
              </a:defRPr>
            </a:lvl3pPr>
            <a:lvl4pPr marL="0" indent="0" algn="l">
              <a:buFontTx/>
              <a:buNone/>
              <a:tabLst/>
              <a:defRPr>
                <a:solidFill>
                  <a:schemeClr val="bg1"/>
                </a:solidFill>
              </a:defRPr>
            </a:lvl4pPr>
            <a:lvl5pPr marL="0" indent="0" algn="l">
              <a:buFontTx/>
              <a:buNone/>
              <a:tabLst/>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1563530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HSA - Zwischentitel (rot)">
    <p:spTree>
      <p:nvGrpSpPr>
        <p:cNvPr id="1" name=""/>
        <p:cNvGrpSpPr/>
        <p:nvPr/>
      </p:nvGrpSpPr>
      <p:grpSpPr>
        <a:xfrm>
          <a:off x="0" y="0"/>
          <a:ext cx="0" cy="0"/>
          <a:chOff x="0" y="0"/>
          <a:chExt cx="0" cy="0"/>
        </a:xfrm>
      </p:grpSpPr>
      <p:sp>
        <p:nvSpPr>
          <p:cNvPr id="4" name="Rechteck 3"/>
          <p:cNvSpPr/>
          <p:nvPr/>
        </p:nvSpPr>
        <p:spPr>
          <a:xfrm>
            <a:off x="0" y="973667"/>
            <a:ext cx="12192000" cy="5884333"/>
          </a:xfrm>
          <a:prstGeom prst="rect">
            <a:avLst/>
          </a:prstGeom>
          <a:solidFill>
            <a:srgbClr val="D40009"/>
          </a:solidFill>
          <a:ln>
            <a:noFill/>
          </a:ln>
        </p:spPr>
        <p:style>
          <a:lnRef idx="2">
            <a:schemeClr val="accent2">
              <a:shade val="50000"/>
            </a:schemeClr>
          </a:lnRef>
          <a:fillRef idx="1">
            <a:schemeClr val="accent2"/>
          </a:fillRef>
          <a:effectRef idx="0">
            <a:schemeClr val="accent2"/>
          </a:effectRef>
          <a:fontRef idx="minor">
            <a:schemeClr val="lt1"/>
          </a:fontRef>
        </p:style>
        <p:txBody>
          <a:bodyPr lIns="0" tIns="0" rIns="0" bIns="0" anchor="ctr"/>
          <a:lstStyle/>
          <a:p>
            <a:pPr algn="ctr" eaLnBrk="1" fontAlgn="auto" hangingPunct="1">
              <a:spcBef>
                <a:spcPts val="0"/>
              </a:spcBef>
              <a:spcAft>
                <a:spcPts val="0"/>
              </a:spcAft>
              <a:defRPr/>
            </a:pPr>
            <a:endParaRPr lang="de-DE" sz="1800">
              <a:solidFill>
                <a:schemeClr val="bg2"/>
              </a:solidFill>
            </a:endParaRPr>
          </a:p>
        </p:txBody>
      </p:sp>
      <p:sp>
        <p:nvSpPr>
          <p:cNvPr id="5" name="Textfeld 4"/>
          <p:cNvSpPr txBox="1"/>
          <p:nvPr/>
        </p:nvSpPr>
        <p:spPr>
          <a:xfrm>
            <a:off x="-14817" y="-228600"/>
            <a:ext cx="184731" cy="369332"/>
          </a:xfrm>
          <a:prstGeom prst="rect">
            <a:avLst/>
          </a:prstGeom>
          <a:noFill/>
        </p:spPr>
        <p:txBody>
          <a:bodyPr wrap="none">
            <a:spAutoFit/>
          </a:bodyPr>
          <a:lstStyle/>
          <a:p>
            <a:pPr eaLnBrk="1" fontAlgn="auto" hangingPunct="1">
              <a:spcBef>
                <a:spcPts val="0"/>
              </a:spcBef>
              <a:spcAft>
                <a:spcPts val="0"/>
              </a:spcAft>
              <a:defRPr/>
            </a:pPr>
            <a:endParaRPr lang="de-DE" sz="1800">
              <a:latin typeface="+mn-lt"/>
            </a:endParaRPr>
          </a:p>
        </p:txBody>
      </p:sp>
      <p:sp>
        <p:nvSpPr>
          <p:cNvPr id="8" name="Titel 1"/>
          <p:cNvSpPr>
            <a:spLocks noGrp="1"/>
          </p:cNvSpPr>
          <p:nvPr>
            <p:ph type="title"/>
          </p:nvPr>
        </p:nvSpPr>
        <p:spPr>
          <a:xfrm>
            <a:off x="480000" y="1440000"/>
            <a:ext cx="11280000" cy="1200000"/>
          </a:xfrm>
        </p:spPr>
        <p:txBody>
          <a:bodyPr>
            <a:normAutofit/>
          </a:bodyPr>
          <a:lstStyle>
            <a:lvl1pPr algn="l">
              <a:lnSpc>
                <a:spcPct val="120000"/>
              </a:lnSpc>
              <a:defRPr sz="3200" b="1">
                <a:solidFill>
                  <a:schemeClr val="bg1"/>
                </a:solidFill>
              </a:defRPr>
            </a:lvl1pPr>
          </a:lstStyle>
          <a:p>
            <a:r>
              <a:rPr lang="de-DE"/>
              <a:t>Mastertitelformat bearbeiten</a:t>
            </a:r>
            <a:endParaRPr lang="de-DE" dirty="0"/>
          </a:p>
        </p:txBody>
      </p:sp>
      <p:sp>
        <p:nvSpPr>
          <p:cNvPr id="6" name="Inhaltsplatzhalter 6"/>
          <p:cNvSpPr>
            <a:spLocks noGrp="1"/>
          </p:cNvSpPr>
          <p:nvPr>
            <p:ph sz="quarter" idx="10"/>
          </p:nvPr>
        </p:nvSpPr>
        <p:spPr>
          <a:xfrm>
            <a:off x="480485" y="2880000"/>
            <a:ext cx="11279716" cy="3520016"/>
          </a:xfrm>
        </p:spPr>
        <p:txBody>
          <a:bodyPr/>
          <a:lstStyle>
            <a:lvl1pPr marL="0" indent="0" algn="l">
              <a:buFontTx/>
              <a:buNone/>
              <a:tabLst/>
              <a:defRPr>
                <a:solidFill>
                  <a:schemeClr val="bg1"/>
                </a:solidFill>
              </a:defRPr>
            </a:lvl1pPr>
            <a:lvl2pPr marL="0" indent="0" algn="l">
              <a:buFontTx/>
              <a:buNone/>
              <a:tabLst/>
              <a:defRPr>
                <a:solidFill>
                  <a:schemeClr val="bg1"/>
                </a:solidFill>
              </a:defRPr>
            </a:lvl2pPr>
            <a:lvl3pPr marL="0" indent="0" algn="l">
              <a:buFontTx/>
              <a:buNone/>
              <a:tabLst/>
              <a:defRPr>
                <a:solidFill>
                  <a:schemeClr val="bg1"/>
                </a:solidFill>
              </a:defRPr>
            </a:lvl3pPr>
            <a:lvl4pPr marL="0" indent="0" algn="l">
              <a:buFontTx/>
              <a:buNone/>
              <a:tabLst/>
              <a:defRPr>
                <a:solidFill>
                  <a:schemeClr val="bg1"/>
                </a:solidFill>
              </a:defRPr>
            </a:lvl4pPr>
            <a:lvl5pPr marL="0" indent="0" algn="l">
              <a:buFontTx/>
              <a:buNone/>
              <a:tabLst/>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4077637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HSA - Titel und Inhalt">
    <p:spTree>
      <p:nvGrpSpPr>
        <p:cNvPr id="1" name=""/>
        <p:cNvGrpSpPr/>
        <p:nvPr/>
      </p:nvGrpSpPr>
      <p:grpSpPr>
        <a:xfrm>
          <a:off x="0" y="0"/>
          <a:ext cx="0" cy="0"/>
          <a:chOff x="0" y="0"/>
          <a:chExt cx="0" cy="0"/>
        </a:xfrm>
      </p:grpSpPr>
      <p:sp>
        <p:nvSpPr>
          <p:cNvPr id="3" name="Inhaltsplatzhalter 2"/>
          <p:cNvSpPr>
            <a:spLocks noGrp="1"/>
          </p:cNvSpPr>
          <p:nvPr>
            <p:ph idx="1"/>
          </p:nvPr>
        </p:nvSpPr>
        <p:spPr/>
        <p:txBody>
          <a:bodyPr/>
          <a:lstStyle>
            <a:lvl1pPr marL="457189" indent="-179996">
              <a:buFont typeface="Arial" charset="0"/>
              <a:buChar char="•"/>
              <a:defRPr sz="2667" baseline="0"/>
            </a:lvl1pPr>
            <a:lvl2pPr marL="914377" indent="-179996">
              <a:buFont typeface="Arial" charset="0"/>
              <a:buChar char="•"/>
              <a:defRPr sz="2400"/>
            </a:lvl2pPr>
            <a:lvl3pPr marL="1371566" indent="-179996">
              <a:buFont typeface="Arial" charset="0"/>
              <a:buChar char="•"/>
              <a:defRPr sz="2133" baseline="0"/>
            </a:lvl3pPr>
            <a:lvl4pPr marL="1714457" indent="-179996">
              <a:buFont typeface="Arial" charset="0"/>
              <a:buChar char="•"/>
              <a:defRPr/>
            </a:lvl4pPr>
            <a:lvl5pPr marL="2171646" indent="-179996">
              <a:buFont typeface="Arial" charset="0"/>
              <a:buChar cha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 name="Titel 1"/>
          <p:cNvSpPr>
            <a:spLocks noGrp="1"/>
          </p:cNvSpPr>
          <p:nvPr>
            <p:ph type="title"/>
          </p:nvPr>
        </p:nvSpPr>
        <p:spPr>
          <a:xfrm>
            <a:off x="480000" y="960000"/>
            <a:ext cx="11280000" cy="840000"/>
          </a:xfrm>
        </p:spPr>
        <p:txBody>
          <a:bodyPr>
            <a:normAutofit/>
          </a:bodyPr>
          <a:lstStyle>
            <a:lvl1pPr algn="l">
              <a:defRPr sz="2667" b="1" baseline="0"/>
            </a:lvl1pPr>
          </a:lstStyle>
          <a:p>
            <a:r>
              <a:rPr lang="de-DE"/>
              <a:t>Mastertitelformat bearbeiten</a:t>
            </a:r>
            <a:endParaRPr lang="de-DE" dirty="0"/>
          </a:p>
        </p:txBody>
      </p:sp>
      <p:sp>
        <p:nvSpPr>
          <p:cNvPr id="4" name="Datumsplatzhalter 3"/>
          <p:cNvSpPr>
            <a:spLocks noGrp="1"/>
          </p:cNvSpPr>
          <p:nvPr>
            <p:ph type="dt" sz="half" idx="10"/>
          </p:nvPr>
        </p:nvSpPr>
        <p:spPr/>
        <p:txBody>
          <a:bodyPr/>
          <a:lstStyle>
            <a:lvl1pPr>
              <a:defRPr/>
            </a:lvl1pPr>
          </a:lstStyle>
          <a:p>
            <a:pPr>
              <a:defRPr/>
            </a:pPr>
            <a:fld id="{3B9EE591-10ED-46FD-A782-25B08F2EEE35}" type="datetime1">
              <a:rPr lang="en-US" smtClean="0"/>
              <a:t>2/28/2024</a:t>
            </a:fld>
            <a:endParaRPr lang="de-DE" dirty="0"/>
          </a:p>
        </p:txBody>
      </p:sp>
      <p:sp>
        <p:nvSpPr>
          <p:cNvPr id="5" name="Fußzeilenplatzhalter 4"/>
          <p:cNvSpPr>
            <a:spLocks noGrp="1"/>
          </p:cNvSpPr>
          <p:nvPr>
            <p:ph type="ftr" sz="quarter" idx="11"/>
          </p:nvPr>
        </p:nvSpPr>
        <p:spPr/>
        <p:txBody>
          <a:bodyPr/>
          <a:lstStyle>
            <a:lvl1pPr>
              <a:defRPr/>
            </a:lvl1pPr>
          </a:lstStyle>
          <a:p>
            <a:pPr>
              <a:defRPr/>
            </a:pPr>
            <a:r>
              <a:rPr lang="de-DE"/>
              <a:t>Pichaya Tappayuthpijarn</a:t>
            </a:r>
            <a:endParaRPr lang="de-DE" dirty="0"/>
          </a:p>
        </p:txBody>
      </p:sp>
      <p:sp>
        <p:nvSpPr>
          <p:cNvPr id="6" name="Foliennummernplatzhalter 5"/>
          <p:cNvSpPr>
            <a:spLocks noGrp="1"/>
          </p:cNvSpPr>
          <p:nvPr>
            <p:ph type="sldNum" sz="quarter" idx="12"/>
          </p:nvPr>
        </p:nvSpPr>
        <p:spPr/>
        <p:txBody>
          <a:bodyPr/>
          <a:lstStyle>
            <a:lvl1pPr>
              <a:defRPr/>
            </a:lvl1pPr>
          </a:lstStyle>
          <a:p>
            <a:pPr>
              <a:defRPr/>
            </a:pPr>
            <a:r>
              <a:rPr lang="de-DE"/>
              <a:t>SEITE</a:t>
            </a:r>
            <a:r>
              <a:rPr lang="de-DE" spc="0"/>
              <a:t> </a:t>
            </a:r>
            <a:fld id="{37ED3A82-C5FC-FE4D-9EDE-EA1B3EA06354}" type="slidenum">
              <a:rPr lang="de-DE" spc="0"/>
              <a:pPr>
                <a:defRPr/>
              </a:pPr>
              <a:t>‹#›</a:t>
            </a:fld>
            <a:endParaRPr lang="de-DE" spc="0"/>
          </a:p>
        </p:txBody>
      </p:sp>
    </p:spTree>
    <p:extLst>
      <p:ext uri="{BB962C8B-B14F-4D97-AF65-F5344CB8AC3E}">
        <p14:creationId xmlns:p14="http://schemas.microsoft.com/office/powerpoint/2010/main" val="42593760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SA - Vollbild">
    <p:spTree>
      <p:nvGrpSpPr>
        <p:cNvPr id="1" name=""/>
        <p:cNvGrpSpPr/>
        <p:nvPr/>
      </p:nvGrpSpPr>
      <p:grpSpPr>
        <a:xfrm>
          <a:off x="0" y="0"/>
          <a:ext cx="0" cy="0"/>
          <a:chOff x="0" y="0"/>
          <a:chExt cx="0" cy="0"/>
        </a:xfrm>
      </p:grpSpPr>
      <p:sp>
        <p:nvSpPr>
          <p:cNvPr id="3" name="Bildplatzhalter 2"/>
          <p:cNvSpPr>
            <a:spLocks noGrp="1"/>
          </p:cNvSpPr>
          <p:nvPr>
            <p:ph type="pic" idx="1"/>
          </p:nvPr>
        </p:nvSpPr>
        <p:spPr>
          <a:xfrm>
            <a:off x="480000" y="1080000"/>
            <a:ext cx="11232000" cy="5040000"/>
          </a:xfrm>
        </p:spPr>
        <p:txBody>
          <a:bodyPr anchor="ctr" anchorCtr="0"/>
          <a:lstStyle>
            <a:lvl1pPr marL="0" indent="0" algn="ctr">
              <a:buNone/>
              <a:defRPr sz="24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r>
              <a:rPr lang="de-DE" noProof="0" dirty="0"/>
              <a:t>Bild durch Klicken auf Symbol hinzufügen</a:t>
            </a:r>
          </a:p>
        </p:txBody>
      </p:sp>
      <p:sp>
        <p:nvSpPr>
          <p:cNvPr id="4" name="Datumsplatzhalter 3"/>
          <p:cNvSpPr>
            <a:spLocks noGrp="1"/>
          </p:cNvSpPr>
          <p:nvPr>
            <p:ph type="dt" sz="half" idx="10"/>
          </p:nvPr>
        </p:nvSpPr>
        <p:spPr/>
        <p:txBody>
          <a:bodyPr/>
          <a:lstStyle>
            <a:lvl1pPr>
              <a:defRPr/>
            </a:lvl1pPr>
          </a:lstStyle>
          <a:p>
            <a:pPr>
              <a:defRPr/>
            </a:pPr>
            <a:fld id="{921E8677-ED6C-41E3-A9B1-0F76D6E298D0}" type="datetime1">
              <a:rPr lang="en-US" smtClean="0"/>
              <a:t>2/28/2024</a:t>
            </a:fld>
            <a:endParaRPr lang="de-DE" dirty="0"/>
          </a:p>
        </p:txBody>
      </p:sp>
      <p:sp>
        <p:nvSpPr>
          <p:cNvPr id="5" name="Fußzeilenplatzhalter 4"/>
          <p:cNvSpPr>
            <a:spLocks noGrp="1"/>
          </p:cNvSpPr>
          <p:nvPr>
            <p:ph type="ftr" sz="quarter" idx="11"/>
          </p:nvPr>
        </p:nvSpPr>
        <p:spPr/>
        <p:txBody>
          <a:bodyPr/>
          <a:lstStyle>
            <a:lvl1pPr>
              <a:defRPr/>
            </a:lvl1pPr>
          </a:lstStyle>
          <a:p>
            <a:pPr>
              <a:defRPr/>
            </a:pPr>
            <a:r>
              <a:rPr lang="de-DE"/>
              <a:t>Pichaya Tappayuthpijarn</a:t>
            </a:r>
            <a:endParaRPr lang="de-DE" dirty="0"/>
          </a:p>
        </p:txBody>
      </p:sp>
      <p:sp>
        <p:nvSpPr>
          <p:cNvPr id="6" name="Foliennummernplatzhalter 5"/>
          <p:cNvSpPr>
            <a:spLocks noGrp="1"/>
          </p:cNvSpPr>
          <p:nvPr>
            <p:ph type="sldNum" sz="quarter" idx="12"/>
          </p:nvPr>
        </p:nvSpPr>
        <p:spPr/>
        <p:txBody>
          <a:bodyPr/>
          <a:lstStyle>
            <a:lvl1pPr>
              <a:defRPr/>
            </a:lvl1pPr>
          </a:lstStyle>
          <a:p>
            <a:pPr>
              <a:defRPr/>
            </a:pPr>
            <a:r>
              <a:rPr lang="de-DE"/>
              <a:t>SEITE</a:t>
            </a:r>
            <a:r>
              <a:rPr lang="de-DE" spc="0"/>
              <a:t> </a:t>
            </a:r>
            <a:fld id="{CFE3FFFC-B871-2A4B-84CD-F5B84E8999CB}" type="slidenum">
              <a:rPr lang="de-DE" spc="0"/>
              <a:pPr>
                <a:defRPr/>
              </a:pPr>
              <a:t>‹#›</a:t>
            </a:fld>
            <a:endParaRPr lang="de-DE" spc="0"/>
          </a:p>
        </p:txBody>
      </p:sp>
    </p:spTree>
    <p:extLst>
      <p:ext uri="{BB962C8B-B14F-4D97-AF65-F5344CB8AC3E}">
        <p14:creationId xmlns:p14="http://schemas.microsoft.com/office/powerpoint/2010/main" val="73506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SA - 3 Bilder">
    <p:spTree>
      <p:nvGrpSpPr>
        <p:cNvPr id="1" name=""/>
        <p:cNvGrpSpPr/>
        <p:nvPr/>
      </p:nvGrpSpPr>
      <p:grpSpPr>
        <a:xfrm>
          <a:off x="0" y="0"/>
          <a:ext cx="0" cy="0"/>
          <a:chOff x="0" y="0"/>
          <a:chExt cx="0" cy="0"/>
        </a:xfrm>
      </p:grpSpPr>
      <p:sp>
        <p:nvSpPr>
          <p:cNvPr id="3" name="Bildplatzhalter 2"/>
          <p:cNvSpPr>
            <a:spLocks noGrp="1"/>
          </p:cNvSpPr>
          <p:nvPr>
            <p:ph type="pic" idx="1"/>
          </p:nvPr>
        </p:nvSpPr>
        <p:spPr>
          <a:xfrm>
            <a:off x="480000" y="1080000"/>
            <a:ext cx="3600000" cy="5040000"/>
          </a:xfrm>
        </p:spPr>
        <p:txBody>
          <a:bodyPr anchor="ctr" anchorCtr="0"/>
          <a:lstStyle>
            <a:lvl1pPr marL="0" indent="0" algn="ctr">
              <a:buNone/>
              <a:defRPr sz="24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r>
              <a:rPr lang="de-DE" noProof="0"/>
              <a:t>Bild durch Klicken auf Symbol hinzufügen</a:t>
            </a:r>
            <a:endParaRPr lang="de-DE" noProof="0" dirty="0"/>
          </a:p>
        </p:txBody>
      </p:sp>
      <p:sp>
        <p:nvSpPr>
          <p:cNvPr id="7" name="Bildplatzhalter 2"/>
          <p:cNvSpPr>
            <a:spLocks noGrp="1"/>
          </p:cNvSpPr>
          <p:nvPr>
            <p:ph type="pic" idx="13"/>
          </p:nvPr>
        </p:nvSpPr>
        <p:spPr>
          <a:xfrm>
            <a:off x="4320000" y="1080000"/>
            <a:ext cx="3600000" cy="5040000"/>
          </a:xfrm>
        </p:spPr>
        <p:txBody>
          <a:bodyPr anchor="ctr" anchorCtr="0"/>
          <a:lstStyle>
            <a:lvl1pPr marL="0" indent="0" algn="ctr">
              <a:buNone/>
              <a:defRPr sz="24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r>
              <a:rPr lang="de-DE" noProof="0"/>
              <a:t>Bild durch Klicken auf Symbol hinzufügen</a:t>
            </a:r>
            <a:endParaRPr lang="de-DE" noProof="0" dirty="0"/>
          </a:p>
        </p:txBody>
      </p:sp>
      <p:sp>
        <p:nvSpPr>
          <p:cNvPr id="8" name="Bildplatzhalter 2"/>
          <p:cNvSpPr>
            <a:spLocks noGrp="1"/>
          </p:cNvSpPr>
          <p:nvPr>
            <p:ph type="pic" idx="14"/>
          </p:nvPr>
        </p:nvSpPr>
        <p:spPr>
          <a:xfrm>
            <a:off x="8160000" y="1080000"/>
            <a:ext cx="3600000" cy="5040000"/>
          </a:xfrm>
        </p:spPr>
        <p:txBody>
          <a:bodyPr anchor="ctr" anchorCtr="0"/>
          <a:lstStyle>
            <a:lvl1pPr marL="0" indent="0" algn="ctr">
              <a:buNone/>
              <a:defRPr sz="24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r>
              <a:rPr lang="de-DE" noProof="0"/>
              <a:t>Bild durch Klicken auf Symbol hinzufügen</a:t>
            </a:r>
            <a:endParaRPr lang="de-DE" noProof="0" dirty="0"/>
          </a:p>
        </p:txBody>
      </p:sp>
      <p:sp>
        <p:nvSpPr>
          <p:cNvPr id="5" name="Datumsplatzhalter 3"/>
          <p:cNvSpPr>
            <a:spLocks noGrp="1"/>
          </p:cNvSpPr>
          <p:nvPr>
            <p:ph type="dt" sz="half" idx="15"/>
          </p:nvPr>
        </p:nvSpPr>
        <p:spPr/>
        <p:txBody>
          <a:bodyPr/>
          <a:lstStyle>
            <a:lvl1pPr>
              <a:defRPr/>
            </a:lvl1pPr>
          </a:lstStyle>
          <a:p>
            <a:pPr>
              <a:defRPr/>
            </a:pPr>
            <a:fld id="{074F4AFC-6846-47C5-9914-0801E096BF6E}" type="datetime1">
              <a:rPr lang="en-US" smtClean="0"/>
              <a:t>2/28/2024</a:t>
            </a:fld>
            <a:endParaRPr lang="de-DE" dirty="0"/>
          </a:p>
        </p:txBody>
      </p:sp>
      <p:sp>
        <p:nvSpPr>
          <p:cNvPr id="6" name="Fußzeilenplatzhalter 4"/>
          <p:cNvSpPr>
            <a:spLocks noGrp="1"/>
          </p:cNvSpPr>
          <p:nvPr>
            <p:ph type="ftr" sz="quarter" idx="16"/>
          </p:nvPr>
        </p:nvSpPr>
        <p:spPr/>
        <p:txBody>
          <a:bodyPr/>
          <a:lstStyle>
            <a:lvl1pPr>
              <a:defRPr/>
            </a:lvl1pPr>
          </a:lstStyle>
          <a:p>
            <a:pPr>
              <a:defRPr/>
            </a:pPr>
            <a:r>
              <a:rPr lang="de-DE"/>
              <a:t>Pichaya Tappayuthpijarn</a:t>
            </a:r>
            <a:endParaRPr lang="de-DE" dirty="0"/>
          </a:p>
        </p:txBody>
      </p:sp>
      <p:sp>
        <p:nvSpPr>
          <p:cNvPr id="9" name="Foliennummernplatzhalter 5"/>
          <p:cNvSpPr>
            <a:spLocks noGrp="1"/>
          </p:cNvSpPr>
          <p:nvPr>
            <p:ph type="sldNum" sz="quarter" idx="17"/>
          </p:nvPr>
        </p:nvSpPr>
        <p:spPr/>
        <p:txBody>
          <a:bodyPr/>
          <a:lstStyle>
            <a:lvl1pPr>
              <a:defRPr/>
            </a:lvl1pPr>
          </a:lstStyle>
          <a:p>
            <a:pPr>
              <a:defRPr/>
            </a:pPr>
            <a:r>
              <a:rPr lang="de-DE"/>
              <a:t>SEITE</a:t>
            </a:r>
            <a:r>
              <a:rPr lang="de-DE" spc="0"/>
              <a:t> </a:t>
            </a:r>
            <a:fld id="{DD5AFED4-3029-B542-9B27-96886BA7CE5E}" type="slidenum">
              <a:rPr lang="de-DE" spc="0"/>
              <a:pPr>
                <a:defRPr/>
              </a:pPr>
              <a:t>‹#›</a:t>
            </a:fld>
            <a:endParaRPr lang="de-DE" spc="0"/>
          </a:p>
        </p:txBody>
      </p:sp>
    </p:spTree>
    <p:extLst>
      <p:ext uri="{BB962C8B-B14F-4D97-AF65-F5344CB8AC3E}">
        <p14:creationId xmlns:p14="http://schemas.microsoft.com/office/powerpoint/2010/main" val="807064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SA - 2 Bilder">
    <p:spTree>
      <p:nvGrpSpPr>
        <p:cNvPr id="1" name=""/>
        <p:cNvGrpSpPr/>
        <p:nvPr/>
      </p:nvGrpSpPr>
      <p:grpSpPr>
        <a:xfrm>
          <a:off x="0" y="0"/>
          <a:ext cx="0" cy="0"/>
          <a:chOff x="0" y="0"/>
          <a:chExt cx="0" cy="0"/>
        </a:xfrm>
      </p:grpSpPr>
      <p:sp>
        <p:nvSpPr>
          <p:cNvPr id="3" name="Bildplatzhalter 2"/>
          <p:cNvSpPr>
            <a:spLocks noGrp="1"/>
          </p:cNvSpPr>
          <p:nvPr>
            <p:ph type="pic" idx="1"/>
          </p:nvPr>
        </p:nvSpPr>
        <p:spPr>
          <a:xfrm>
            <a:off x="479999" y="1080000"/>
            <a:ext cx="5520000" cy="5040000"/>
          </a:xfrm>
        </p:spPr>
        <p:txBody>
          <a:bodyPr anchor="ctr" anchorCtr="0"/>
          <a:lstStyle>
            <a:lvl1pPr marL="0" indent="0" algn="ctr">
              <a:buNone/>
              <a:defRPr sz="24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r>
              <a:rPr lang="de-DE" noProof="0"/>
              <a:t>Bild durch Klicken auf Symbol hinzufügen</a:t>
            </a:r>
            <a:endParaRPr lang="de-DE" noProof="0" dirty="0"/>
          </a:p>
        </p:txBody>
      </p:sp>
      <p:sp>
        <p:nvSpPr>
          <p:cNvPr id="9" name="Bildplatzhalter 2"/>
          <p:cNvSpPr>
            <a:spLocks noGrp="1"/>
          </p:cNvSpPr>
          <p:nvPr>
            <p:ph type="pic" idx="13"/>
          </p:nvPr>
        </p:nvSpPr>
        <p:spPr>
          <a:xfrm>
            <a:off x="6240000" y="1080000"/>
            <a:ext cx="5520000" cy="5040000"/>
          </a:xfrm>
        </p:spPr>
        <p:txBody>
          <a:bodyPr anchor="ctr" anchorCtr="0"/>
          <a:lstStyle>
            <a:lvl1pPr marL="0" indent="0" algn="ctr">
              <a:buNone/>
              <a:defRPr sz="24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r>
              <a:rPr lang="de-DE" noProof="0"/>
              <a:t>Bild durch Klicken auf Symbol hinzufügen</a:t>
            </a:r>
            <a:endParaRPr lang="de-DE" noProof="0" dirty="0"/>
          </a:p>
        </p:txBody>
      </p:sp>
      <p:sp>
        <p:nvSpPr>
          <p:cNvPr id="4" name="Datumsplatzhalter 3"/>
          <p:cNvSpPr>
            <a:spLocks noGrp="1"/>
          </p:cNvSpPr>
          <p:nvPr>
            <p:ph type="dt" sz="half" idx="14"/>
          </p:nvPr>
        </p:nvSpPr>
        <p:spPr/>
        <p:txBody>
          <a:bodyPr/>
          <a:lstStyle>
            <a:lvl1pPr>
              <a:defRPr/>
            </a:lvl1pPr>
          </a:lstStyle>
          <a:p>
            <a:pPr>
              <a:defRPr/>
            </a:pPr>
            <a:fld id="{3FB0F161-4538-4A23-84CA-3BB36162B54F}" type="datetime1">
              <a:rPr lang="en-US" smtClean="0"/>
              <a:t>2/28/2024</a:t>
            </a:fld>
            <a:endParaRPr lang="de-DE" dirty="0"/>
          </a:p>
        </p:txBody>
      </p:sp>
      <p:sp>
        <p:nvSpPr>
          <p:cNvPr id="5" name="Fußzeilenplatzhalter 4"/>
          <p:cNvSpPr>
            <a:spLocks noGrp="1"/>
          </p:cNvSpPr>
          <p:nvPr>
            <p:ph type="ftr" sz="quarter" idx="15"/>
          </p:nvPr>
        </p:nvSpPr>
        <p:spPr/>
        <p:txBody>
          <a:bodyPr/>
          <a:lstStyle>
            <a:lvl1pPr>
              <a:defRPr/>
            </a:lvl1pPr>
          </a:lstStyle>
          <a:p>
            <a:pPr>
              <a:defRPr/>
            </a:pPr>
            <a:r>
              <a:rPr lang="de-DE"/>
              <a:t>Pichaya Tappayuthpijarn</a:t>
            </a:r>
            <a:endParaRPr lang="de-DE" dirty="0"/>
          </a:p>
        </p:txBody>
      </p:sp>
      <p:sp>
        <p:nvSpPr>
          <p:cNvPr id="6" name="Foliennummernplatzhalter 5"/>
          <p:cNvSpPr>
            <a:spLocks noGrp="1"/>
          </p:cNvSpPr>
          <p:nvPr>
            <p:ph type="sldNum" sz="quarter" idx="16"/>
          </p:nvPr>
        </p:nvSpPr>
        <p:spPr/>
        <p:txBody>
          <a:bodyPr/>
          <a:lstStyle>
            <a:lvl1pPr>
              <a:defRPr/>
            </a:lvl1pPr>
          </a:lstStyle>
          <a:p>
            <a:pPr>
              <a:defRPr/>
            </a:pPr>
            <a:r>
              <a:rPr lang="de-DE"/>
              <a:t>SEITE</a:t>
            </a:r>
            <a:r>
              <a:rPr lang="de-DE" spc="0"/>
              <a:t> </a:t>
            </a:r>
            <a:fld id="{B0A21381-EDD4-A048-9D94-9385FD73723F}" type="slidenum">
              <a:rPr lang="de-DE" spc="0"/>
              <a:pPr>
                <a:defRPr/>
              </a:pPr>
              <a:t>‹#›</a:t>
            </a:fld>
            <a:endParaRPr lang="de-DE" spc="0"/>
          </a:p>
        </p:txBody>
      </p:sp>
    </p:spTree>
    <p:extLst>
      <p:ext uri="{BB962C8B-B14F-4D97-AF65-F5344CB8AC3E}">
        <p14:creationId xmlns:p14="http://schemas.microsoft.com/office/powerpoint/2010/main" val="3747356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SA - Bild und Inhalt">
    <p:spTree>
      <p:nvGrpSpPr>
        <p:cNvPr id="1" name=""/>
        <p:cNvGrpSpPr/>
        <p:nvPr/>
      </p:nvGrpSpPr>
      <p:grpSpPr>
        <a:xfrm>
          <a:off x="0" y="0"/>
          <a:ext cx="0" cy="0"/>
          <a:chOff x="0" y="0"/>
          <a:chExt cx="0" cy="0"/>
        </a:xfrm>
      </p:grpSpPr>
      <p:sp>
        <p:nvSpPr>
          <p:cNvPr id="10" name="Bildplatzhalter 2"/>
          <p:cNvSpPr>
            <a:spLocks noGrp="1"/>
          </p:cNvSpPr>
          <p:nvPr>
            <p:ph type="pic" idx="1"/>
          </p:nvPr>
        </p:nvSpPr>
        <p:spPr>
          <a:xfrm>
            <a:off x="480000" y="1080000"/>
            <a:ext cx="3600000" cy="5040000"/>
          </a:xfrm>
        </p:spPr>
        <p:txBody>
          <a:bodyPr anchor="ctr" anchorCtr="0"/>
          <a:lstStyle>
            <a:lvl1pPr marL="0" indent="0" algn="ctr">
              <a:buNone/>
              <a:defRPr sz="24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r>
              <a:rPr lang="de-DE" noProof="0"/>
              <a:t>Bild durch Klicken auf Symbol hinzufügen</a:t>
            </a:r>
            <a:endParaRPr lang="de-DE" noProof="0" dirty="0"/>
          </a:p>
        </p:txBody>
      </p:sp>
      <p:sp>
        <p:nvSpPr>
          <p:cNvPr id="11" name="Inhaltsplatzhalter 2"/>
          <p:cNvSpPr>
            <a:spLocks noGrp="1"/>
          </p:cNvSpPr>
          <p:nvPr>
            <p:ph idx="13"/>
          </p:nvPr>
        </p:nvSpPr>
        <p:spPr>
          <a:xfrm>
            <a:off x="4320000" y="2068530"/>
            <a:ext cx="7440000" cy="4051468"/>
          </a:xfrm>
        </p:spPr>
        <p:txBody>
          <a:bodyPr/>
          <a:lstStyle>
            <a:lvl1pPr marL="457189" indent="-179996">
              <a:buFont typeface="Arial" charset="0"/>
              <a:buChar char="•"/>
              <a:defRPr sz="2400"/>
            </a:lvl1pPr>
            <a:lvl2pPr marL="914377" indent="-179996">
              <a:buFont typeface="Arial" charset="0"/>
              <a:buChar char="•"/>
              <a:defRPr sz="2400"/>
            </a:lvl2pPr>
            <a:lvl3pPr marL="1371566" indent="-179996">
              <a:buFont typeface="Arial" charset="0"/>
              <a:buChar char="•"/>
              <a:defRPr sz="2133" baseline="0"/>
            </a:lvl3pPr>
            <a:lvl4pPr marL="1714457" indent="-179996">
              <a:buFont typeface="Arial" charset="0"/>
              <a:buChar char="•"/>
              <a:defRPr/>
            </a:lvl4pPr>
            <a:lvl5pPr marL="2171646" indent="-179996">
              <a:buFont typeface="Arial" charset="0"/>
              <a:buChar cha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2" name="Titel 1"/>
          <p:cNvSpPr>
            <a:spLocks noGrp="1"/>
          </p:cNvSpPr>
          <p:nvPr>
            <p:ph type="title"/>
          </p:nvPr>
        </p:nvSpPr>
        <p:spPr>
          <a:xfrm>
            <a:off x="4320000" y="1080000"/>
            <a:ext cx="7440000" cy="840000"/>
          </a:xfrm>
        </p:spPr>
        <p:txBody>
          <a:bodyPr>
            <a:normAutofit/>
          </a:bodyPr>
          <a:lstStyle>
            <a:lvl1pPr algn="l">
              <a:defRPr sz="2400" b="1"/>
            </a:lvl1pPr>
          </a:lstStyle>
          <a:p>
            <a:r>
              <a:rPr lang="de-DE"/>
              <a:t>Mastertitelformat bearbeiten</a:t>
            </a:r>
            <a:endParaRPr lang="de-DE" dirty="0"/>
          </a:p>
        </p:txBody>
      </p:sp>
      <p:sp>
        <p:nvSpPr>
          <p:cNvPr id="5" name="Datumsplatzhalter 3"/>
          <p:cNvSpPr>
            <a:spLocks noGrp="1"/>
          </p:cNvSpPr>
          <p:nvPr>
            <p:ph type="dt" sz="half" idx="14"/>
          </p:nvPr>
        </p:nvSpPr>
        <p:spPr/>
        <p:txBody>
          <a:bodyPr/>
          <a:lstStyle>
            <a:lvl1pPr>
              <a:defRPr/>
            </a:lvl1pPr>
          </a:lstStyle>
          <a:p>
            <a:pPr>
              <a:defRPr/>
            </a:pPr>
            <a:fld id="{6897CACD-A253-46A4-ABE2-4CEACDDFABB7}" type="datetime1">
              <a:rPr lang="en-US" smtClean="0"/>
              <a:t>2/28/2024</a:t>
            </a:fld>
            <a:endParaRPr lang="de-DE" dirty="0"/>
          </a:p>
        </p:txBody>
      </p:sp>
      <p:sp>
        <p:nvSpPr>
          <p:cNvPr id="6" name="Fußzeilenplatzhalter 4"/>
          <p:cNvSpPr>
            <a:spLocks noGrp="1"/>
          </p:cNvSpPr>
          <p:nvPr>
            <p:ph type="ftr" sz="quarter" idx="15"/>
          </p:nvPr>
        </p:nvSpPr>
        <p:spPr/>
        <p:txBody>
          <a:bodyPr/>
          <a:lstStyle>
            <a:lvl1pPr>
              <a:defRPr/>
            </a:lvl1pPr>
          </a:lstStyle>
          <a:p>
            <a:pPr>
              <a:defRPr/>
            </a:pPr>
            <a:r>
              <a:rPr lang="de-DE"/>
              <a:t>Pichaya Tappayuthpijarn</a:t>
            </a:r>
            <a:endParaRPr lang="de-DE" dirty="0"/>
          </a:p>
        </p:txBody>
      </p:sp>
      <p:sp>
        <p:nvSpPr>
          <p:cNvPr id="7" name="Foliennummernplatzhalter 5"/>
          <p:cNvSpPr>
            <a:spLocks noGrp="1"/>
          </p:cNvSpPr>
          <p:nvPr>
            <p:ph type="sldNum" sz="quarter" idx="16"/>
          </p:nvPr>
        </p:nvSpPr>
        <p:spPr/>
        <p:txBody>
          <a:bodyPr/>
          <a:lstStyle>
            <a:lvl1pPr>
              <a:defRPr/>
            </a:lvl1pPr>
          </a:lstStyle>
          <a:p>
            <a:pPr>
              <a:defRPr/>
            </a:pPr>
            <a:r>
              <a:rPr lang="de-DE"/>
              <a:t>SEITE</a:t>
            </a:r>
            <a:r>
              <a:rPr lang="de-DE" spc="0"/>
              <a:t> </a:t>
            </a:r>
            <a:fld id="{87A2E583-32DE-0F49-B7D0-A2D9857296AD}" type="slidenum">
              <a:rPr lang="de-DE" spc="0"/>
              <a:pPr>
                <a:defRPr/>
              </a:pPr>
              <a:t>‹#›</a:t>
            </a:fld>
            <a:endParaRPr lang="de-DE" spc="0"/>
          </a:p>
        </p:txBody>
      </p:sp>
    </p:spTree>
    <p:extLst>
      <p:ext uri="{BB962C8B-B14F-4D97-AF65-F5344CB8AC3E}">
        <p14:creationId xmlns:p14="http://schemas.microsoft.com/office/powerpoint/2010/main" val="3996164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SA - zwei Inhalte">
    <p:spTree>
      <p:nvGrpSpPr>
        <p:cNvPr id="1" name=""/>
        <p:cNvGrpSpPr/>
        <p:nvPr/>
      </p:nvGrpSpPr>
      <p:grpSpPr>
        <a:xfrm>
          <a:off x="0" y="0"/>
          <a:ext cx="0" cy="0"/>
          <a:chOff x="0" y="0"/>
          <a:chExt cx="0" cy="0"/>
        </a:xfrm>
      </p:grpSpPr>
      <p:sp>
        <p:nvSpPr>
          <p:cNvPr id="10" name="Titel 1"/>
          <p:cNvSpPr>
            <a:spLocks noGrp="1"/>
          </p:cNvSpPr>
          <p:nvPr>
            <p:ph type="title"/>
          </p:nvPr>
        </p:nvSpPr>
        <p:spPr>
          <a:xfrm>
            <a:off x="480000" y="960000"/>
            <a:ext cx="11280000" cy="840000"/>
          </a:xfrm>
        </p:spPr>
        <p:txBody>
          <a:bodyPr>
            <a:normAutofit/>
          </a:bodyPr>
          <a:lstStyle>
            <a:lvl1pPr algn="l">
              <a:defRPr sz="2667" b="1" baseline="0"/>
            </a:lvl1pPr>
          </a:lstStyle>
          <a:p>
            <a:r>
              <a:rPr lang="de-DE"/>
              <a:t>Mastertitelformat bearbeiten</a:t>
            </a:r>
            <a:endParaRPr lang="de-DE" dirty="0"/>
          </a:p>
        </p:txBody>
      </p:sp>
      <p:sp>
        <p:nvSpPr>
          <p:cNvPr id="11" name="Inhaltsplatzhalter 2"/>
          <p:cNvSpPr>
            <a:spLocks noGrp="1"/>
          </p:cNvSpPr>
          <p:nvPr>
            <p:ph idx="1"/>
          </p:nvPr>
        </p:nvSpPr>
        <p:spPr>
          <a:xfrm>
            <a:off x="480000" y="2040000"/>
            <a:ext cx="5520000" cy="4080000"/>
          </a:xfrm>
        </p:spPr>
        <p:txBody>
          <a:bodyPr/>
          <a:lstStyle>
            <a:lvl1pPr marL="457189" indent="-179996">
              <a:buFont typeface="Arial" charset="0"/>
              <a:buChar char="•"/>
              <a:defRPr sz="2667" baseline="0"/>
            </a:lvl1pPr>
            <a:lvl2pPr marL="914377" indent="-179996">
              <a:buFont typeface="Arial" charset="0"/>
              <a:buChar char="•"/>
              <a:defRPr sz="2400"/>
            </a:lvl2pPr>
            <a:lvl3pPr marL="1371566" indent="-179996">
              <a:buFont typeface="Arial" charset="0"/>
              <a:buChar char="•"/>
              <a:defRPr sz="2133" baseline="0"/>
            </a:lvl3pPr>
            <a:lvl4pPr marL="1714457" indent="-179996">
              <a:buFont typeface="Arial" charset="0"/>
              <a:buChar char="•"/>
              <a:defRPr/>
            </a:lvl4pPr>
            <a:lvl5pPr marL="2171646" indent="-179996">
              <a:buFont typeface="Arial" charset="0"/>
              <a:buChar cha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Datumsplatzhalter 3"/>
          <p:cNvSpPr>
            <a:spLocks noGrp="1"/>
          </p:cNvSpPr>
          <p:nvPr>
            <p:ph type="dt" sz="half" idx="14"/>
          </p:nvPr>
        </p:nvSpPr>
        <p:spPr/>
        <p:txBody>
          <a:bodyPr/>
          <a:lstStyle>
            <a:lvl1pPr>
              <a:defRPr/>
            </a:lvl1pPr>
          </a:lstStyle>
          <a:p>
            <a:pPr>
              <a:defRPr/>
            </a:pPr>
            <a:fld id="{6BA6B6F4-2D09-4ED8-8322-D32930997E84}" type="datetime1">
              <a:rPr lang="en-US" smtClean="0"/>
              <a:t>2/28/2024</a:t>
            </a:fld>
            <a:endParaRPr lang="de-DE" dirty="0"/>
          </a:p>
        </p:txBody>
      </p:sp>
      <p:sp>
        <p:nvSpPr>
          <p:cNvPr id="6" name="Fußzeilenplatzhalter 4"/>
          <p:cNvSpPr>
            <a:spLocks noGrp="1"/>
          </p:cNvSpPr>
          <p:nvPr>
            <p:ph type="ftr" sz="quarter" idx="15"/>
          </p:nvPr>
        </p:nvSpPr>
        <p:spPr/>
        <p:txBody>
          <a:bodyPr/>
          <a:lstStyle>
            <a:lvl1pPr>
              <a:defRPr/>
            </a:lvl1pPr>
          </a:lstStyle>
          <a:p>
            <a:pPr>
              <a:defRPr/>
            </a:pPr>
            <a:r>
              <a:rPr lang="de-DE"/>
              <a:t>Pichaya Tappayuthpijarn</a:t>
            </a:r>
            <a:endParaRPr lang="de-DE" dirty="0"/>
          </a:p>
        </p:txBody>
      </p:sp>
      <p:sp>
        <p:nvSpPr>
          <p:cNvPr id="7" name="Foliennummernplatzhalter 5"/>
          <p:cNvSpPr>
            <a:spLocks noGrp="1"/>
          </p:cNvSpPr>
          <p:nvPr>
            <p:ph type="sldNum" sz="quarter" idx="16"/>
          </p:nvPr>
        </p:nvSpPr>
        <p:spPr/>
        <p:txBody>
          <a:bodyPr/>
          <a:lstStyle>
            <a:lvl1pPr>
              <a:defRPr/>
            </a:lvl1pPr>
          </a:lstStyle>
          <a:p>
            <a:pPr>
              <a:defRPr/>
            </a:pPr>
            <a:r>
              <a:rPr lang="de-DE"/>
              <a:t>SEITE</a:t>
            </a:r>
            <a:r>
              <a:rPr lang="de-DE" spc="0"/>
              <a:t> </a:t>
            </a:r>
            <a:fld id="{FEF48B5E-A5BD-7E4C-B291-0F7FE2A099C8}" type="slidenum">
              <a:rPr lang="de-DE" spc="0"/>
              <a:pPr>
                <a:defRPr/>
              </a:pPr>
              <a:t>‹#›</a:t>
            </a:fld>
            <a:endParaRPr lang="de-DE" spc="0"/>
          </a:p>
        </p:txBody>
      </p:sp>
      <p:sp>
        <p:nvSpPr>
          <p:cNvPr id="8" name="Inhaltsplatzhalter 2"/>
          <p:cNvSpPr>
            <a:spLocks noGrp="1"/>
          </p:cNvSpPr>
          <p:nvPr>
            <p:ph idx="17"/>
          </p:nvPr>
        </p:nvSpPr>
        <p:spPr>
          <a:xfrm>
            <a:off x="6240000" y="2040000"/>
            <a:ext cx="5520000" cy="4080000"/>
          </a:xfrm>
        </p:spPr>
        <p:txBody>
          <a:bodyPr/>
          <a:lstStyle>
            <a:lvl1pPr marL="457189" indent="-179996">
              <a:buFont typeface="Arial" charset="0"/>
              <a:buChar char="•"/>
              <a:defRPr sz="2667" baseline="0"/>
            </a:lvl1pPr>
            <a:lvl2pPr marL="914377" indent="-179996">
              <a:buFont typeface="Arial" charset="0"/>
              <a:buChar char="•"/>
              <a:defRPr sz="2400"/>
            </a:lvl2pPr>
            <a:lvl3pPr marL="1371566" indent="-179996">
              <a:buFont typeface="Arial" charset="0"/>
              <a:buChar char="•"/>
              <a:defRPr sz="2133" baseline="0"/>
            </a:lvl3pPr>
            <a:lvl4pPr marL="1714457" indent="-179996">
              <a:buFont typeface="Arial" charset="0"/>
              <a:buChar char="•"/>
              <a:defRPr/>
            </a:lvl4pPr>
            <a:lvl5pPr marL="2171646" indent="-179996">
              <a:buFont typeface="Arial" charset="0"/>
              <a:buChar cha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1917442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SA - drei Inhalte">
    <p:spTree>
      <p:nvGrpSpPr>
        <p:cNvPr id="1" name=""/>
        <p:cNvGrpSpPr/>
        <p:nvPr/>
      </p:nvGrpSpPr>
      <p:grpSpPr>
        <a:xfrm>
          <a:off x="0" y="0"/>
          <a:ext cx="0" cy="0"/>
          <a:chOff x="0" y="0"/>
          <a:chExt cx="0" cy="0"/>
        </a:xfrm>
      </p:grpSpPr>
      <p:sp>
        <p:nvSpPr>
          <p:cNvPr id="9" name="Titel 1"/>
          <p:cNvSpPr>
            <a:spLocks noGrp="1"/>
          </p:cNvSpPr>
          <p:nvPr>
            <p:ph type="title"/>
          </p:nvPr>
        </p:nvSpPr>
        <p:spPr>
          <a:xfrm>
            <a:off x="480000" y="960000"/>
            <a:ext cx="11280000" cy="840000"/>
          </a:xfrm>
        </p:spPr>
        <p:txBody>
          <a:bodyPr>
            <a:normAutofit/>
          </a:bodyPr>
          <a:lstStyle>
            <a:lvl1pPr algn="l">
              <a:defRPr sz="2667" b="1" baseline="0"/>
            </a:lvl1pPr>
          </a:lstStyle>
          <a:p>
            <a:r>
              <a:rPr lang="de-DE"/>
              <a:t>Mastertitelformat bearbeiten</a:t>
            </a:r>
            <a:endParaRPr lang="de-DE" dirty="0"/>
          </a:p>
        </p:txBody>
      </p:sp>
      <p:sp>
        <p:nvSpPr>
          <p:cNvPr id="10" name="Inhaltsplatzhalter 2"/>
          <p:cNvSpPr>
            <a:spLocks noGrp="1"/>
          </p:cNvSpPr>
          <p:nvPr>
            <p:ph idx="1"/>
          </p:nvPr>
        </p:nvSpPr>
        <p:spPr>
          <a:xfrm>
            <a:off x="480000" y="2040000"/>
            <a:ext cx="3600000" cy="4080000"/>
          </a:xfrm>
        </p:spPr>
        <p:txBody>
          <a:bodyPr/>
          <a:lstStyle>
            <a:lvl1pPr marL="457189" indent="-179996">
              <a:buFont typeface="Arial" charset="0"/>
              <a:buChar char="•"/>
              <a:defRPr sz="2667" baseline="0"/>
            </a:lvl1pPr>
            <a:lvl2pPr marL="914377" indent="-179996">
              <a:buFont typeface="Arial" charset="0"/>
              <a:buChar char="•"/>
              <a:defRPr sz="2400"/>
            </a:lvl2pPr>
            <a:lvl3pPr marL="1371566" indent="-179996">
              <a:buFont typeface="Arial" charset="0"/>
              <a:buChar char="•"/>
              <a:defRPr sz="2133" baseline="0"/>
            </a:lvl3pPr>
            <a:lvl4pPr marL="1714457" indent="-179996">
              <a:buFont typeface="Arial" charset="0"/>
              <a:buChar char="•"/>
              <a:defRPr/>
            </a:lvl4pPr>
            <a:lvl5pPr marL="2171646" indent="-179996">
              <a:buFont typeface="Arial" charset="0"/>
              <a:buChar cha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6" name="Datumsplatzhalter 3"/>
          <p:cNvSpPr>
            <a:spLocks noGrp="1"/>
          </p:cNvSpPr>
          <p:nvPr>
            <p:ph type="dt" sz="half" idx="19"/>
          </p:nvPr>
        </p:nvSpPr>
        <p:spPr/>
        <p:txBody>
          <a:bodyPr/>
          <a:lstStyle>
            <a:lvl1pPr>
              <a:defRPr/>
            </a:lvl1pPr>
          </a:lstStyle>
          <a:p>
            <a:pPr>
              <a:defRPr/>
            </a:pPr>
            <a:fld id="{CDCE6F45-2AFC-46CC-8C9E-F78F42CA12E9}" type="datetime1">
              <a:rPr lang="en-US" smtClean="0"/>
              <a:t>2/28/2024</a:t>
            </a:fld>
            <a:endParaRPr lang="de-DE" dirty="0"/>
          </a:p>
        </p:txBody>
      </p:sp>
      <p:sp>
        <p:nvSpPr>
          <p:cNvPr id="7" name="Fußzeilenplatzhalter 4"/>
          <p:cNvSpPr>
            <a:spLocks noGrp="1"/>
          </p:cNvSpPr>
          <p:nvPr>
            <p:ph type="ftr" sz="quarter" idx="20"/>
          </p:nvPr>
        </p:nvSpPr>
        <p:spPr/>
        <p:txBody>
          <a:bodyPr/>
          <a:lstStyle>
            <a:lvl1pPr>
              <a:defRPr/>
            </a:lvl1pPr>
          </a:lstStyle>
          <a:p>
            <a:pPr>
              <a:defRPr/>
            </a:pPr>
            <a:r>
              <a:rPr lang="de-DE"/>
              <a:t>Pichaya Tappayuthpijarn</a:t>
            </a:r>
            <a:endParaRPr lang="de-DE" dirty="0"/>
          </a:p>
        </p:txBody>
      </p:sp>
      <p:sp>
        <p:nvSpPr>
          <p:cNvPr id="8" name="Foliennummernplatzhalter 5"/>
          <p:cNvSpPr>
            <a:spLocks noGrp="1"/>
          </p:cNvSpPr>
          <p:nvPr>
            <p:ph type="sldNum" sz="quarter" idx="21"/>
          </p:nvPr>
        </p:nvSpPr>
        <p:spPr/>
        <p:txBody>
          <a:bodyPr/>
          <a:lstStyle>
            <a:lvl1pPr>
              <a:defRPr/>
            </a:lvl1pPr>
          </a:lstStyle>
          <a:p>
            <a:pPr>
              <a:defRPr/>
            </a:pPr>
            <a:r>
              <a:rPr lang="de-DE"/>
              <a:t>SEITE</a:t>
            </a:r>
            <a:r>
              <a:rPr lang="de-DE" spc="0"/>
              <a:t> </a:t>
            </a:r>
            <a:fld id="{490A5480-EACC-ED40-A1F6-FB78E7B138A1}" type="slidenum">
              <a:rPr lang="de-DE" spc="0"/>
              <a:pPr>
                <a:defRPr/>
              </a:pPr>
              <a:t>‹#›</a:t>
            </a:fld>
            <a:endParaRPr lang="de-DE" spc="0"/>
          </a:p>
        </p:txBody>
      </p:sp>
      <p:sp>
        <p:nvSpPr>
          <p:cNvPr id="11" name="Inhaltsplatzhalter 2"/>
          <p:cNvSpPr>
            <a:spLocks noGrp="1"/>
          </p:cNvSpPr>
          <p:nvPr>
            <p:ph idx="22"/>
          </p:nvPr>
        </p:nvSpPr>
        <p:spPr>
          <a:xfrm>
            <a:off x="4320000" y="2040000"/>
            <a:ext cx="3600000" cy="4080000"/>
          </a:xfrm>
        </p:spPr>
        <p:txBody>
          <a:bodyPr/>
          <a:lstStyle>
            <a:lvl1pPr marL="457189" indent="-179996">
              <a:buFont typeface="Arial" charset="0"/>
              <a:buChar char="•"/>
              <a:defRPr sz="2667" baseline="0"/>
            </a:lvl1pPr>
            <a:lvl2pPr marL="914377" indent="-179996">
              <a:buFont typeface="Arial" charset="0"/>
              <a:buChar char="•"/>
              <a:defRPr sz="2400"/>
            </a:lvl2pPr>
            <a:lvl3pPr marL="1371566" indent="-179996">
              <a:buFont typeface="Arial" charset="0"/>
              <a:buChar char="•"/>
              <a:defRPr sz="2133" baseline="0"/>
            </a:lvl3pPr>
            <a:lvl4pPr marL="1714457" indent="-179996">
              <a:buFont typeface="Arial" charset="0"/>
              <a:buChar char="•"/>
              <a:defRPr/>
            </a:lvl4pPr>
            <a:lvl5pPr marL="2171646" indent="-179996">
              <a:buFont typeface="Arial" charset="0"/>
              <a:buChar cha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4" name="Inhaltsplatzhalter 2"/>
          <p:cNvSpPr>
            <a:spLocks noGrp="1"/>
          </p:cNvSpPr>
          <p:nvPr>
            <p:ph idx="23"/>
          </p:nvPr>
        </p:nvSpPr>
        <p:spPr>
          <a:xfrm>
            <a:off x="8160000" y="2040000"/>
            <a:ext cx="3600000" cy="4080000"/>
          </a:xfrm>
        </p:spPr>
        <p:txBody>
          <a:bodyPr/>
          <a:lstStyle>
            <a:lvl1pPr marL="457189" indent="-179996">
              <a:buFont typeface="Arial" charset="0"/>
              <a:buChar char="•"/>
              <a:defRPr sz="2667" baseline="0"/>
            </a:lvl1pPr>
            <a:lvl2pPr marL="914377" indent="-179996">
              <a:buFont typeface="Arial" charset="0"/>
              <a:buChar char="•"/>
              <a:defRPr sz="2400"/>
            </a:lvl2pPr>
            <a:lvl3pPr marL="1371566" indent="-179996">
              <a:buFont typeface="Arial" charset="0"/>
              <a:buChar char="•"/>
              <a:defRPr sz="2133" baseline="0"/>
            </a:lvl3pPr>
            <a:lvl4pPr marL="1714457" indent="-179996">
              <a:buFont typeface="Arial" charset="0"/>
              <a:buChar char="•"/>
              <a:defRPr/>
            </a:lvl4pPr>
            <a:lvl5pPr marL="2171646" indent="-179996">
              <a:buFont typeface="Arial" charset="0"/>
              <a:buChar cha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2731260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SA - Tabelle">
    <p:spTree>
      <p:nvGrpSpPr>
        <p:cNvPr id="1" name=""/>
        <p:cNvGrpSpPr/>
        <p:nvPr/>
      </p:nvGrpSpPr>
      <p:grpSpPr>
        <a:xfrm>
          <a:off x="0" y="0"/>
          <a:ext cx="0" cy="0"/>
          <a:chOff x="0" y="0"/>
          <a:chExt cx="0" cy="0"/>
        </a:xfrm>
      </p:grpSpPr>
      <p:sp>
        <p:nvSpPr>
          <p:cNvPr id="8" name="Titel 1"/>
          <p:cNvSpPr>
            <a:spLocks noGrp="1"/>
          </p:cNvSpPr>
          <p:nvPr>
            <p:ph type="title"/>
          </p:nvPr>
        </p:nvSpPr>
        <p:spPr>
          <a:xfrm>
            <a:off x="480000" y="960000"/>
            <a:ext cx="11280000" cy="840000"/>
          </a:xfrm>
        </p:spPr>
        <p:txBody>
          <a:bodyPr>
            <a:normAutofit/>
          </a:bodyPr>
          <a:lstStyle>
            <a:lvl1pPr algn="l">
              <a:defRPr sz="2667" b="1" baseline="0"/>
            </a:lvl1pPr>
          </a:lstStyle>
          <a:p>
            <a:r>
              <a:rPr lang="de-DE"/>
              <a:t>Mastertitelformat bearbeiten</a:t>
            </a:r>
            <a:endParaRPr lang="de-DE" dirty="0"/>
          </a:p>
        </p:txBody>
      </p:sp>
      <p:sp>
        <p:nvSpPr>
          <p:cNvPr id="10" name="Tabellenplatzhalter 9"/>
          <p:cNvSpPr>
            <a:spLocks noGrp="1"/>
          </p:cNvSpPr>
          <p:nvPr>
            <p:ph type="tbl" sz="quarter" idx="10"/>
          </p:nvPr>
        </p:nvSpPr>
        <p:spPr>
          <a:xfrm>
            <a:off x="480484" y="2040000"/>
            <a:ext cx="11280000" cy="4080000"/>
          </a:xfrm>
        </p:spPr>
        <p:txBody>
          <a:bodyPr/>
          <a:lstStyle/>
          <a:p>
            <a:pPr lvl="0"/>
            <a:r>
              <a:rPr lang="de-DE" noProof="0" dirty="0"/>
              <a:t>Tabelle durch Klicken auf Symbol hinzufügen</a:t>
            </a:r>
          </a:p>
        </p:txBody>
      </p:sp>
      <p:sp>
        <p:nvSpPr>
          <p:cNvPr id="4" name="Datumsplatzhalter 3"/>
          <p:cNvSpPr>
            <a:spLocks noGrp="1"/>
          </p:cNvSpPr>
          <p:nvPr>
            <p:ph type="dt" sz="half" idx="11"/>
          </p:nvPr>
        </p:nvSpPr>
        <p:spPr/>
        <p:txBody>
          <a:bodyPr/>
          <a:lstStyle>
            <a:lvl1pPr>
              <a:defRPr/>
            </a:lvl1pPr>
          </a:lstStyle>
          <a:p>
            <a:pPr>
              <a:defRPr/>
            </a:pPr>
            <a:fld id="{B06DDA6F-58FA-47A6-88D9-239EF3F88249}" type="datetime1">
              <a:rPr lang="en-US" smtClean="0"/>
              <a:t>2/28/2024</a:t>
            </a:fld>
            <a:endParaRPr lang="de-DE" dirty="0"/>
          </a:p>
        </p:txBody>
      </p:sp>
      <p:sp>
        <p:nvSpPr>
          <p:cNvPr id="5" name="Fußzeilenplatzhalter 4"/>
          <p:cNvSpPr>
            <a:spLocks noGrp="1"/>
          </p:cNvSpPr>
          <p:nvPr>
            <p:ph type="ftr" sz="quarter" idx="12"/>
          </p:nvPr>
        </p:nvSpPr>
        <p:spPr/>
        <p:txBody>
          <a:bodyPr/>
          <a:lstStyle>
            <a:lvl1pPr>
              <a:defRPr/>
            </a:lvl1pPr>
          </a:lstStyle>
          <a:p>
            <a:pPr>
              <a:defRPr/>
            </a:pPr>
            <a:r>
              <a:rPr lang="de-DE"/>
              <a:t>Pichaya Tappayuthpijarn</a:t>
            </a:r>
            <a:endParaRPr lang="de-DE" dirty="0"/>
          </a:p>
        </p:txBody>
      </p:sp>
      <p:sp>
        <p:nvSpPr>
          <p:cNvPr id="6" name="Foliennummernplatzhalter 5"/>
          <p:cNvSpPr>
            <a:spLocks noGrp="1"/>
          </p:cNvSpPr>
          <p:nvPr>
            <p:ph type="sldNum" sz="quarter" idx="13"/>
          </p:nvPr>
        </p:nvSpPr>
        <p:spPr/>
        <p:txBody>
          <a:bodyPr/>
          <a:lstStyle>
            <a:lvl1pPr>
              <a:defRPr/>
            </a:lvl1pPr>
          </a:lstStyle>
          <a:p>
            <a:pPr>
              <a:defRPr/>
            </a:pPr>
            <a:r>
              <a:rPr lang="de-DE"/>
              <a:t>SEITE</a:t>
            </a:r>
            <a:r>
              <a:rPr lang="de-DE" spc="0"/>
              <a:t> </a:t>
            </a:r>
            <a:fld id="{1A865DEE-F157-C949-A928-0E33950BF89C}" type="slidenum">
              <a:rPr lang="de-DE" spc="0"/>
              <a:pPr>
                <a:defRPr/>
              </a:pPr>
              <a:t>‹#›</a:t>
            </a:fld>
            <a:endParaRPr lang="de-DE" spc="0"/>
          </a:p>
        </p:txBody>
      </p:sp>
    </p:spTree>
    <p:extLst>
      <p:ext uri="{BB962C8B-B14F-4D97-AF65-F5344CB8AC3E}">
        <p14:creationId xmlns:p14="http://schemas.microsoft.com/office/powerpoint/2010/main" val="27002656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ere Seite">
    <p:spTree>
      <p:nvGrpSpPr>
        <p:cNvPr id="1" name=""/>
        <p:cNvGrpSpPr/>
        <p:nvPr/>
      </p:nvGrpSpPr>
      <p:grpSpPr>
        <a:xfrm>
          <a:off x="0" y="0"/>
          <a:ext cx="0" cy="0"/>
          <a:chOff x="0" y="0"/>
          <a:chExt cx="0" cy="0"/>
        </a:xfrm>
      </p:grpSpPr>
      <p:sp>
        <p:nvSpPr>
          <p:cNvPr id="2" name="Datumsplatzhalter 3"/>
          <p:cNvSpPr>
            <a:spLocks noGrp="1"/>
          </p:cNvSpPr>
          <p:nvPr>
            <p:ph type="dt" sz="half" idx="10"/>
          </p:nvPr>
        </p:nvSpPr>
        <p:spPr/>
        <p:txBody>
          <a:bodyPr/>
          <a:lstStyle>
            <a:lvl1pPr>
              <a:defRPr/>
            </a:lvl1pPr>
          </a:lstStyle>
          <a:p>
            <a:pPr>
              <a:defRPr/>
            </a:pPr>
            <a:fld id="{4ADA218F-8C0A-4B82-9AA2-0C6E69CF4C5E}" type="datetime1">
              <a:rPr lang="en-US" smtClean="0"/>
              <a:t>2/28/2024</a:t>
            </a:fld>
            <a:endParaRPr lang="de-DE" dirty="0"/>
          </a:p>
        </p:txBody>
      </p:sp>
      <p:sp>
        <p:nvSpPr>
          <p:cNvPr id="3" name="Fußzeilenplatzhalter 4"/>
          <p:cNvSpPr>
            <a:spLocks noGrp="1"/>
          </p:cNvSpPr>
          <p:nvPr>
            <p:ph type="ftr" sz="quarter" idx="11"/>
          </p:nvPr>
        </p:nvSpPr>
        <p:spPr/>
        <p:txBody>
          <a:bodyPr/>
          <a:lstStyle>
            <a:lvl1pPr>
              <a:defRPr/>
            </a:lvl1pPr>
          </a:lstStyle>
          <a:p>
            <a:pPr>
              <a:defRPr/>
            </a:pPr>
            <a:r>
              <a:rPr lang="de-DE"/>
              <a:t>Pichaya Tappayuthpijarn</a:t>
            </a:r>
            <a:endParaRPr lang="de-DE" dirty="0"/>
          </a:p>
        </p:txBody>
      </p:sp>
      <p:sp>
        <p:nvSpPr>
          <p:cNvPr id="4" name="Foliennummernplatzhalter 5"/>
          <p:cNvSpPr>
            <a:spLocks noGrp="1"/>
          </p:cNvSpPr>
          <p:nvPr>
            <p:ph type="sldNum" sz="quarter" idx="12"/>
          </p:nvPr>
        </p:nvSpPr>
        <p:spPr/>
        <p:txBody>
          <a:bodyPr/>
          <a:lstStyle>
            <a:lvl1pPr>
              <a:defRPr/>
            </a:lvl1pPr>
          </a:lstStyle>
          <a:p>
            <a:pPr>
              <a:defRPr/>
            </a:pPr>
            <a:r>
              <a:rPr lang="de-DE"/>
              <a:t>SEITE</a:t>
            </a:r>
            <a:r>
              <a:rPr lang="de-DE" spc="0"/>
              <a:t> </a:t>
            </a:r>
            <a:fld id="{1B2E4224-5322-5844-8DE5-F7E1F85AC072}" type="slidenum">
              <a:rPr lang="de-DE" spc="0"/>
              <a:pPr>
                <a:defRPr/>
              </a:pPr>
              <a:t>‹#›</a:t>
            </a:fld>
            <a:endParaRPr lang="de-DE" spc="0"/>
          </a:p>
        </p:txBody>
      </p:sp>
    </p:spTree>
    <p:extLst>
      <p:ext uri="{BB962C8B-B14F-4D97-AF65-F5344CB8AC3E}">
        <p14:creationId xmlns:p14="http://schemas.microsoft.com/office/powerpoint/2010/main" val="31143818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ere Seite 1">
    <p:spTree>
      <p:nvGrpSpPr>
        <p:cNvPr id="1" name=""/>
        <p:cNvGrpSpPr/>
        <p:nvPr/>
      </p:nvGrpSpPr>
      <p:grpSpPr>
        <a:xfrm>
          <a:off x="0" y="0"/>
          <a:ext cx="0" cy="0"/>
          <a:chOff x="0" y="0"/>
          <a:chExt cx="0" cy="0"/>
        </a:xfrm>
      </p:grpSpPr>
      <p:sp>
        <p:nvSpPr>
          <p:cNvPr id="2" name="Datumsplatzhalter 3"/>
          <p:cNvSpPr>
            <a:spLocks noGrp="1"/>
          </p:cNvSpPr>
          <p:nvPr>
            <p:ph type="dt" sz="half" idx="10"/>
          </p:nvPr>
        </p:nvSpPr>
        <p:spPr/>
        <p:txBody>
          <a:bodyPr/>
          <a:lstStyle>
            <a:lvl1pPr>
              <a:defRPr/>
            </a:lvl1pPr>
          </a:lstStyle>
          <a:p>
            <a:pPr>
              <a:defRPr/>
            </a:pPr>
            <a:fld id="{7A9DD5C2-0CE1-4455-8E66-3C9490ED401A}" type="datetime1">
              <a:rPr lang="en-US" smtClean="0"/>
              <a:t>2/28/2024</a:t>
            </a:fld>
            <a:endParaRPr lang="de-DE" dirty="0"/>
          </a:p>
        </p:txBody>
      </p:sp>
      <p:sp>
        <p:nvSpPr>
          <p:cNvPr id="3" name="Fußzeilenplatzhalter 4"/>
          <p:cNvSpPr>
            <a:spLocks noGrp="1"/>
          </p:cNvSpPr>
          <p:nvPr>
            <p:ph type="ftr" sz="quarter" idx="11"/>
          </p:nvPr>
        </p:nvSpPr>
        <p:spPr/>
        <p:txBody>
          <a:bodyPr/>
          <a:lstStyle>
            <a:lvl1pPr>
              <a:defRPr/>
            </a:lvl1pPr>
          </a:lstStyle>
          <a:p>
            <a:pPr>
              <a:defRPr/>
            </a:pPr>
            <a:r>
              <a:rPr lang="de-DE"/>
              <a:t>Pichaya Tappayuthpijarn</a:t>
            </a:r>
            <a:endParaRPr lang="de-DE" dirty="0"/>
          </a:p>
        </p:txBody>
      </p:sp>
      <p:sp>
        <p:nvSpPr>
          <p:cNvPr id="4" name="Foliennummernplatzhalter 5"/>
          <p:cNvSpPr>
            <a:spLocks noGrp="1"/>
          </p:cNvSpPr>
          <p:nvPr>
            <p:ph type="sldNum" sz="quarter" idx="12"/>
          </p:nvPr>
        </p:nvSpPr>
        <p:spPr/>
        <p:txBody>
          <a:bodyPr/>
          <a:lstStyle>
            <a:lvl1pPr>
              <a:defRPr/>
            </a:lvl1pPr>
          </a:lstStyle>
          <a:p>
            <a:pPr>
              <a:defRPr/>
            </a:pPr>
            <a:r>
              <a:rPr lang="de-DE"/>
              <a:t>SEITE</a:t>
            </a:r>
            <a:r>
              <a:rPr lang="de-DE" spc="0"/>
              <a:t> </a:t>
            </a:r>
            <a:fld id="{DBA592B4-CA31-444F-81B1-A0CD4AF9240E}" type="slidenum">
              <a:rPr lang="de-DE" spc="0"/>
              <a:pPr>
                <a:defRPr/>
              </a:pPr>
              <a:t>‹#›</a:t>
            </a:fld>
            <a:endParaRPr lang="de-DE" spc="0"/>
          </a:p>
        </p:txBody>
      </p:sp>
    </p:spTree>
    <p:extLst>
      <p:ext uri="{BB962C8B-B14F-4D97-AF65-F5344CB8AC3E}">
        <p14:creationId xmlns:p14="http://schemas.microsoft.com/office/powerpoint/2010/main" val="33269482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Bild 6"/>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12192000" cy="846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hteck 15"/>
          <p:cNvSpPr/>
          <p:nvPr/>
        </p:nvSpPr>
        <p:spPr>
          <a:xfrm>
            <a:off x="0" y="6479117"/>
            <a:ext cx="12192000" cy="378883"/>
          </a:xfrm>
          <a:prstGeom prst="rect">
            <a:avLst/>
          </a:prstGeom>
          <a:gradFill>
            <a:gsLst>
              <a:gs pos="50000">
                <a:srgbClr val="D40009"/>
              </a:gs>
              <a:gs pos="100000">
                <a:srgbClr val="13017C"/>
              </a:gs>
            </a:gsLst>
            <a:lin ang="4500000" scaled="0"/>
          </a:gradFill>
          <a:ln>
            <a:noFill/>
          </a:ln>
        </p:spPr>
        <p:style>
          <a:lnRef idx="2">
            <a:schemeClr val="accent2">
              <a:shade val="50000"/>
            </a:schemeClr>
          </a:lnRef>
          <a:fillRef idx="1">
            <a:schemeClr val="accent2"/>
          </a:fillRef>
          <a:effectRef idx="0">
            <a:schemeClr val="accent2"/>
          </a:effectRef>
          <a:fontRef idx="minor">
            <a:schemeClr val="lt1"/>
          </a:fontRef>
        </p:style>
        <p:txBody>
          <a:bodyPr lIns="0" tIns="0" rIns="0" bIns="0" anchor="ctr"/>
          <a:lstStyle/>
          <a:p>
            <a:pPr algn="ctr" eaLnBrk="1" fontAlgn="auto" hangingPunct="1">
              <a:spcBef>
                <a:spcPts val="0"/>
              </a:spcBef>
              <a:spcAft>
                <a:spcPts val="0"/>
              </a:spcAft>
              <a:defRPr/>
            </a:pPr>
            <a:endParaRPr lang="de-DE" sz="1800">
              <a:solidFill>
                <a:schemeClr val="bg2"/>
              </a:solidFill>
            </a:endParaRPr>
          </a:p>
        </p:txBody>
      </p:sp>
      <p:sp>
        <p:nvSpPr>
          <p:cNvPr id="1028" name="Titelplatzhalter 1"/>
          <p:cNvSpPr>
            <a:spLocks noGrp="1"/>
          </p:cNvSpPr>
          <p:nvPr>
            <p:ph type="title"/>
          </p:nvPr>
        </p:nvSpPr>
        <p:spPr bwMode="auto">
          <a:xfrm>
            <a:off x="480485" y="960967"/>
            <a:ext cx="11279716"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de-AT" altLang="x-none"/>
              <a:t>Mastertitelformat bearbeiten</a:t>
            </a:r>
            <a:endParaRPr lang="de-DE" altLang="x-none"/>
          </a:p>
        </p:txBody>
      </p:sp>
      <p:sp>
        <p:nvSpPr>
          <p:cNvPr id="3" name="Textplatzhalter 2"/>
          <p:cNvSpPr>
            <a:spLocks noGrp="1"/>
          </p:cNvSpPr>
          <p:nvPr>
            <p:ph type="body" idx="1"/>
          </p:nvPr>
        </p:nvSpPr>
        <p:spPr>
          <a:xfrm>
            <a:off x="480485" y="2040468"/>
            <a:ext cx="11279716" cy="4078817"/>
          </a:xfrm>
          <a:prstGeom prst="rect">
            <a:avLst/>
          </a:prstGeom>
        </p:spPr>
        <p:txBody>
          <a:bodyPr vert="horz" lIns="0" tIns="0" rIns="0" bIns="0" rtlCol="0">
            <a:normAutofit/>
          </a:bodyPr>
          <a:lstStyle/>
          <a:p>
            <a:pPr lvl="0"/>
            <a:r>
              <a:rPr lang="de-AT" dirty="0"/>
              <a:t>Mastertextformat bearbeiten</a:t>
            </a:r>
          </a:p>
          <a:p>
            <a:pPr lvl="1"/>
            <a:r>
              <a:rPr lang="de-AT" dirty="0"/>
              <a:t>Zweite Ebene</a:t>
            </a:r>
          </a:p>
          <a:p>
            <a:pPr lvl="2"/>
            <a:r>
              <a:rPr lang="de-AT" dirty="0"/>
              <a:t>Dritte Ebene</a:t>
            </a:r>
          </a:p>
          <a:p>
            <a:pPr lvl="3"/>
            <a:r>
              <a:rPr lang="de-AT" dirty="0"/>
              <a:t>Vierte Ebene</a:t>
            </a:r>
          </a:p>
          <a:p>
            <a:pPr lvl="4"/>
            <a:r>
              <a:rPr lang="de-AT" dirty="0"/>
              <a:t>Fünfte Ebene</a:t>
            </a:r>
            <a:endParaRPr lang="de-DE" dirty="0"/>
          </a:p>
        </p:txBody>
      </p:sp>
      <p:sp>
        <p:nvSpPr>
          <p:cNvPr id="11" name="Datumsplatzhalter 3"/>
          <p:cNvSpPr>
            <a:spLocks noGrp="1"/>
          </p:cNvSpPr>
          <p:nvPr>
            <p:ph type="dt" sz="half" idx="2"/>
          </p:nvPr>
        </p:nvSpPr>
        <p:spPr>
          <a:xfrm>
            <a:off x="480484" y="6479117"/>
            <a:ext cx="1439333" cy="378883"/>
          </a:xfrm>
          <a:prstGeom prst="rect">
            <a:avLst/>
          </a:prstGeom>
        </p:spPr>
        <p:txBody>
          <a:bodyPr vert="horz" wrap="none" lIns="0" tIns="0" rIns="0" bIns="0" rtlCol="0" anchor="ctr" anchorCtr="0"/>
          <a:lstStyle>
            <a:lvl1pPr algn="l" eaLnBrk="1" fontAlgn="auto" hangingPunct="1">
              <a:spcBef>
                <a:spcPts val="0"/>
              </a:spcBef>
              <a:spcAft>
                <a:spcPts val="0"/>
              </a:spcAft>
              <a:defRPr sz="1000" b="0" i="0" smtClean="0">
                <a:solidFill>
                  <a:schemeClr val="bg1"/>
                </a:solidFill>
                <a:latin typeface="Source Sans Pro" charset="0"/>
                <a:ea typeface="Source Sans Pro" charset="0"/>
                <a:cs typeface="Source Sans Pro" charset="0"/>
              </a:defRPr>
            </a:lvl1pPr>
          </a:lstStyle>
          <a:p>
            <a:pPr>
              <a:defRPr/>
            </a:pPr>
            <a:fld id="{9F29189D-D579-4C31-B927-90BFBBFB4063}" type="datetime1">
              <a:rPr lang="en-US" smtClean="0"/>
              <a:t>2/28/2024</a:t>
            </a:fld>
            <a:endParaRPr lang="de-DE" dirty="0"/>
          </a:p>
        </p:txBody>
      </p:sp>
      <p:sp>
        <p:nvSpPr>
          <p:cNvPr id="12" name="Fußzeilenplatzhalter 4"/>
          <p:cNvSpPr>
            <a:spLocks noGrp="1"/>
          </p:cNvSpPr>
          <p:nvPr>
            <p:ph type="ftr" sz="quarter" idx="3"/>
          </p:nvPr>
        </p:nvSpPr>
        <p:spPr>
          <a:xfrm>
            <a:off x="2400300" y="6479117"/>
            <a:ext cx="7486651" cy="378883"/>
          </a:xfrm>
          <a:prstGeom prst="rect">
            <a:avLst/>
          </a:prstGeom>
        </p:spPr>
        <p:txBody>
          <a:bodyPr vert="horz" wrap="none" lIns="0" tIns="0" rIns="0" bIns="0" rtlCol="0" anchor="ctr"/>
          <a:lstStyle>
            <a:lvl1pPr algn="ctr" eaLnBrk="1" fontAlgn="auto" hangingPunct="1">
              <a:spcBef>
                <a:spcPts val="0"/>
              </a:spcBef>
              <a:spcAft>
                <a:spcPts val="0"/>
              </a:spcAft>
              <a:defRPr sz="1000" b="0" i="0" dirty="0">
                <a:solidFill>
                  <a:schemeClr val="bg1"/>
                </a:solidFill>
                <a:latin typeface="Source Sans Pro" charset="0"/>
                <a:ea typeface="Source Sans Pro" charset="0"/>
                <a:cs typeface="Source Sans Pro" charset="0"/>
              </a:defRPr>
            </a:lvl1pPr>
          </a:lstStyle>
          <a:p>
            <a:pPr>
              <a:defRPr/>
            </a:pPr>
            <a:r>
              <a:rPr lang="de-DE"/>
              <a:t>Pichaya Tappayuthpijarn</a:t>
            </a:r>
            <a:endParaRPr lang="de-DE" dirty="0"/>
          </a:p>
        </p:txBody>
      </p:sp>
      <p:sp>
        <p:nvSpPr>
          <p:cNvPr id="13" name="Foliennummernplatzhalter 5"/>
          <p:cNvSpPr>
            <a:spLocks noGrp="1"/>
          </p:cNvSpPr>
          <p:nvPr>
            <p:ph type="sldNum" sz="quarter" idx="4"/>
          </p:nvPr>
        </p:nvSpPr>
        <p:spPr>
          <a:xfrm>
            <a:off x="10318752" y="6479117"/>
            <a:ext cx="1441449" cy="378883"/>
          </a:xfrm>
          <a:prstGeom prst="rect">
            <a:avLst/>
          </a:prstGeom>
        </p:spPr>
        <p:txBody>
          <a:bodyPr vert="horz" lIns="0" tIns="0" rIns="0" bIns="0" rtlCol="0" anchor="ctr" anchorCtr="0"/>
          <a:lstStyle>
            <a:lvl1pPr algn="r" eaLnBrk="1" fontAlgn="auto" hangingPunct="1">
              <a:spcBef>
                <a:spcPts val="0"/>
              </a:spcBef>
              <a:spcAft>
                <a:spcPts val="0"/>
              </a:spcAft>
              <a:defRPr sz="1000" b="0" i="0" spc="31" dirty="0" smtClean="0">
                <a:solidFill>
                  <a:schemeClr val="bg1"/>
                </a:solidFill>
                <a:latin typeface="Source Sans Pro" charset="0"/>
                <a:ea typeface="Source Sans Pro" charset="0"/>
                <a:cs typeface="Source Sans Pro" charset="0"/>
              </a:defRPr>
            </a:lvl1pPr>
          </a:lstStyle>
          <a:p>
            <a:pPr>
              <a:defRPr/>
            </a:pPr>
            <a:r>
              <a:rPr lang="de-DE"/>
              <a:t>SEITE</a:t>
            </a:r>
            <a:r>
              <a:rPr lang="de-DE" spc="0"/>
              <a:t> </a:t>
            </a:r>
            <a:fld id="{E9B72AC6-292A-0441-B241-A46A9406DD0D}" type="slidenum">
              <a:rPr lang="de-DE" spc="0"/>
              <a:pPr>
                <a:defRPr/>
              </a:pPr>
              <a:t>‹#›</a:t>
            </a:fld>
            <a:endParaRPr lang="de-DE" spc="0"/>
          </a:p>
        </p:txBody>
      </p:sp>
      <p:sp>
        <p:nvSpPr>
          <p:cNvPr id="1033" name="Textfeld 3"/>
          <p:cNvSpPr txBox="1">
            <a:spLocks noChangeArrowheads="1"/>
          </p:cNvSpPr>
          <p:nvPr/>
        </p:nvSpPr>
        <p:spPr bwMode="auto">
          <a:xfrm>
            <a:off x="480484" y="245533"/>
            <a:ext cx="4798483" cy="1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defTabSz="457200" fontAlgn="base">
              <a:spcBef>
                <a:spcPct val="0"/>
              </a:spcBef>
              <a:spcAft>
                <a:spcPct val="0"/>
              </a:spcAft>
              <a:defRPr>
                <a:solidFill>
                  <a:schemeClr val="tx1"/>
                </a:solidFill>
                <a:latin typeface="Calibri" charset="0"/>
              </a:defRPr>
            </a:lvl6pPr>
            <a:lvl7pPr marL="2971800" indent="-228600" defTabSz="457200" fontAlgn="base">
              <a:spcBef>
                <a:spcPct val="0"/>
              </a:spcBef>
              <a:spcAft>
                <a:spcPct val="0"/>
              </a:spcAft>
              <a:defRPr>
                <a:solidFill>
                  <a:schemeClr val="tx1"/>
                </a:solidFill>
                <a:latin typeface="Calibri" charset="0"/>
              </a:defRPr>
            </a:lvl7pPr>
            <a:lvl8pPr marL="3429000" indent="-228600" defTabSz="457200" fontAlgn="base">
              <a:spcBef>
                <a:spcPct val="0"/>
              </a:spcBef>
              <a:spcAft>
                <a:spcPct val="0"/>
              </a:spcAft>
              <a:defRPr>
                <a:solidFill>
                  <a:schemeClr val="tx1"/>
                </a:solidFill>
                <a:latin typeface="Calibri" charset="0"/>
              </a:defRPr>
            </a:lvl8pPr>
            <a:lvl9pPr marL="3886200" indent="-228600" defTabSz="457200" fontAlgn="base">
              <a:spcBef>
                <a:spcPct val="0"/>
              </a:spcBef>
              <a:spcAft>
                <a:spcPct val="0"/>
              </a:spcAft>
              <a:defRPr>
                <a:solidFill>
                  <a:schemeClr val="tx1"/>
                </a:solidFill>
                <a:latin typeface="Calibri" charset="0"/>
              </a:defRPr>
            </a:lvl9pPr>
          </a:lstStyle>
          <a:p>
            <a:pPr eaLnBrk="1" hangingPunct="1">
              <a:lnSpc>
                <a:spcPts val="1317"/>
              </a:lnSpc>
            </a:pPr>
            <a:r>
              <a:rPr lang="de-DE" altLang="x-none" sz="1200" b="1">
                <a:solidFill>
                  <a:srgbClr val="13017C"/>
                </a:solidFill>
                <a:latin typeface="Source Sans Pro Semibold" charset="0"/>
                <a:ea typeface="Source Sans Pro Semibold" charset="0"/>
                <a:cs typeface="Source Sans Pro Semibold" charset="0"/>
              </a:rPr>
              <a:t>|  Funktion, Fachbereich, Struktureinheit oder Name</a:t>
            </a:r>
          </a:p>
        </p:txBody>
      </p:sp>
    </p:spTree>
    <p:extLst>
      <p:ext uri="{BB962C8B-B14F-4D97-AF65-F5344CB8AC3E}">
        <p14:creationId xmlns:p14="http://schemas.microsoft.com/office/powerpoint/2010/main" val="22339271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hf hdr="0"/>
  <p:txStyles>
    <p:titleStyle>
      <a:lvl1pPr algn="l" defTabSz="457189" rtl="0" eaLnBrk="1" fontAlgn="base" hangingPunct="1">
        <a:spcBef>
          <a:spcPct val="0"/>
        </a:spcBef>
        <a:spcAft>
          <a:spcPct val="0"/>
        </a:spcAft>
        <a:defRPr sz="2667" b="1" kern="1200">
          <a:solidFill>
            <a:schemeClr val="tx1"/>
          </a:solidFill>
          <a:latin typeface="Montserrat SemiBold" charset="0"/>
          <a:ea typeface="Montserrat SemiBold" charset="0"/>
          <a:cs typeface="Montserrat SemiBold" charset="0"/>
        </a:defRPr>
      </a:lvl1pPr>
      <a:lvl2pPr algn="l" defTabSz="457189" rtl="0" eaLnBrk="1" fontAlgn="base" hangingPunct="1">
        <a:spcBef>
          <a:spcPct val="0"/>
        </a:spcBef>
        <a:spcAft>
          <a:spcPct val="0"/>
        </a:spcAft>
        <a:defRPr sz="2667" b="1">
          <a:solidFill>
            <a:schemeClr val="tx1"/>
          </a:solidFill>
          <a:latin typeface="Montserrat SemiBold" charset="0"/>
          <a:ea typeface="Montserrat SemiBold" charset="0"/>
          <a:cs typeface="Montserrat SemiBold" charset="0"/>
        </a:defRPr>
      </a:lvl2pPr>
      <a:lvl3pPr algn="l" defTabSz="457189" rtl="0" eaLnBrk="1" fontAlgn="base" hangingPunct="1">
        <a:spcBef>
          <a:spcPct val="0"/>
        </a:spcBef>
        <a:spcAft>
          <a:spcPct val="0"/>
        </a:spcAft>
        <a:defRPr sz="2667" b="1">
          <a:solidFill>
            <a:schemeClr val="tx1"/>
          </a:solidFill>
          <a:latin typeface="Montserrat SemiBold" charset="0"/>
          <a:ea typeface="Montserrat SemiBold" charset="0"/>
          <a:cs typeface="Montserrat SemiBold" charset="0"/>
        </a:defRPr>
      </a:lvl3pPr>
      <a:lvl4pPr algn="l" defTabSz="457189" rtl="0" eaLnBrk="1" fontAlgn="base" hangingPunct="1">
        <a:spcBef>
          <a:spcPct val="0"/>
        </a:spcBef>
        <a:spcAft>
          <a:spcPct val="0"/>
        </a:spcAft>
        <a:defRPr sz="2667" b="1">
          <a:solidFill>
            <a:schemeClr val="tx1"/>
          </a:solidFill>
          <a:latin typeface="Montserrat SemiBold" charset="0"/>
          <a:ea typeface="Montserrat SemiBold" charset="0"/>
          <a:cs typeface="Montserrat SemiBold" charset="0"/>
        </a:defRPr>
      </a:lvl4pPr>
      <a:lvl5pPr algn="l" defTabSz="457189" rtl="0" eaLnBrk="1" fontAlgn="base" hangingPunct="1">
        <a:spcBef>
          <a:spcPct val="0"/>
        </a:spcBef>
        <a:spcAft>
          <a:spcPct val="0"/>
        </a:spcAft>
        <a:defRPr sz="2667" b="1">
          <a:solidFill>
            <a:schemeClr val="tx1"/>
          </a:solidFill>
          <a:latin typeface="Montserrat SemiBold" charset="0"/>
          <a:ea typeface="Montserrat SemiBold" charset="0"/>
          <a:cs typeface="Montserrat SemiBold" charset="0"/>
        </a:defRPr>
      </a:lvl5pPr>
      <a:lvl6pPr marL="609585" algn="l" defTabSz="457189" rtl="0" eaLnBrk="1" fontAlgn="base" hangingPunct="1">
        <a:spcBef>
          <a:spcPct val="0"/>
        </a:spcBef>
        <a:spcAft>
          <a:spcPct val="0"/>
        </a:spcAft>
        <a:defRPr sz="2667" b="1">
          <a:solidFill>
            <a:schemeClr val="tx1"/>
          </a:solidFill>
          <a:latin typeface="Montserrat SemiBold" charset="0"/>
          <a:ea typeface="Montserrat SemiBold" charset="0"/>
          <a:cs typeface="Montserrat SemiBold" charset="0"/>
        </a:defRPr>
      </a:lvl6pPr>
      <a:lvl7pPr marL="1219170" algn="l" defTabSz="457189" rtl="0" eaLnBrk="1" fontAlgn="base" hangingPunct="1">
        <a:spcBef>
          <a:spcPct val="0"/>
        </a:spcBef>
        <a:spcAft>
          <a:spcPct val="0"/>
        </a:spcAft>
        <a:defRPr sz="2667" b="1">
          <a:solidFill>
            <a:schemeClr val="tx1"/>
          </a:solidFill>
          <a:latin typeface="Montserrat SemiBold" charset="0"/>
          <a:ea typeface="Montserrat SemiBold" charset="0"/>
          <a:cs typeface="Montserrat SemiBold" charset="0"/>
        </a:defRPr>
      </a:lvl7pPr>
      <a:lvl8pPr marL="1828754" algn="l" defTabSz="457189" rtl="0" eaLnBrk="1" fontAlgn="base" hangingPunct="1">
        <a:spcBef>
          <a:spcPct val="0"/>
        </a:spcBef>
        <a:spcAft>
          <a:spcPct val="0"/>
        </a:spcAft>
        <a:defRPr sz="2667" b="1">
          <a:solidFill>
            <a:schemeClr val="tx1"/>
          </a:solidFill>
          <a:latin typeface="Montserrat SemiBold" charset="0"/>
          <a:ea typeface="Montserrat SemiBold" charset="0"/>
          <a:cs typeface="Montserrat SemiBold" charset="0"/>
        </a:defRPr>
      </a:lvl8pPr>
      <a:lvl9pPr marL="2438339" algn="l" defTabSz="457189" rtl="0" eaLnBrk="1" fontAlgn="base" hangingPunct="1">
        <a:spcBef>
          <a:spcPct val="0"/>
        </a:spcBef>
        <a:spcAft>
          <a:spcPct val="0"/>
        </a:spcAft>
        <a:defRPr sz="2667" b="1">
          <a:solidFill>
            <a:schemeClr val="tx1"/>
          </a:solidFill>
          <a:latin typeface="Montserrat SemiBold" charset="0"/>
          <a:ea typeface="Montserrat SemiBold" charset="0"/>
          <a:cs typeface="Montserrat SemiBold" charset="0"/>
        </a:defRPr>
      </a:lvl9pPr>
    </p:titleStyle>
    <p:bodyStyle>
      <a:lvl1pPr marL="342891" indent="-179913" algn="l" defTabSz="457189" rtl="0" eaLnBrk="1" fontAlgn="base" hangingPunct="1">
        <a:lnSpc>
          <a:spcPct val="120000"/>
        </a:lnSpc>
        <a:spcBef>
          <a:spcPts val="600"/>
        </a:spcBef>
        <a:spcAft>
          <a:spcPct val="0"/>
        </a:spcAft>
        <a:buClr>
          <a:srgbClr val="D40009"/>
        </a:buClr>
        <a:buFont typeface="Arial" charset="0"/>
        <a:buChar char="•"/>
        <a:defRPr sz="2667" kern="1200" baseline="0">
          <a:solidFill>
            <a:schemeClr val="tx1"/>
          </a:solidFill>
          <a:latin typeface="Source Sans Pro" charset="0"/>
          <a:ea typeface="Source Sans Pro" charset="0"/>
          <a:cs typeface="Source Sans Pro" charset="0"/>
        </a:defRPr>
      </a:lvl1pPr>
      <a:lvl2pPr marL="800080" indent="-179913" algn="l" defTabSz="457189" rtl="0" eaLnBrk="1" fontAlgn="base" hangingPunct="1">
        <a:lnSpc>
          <a:spcPct val="120000"/>
        </a:lnSpc>
        <a:spcBef>
          <a:spcPct val="0"/>
        </a:spcBef>
        <a:spcAft>
          <a:spcPct val="0"/>
        </a:spcAft>
        <a:buClr>
          <a:srgbClr val="D40009"/>
        </a:buClr>
        <a:buFont typeface="Arial" charset="0"/>
        <a:buChar char="•"/>
        <a:defRPr sz="2400" kern="1200" baseline="0">
          <a:solidFill>
            <a:schemeClr val="tx1"/>
          </a:solidFill>
          <a:latin typeface="Source Sans Pro" charset="0"/>
          <a:ea typeface="Source Sans Pro" charset="0"/>
          <a:cs typeface="Source Sans Pro" charset="0"/>
        </a:defRPr>
      </a:lvl2pPr>
      <a:lvl3pPr marL="1257269" indent="-179913" algn="l" defTabSz="457189" rtl="0" eaLnBrk="1" fontAlgn="base" hangingPunct="1">
        <a:lnSpc>
          <a:spcPct val="120000"/>
        </a:lnSpc>
        <a:spcBef>
          <a:spcPct val="0"/>
        </a:spcBef>
        <a:spcAft>
          <a:spcPct val="0"/>
        </a:spcAft>
        <a:buClr>
          <a:srgbClr val="D40009"/>
        </a:buClr>
        <a:buFont typeface="Arial" charset="0"/>
        <a:buChar char="•"/>
        <a:defRPr sz="2133" kern="1200" baseline="0">
          <a:solidFill>
            <a:schemeClr val="tx1"/>
          </a:solidFill>
          <a:latin typeface="Source Sans Pro" charset="0"/>
          <a:ea typeface="Source Sans Pro" charset="0"/>
          <a:cs typeface="Source Sans Pro" charset="0"/>
        </a:defRPr>
      </a:lvl3pPr>
      <a:lvl4pPr marL="1714457" indent="-179913" algn="l" defTabSz="457189" rtl="0" eaLnBrk="1" fontAlgn="base" hangingPunct="1">
        <a:lnSpc>
          <a:spcPct val="120000"/>
        </a:lnSpc>
        <a:spcBef>
          <a:spcPct val="0"/>
        </a:spcBef>
        <a:spcAft>
          <a:spcPct val="0"/>
        </a:spcAft>
        <a:buClr>
          <a:srgbClr val="D40009"/>
        </a:buClr>
        <a:buFont typeface="Arial" charset="0"/>
        <a:buChar char="•"/>
        <a:defRPr sz="1867" kern="1200" baseline="0">
          <a:solidFill>
            <a:schemeClr val="tx1"/>
          </a:solidFill>
          <a:latin typeface="Source Sans Pro" charset="0"/>
          <a:ea typeface="Source Sans Pro" charset="0"/>
          <a:cs typeface="Source Sans Pro" charset="0"/>
        </a:defRPr>
      </a:lvl4pPr>
      <a:lvl5pPr marL="2177996" indent="-179913" algn="l" defTabSz="457189" rtl="0" eaLnBrk="1" fontAlgn="base" hangingPunct="1">
        <a:lnSpc>
          <a:spcPct val="120000"/>
        </a:lnSpc>
        <a:spcBef>
          <a:spcPct val="0"/>
        </a:spcBef>
        <a:spcAft>
          <a:spcPct val="0"/>
        </a:spcAft>
        <a:buClr>
          <a:srgbClr val="D40009"/>
        </a:buClr>
        <a:buFont typeface="Arial" charset="0"/>
        <a:buChar char="•"/>
        <a:defRPr sz="1600" kern="1200" baseline="0">
          <a:solidFill>
            <a:schemeClr val="tx1"/>
          </a:solidFill>
          <a:latin typeface="Source Sans Pro" charset="0"/>
          <a:ea typeface="Source Sans Pro" charset="0"/>
          <a:cs typeface="Source Sans Pro" charset="0"/>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1.xml"/><Relationship Id="rId5" Type="http://schemas.openxmlformats.org/officeDocument/2006/relationships/hyperlink" Target="https://www.particle.or.jp/hirtjapan/en/what" TargetMode="Externa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image" Target="../media/image7.png"/><Relationship Id="rId18" Type="http://schemas.openxmlformats.org/officeDocument/2006/relationships/image" Target="../media/image12.png"/><Relationship Id="rId26" Type="http://schemas.openxmlformats.org/officeDocument/2006/relationships/diagramQuickStyle" Target="../diagrams/quickStyle2.xml"/><Relationship Id="rId3" Type="http://schemas.openxmlformats.org/officeDocument/2006/relationships/notesSlide" Target="../notesSlides/notesSlide4.xml"/><Relationship Id="rId21" Type="http://schemas.openxmlformats.org/officeDocument/2006/relationships/image" Target="../media/image15.svg"/><Relationship Id="rId7" Type="http://schemas.openxmlformats.org/officeDocument/2006/relationships/diagramQuickStyle" Target="../diagrams/quickStyle1.xml"/><Relationship Id="rId12" Type="http://schemas.openxmlformats.org/officeDocument/2006/relationships/image" Target="../media/image6.svg"/><Relationship Id="rId17" Type="http://schemas.openxmlformats.org/officeDocument/2006/relationships/image" Target="../media/image11.png"/><Relationship Id="rId25" Type="http://schemas.openxmlformats.org/officeDocument/2006/relationships/diagramLayout" Target="../diagrams/layout2.xml"/><Relationship Id="rId2" Type="http://schemas.openxmlformats.org/officeDocument/2006/relationships/slideLayout" Target="../slideLayouts/slideLayout4.xml"/><Relationship Id="rId16" Type="http://schemas.openxmlformats.org/officeDocument/2006/relationships/image" Target="../media/image10.svg"/><Relationship Id="rId20" Type="http://schemas.openxmlformats.org/officeDocument/2006/relationships/image" Target="../media/image14.png"/><Relationship Id="rId29" Type="http://schemas.openxmlformats.org/officeDocument/2006/relationships/image" Target="../media/image18.png"/><Relationship Id="rId1" Type="http://schemas.openxmlformats.org/officeDocument/2006/relationships/themeOverride" Target="../theme/themeOverride1.xml"/><Relationship Id="rId6" Type="http://schemas.openxmlformats.org/officeDocument/2006/relationships/diagramLayout" Target="../diagrams/layout1.xml"/><Relationship Id="rId11" Type="http://schemas.openxmlformats.org/officeDocument/2006/relationships/image" Target="../media/image5.png"/><Relationship Id="rId24" Type="http://schemas.openxmlformats.org/officeDocument/2006/relationships/diagramData" Target="../diagrams/data2.xml"/><Relationship Id="rId5" Type="http://schemas.openxmlformats.org/officeDocument/2006/relationships/diagramData" Target="../diagrams/data1.xml"/><Relationship Id="rId15" Type="http://schemas.openxmlformats.org/officeDocument/2006/relationships/image" Target="../media/image9.png"/><Relationship Id="rId23" Type="http://schemas.openxmlformats.org/officeDocument/2006/relationships/image" Target="../media/image17.svg"/><Relationship Id="rId28" Type="http://schemas.microsoft.com/office/2007/relationships/diagramDrawing" Target="../diagrams/drawing2.xml"/><Relationship Id="rId10" Type="http://schemas.openxmlformats.org/officeDocument/2006/relationships/image" Target="../media/image4.png"/><Relationship Id="rId19" Type="http://schemas.openxmlformats.org/officeDocument/2006/relationships/image" Target="../media/image13.svg"/><Relationship Id="rId4" Type="http://schemas.openxmlformats.org/officeDocument/2006/relationships/image" Target="../media/image3.png"/><Relationship Id="rId9" Type="http://schemas.microsoft.com/office/2007/relationships/diagramDrawing" Target="../diagrams/drawing1.xml"/><Relationship Id="rId14" Type="http://schemas.openxmlformats.org/officeDocument/2006/relationships/image" Target="../media/image8.svg"/><Relationship Id="rId22" Type="http://schemas.openxmlformats.org/officeDocument/2006/relationships/image" Target="../media/image16.png"/><Relationship Id="rId27" Type="http://schemas.openxmlformats.org/officeDocument/2006/relationships/diagramColors" Target="../diagrams/colors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notesSlide" Target="../notesSlides/notesSlide6.xml"/><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slideLayout" Target="../slideLayouts/slideLayout4.xml"/><Relationship Id="rId1" Type="http://schemas.openxmlformats.org/officeDocument/2006/relationships/tags" Target="../tags/tag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hyperlink" Target="https://simpleitk.org/"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0.xml"/><Relationship Id="rId5" Type="http://schemas.openxmlformats.org/officeDocument/2006/relationships/image" Target="../media/image34.png"/><Relationship Id="rId4" Type="http://schemas.openxmlformats.org/officeDocument/2006/relationships/hyperlink" Target="https://www.kdnuggets.com/2017/01/generative-adversarial-networks-hot-topic-machine-learning.html"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notesSlide" Target="../notesSlides/notesSlide11.xml"/><Relationship Id="rId7" Type="http://schemas.openxmlformats.org/officeDocument/2006/relationships/image" Target="../media/image38.png"/><Relationship Id="rId2" Type="http://schemas.openxmlformats.org/officeDocument/2006/relationships/slideLayout" Target="../slideLayouts/slideLayout4.xml"/><Relationship Id="rId1" Type="http://schemas.openxmlformats.org/officeDocument/2006/relationships/tags" Target="../tags/tag3.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0.png"/></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4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9.xml"/><Relationship Id="rId5" Type="http://schemas.openxmlformats.org/officeDocument/2006/relationships/image" Target="../media/image47.png"/><Relationship Id="rId4" Type="http://schemas.openxmlformats.org/officeDocument/2006/relationships/image" Target="../media/image46.png"/></Relationships>
</file>

<file path=ppt/slides/_rels/slide1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0.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1.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65.emf"/></Relationships>
</file>

<file path=ppt/slides/_rels/slide2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6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69.svg"/></Relationships>
</file>

<file path=ppt/slides/_rels/slide2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6.xml"/><Relationship Id="rId1" Type="http://schemas.openxmlformats.org/officeDocument/2006/relationships/slideLayout" Target="../slideLayouts/slideLayout4.xml"/><Relationship Id="rId5" Type="http://schemas.openxmlformats.org/officeDocument/2006/relationships/image" Target="../media/image72.png"/><Relationship Id="rId4" Type="http://schemas.openxmlformats.org/officeDocument/2006/relationships/image" Target="../media/image71.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80000" y="1440000"/>
            <a:ext cx="11280000" cy="2197109"/>
          </a:xfrm>
        </p:spPr>
        <p:txBody>
          <a:bodyPr>
            <a:normAutofit fontScale="90000"/>
          </a:bodyPr>
          <a:lstStyle/>
          <a:p>
            <a:pPr algn="ctr"/>
            <a:r>
              <a:rPr lang="de-DE" sz="2933" dirty="0"/>
              <a:t>presentation</a:t>
            </a:r>
            <a:br>
              <a:rPr lang="de-DE" dirty="0"/>
            </a:br>
            <a:br>
              <a:rPr lang="de-DE" dirty="0"/>
            </a:br>
            <a:r>
              <a:rPr lang="de-DE" dirty="0"/>
              <a:t>MASTER THESIS</a:t>
            </a:r>
            <a:br>
              <a:rPr lang="de-DE" dirty="0"/>
            </a:br>
            <a:br>
              <a:rPr lang="de-DE" dirty="0"/>
            </a:br>
            <a:r>
              <a:rPr lang="en-US" sz="2933" dirty="0"/>
              <a:t>Accelerating dose calculations in carbon ion therapy </a:t>
            </a:r>
            <a:br>
              <a:rPr lang="en-US" sz="2933" dirty="0"/>
            </a:br>
            <a:r>
              <a:rPr lang="en-US" sz="2933" dirty="0"/>
              <a:t>using a Wasserstein GAN</a:t>
            </a:r>
            <a:endParaRPr lang="de-DE" sz="2933" dirty="0"/>
          </a:p>
        </p:txBody>
      </p:sp>
      <p:sp>
        <p:nvSpPr>
          <p:cNvPr id="6" name="Inhaltsplatzhalter 2">
            <a:extLst>
              <a:ext uri="{FF2B5EF4-FFF2-40B4-BE49-F238E27FC236}">
                <a16:creationId xmlns:a16="http://schemas.microsoft.com/office/drawing/2014/main" id="{ABF8368A-8E85-4EB5-F03D-D472BB7D2974}"/>
              </a:ext>
            </a:extLst>
          </p:cNvPr>
          <p:cNvSpPr txBox="1">
            <a:spLocks/>
          </p:cNvSpPr>
          <p:nvPr/>
        </p:nvSpPr>
        <p:spPr>
          <a:xfrm>
            <a:off x="456142" y="5666077"/>
            <a:ext cx="11279716" cy="831156"/>
          </a:xfrm>
          <a:prstGeom prst="rect">
            <a:avLst/>
          </a:prstGeom>
        </p:spPr>
        <p:txBody>
          <a:bodyPr vert="horz" lIns="0" tIns="0" rIns="0" bIns="0" rtlCol="0">
            <a:normAutofit/>
          </a:bodyPr>
          <a:lstStyle>
            <a:lvl1pPr marL="0" indent="0" algn="l" defTabSz="342900" rtl="0" eaLnBrk="1" fontAlgn="base" hangingPunct="1">
              <a:lnSpc>
                <a:spcPct val="120000"/>
              </a:lnSpc>
              <a:spcBef>
                <a:spcPts val="450"/>
              </a:spcBef>
              <a:spcAft>
                <a:spcPct val="0"/>
              </a:spcAft>
              <a:buClr>
                <a:srgbClr val="D40009"/>
              </a:buClr>
              <a:buFontTx/>
              <a:buNone/>
              <a:tabLst/>
              <a:defRPr sz="2000" kern="1200" baseline="0">
                <a:solidFill>
                  <a:schemeClr val="bg1"/>
                </a:solidFill>
                <a:latin typeface="Source Sans Pro" charset="0"/>
                <a:ea typeface="Source Sans Pro" charset="0"/>
                <a:cs typeface="Source Sans Pro" charset="0"/>
              </a:defRPr>
            </a:lvl1pPr>
            <a:lvl2pPr marL="0" indent="0" algn="l" defTabSz="342900" rtl="0" eaLnBrk="1" fontAlgn="base" hangingPunct="1">
              <a:lnSpc>
                <a:spcPct val="120000"/>
              </a:lnSpc>
              <a:spcBef>
                <a:spcPct val="0"/>
              </a:spcBef>
              <a:spcAft>
                <a:spcPct val="0"/>
              </a:spcAft>
              <a:buClr>
                <a:srgbClr val="D40009"/>
              </a:buClr>
              <a:buFontTx/>
              <a:buNone/>
              <a:tabLst/>
              <a:defRPr sz="1800" kern="1200" baseline="0">
                <a:solidFill>
                  <a:schemeClr val="bg1"/>
                </a:solidFill>
                <a:latin typeface="Source Sans Pro" charset="0"/>
                <a:ea typeface="Source Sans Pro" charset="0"/>
                <a:cs typeface="Source Sans Pro" charset="0"/>
              </a:defRPr>
            </a:lvl2pPr>
            <a:lvl3pPr marL="0" indent="0" algn="l" defTabSz="342900" rtl="0" eaLnBrk="1" fontAlgn="base" hangingPunct="1">
              <a:lnSpc>
                <a:spcPct val="120000"/>
              </a:lnSpc>
              <a:spcBef>
                <a:spcPct val="0"/>
              </a:spcBef>
              <a:spcAft>
                <a:spcPct val="0"/>
              </a:spcAft>
              <a:buClr>
                <a:srgbClr val="D40009"/>
              </a:buClr>
              <a:buFontTx/>
              <a:buNone/>
              <a:tabLst/>
              <a:defRPr sz="1600" kern="1200" baseline="0">
                <a:solidFill>
                  <a:schemeClr val="bg1"/>
                </a:solidFill>
                <a:latin typeface="Source Sans Pro" charset="0"/>
                <a:ea typeface="Source Sans Pro" charset="0"/>
                <a:cs typeface="Source Sans Pro" charset="0"/>
              </a:defRPr>
            </a:lvl3pPr>
            <a:lvl4pPr marL="0" indent="0" algn="l" defTabSz="342900" rtl="0" eaLnBrk="1" fontAlgn="base" hangingPunct="1">
              <a:lnSpc>
                <a:spcPct val="120000"/>
              </a:lnSpc>
              <a:spcBef>
                <a:spcPct val="0"/>
              </a:spcBef>
              <a:spcAft>
                <a:spcPct val="0"/>
              </a:spcAft>
              <a:buClr>
                <a:srgbClr val="D40009"/>
              </a:buClr>
              <a:buFontTx/>
              <a:buNone/>
              <a:tabLst/>
              <a:defRPr sz="1400" kern="1200" baseline="0">
                <a:solidFill>
                  <a:schemeClr val="bg1"/>
                </a:solidFill>
                <a:latin typeface="Source Sans Pro" charset="0"/>
                <a:ea typeface="Source Sans Pro" charset="0"/>
                <a:cs typeface="Source Sans Pro" charset="0"/>
              </a:defRPr>
            </a:lvl4pPr>
            <a:lvl5pPr marL="0" indent="0" algn="l" defTabSz="342900" rtl="0" eaLnBrk="1" fontAlgn="base" hangingPunct="1">
              <a:lnSpc>
                <a:spcPct val="120000"/>
              </a:lnSpc>
              <a:spcBef>
                <a:spcPct val="0"/>
              </a:spcBef>
              <a:spcAft>
                <a:spcPct val="0"/>
              </a:spcAft>
              <a:buClr>
                <a:srgbClr val="D40009"/>
              </a:buClr>
              <a:buFontTx/>
              <a:buNone/>
              <a:tabLst/>
              <a:defRPr sz="1200" kern="1200" baseline="0">
                <a:solidFill>
                  <a:schemeClr val="bg1"/>
                </a:solidFill>
                <a:latin typeface="Source Sans Pro" charset="0"/>
                <a:ea typeface="Source Sans Pro" charset="0"/>
                <a:cs typeface="Source Sans Pro"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defTabSz="457189">
              <a:spcBef>
                <a:spcPts val="600"/>
              </a:spcBef>
            </a:pPr>
            <a:r>
              <a:rPr lang="de-DE" dirty="0">
                <a:solidFill>
                  <a:prstClr val="white"/>
                </a:solidFill>
              </a:rPr>
              <a:t>Pichaya Tappayuthpijarn</a:t>
            </a:r>
          </a:p>
          <a:p>
            <a:pPr defTabSz="457189">
              <a:spcBef>
                <a:spcPts val="600"/>
              </a:spcBef>
            </a:pPr>
            <a:r>
              <a:rPr lang="de-DE" dirty="0">
                <a:solidFill>
                  <a:prstClr val="white"/>
                </a:solidFill>
              </a:rPr>
              <a:t>Biomedical Engineering, 5055625</a:t>
            </a:r>
          </a:p>
        </p:txBody>
      </p:sp>
      <p:sp>
        <p:nvSpPr>
          <p:cNvPr id="7" name="Rectangle 6">
            <a:extLst>
              <a:ext uri="{FF2B5EF4-FFF2-40B4-BE49-F238E27FC236}">
                <a16:creationId xmlns:a16="http://schemas.microsoft.com/office/drawing/2014/main" id="{A6989595-FAC3-54CE-971F-421391984DAF}"/>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sp>
        <p:nvSpPr>
          <p:cNvPr id="4" name="TextBox 3">
            <a:extLst>
              <a:ext uri="{FF2B5EF4-FFF2-40B4-BE49-F238E27FC236}">
                <a16:creationId xmlns:a16="http://schemas.microsoft.com/office/drawing/2014/main" id="{7529EA79-D6D7-7A41-A0FE-B10EAF9F9377}"/>
              </a:ext>
            </a:extLst>
          </p:cNvPr>
          <p:cNvSpPr txBox="1"/>
          <p:nvPr/>
        </p:nvSpPr>
        <p:spPr>
          <a:xfrm>
            <a:off x="5525430" y="5666615"/>
            <a:ext cx="6099716" cy="852990"/>
          </a:xfrm>
          <a:prstGeom prst="rect">
            <a:avLst/>
          </a:prstGeom>
        </p:spPr>
        <p:txBody>
          <a:bodyPr vert="horz" lIns="0" tIns="0" rIns="0" bIns="0" rtlCol="0">
            <a:normAutofit/>
          </a:bodyPr>
          <a:lstStyle>
            <a:defPPr>
              <a:defRPr lang="en-US"/>
            </a:defPPr>
            <a:lvl1pPr indent="0" defTabSz="457189" fontAlgn="base">
              <a:lnSpc>
                <a:spcPct val="120000"/>
              </a:lnSpc>
              <a:spcBef>
                <a:spcPts val="600"/>
              </a:spcBef>
              <a:spcAft>
                <a:spcPct val="0"/>
              </a:spcAft>
              <a:buClr>
                <a:srgbClr val="D40009"/>
              </a:buClr>
              <a:buFontTx/>
              <a:buNone/>
              <a:tabLst/>
              <a:defRPr sz="2133" baseline="0">
                <a:solidFill>
                  <a:prstClr val="white"/>
                </a:solidFill>
                <a:latin typeface="Source Sans Pro" charset="0"/>
                <a:ea typeface="Source Sans Pro" charset="0"/>
                <a:cs typeface="Source Sans Pro" charset="0"/>
              </a:defRPr>
            </a:lvl1pPr>
            <a:lvl2pPr marL="0" indent="0" defTabSz="342900" fontAlgn="base">
              <a:lnSpc>
                <a:spcPct val="120000"/>
              </a:lnSpc>
              <a:spcBef>
                <a:spcPct val="0"/>
              </a:spcBef>
              <a:spcAft>
                <a:spcPct val="0"/>
              </a:spcAft>
              <a:buClr>
                <a:srgbClr val="D40009"/>
              </a:buClr>
              <a:buFontTx/>
              <a:buNone/>
              <a:tabLst/>
              <a:defRPr baseline="0">
                <a:solidFill>
                  <a:schemeClr val="bg1"/>
                </a:solidFill>
                <a:latin typeface="Source Sans Pro" charset="0"/>
                <a:ea typeface="Source Sans Pro" charset="0"/>
                <a:cs typeface="Source Sans Pro" charset="0"/>
              </a:defRPr>
            </a:lvl2pPr>
            <a:lvl3pPr marL="0" indent="0" defTabSz="342900" fontAlgn="base">
              <a:lnSpc>
                <a:spcPct val="120000"/>
              </a:lnSpc>
              <a:spcBef>
                <a:spcPct val="0"/>
              </a:spcBef>
              <a:spcAft>
                <a:spcPct val="0"/>
              </a:spcAft>
              <a:buClr>
                <a:srgbClr val="D40009"/>
              </a:buClr>
              <a:buFontTx/>
              <a:buNone/>
              <a:tabLst/>
              <a:defRPr sz="1600" baseline="0">
                <a:solidFill>
                  <a:schemeClr val="bg1"/>
                </a:solidFill>
                <a:latin typeface="Source Sans Pro" charset="0"/>
                <a:ea typeface="Source Sans Pro" charset="0"/>
                <a:cs typeface="Source Sans Pro" charset="0"/>
              </a:defRPr>
            </a:lvl3pPr>
            <a:lvl4pPr marL="0" indent="0" defTabSz="342900" fontAlgn="base">
              <a:lnSpc>
                <a:spcPct val="120000"/>
              </a:lnSpc>
              <a:spcBef>
                <a:spcPct val="0"/>
              </a:spcBef>
              <a:spcAft>
                <a:spcPct val="0"/>
              </a:spcAft>
              <a:buClr>
                <a:srgbClr val="D40009"/>
              </a:buClr>
              <a:buFontTx/>
              <a:buNone/>
              <a:tabLst/>
              <a:defRPr sz="1400" baseline="0">
                <a:solidFill>
                  <a:schemeClr val="bg1"/>
                </a:solidFill>
                <a:latin typeface="Source Sans Pro" charset="0"/>
                <a:ea typeface="Source Sans Pro" charset="0"/>
                <a:cs typeface="Source Sans Pro" charset="0"/>
              </a:defRPr>
            </a:lvl4pPr>
            <a:lvl5pPr marL="0" indent="0" defTabSz="342900" fontAlgn="base">
              <a:lnSpc>
                <a:spcPct val="120000"/>
              </a:lnSpc>
              <a:spcBef>
                <a:spcPct val="0"/>
              </a:spcBef>
              <a:spcAft>
                <a:spcPct val="0"/>
              </a:spcAft>
              <a:buClr>
                <a:srgbClr val="D40009"/>
              </a:buClr>
              <a:buFontTx/>
              <a:buNone/>
              <a:tabLst/>
              <a:defRPr sz="1200" baseline="0">
                <a:solidFill>
                  <a:schemeClr val="bg1"/>
                </a:solidFill>
                <a:latin typeface="Source Sans Pro" charset="0"/>
                <a:ea typeface="Source Sans Pro" charset="0"/>
                <a:cs typeface="Source Sans Pro" charset="0"/>
              </a:defRPr>
            </a:lvl5pPr>
            <a:lvl6pPr marL="1885950" indent="-171450" defTabSz="342900">
              <a:spcBef>
                <a:spcPct val="20000"/>
              </a:spcBef>
              <a:buFont typeface="Arial"/>
              <a:buChar char="•"/>
              <a:defRPr sz="1500"/>
            </a:lvl6pPr>
            <a:lvl7pPr marL="2228850" indent="-171450" defTabSz="342900">
              <a:spcBef>
                <a:spcPct val="20000"/>
              </a:spcBef>
              <a:buFont typeface="Arial"/>
              <a:buChar char="•"/>
              <a:defRPr sz="1500"/>
            </a:lvl7pPr>
            <a:lvl8pPr marL="2571750" indent="-171450" defTabSz="342900">
              <a:spcBef>
                <a:spcPct val="20000"/>
              </a:spcBef>
              <a:buFont typeface="Arial"/>
              <a:buChar char="•"/>
              <a:defRPr sz="1500"/>
            </a:lvl8pPr>
            <a:lvl9pPr marL="2914650" indent="-171450" defTabSz="342900">
              <a:spcBef>
                <a:spcPct val="20000"/>
              </a:spcBef>
              <a:buFont typeface="Arial"/>
              <a:buChar char="•"/>
              <a:defRPr sz="1500"/>
            </a:lvl9pPr>
          </a:lstStyle>
          <a:p>
            <a:r>
              <a:rPr lang="en-US" sz="2000" dirty="0"/>
              <a:t>"Metrology for Artificial Intelligence in Medicine" (M4AIM), </a:t>
            </a:r>
            <a:r>
              <a:rPr lang="en-US" sz="2000" dirty="0" err="1">
                <a:effectLst/>
                <a:latin typeface="Calibri" panose="020F0502020204030204" pitchFamily="34" charset="0"/>
                <a:ea typeface="Calibri" panose="020F0502020204030204" pitchFamily="34" charset="0"/>
                <a:cs typeface="Cordia New" panose="020B0304020202020204" pitchFamily="34" charset="-34"/>
              </a:rPr>
              <a:t>Physikalisch-Technische</a:t>
            </a:r>
            <a:r>
              <a:rPr lang="en-US" sz="2000" dirty="0">
                <a:effectLst/>
                <a:latin typeface="Calibri" panose="020F0502020204030204" pitchFamily="34" charset="0"/>
                <a:ea typeface="Calibri" panose="020F0502020204030204" pitchFamily="34" charset="0"/>
                <a:cs typeface="Cordia New" panose="020B0304020202020204" pitchFamily="34" charset="-34"/>
              </a:rPr>
              <a:t> </a:t>
            </a:r>
            <a:r>
              <a:rPr lang="en-US" sz="2000" dirty="0" err="1">
                <a:effectLst/>
                <a:latin typeface="Calibri" panose="020F0502020204030204" pitchFamily="34" charset="0"/>
                <a:ea typeface="Calibri" panose="020F0502020204030204" pitchFamily="34" charset="0"/>
                <a:cs typeface="Cordia New" panose="020B0304020202020204" pitchFamily="34" charset="-34"/>
              </a:rPr>
              <a:t>Bundesanstalt</a:t>
            </a:r>
            <a:r>
              <a:rPr lang="en-US" sz="2000" dirty="0">
                <a:effectLst/>
                <a:latin typeface="Calibri" panose="020F0502020204030204" pitchFamily="34" charset="0"/>
                <a:ea typeface="Calibri" panose="020F0502020204030204" pitchFamily="34" charset="0"/>
                <a:cs typeface="Cordia New" panose="020B0304020202020204" pitchFamily="34" charset="-34"/>
              </a:rPr>
              <a:t> (PTB)</a:t>
            </a:r>
            <a:r>
              <a:rPr lang="en-US" sz="2000" dirty="0"/>
              <a:t>  Berlin</a:t>
            </a:r>
          </a:p>
        </p:txBody>
      </p:sp>
    </p:spTree>
    <p:extLst>
      <p:ext uri="{BB962C8B-B14F-4D97-AF65-F5344CB8AC3E}">
        <p14:creationId xmlns:p14="http://schemas.microsoft.com/office/powerpoint/2010/main" val="1259126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3D2A8B-AE74-8988-DFB6-06B2AE4B39CC}"/>
              </a:ext>
            </a:extLst>
          </p:cNvPr>
          <p:cNvSpPr>
            <a:spLocks noGrp="1"/>
          </p:cNvSpPr>
          <p:nvPr>
            <p:ph idx="1"/>
          </p:nvPr>
        </p:nvSpPr>
        <p:spPr>
          <a:xfrm>
            <a:off x="503766" y="2040468"/>
            <a:ext cx="11688233" cy="4438649"/>
          </a:xfrm>
        </p:spPr>
        <p:txBody>
          <a:bodyPr>
            <a:normAutofit/>
          </a:bodyPr>
          <a:lstStyle/>
          <a:p>
            <a:pPr>
              <a:lnSpc>
                <a:spcPct val="150000"/>
              </a:lnSpc>
            </a:pPr>
            <a:r>
              <a:rPr lang="en-US" sz="2000" dirty="0"/>
              <a:t>Carbon ion beam therapy</a:t>
            </a:r>
          </a:p>
          <a:p>
            <a:pPr>
              <a:lnSpc>
                <a:spcPct val="150000"/>
              </a:lnSpc>
            </a:pPr>
            <a:r>
              <a:rPr lang="en-US" sz="2000" dirty="0"/>
              <a:t>Monte Carlo simulation</a:t>
            </a:r>
          </a:p>
          <a:p>
            <a:pPr marL="277193" indent="0">
              <a:lnSpc>
                <a:spcPct val="150000"/>
              </a:lnSpc>
              <a:buNone/>
            </a:pPr>
            <a:r>
              <a:rPr lang="en-US" sz="2000" dirty="0"/>
              <a:t>simulating a large number of interactions to provide </a:t>
            </a:r>
          </a:p>
          <a:p>
            <a:pPr marL="277193" indent="0">
              <a:lnSpc>
                <a:spcPct val="150000"/>
              </a:lnSpc>
              <a:buNone/>
            </a:pPr>
            <a:r>
              <a:rPr lang="en-US" sz="2000" dirty="0"/>
              <a:t>accurate estimates of the radiation dose</a:t>
            </a:r>
          </a:p>
          <a:p>
            <a:pPr>
              <a:lnSpc>
                <a:spcPct val="150000"/>
              </a:lnSpc>
              <a:buFont typeface="Arial" panose="020B0604020202020204" pitchFamily="34" charset="0"/>
              <a:buChar char="•"/>
            </a:pPr>
            <a:r>
              <a:rPr lang="en-US" sz="2000" dirty="0"/>
              <a:t>Deep learning algorithms </a:t>
            </a:r>
          </a:p>
          <a:p>
            <a:pPr>
              <a:lnSpc>
                <a:spcPct val="150000"/>
              </a:lnSpc>
              <a:buFont typeface="Arial" panose="020B0604020202020204" pitchFamily="34" charset="0"/>
              <a:buChar char="•"/>
            </a:pPr>
            <a:r>
              <a:rPr lang="en-US" sz="2000" dirty="0"/>
              <a:t>To develop, train and test a WGAN for faster calculation of dose distribution in carbon ion radiation therapy</a:t>
            </a:r>
          </a:p>
          <a:p>
            <a:pPr marL="277193" indent="0">
              <a:buNone/>
            </a:pPr>
            <a:endParaRPr lang="de-DE" sz="2000" dirty="0"/>
          </a:p>
          <a:p>
            <a:pPr>
              <a:buFont typeface="Arial" panose="020B0604020202020204" pitchFamily="34" charset="0"/>
              <a:buChar char="•"/>
            </a:pPr>
            <a:endParaRPr lang="en-US" sz="2000" dirty="0"/>
          </a:p>
        </p:txBody>
      </p:sp>
      <p:sp>
        <p:nvSpPr>
          <p:cNvPr id="3" name="Title 2">
            <a:extLst>
              <a:ext uri="{FF2B5EF4-FFF2-40B4-BE49-F238E27FC236}">
                <a16:creationId xmlns:a16="http://schemas.microsoft.com/office/drawing/2014/main" id="{2589CF34-C045-F2F0-6718-DCB44B354243}"/>
              </a:ext>
            </a:extLst>
          </p:cNvPr>
          <p:cNvSpPr>
            <a:spLocks noGrp="1"/>
          </p:cNvSpPr>
          <p:nvPr>
            <p:ph type="title"/>
          </p:nvPr>
        </p:nvSpPr>
        <p:spPr/>
        <p:txBody>
          <a:bodyPr/>
          <a:lstStyle/>
          <a:p>
            <a:r>
              <a:rPr lang="en-US" dirty="0"/>
              <a:t>Aim of the Project</a:t>
            </a:r>
            <a:br>
              <a:rPr lang="en-US" dirty="0"/>
            </a:br>
            <a:endParaRPr lang="en-US" dirty="0"/>
          </a:p>
        </p:txBody>
      </p:sp>
      <p:sp>
        <p:nvSpPr>
          <p:cNvPr id="4" name="Date Placeholder 3">
            <a:extLst>
              <a:ext uri="{FF2B5EF4-FFF2-40B4-BE49-F238E27FC236}">
                <a16:creationId xmlns:a16="http://schemas.microsoft.com/office/drawing/2014/main" id="{31946193-E090-14E9-D5E8-E687ACA4A1F3}"/>
              </a:ext>
            </a:extLst>
          </p:cNvPr>
          <p:cNvSpPr>
            <a:spLocks noGrp="1"/>
          </p:cNvSpPr>
          <p:nvPr>
            <p:ph type="dt" sz="half" idx="10"/>
          </p:nvPr>
        </p:nvSpPr>
        <p:spPr/>
        <p:txBody>
          <a:bodyPr/>
          <a:lstStyle/>
          <a:p>
            <a:pPr>
              <a:defRPr/>
            </a:pPr>
            <a:fld id="{6A24229F-654C-4585-9B99-292263B0CB2B}" type="datetime1">
              <a:rPr lang="en-US" smtClean="0"/>
              <a:t>2/28/2024</a:t>
            </a:fld>
            <a:endParaRPr lang="de-DE" dirty="0"/>
          </a:p>
        </p:txBody>
      </p:sp>
      <p:sp>
        <p:nvSpPr>
          <p:cNvPr id="5" name="Footer Placeholder 4">
            <a:extLst>
              <a:ext uri="{FF2B5EF4-FFF2-40B4-BE49-F238E27FC236}">
                <a16:creationId xmlns:a16="http://schemas.microsoft.com/office/drawing/2014/main" id="{A1356749-0449-A6D3-6D7E-264328FEA68E}"/>
              </a:ext>
            </a:extLst>
          </p:cNvPr>
          <p:cNvSpPr>
            <a:spLocks noGrp="1"/>
          </p:cNvSpPr>
          <p:nvPr>
            <p:ph type="ftr" sz="quarter" idx="11"/>
          </p:nvPr>
        </p:nvSpPr>
        <p:spPr/>
        <p:txBody>
          <a:bodyPr/>
          <a:lstStyle/>
          <a:p>
            <a:pPr>
              <a:defRPr/>
            </a:pPr>
            <a:r>
              <a:rPr lang="de-DE"/>
              <a:t>Pichaya Tappayuthpijarn</a:t>
            </a:r>
            <a:endParaRPr lang="de-DE" dirty="0"/>
          </a:p>
        </p:txBody>
      </p:sp>
      <p:sp>
        <p:nvSpPr>
          <p:cNvPr id="6" name="Slide Number Placeholder 5">
            <a:extLst>
              <a:ext uri="{FF2B5EF4-FFF2-40B4-BE49-F238E27FC236}">
                <a16:creationId xmlns:a16="http://schemas.microsoft.com/office/drawing/2014/main" id="{387ABB5E-199A-A14F-03D2-FA0DD3E6334D}"/>
              </a:ext>
            </a:extLst>
          </p:cNvPr>
          <p:cNvSpPr>
            <a:spLocks noGrp="1"/>
          </p:cNvSpPr>
          <p:nvPr>
            <p:ph type="sldNum" sz="quarter" idx="12"/>
          </p:nvPr>
        </p:nvSpPr>
        <p:spPr/>
        <p:txBody>
          <a:bodyPr/>
          <a:lstStyle/>
          <a:p>
            <a:pPr>
              <a:defRPr/>
            </a:pPr>
            <a:r>
              <a:rPr lang="de-DE"/>
              <a:t>SEITE</a:t>
            </a:r>
            <a:r>
              <a:rPr lang="de-DE" spc="0"/>
              <a:t> </a:t>
            </a:r>
            <a:fld id="{37ED3A82-C5FC-FE4D-9EDE-EA1B3EA06354}" type="slidenum">
              <a:rPr lang="de-DE" spc="0"/>
              <a:pPr>
                <a:defRPr/>
              </a:pPr>
              <a:t>2</a:t>
            </a:fld>
            <a:endParaRPr lang="de-DE" spc="0"/>
          </a:p>
        </p:txBody>
      </p:sp>
      <p:sp>
        <p:nvSpPr>
          <p:cNvPr id="7" name="Rectangle 6">
            <a:extLst>
              <a:ext uri="{FF2B5EF4-FFF2-40B4-BE49-F238E27FC236}">
                <a16:creationId xmlns:a16="http://schemas.microsoft.com/office/drawing/2014/main" id="{9BE576DF-4EE4-9C8E-280E-03A965FFE667}"/>
              </a:ext>
            </a:extLst>
          </p:cNvPr>
          <p:cNvSpPr/>
          <p:nvPr/>
        </p:nvSpPr>
        <p:spPr>
          <a:xfrm>
            <a:off x="121920" y="109728"/>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sz="2400"/>
          </a:p>
        </p:txBody>
      </p:sp>
      <p:pic>
        <p:nvPicPr>
          <p:cNvPr id="1026" name="Picture 2" descr="Heavy ions accelerated to 70% of light speed are delivered to cancer.">
            <a:extLst>
              <a:ext uri="{FF2B5EF4-FFF2-40B4-BE49-F238E27FC236}">
                <a16:creationId xmlns:a16="http://schemas.microsoft.com/office/drawing/2014/main" id="{ADEFCF9E-29F9-3726-3F9D-AD6A76086B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3385" y="1113157"/>
            <a:ext cx="4987620" cy="259559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10E272D-8A18-0C45-F16D-A91F24AEDE01}"/>
              </a:ext>
            </a:extLst>
          </p:cNvPr>
          <p:cNvSpPr txBox="1"/>
          <p:nvPr/>
        </p:nvSpPr>
        <p:spPr>
          <a:xfrm>
            <a:off x="7717031" y="3708755"/>
            <a:ext cx="5807132" cy="461665"/>
          </a:xfrm>
          <a:prstGeom prst="rect">
            <a:avLst/>
          </a:prstGeom>
          <a:noFill/>
        </p:spPr>
        <p:txBody>
          <a:bodyPr wrap="square">
            <a:spAutoFit/>
          </a:bodyPr>
          <a:lstStyle/>
          <a:p>
            <a:r>
              <a:rPr lang="en-US" sz="1200" i="1" dirty="0">
                <a:solidFill>
                  <a:srgbClr val="00B0F0"/>
                </a:solidFill>
              </a:rPr>
              <a:t>  </a:t>
            </a:r>
            <a:r>
              <a:rPr lang="en-US" sz="1200" i="1" dirty="0">
                <a:solidFill>
                  <a:srgbClr val="00B0F0"/>
                </a:solidFill>
                <a:hlinkClick r:id="rId5">
                  <a:extLst>
                    <a:ext uri="{A12FA001-AC4F-418D-AE19-62706E023703}">
                      <ahyp:hlinkClr xmlns:ahyp="http://schemas.microsoft.com/office/drawing/2018/hyperlinkcolor" val="tx"/>
                    </a:ext>
                  </a:extLst>
                </a:hlinkClick>
              </a:rPr>
              <a:t>https://www.particle.or.jp/hirtjapan/en/what</a:t>
            </a:r>
            <a:endParaRPr lang="en-US" sz="1200" i="1" dirty="0">
              <a:solidFill>
                <a:srgbClr val="00B0F0"/>
              </a:solidFill>
            </a:endParaRPr>
          </a:p>
          <a:p>
            <a:endParaRPr lang="en-US" sz="1200" i="1" dirty="0">
              <a:solidFill>
                <a:srgbClr val="00B0F0"/>
              </a:solidFill>
            </a:endParaRPr>
          </a:p>
        </p:txBody>
      </p:sp>
      <p:sp>
        <p:nvSpPr>
          <p:cNvPr id="8" name="TextBox 7">
            <a:extLst>
              <a:ext uri="{FF2B5EF4-FFF2-40B4-BE49-F238E27FC236}">
                <a16:creationId xmlns:a16="http://schemas.microsoft.com/office/drawing/2014/main" id="{F8647D66-494B-4B22-F623-D532D9EA9E43}"/>
              </a:ext>
            </a:extLst>
          </p:cNvPr>
          <p:cNvSpPr txBox="1"/>
          <p:nvPr/>
        </p:nvSpPr>
        <p:spPr>
          <a:xfrm>
            <a:off x="8053558" y="3922055"/>
            <a:ext cx="5971836" cy="276999"/>
          </a:xfrm>
          <a:prstGeom prst="rect">
            <a:avLst/>
          </a:prstGeom>
          <a:noFill/>
        </p:spPr>
        <p:txBody>
          <a:bodyPr wrap="square">
            <a:spAutoFit/>
          </a:bodyPr>
          <a:lstStyle/>
          <a:p>
            <a:r>
              <a:rPr lang="en-US" sz="1200" i="1" dirty="0">
                <a:latin typeface="Calibri" panose="020F0502020204030204" pitchFamily="34" charset="0"/>
                <a:ea typeface="Calibri" panose="020F0502020204030204" pitchFamily="34" charset="0"/>
                <a:cs typeface="Cordia New" panose="020B0304020202020204" pitchFamily="34" charset="-34"/>
              </a:rPr>
              <a:t>Figure 1 Carbon ion beam characteristic</a:t>
            </a:r>
            <a:endParaRPr lang="en-US" sz="1200" i="1" dirty="0"/>
          </a:p>
        </p:txBody>
      </p:sp>
    </p:spTree>
    <p:custDataLst>
      <p:tags r:id="rId1"/>
    </p:custDataLst>
    <p:extLst>
      <p:ext uri="{BB962C8B-B14F-4D97-AF65-F5344CB8AC3E}">
        <p14:creationId xmlns:p14="http://schemas.microsoft.com/office/powerpoint/2010/main" val="3610511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par>
                          <p:cTn id="8" fill="hold">
                            <p:stCondLst>
                              <p:cond delay="500"/>
                            </p:stCondLst>
                            <p:childTnLst>
                              <p:par>
                                <p:cTn id="9" presetID="10" presetClass="entr" presetSubtype="0" fill="hold" nodeType="afterEffect">
                                  <p:stCondLst>
                                    <p:cond delay="2000"/>
                                  </p:stCondLst>
                                  <p:childTnLst>
                                    <p:set>
                                      <p:cBhvr>
                                        <p:cTn id="10" dur="1" fill="hold">
                                          <p:stCondLst>
                                            <p:cond delay="0"/>
                                          </p:stCondLst>
                                        </p:cTn>
                                        <p:tgtEl>
                                          <p:spTgt spid="2">
                                            <p:txEl>
                                              <p:pRg st="2" end="2"/>
                                            </p:txEl>
                                          </p:spTgt>
                                        </p:tgtEl>
                                        <p:attrNameLst>
                                          <p:attrName>style.visibility</p:attrName>
                                        </p:attrNameLst>
                                      </p:cBhvr>
                                      <p:to>
                                        <p:strVal val="visible"/>
                                      </p:to>
                                    </p:set>
                                    <p:animEffect transition="in" filter="fade">
                                      <p:cBhvr>
                                        <p:cTn id="11" dur="500"/>
                                        <p:tgtEl>
                                          <p:spTgt spid="2">
                                            <p:txEl>
                                              <p:pRg st="2" end="2"/>
                                            </p:txEl>
                                          </p:spTgt>
                                        </p:tgtEl>
                                      </p:cBhvr>
                                    </p:animEffect>
                                  </p:childTnLst>
                                </p:cTn>
                              </p:par>
                            </p:childTnLst>
                          </p:cTn>
                        </p:par>
                        <p:par>
                          <p:cTn id="12" fill="hold">
                            <p:stCondLst>
                              <p:cond delay="3000"/>
                            </p:stCondLst>
                            <p:childTnLst>
                              <p:par>
                                <p:cTn id="13" presetID="10" presetClass="entr" presetSubtype="0" fill="hold" nodeType="afterEffect">
                                  <p:stCondLst>
                                    <p:cond delay="200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fade">
                                      <p:cBhvr>
                                        <p:cTn id="15" dur="500"/>
                                        <p:tgtEl>
                                          <p:spTgt spid="2">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xEl>
                                              <p:pRg st="4" end="4"/>
                                            </p:txEl>
                                          </p:spTgt>
                                        </p:tgtEl>
                                        <p:attrNameLst>
                                          <p:attrName>style.visibility</p:attrName>
                                        </p:attrNameLst>
                                      </p:cBhvr>
                                      <p:to>
                                        <p:strVal val="visible"/>
                                      </p:to>
                                    </p:set>
                                    <p:animEffect transition="in" filter="fade">
                                      <p:cBhvr>
                                        <p:cTn id="20" dur="500"/>
                                        <p:tgtEl>
                                          <p:spTgt spid="2">
                                            <p:txEl>
                                              <p:pRg st="4" end="4"/>
                                            </p:txEl>
                                          </p:spTgt>
                                        </p:tgtEl>
                                      </p:cBhvr>
                                    </p:animEffect>
                                  </p:childTnLst>
                                </p:cTn>
                              </p:par>
                            </p:childTnLst>
                          </p:cTn>
                        </p:par>
                        <p:par>
                          <p:cTn id="21" fill="hold">
                            <p:stCondLst>
                              <p:cond delay="500"/>
                            </p:stCondLst>
                            <p:childTnLst>
                              <p:par>
                                <p:cTn id="22" presetID="10" presetClass="entr" presetSubtype="0" fill="hold" nodeType="afterEffect">
                                  <p:stCondLst>
                                    <p:cond delay="500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fade">
                                      <p:cBhvr>
                                        <p:cTn id="24"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82BB39-A77C-D487-1FBC-213DBE6C8786}"/>
              </a:ext>
            </a:extLst>
          </p:cNvPr>
          <p:cNvSpPr>
            <a:spLocks noGrp="1"/>
          </p:cNvSpPr>
          <p:nvPr>
            <p:ph idx="1"/>
          </p:nvPr>
        </p:nvSpPr>
        <p:spPr/>
        <p:txBody>
          <a:bodyPr>
            <a:noAutofit/>
          </a:bodyPr>
          <a:lstStyle/>
          <a:p>
            <a:pPr marL="0" algn="just">
              <a:lnSpc>
                <a:spcPct val="100000"/>
              </a:lnSpc>
              <a:spcBef>
                <a:spcPts val="0"/>
              </a:spcBef>
              <a:spcAft>
                <a:spcPts val="800"/>
              </a:spcAft>
            </a:pPr>
            <a:r>
              <a:rPr lang="en-US" sz="1800" dirty="0">
                <a:effectLst/>
                <a:latin typeface="Calibri" panose="020F0502020204030204" pitchFamily="34" charset="0"/>
                <a:ea typeface="Calibri" panose="020F0502020204030204" pitchFamily="34" charset="0"/>
                <a:cs typeface="Cordia New" panose="020B0304020202020204" pitchFamily="34" charset="-34"/>
              </a:rPr>
              <a:t>Various related works in the field of dose computation for radiotherapy used GANs</a:t>
            </a:r>
          </a:p>
          <a:p>
            <a:pPr marL="0" marR="0" algn="just">
              <a:lnSpc>
                <a:spcPct val="100000"/>
              </a:lnSpc>
              <a:spcBef>
                <a:spcPts val="0"/>
              </a:spcBef>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err="1">
                <a:effectLst/>
                <a:latin typeface="Calibri" panose="020F0502020204030204" pitchFamily="34" charset="0"/>
                <a:ea typeface="Calibri" panose="020F0502020204030204" pitchFamily="34" charset="0"/>
                <a:cs typeface="Calibri" panose="020F0502020204030204" pitchFamily="34" charset="0"/>
              </a:rPr>
              <a:t>Sarrut</a:t>
            </a:r>
            <a:r>
              <a:rPr lang="en-US" sz="1800" dirty="0">
                <a:effectLst/>
                <a:latin typeface="Calibri" panose="020F0502020204030204" pitchFamily="34" charset="0"/>
                <a:ea typeface="Calibri" panose="020F0502020204030204" pitchFamily="34" charset="0"/>
                <a:cs typeface="Calibri" panose="020F0502020204030204" pitchFamily="34" charset="0"/>
              </a:rPr>
              <a:t> et al., 2019)</a:t>
            </a:r>
            <a:r>
              <a:rPr lang="en-US" sz="1800" dirty="0">
                <a:effectLst/>
                <a:latin typeface="Calibri" panose="020F0502020204030204" pitchFamily="34" charset="0"/>
                <a:ea typeface="Calibri" panose="020F0502020204030204" pitchFamily="34" charset="0"/>
                <a:cs typeface="Cordia New" panose="020B0304020202020204" pitchFamily="34" charset="-34"/>
              </a:rPr>
              <a:t> utilized a compact GAN to model large phase space files in Monte Carlo simulations. The GAN-generated 3D energy distributions closely resembling reference ones. </a:t>
            </a:r>
          </a:p>
          <a:p>
            <a:pPr marL="0" marR="0" algn="just">
              <a:lnSpc>
                <a:spcPct val="100000"/>
              </a:lnSpc>
              <a:spcBef>
                <a:spcPts val="0"/>
              </a:spcBef>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(Kearney et al., 2020)</a:t>
            </a:r>
            <a:r>
              <a:rPr lang="en-US" sz="1800" dirty="0">
                <a:effectLst/>
                <a:latin typeface="Calibri" panose="020F0502020204030204" pitchFamily="34" charset="0"/>
                <a:ea typeface="Calibri" panose="020F0502020204030204" pitchFamily="34" charset="0"/>
                <a:cs typeface="Cordia New" panose="020B0304020202020204" pitchFamily="34" charset="-34"/>
              </a:rPr>
              <a:t> </a:t>
            </a:r>
            <a:r>
              <a:rPr lang="en-US" sz="1800" dirty="0" err="1">
                <a:effectLst/>
                <a:latin typeface="Calibri" panose="020F0502020204030204" pitchFamily="34" charset="0"/>
                <a:ea typeface="Calibri" panose="020F0502020204030204" pitchFamily="34" charset="0"/>
                <a:cs typeface="Cordia New" panose="020B0304020202020204" pitchFamily="34" charset="-34"/>
              </a:rPr>
              <a:t>DoseGAN</a:t>
            </a:r>
            <a:r>
              <a:rPr lang="en-US" sz="1800" dirty="0">
                <a:effectLst/>
                <a:latin typeface="Calibri" panose="020F0502020204030204" pitchFamily="34" charset="0"/>
                <a:ea typeface="Calibri" panose="020F0502020204030204" pitchFamily="34" charset="0"/>
                <a:cs typeface="Cordia New" panose="020B0304020202020204" pitchFamily="34" charset="-34"/>
              </a:rPr>
              <a:t> as dose prediction algorithm. It incorporates image-level loss and is better suited to learn from heterogeneous labels. </a:t>
            </a:r>
          </a:p>
          <a:p>
            <a:pPr marL="742938" lvl="1" indent="-285750" algn="just">
              <a:lnSpc>
                <a:spcPct val="100000"/>
              </a:lnSpc>
              <a:spcBef>
                <a:spcPts val="0"/>
              </a:spcBef>
              <a:spcAft>
                <a:spcPts val="800"/>
              </a:spcAft>
              <a:buFont typeface="Wingdings" panose="05000000000000000000" pitchFamily="2" charset="2"/>
              <a:buChar char="q"/>
            </a:pPr>
            <a:r>
              <a:rPr lang="en-US" sz="1800" dirty="0">
                <a:effectLst/>
                <a:latin typeface="Calibri" panose="020F0502020204030204" pitchFamily="34" charset="0"/>
                <a:ea typeface="Calibri" panose="020F0502020204030204" pitchFamily="34" charset="0"/>
                <a:cs typeface="Cordia New" panose="020B0304020202020204" pitchFamily="34" charset="-34"/>
              </a:rPr>
              <a:t>no depth-dose curves shown.</a:t>
            </a:r>
          </a:p>
          <a:p>
            <a:pPr marL="0" marR="0" algn="just">
              <a:lnSpc>
                <a:spcPct val="100000"/>
              </a:lnSpc>
              <a:spcBef>
                <a:spcPts val="0"/>
              </a:spcBef>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a:t>
            </a:r>
            <a:r>
              <a:rPr lang="en-US" sz="1800" dirty="0" err="1">
                <a:effectLst/>
                <a:latin typeface="Calibri" panose="020F0502020204030204" pitchFamily="34" charset="0"/>
                <a:ea typeface="Calibri" panose="020F0502020204030204" pitchFamily="34" charset="0"/>
                <a:cs typeface="Calibri" panose="020F0502020204030204" pitchFamily="34" charset="0"/>
              </a:rPr>
              <a:t>Mentzel</a:t>
            </a:r>
            <a:r>
              <a:rPr lang="en-US" sz="1800" dirty="0">
                <a:effectLst/>
                <a:latin typeface="Calibri" panose="020F0502020204030204" pitchFamily="34" charset="0"/>
                <a:ea typeface="Calibri" panose="020F0502020204030204" pitchFamily="34" charset="0"/>
                <a:cs typeface="Calibri" panose="020F0502020204030204" pitchFamily="34" charset="0"/>
              </a:rPr>
              <a:t> et al., 2022)</a:t>
            </a:r>
            <a:r>
              <a:rPr lang="en-US" sz="1800" dirty="0">
                <a:effectLst/>
                <a:latin typeface="Calibri" panose="020F0502020204030204" pitchFamily="34" charset="0"/>
                <a:ea typeface="Calibri" panose="020F0502020204030204" pitchFamily="34" charset="0"/>
                <a:cs typeface="Cordia New" panose="020B0304020202020204" pitchFamily="34" charset="-34"/>
              </a:rPr>
              <a:t> GAN as a proof-of-concept to predict dose in simplified irradiation scenarios, as well as a pediatric head phantom. </a:t>
            </a:r>
          </a:p>
          <a:p>
            <a:pPr marL="742938" lvl="1" indent="-285750">
              <a:lnSpc>
                <a:spcPct val="100000"/>
              </a:lnSpc>
              <a:spcBef>
                <a:spcPts val="0"/>
              </a:spcBef>
              <a:spcAft>
                <a:spcPts val="800"/>
              </a:spcAft>
              <a:buFont typeface="Wingdings" panose="05000000000000000000" pitchFamily="2" charset="2"/>
              <a:buChar char="q"/>
            </a:pPr>
            <a:r>
              <a:rPr lang="en-US" sz="1800" dirty="0">
                <a:effectLst/>
                <a:latin typeface="Calibri" panose="020F0502020204030204" pitchFamily="34" charset="0"/>
                <a:ea typeface="Calibri" panose="020F0502020204030204" pitchFamily="34" charset="0"/>
                <a:cs typeface="Cordia New" panose="020B0304020202020204" pitchFamily="34" charset="-34"/>
              </a:rPr>
              <a:t>no real irradiation scenarios</a:t>
            </a:r>
          </a:p>
          <a:p>
            <a:pPr marL="742938" lvl="1" indent="-285750">
              <a:lnSpc>
                <a:spcPct val="100000"/>
              </a:lnSpc>
              <a:spcBef>
                <a:spcPts val="0"/>
              </a:spcBef>
              <a:spcAft>
                <a:spcPts val="800"/>
              </a:spcAft>
              <a:buFont typeface="Wingdings" panose="05000000000000000000" pitchFamily="2" charset="2"/>
              <a:buChar char="q"/>
            </a:pPr>
            <a:r>
              <a:rPr lang="en-US" sz="1800" dirty="0">
                <a:effectLst/>
                <a:latin typeface="Calibri" panose="020F0502020204030204" pitchFamily="34" charset="0"/>
                <a:ea typeface="Calibri" panose="020F0502020204030204" pitchFamily="34" charset="0"/>
                <a:cs typeface="Cordia New" panose="020B0304020202020204" pitchFamily="34" charset="-34"/>
              </a:rPr>
              <a:t>use of a broad beam instead of a microbeam </a:t>
            </a:r>
          </a:p>
          <a:p>
            <a:pPr marL="285750" indent="-285750">
              <a:lnSpc>
                <a:spcPct val="100000"/>
              </a:lnSpc>
              <a:spcBef>
                <a:spcPts val="0"/>
              </a:spcBef>
              <a:spcAft>
                <a:spcPts val="800"/>
              </a:spcAft>
              <a:buFont typeface="Wingdings" panose="05000000000000000000" pitchFamily="2" charset="2"/>
              <a:buChar char="q"/>
            </a:pPr>
            <a:r>
              <a:rPr lang="en-US" sz="1800" dirty="0">
                <a:effectLst/>
                <a:latin typeface="Calibri" panose="020F0502020204030204" pitchFamily="34" charset="0"/>
                <a:ea typeface="Calibri" panose="020F0502020204030204" pitchFamily="34" charset="0"/>
                <a:cs typeface="Cordia New" panose="020B0304020202020204" pitchFamily="34" charset="-34"/>
              </a:rPr>
              <a:t>None of the above studies explored the application of carbon ion particles.</a:t>
            </a:r>
          </a:p>
          <a:p>
            <a:pPr>
              <a:lnSpc>
                <a:spcPct val="100000"/>
              </a:lnSpc>
            </a:pPr>
            <a:endParaRPr lang="en-US" sz="1800" dirty="0"/>
          </a:p>
        </p:txBody>
      </p:sp>
      <p:sp>
        <p:nvSpPr>
          <p:cNvPr id="3" name="Title 2">
            <a:extLst>
              <a:ext uri="{FF2B5EF4-FFF2-40B4-BE49-F238E27FC236}">
                <a16:creationId xmlns:a16="http://schemas.microsoft.com/office/drawing/2014/main" id="{EC2B745B-0CA0-7504-0B71-61825E374278}"/>
              </a:ext>
            </a:extLst>
          </p:cNvPr>
          <p:cNvSpPr>
            <a:spLocks noGrp="1"/>
          </p:cNvSpPr>
          <p:nvPr>
            <p:ph type="title"/>
          </p:nvPr>
        </p:nvSpPr>
        <p:spPr/>
        <p:txBody>
          <a:bodyPr/>
          <a:lstStyle/>
          <a:p>
            <a:r>
              <a:rPr lang="en-US" dirty="0"/>
              <a:t>Related works</a:t>
            </a:r>
          </a:p>
        </p:txBody>
      </p:sp>
      <p:sp>
        <p:nvSpPr>
          <p:cNvPr id="4" name="Date Placeholder 3">
            <a:extLst>
              <a:ext uri="{FF2B5EF4-FFF2-40B4-BE49-F238E27FC236}">
                <a16:creationId xmlns:a16="http://schemas.microsoft.com/office/drawing/2014/main" id="{F4FC8F76-D2C0-FF4F-671B-28CCA10BAB23}"/>
              </a:ext>
            </a:extLst>
          </p:cNvPr>
          <p:cNvSpPr>
            <a:spLocks noGrp="1"/>
          </p:cNvSpPr>
          <p:nvPr>
            <p:ph type="dt" sz="half" idx="10"/>
          </p:nvPr>
        </p:nvSpPr>
        <p:spPr/>
        <p:txBody>
          <a:bodyPr/>
          <a:lstStyle/>
          <a:p>
            <a:pPr>
              <a:defRPr/>
            </a:pPr>
            <a:fld id="{5FF202B8-0339-42DC-9EE8-CFAACF55E0E4}" type="datetime1">
              <a:rPr lang="en-US" smtClean="0"/>
              <a:t>2/28/2024</a:t>
            </a:fld>
            <a:endParaRPr lang="de-DE" dirty="0"/>
          </a:p>
        </p:txBody>
      </p:sp>
      <p:sp>
        <p:nvSpPr>
          <p:cNvPr id="5" name="Footer Placeholder 4">
            <a:extLst>
              <a:ext uri="{FF2B5EF4-FFF2-40B4-BE49-F238E27FC236}">
                <a16:creationId xmlns:a16="http://schemas.microsoft.com/office/drawing/2014/main" id="{83195E40-8ED6-88B3-5132-698BCFDB2CC0}"/>
              </a:ext>
            </a:extLst>
          </p:cNvPr>
          <p:cNvSpPr>
            <a:spLocks noGrp="1"/>
          </p:cNvSpPr>
          <p:nvPr>
            <p:ph type="ftr" sz="quarter" idx="11"/>
          </p:nvPr>
        </p:nvSpPr>
        <p:spPr/>
        <p:txBody>
          <a:bodyPr/>
          <a:lstStyle/>
          <a:p>
            <a:pPr>
              <a:defRPr/>
            </a:pPr>
            <a:r>
              <a:rPr lang="de-DE"/>
              <a:t>Pichaya Tappayuthpijarn</a:t>
            </a:r>
            <a:endParaRPr lang="de-DE" dirty="0"/>
          </a:p>
        </p:txBody>
      </p:sp>
      <p:sp>
        <p:nvSpPr>
          <p:cNvPr id="6" name="Slide Number Placeholder 5">
            <a:extLst>
              <a:ext uri="{FF2B5EF4-FFF2-40B4-BE49-F238E27FC236}">
                <a16:creationId xmlns:a16="http://schemas.microsoft.com/office/drawing/2014/main" id="{7FCF2816-E043-5311-C651-5F8EA835DB48}"/>
              </a:ext>
            </a:extLst>
          </p:cNvPr>
          <p:cNvSpPr>
            <a:spLocks noGrp="1"/>
          </p:cNvSpPr>
          <p:nvPr>
            <p:ph type="sldNum" sz="quarter" idx="12"/>
          </p:nvPr>
        </p:nvSpPr>
        <p:spPr/>
        <p:txBody>
          <a:bodyPr/>
          <a:lstStyle/>
          <a:p>
            <a:pPr>
              <a:defRPr/>
            </a:pPr>
            <a:r>
              <a:rPr lang="de-DE"/>
              <a:t>SEITE</a:t>
            </a:r>
            <a:r>
              <a:rPr lang="de-DE" spc="0"/>
              <a:t> </a:t>
            </a:r>
            <a:fld id="{37ED3A82-C5FC-FE4D-9EDE-EA1B3EA06354}" type="slidenum">
              <a:rPr lang="de-DE" spc="0" smtClean="0"/>
              <a:pPr>
                <a:defRPr/>
              </a:pPr>
              <a:t>3</a:t>
            </a:fld>
            <a:endParaRPr lang="de-DE" spc="0"/>
          </a:p>
        </p:txBody>
      </p:sp>
      <p:sp>
        <p:nvSpPr>
          <p:cNvPr id="7" name="Rectangle 6">
            <a:extLst>
              <a:ext uri="{FF2B5EF4-FFF2-40B4-BE49-F238E27FC236}">
                <a16:creationId xmlns:a16="http://schemas.microsoft.com/office/drawing/2014/main" id="{C2A3F13E-9143-836C-F990-272A20B3949E}"/>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spTree>
    <p:extLst>
      <p:ext uri="{BB962C8B-B14F-4D97-AF65-F5344CB8AC3E}">
        <p14:creationId xmlns:p14="http://schemas.microsoft.com/office/powerpoint/2010/main" val="3926736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93C9C2E-9B97-23D5-4A3D-4BB3B95B9391}"/>
              </a:ext>
            </a:extLst>
          </p:cNvPr>
          <p:cNvPicPr>
            <a:picLocks noChangeAspect="1"/>
          </p:cNvPicPr>
          <p:nvPr/>
        </p:nvPicPr>
        <p:blipFill>
          <a:blip r:embed="rId4"/>
          <a:stretch>
            <a:fillRect/>
          </a:stretch>
        </p:blipFill>
        <p:spPr>
          <a:xfrm>
            <a:off x="2754336" y="1463572"/>
            <a:ext cx="1272719" cy="1272719"/>
          </a:xfrm>
          <a:prstGeom prst="rect">
            <a:avLst/>
          </a:prstGeom>
        </p:spPr>
      </p:pic>
      <p:graphicFrame>
        <p:nvGraphicFramePr>
          <p:cNvPr id="1028" name="Diagram 1027">
            <a:extLst>
              <a:ext uri="{FF2B5EF4-FFF2-40B4-BE49-F238E27FC236}">
                <a16:creationId xmlns:a16="http://schemas.microsoft.com/office/drawing/2014/main" id="{D9B984C4-7D8D-9068-7022-88030E3FD650}"/>
              </a:ext>
            </a:extLst>
          </p:cNvPr>
          <p:cNvGraphicFramePr/>
          <p:nvPr>
            <p:extLst>
              <p:ext uri="{D42A27DB-BD31-4B8C-83A1-F6EECF244321}">
                <p14:modId xmlns:p14="http://schemas.microsoft.com/office/powerpoint/2010/main" val="2754462479"/>
              </p:ext>
            </p:extLst>
          </p:nvPr>
        </p:nvGraphicFramePr>
        <p:xfrm>
          <a:off x="815442" y="996536"/>
          <a:ext cx="10857480" cy="364505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6" name="Picture 2">
            <a:extLst>
              <a:ext uri="{FF2B5EF4-FFF2-40B4-BE49-F238E27FC236}">
                <a16:creationId xmlns:a16="http://schemas.microsoft.com/office/drawing/2014/main" id="{9A809912-F439-D115-B634-FB25DA2E79A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93413" y="1405375"/>
            <a:ext cx="961616" cy="94967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Rounded Corners 11">
            <a:extLst>
              <a:ext uri="{FF2B5EF4-FFF2-40B4-BE49-F238E27FC236}">
                <a16:creationId xmlns:a16="http://schemas.microsoft.com/office/drawing/2014/main" id="{9D8DD7D0-570F-ED76-FC33-3A8DA2F09F51}"/>
              </a:ext>
            </a:extLst>
          </p:cNvPr>
          <p:cNvSpPr/>
          <p:nvPr/>
        </p:nvSpPr>
        <p:spPr>
          <a:xfrm>
            <a:off x="229199" y="4365505"/>
            <a:ext cx="2183744" cy="403729"/>
          </a:xfrm>
          <a:prstGeom prst="roundRect">
            <a:avLst/>
          </a:prstGeom>
          <a:ln w="12700">
            <a:prstDash val="dash"/>
          </a:ln>
        </p:spPr>
        <p:style>
          <a:lnRef idx="2">
            <a:schemeClr val="accent2"/>
          </a:lnRef>
          <a:fillRef idx="1">
            <a:schemeClr val="lt1"/>
          </a:fillRef>
          <a:effectRef idx="0">
            <a:schemeClr val="accent2"/>
          </a:effectRef>
          <a:fontRef idx="minor">
            <a:schemeClr val="dk1"/>
          </a:fontRef>
        </p:style>
        <p:txBody>
          <a:bodyPr rtlCol="0" anchor="ctr"/>
          <a:lstStyle/>
          <a:p>
            <a:pPr marL="0" lvl="1" algn="l" defTabSz="355600">
              <a:lnSpc>
                <a:spcPct val="90000"/>
              </a:lnSpc>
              <a:spcBef>
                <a:spcPct val="0"/>
              </a:spcBef>
              <a:spcAft>
                <a:spcPct val="15000"/>
              </a:spcAft>
            </a:pPr>
            <a:r>
              <a:rPr lang="en-US" sz="1200" b="1" dirty="0" err="1">
                <a:solidFill>
                  <a:schemeClr val="tx1"/>
                </a:solidFill>
                <a:latin typeface="Segoe UI Light" panose="020B0502040204020203" pitchFamily="34" charset="0"/>
                <a:cs typeface="Segoe UI Light" panose="020B0502040204020203" pitchFamily="34" charset="0"/>
              </a:rPr>
              <a:t>t</a:t>
            </a:r>
            <a:r>
              <a:rPr lang="en-US" sz="1200" b="1" kern="1200" dirty="0" err="1">
                <a:solidFill>
                  <a:schemeClr val="tx1"/>
                </a:solidFill>
                <a:latin typeface="Segoe UI Light" panose="020B0502040204020203" pitchFamily="34" charset="0"/>
                <a:cs typeface="Segoe UI Light" panose="020B0502040204020203" pitchFamily="34" charset="0"/>
              </a:rPr>
              <a:t>orch.util.data.Dataset</a:t>
            </a:r>
            <a:endParaRPr lang="en-US" sz="1200" b="1" kern="1200" dirty="0">
              <a:solidFill>
                <a:schemeClr val="tx1"/>
              </a:solidFill>
              <a:latin typeface="Segoe UI Light" panose="020B0502040204020203" pitchFamily="34" charset="0"/>
              <a:cs typeface="Segoe UI Light" panose="020B0502040204020203" pitchFamily="34" charset="0"/>
            </a:endParaRPr>
          </a:p>
          <a:p>
            <a:pPr marL="0" lvl="1" algn="l" defTabSz="355600">
              <a:lnSpc>
                <a:spcPct val="90000"/>
              </a:lnSpc>
              <a:spcBef>
                <a:spcPct val="0"/>
              </a:spcBef>
              <a:spcAft>
                <a:spcPct val="15000"/>
              </a:spcAft>
            </a:pPr>
            <a:r>
              <a:rPr lang="en-US" sz="1200" b="1" dirty="0" err="1">
                <a:solidFill>
                  <a:schemeClr val="tx1"/>
                </a:solidFill>
                <a:latin typeface="Segoe UI Light" panose="020B0502040204020203" pitchFamily="34" charset="0"/>
                <a:cs typeface="Segoe UI Light" panose="020B0502040204020203" pitchFamily="34" charset="0"/>
              </a:rPr>
              <a:t>torch.utils.data.DataLoader</a:t>
            </a:r>
            <a:endParaRPr lang="en-US" sz="1200" b="1" kern="1200" dirty="0">
              <a:solidFill>
                <a:schemeClr val="tx1"/>
              </a:solidFill>
              <a:latin typeface="Segoe UI Light" panose="020B0502040204020203" pitchFamily="34" charset="0"/>
              <a:cs typeface="Segoe UI Light" panose="020B0502040204020203" pitchFamily="34" charset="0"/>
            </a:endParaRPr>
          </a:p>
        </p:txBody>
      </p:sp>
      <p:sp>
        <p:nvSpPr>
          <p:cNvPr id="13" name="Rectangle: Rounded Corners 12">
            <a:extLst>
              <a:ext uri="{FF2B5EF4-FFF2-40B4-BE49-F238E27FC236}">
                <a16:creationId xmlns:a16="http://schemas.microsoft.com/office/drawing/2014/main" id="{47283E96-1D53-B920-409F-6420C18D0DEE}"/>
              </a:ext>
            </a:extLst>
          </p:cNvPr>
          <p:cNvSpPr/>
          <p:nvPr/>
        </p:nvSpPr>
        <p:spPr>
          <a:xfrm>
            <a:off x="4624492" y="3966789"/>
            <a:ext cx="1732410" cy="683521"/>
          </a:xfrm>
          <a:prstGeom prst="roundRect">
            <a:avLst/>
          </a:prstGeom>
          <a:ln w="12700">
            <a:prstDash val="dash"/>
          </a:ln>
        </p:spPr>
        <p:style>
          <a:lnRef idx="2">
            <a:schemeClr val="accent2"/>
          </a:lnRef>
          <a:fillRef idx="1">
            <a:schemeClr val="lt1"/>
          </a:fillRef>
          <a:effectRef idx="0">
            <a:schemeClr val="accent2"/>
          </a:effectRef>
          <a:fontRef idx="minor">
            <a:schemeClr val="dk1"/>
          </a:fontRef>
        </p:style>
        <p:txBody>
          <a:bodyPr rtlCol="0" anchor="ctr"/>
          <a:lstStyle/>
          <a:p>
            <a:pPr marL="0" lvl="1" algn="l" defTabSz="355600">
              <a:lnSpc>
                <a:spcPct val="90000"/>
              </a:lnSpc>
              <a:spcBef>
                <a:spcPct val="0"/>
              </a:spcBef>
              <a:spcAft>
                <a:spcPct val="15000"/>
              </a:spcAft>
            </a:pPr>
            <a:r>
              <a:rPr lang="en-US" sz="1200" b="1" dirty="0" err="1">
                <a:solidFill>
                  <a:schemeClr val="tx1"/>
                </a:solidFill>
                <a:latin typeface="Segoe UI Light" panose="020B0502040204020203" pitchFamily="34" charset="0"/>
                <a:cs typeface="Segoe UI Light" panose="020B0502040204020203" pitchFamily="34" charset="0"/>
              </a:rPr>
              <a:t>t</a:t>
            </a:r>
            <a:r>
              <a:rPr lang="en-US" sz="1200" b="1" kern="1200" dirty="0" err="1">
                <a:solidFill>
                  <a:schemeClr val="tx1"/>
                </a:solidFill>
                <a:latin typeface="Segoe UI Light" panose="020B0502040204020203" pitchFamily="34" charset="0"/>
                <a:cs typeface="Segoe UI Light" panose="020B0502040204020203" pitchFamily="34" charset="0"/>
              </a:rPr>
              <a:t>orch.nn</a:t>
            </a:r>
            <a:endParaRPr lang="en-US" sz="1200" b="1" kern="1200" dirty="0">
              <a:solidFill>
                <a:schemeClr val="tx1"/>
              </a:solidFill>
              <a:latin typeface="Segoe UI Light" panose="020B0502040204020203" pitchFamily="34" charset="0"/>
              <a:cs typeface="Segoe UI Light" panose="020B0502040204020203" pitchFamily="34" charset="0"/>
            </a:endParaRPr>
          </a:p>
          <a:p>
            <a:pPr marL="0" lvl="1" algn="l" defTabSz="355600">
              <a:lnSpc>
                <a:spcPct val="90000"/>
              </a:lnSpc>
              <a:spcBef>
                <a:spcPct val="0"/>
              </a:spcBef>
              <a:spcAft>
                <a:spcPct val="15000"/>
              </a:spcAft>
            </a:pPr>
            <a:r>
              <a:rPr lang="en-US" sz="1200" b="1" dirty="0" err="1">
                <a:solidFill>
                  <a:schemeClr val="tx1"/>
                </a:solidFill>
                <a:latin typeface="Segoe UI Light" panose="020B0502040204020203" pitchFamily="34" charset="0"/>
                <a:cs typeface="Segoe UI Light" panose="020B0502040204020203" pitchFamily="34" charset="0"/>
              </a:rPr>
              <a:t>t</a:t>
            </a:r>
            <a:r>
              <a:rPr lang="en-US" sz="1200" b="1" kern="1200" dirty="0" err="1">
                <a:solidFill>
                  <a:schemeClr val="tx1"/>
                </a:solidFill>
                <a:latin typeface="Segoe UI Light" panose="020B0502040204020203" pitchFamily="34" charset="0"/>
                <a:cs typeface="Segoe UI Light" panose="020B0502040204020203" pitchFamily="34" charset="0"/>
              </a:rPr>
              <a:t>orch.nn.module</a:t>
            </a:r>
            <a:endParaRPr lang="en-US" sz="1200" b="1" kern="1200" dirty="0">
              <a:solidFill>
                <a:schemeClr val="tx1"/>
              </a:solidFill>
              <a:latin typeface="Segoe UI Light" panose="020B0502040204020203" pitchFamily="34" charset="0"/>
              <a:cs typeface="Segoe UI Light" panose="020B0502040204020203" pitchFamily="34" charset="0"/>
            </a:endParaRPr>
          </a:p>
          <a:p>
            <a:pPr marL="0" lvl="1" algn="l" defTabSz="355600">
              <a:lnSpc>
                <a:spcPct val="90000"/>
              </a:lnSpc>
              <a:spcBef>
                <a:spcPct val="0"/>
              </a:spcBef>
              <a:spcAft>
                <a:spcPct val="15000"/>
              </a:spcAft>
            </a:pPr>
            <a:r>
              <a:rPr lang="en-US" sz="1200" b="1" dirty="0" err="1">
                <a:solidFill>
                  <a:schemeClr val="tx1"/>
                </a:solidFill>
                <a:latin typeface="Segoe UI Light" panose="020B0502040204020203" pitchFamily="34" charset="0"/>
                <a:cs typeface="Segoe UI Light" panose="020B0502040204020203" pitchFamily="34" charset="0"/>
              </a:rPr>
              <a:t>torchvision.models</a:t>
            </a:r>
            <a:endParaRPr lang="en-US" sz="1200" b="1" kern="1200" dirty="0">
              <a:solidFill>
                <a:schemeClr val="tx1"/>
              </a:solidFill>
              <a:latin typeface="Segoe UI Light" panose="020B0502040204020203" pitchFamily="34" charset="0"/>
              <a:cs typeface="Segoe UI Light" panose="020B0502040204020203" pitchFamily="34" charset="0"/>
            </a:endParaRPr>
          </a:p>
        </p:txBody>
      </p:sp>
      <p:sp>
        <p:nvSpPr>
          <p:cNvPr id="14" name="Rectangle: Rounded Corners 13">
            <a:extLst>
              <a:ext uri="{FF2B5EF4-FFF2-40B4-BE49-F238E27FC236}">
                <a16:creationId xmlns:a16="http://schemas.microsoft.com/office/drawing/2014/main" id="{D878416D-7006-0DC6-78A9-AF4B75C7CD55}"/>
              </a:ext>
            </a:extLst>
          </p:cNvPr>
          <p:cNvSpPr/>
          <p:nvPr/>
        </p:nvSpPr>
        <p:spPr>
          <a:xfrm>
            <a:off x="8328494" y="4903961"/>
            <a:ext cx="1732411" cy="313542"/>
          </a:xfrm>
          <a:prstGeom prst="roundRect">
            <a:avLst/>
          </a:prstGeom>
          <a:ln w="12700">
            <a:prstDash val="dash"/>
          </a:ln>
        </p:spPr>
        <p:style>
          <a:lnRef idx="2">
            <a:schemeClr val="accent2"/>
          </a:lnRef>
          <a:fillRef idx="1">
            <a:schemeClr val="lt1"/>
          </a:fillRef>
          <a:effectRef idx="0">
            <a:schemeClr val="accent2"/>
          </a:effectRef>
          <a:fontRef idx="minor">
            <a:schemeClr val="dk1"/>
          </a:fontRef>
        </p:style>
        <p:txBody>
          <a:bodyPr rtlCol="0" anchor="ctr"/>
          <a:lstStyle/>
          <a:p>
            <a:pPr marL="0" lvl="1" algn="l" defTabSz="355600">
              <a:lnSpc>
                <a:spcPct val="90000"/>
              </a:lnSpc>
              <a:spcBef>
                <a:spcPct val="0"/>
              </a:spcBef>
              <a:spcAft>
                <a:spcPct val="15000"/>
              </a:spcAft>
            </a:pPr>
            <a:r>
              <a:rPr lang="en-US" sz="1200" b="1" dirty="0" err="1">
                <a:solidFill>
                  <a:schemeClr val="tx1"/>
                </a:solidFill>
                <a:latin typeface="Segoe UI Light" panose="020B0502040204020203" pitchFamily="34" charset="0"/>
                <a:cs typeface="Segoe UI Light" panose="020B0502040204020203" pitchFamily="34" charset="0"/>
              </a:rPr>
              <a:t>t</a:t>
            </a:r>
            <a:r>
              <a:rPr lang="en-US" sz="1200" b="1" kern="1200" dirty="0" err="1">
                <a:solidFill>
                  <a:schemeClr val="tx1"/>
                </a:solidFill>
                <a:latin typeface="Segoe UI Light" panose="020B0502040204020203" pitchFamily="34" charset="0"/>
                <a:cs typeface="Segoe UI Light" panose="020B0502040204020203" pitchFamily="34" charset="0"/>
              </a:rPr>
              <a:t>orch.utils.tensorboard</a:t>
            </a:r>
            <a:endParaRPr lang="en-US" sz="1200" b="1" kern="1200" dirty="0">
              <a:solidFill>
                <a:schemeClr val="tx1"/>
              </a:solidFill>
              <a:latin typeface="Segoe UI Light" panose="020B0502040204020203" pitchFamily="34" charset="0"/>
              <a:cs typeface="Segoe UI Light" panose="020B0502040204020203" pitchFamily="34" charset="0"/>
            </a:endParaRPr>
          </a:p>
        </p:txBody>
      </p:sp>
      <p:sp>
        <p:nvSpPr>
          <p:cNvPr id="16" name="Rectangle: Rounded Corners 15">
            <a:extLst>
              <a:ext uri="{FF2B5EF4-FFF2-40B4-BE49-F238E27FC236}">
                <a16:creationId xmlns:a16="http://schemas.microsoft.com/office/drawing/2014/main" id="{39B3B564-460F-5D29-6B6D-205844B4BFFE}"/>
              </a:ext>
            </a:extLst>
          </p:cNvPr>
          <p:cNvSpPr/>
          <p:nvPr/>
        </p:nvSpPr>
        <p:spPr>
          <a:xfrm>
            <a:off x="873562" y="5700480"/>
            <a:ext cx="1621720" cy="402458"/>
          </a:xfrm>
          <a:prstGeom prst="roundRect">
            <a:avLst/>
          </a:prstGeom>
          <a:ln w="12700">
            <a:prstDash val="dash"/>
          </a:ln>
        </p:spPr>
        <p:style>
          <a:lnRef idx="2">
            <a:schemeClr val="accent2"/>
          </a:lnRef>
          <a:fillRef idx="1">
            <a:schemeClr val="lt1"/>
          </a:fillRef>
          <a:effectRef idx="0">
            <a:schemeClr val="accent2"/>
          </a:effectRef>
          <a:fontRef idx="minor">
            <a:schemeClr val="dk1"/>
          </a:fontRef>
        </p:style>
        <p:txBody>
          <a:bodyPr rtlCol="0" anchor="ctr"/>
          <a:lstStyle/>
          <a:p>
            <a:pPr marL="0" lvl="1" algn="l" defTabSz="355600">
              <a:lnSpc>
                <a:spcPct val="90000"/>
              </a:lnSpc>
              <a:spcBef>
                <a:spcPct val="0"/>
              </a:spcBef>
              <a:spcAft>
                <a:spcPct val="15000"/>
              </a:spcAft>
            </a:pPr>
            <a:r>
              <a:rPr lang="en-US" sz="1200" b="1" dirty="0" err="1">
                <a:solidFill>
                  <a:schemeClr val="tx1"/>
                </a:solidFill>
                <a:latin typeface="Segoe UI Light" panose="020B0502040204020203" pitchFamily="34" charset="0"/>
                <a:cs typeface="Segoe UI Light" panose="020B0502040204020203" pitchFamily="34" charset="0"/>
              </a:rPr>
              <a:t>t</a:t>
            </a:r>
            <a:r>
              <a:rPr lang="en-US" sz="1200" b="1" kern="1200" dirty="0" err="1">
                <a:solidFill>
                  <a:schemeClr val="tx1"/>
                </a:solidFill>
                <a:latin typeface="Segoe UI Light" panose="020B0502040204020203" pitchFamily="34" charset="0"/>
                <a:cs typeface="Segoe UI Light" panose="020B0502040204020203" pitchFamily="34" charset="0"/>
              </a:rPr>
              <a:t>orch.optim.Adam</a:t>
            </a:r>
            <a:endParaRPr lang="en-US" sz="1200" b="1" kern="1200" dirty="0">
              <a:solidFill>
                <a:schemeClr val="tx1"/>
              </a:solidFill>
              <a:latin typeface="Segoe UI Light" panose="020B0502040204020203" pitchFamily="34" charset="0"/>
              <a:cs typeface="Segoe UI Light" panose="020B0502040204020203" pitchFamily="34" charset="0"/>
            </a:endParaRPr>
          </a:p>
        </p:txBody>
      </p:sp>
      <p:pic>
        <p:nvPicPr>
          <p:cNvPr id="18" name="Graphic 17" descr="Downward trend graph with solid fill">
            <a:extLst>
              <a:ext uri="{FF2B5EF4-FFF2-40B4-BE49-F238E27FC236}">
                <a16:creationId xmlns:a16="http://schemas.microsoft.com/office/drawing/2014/main" id="{862E51EA-77AB-272C-A037-093E8C7DF4B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95282" y="5035128"/>
            <a:ext cx="549564" cy="549564"/>
          </a:xfrm>
          <a:prstGeom prst="rect">
            <a:avLst/>
          </a:prstGeom>
        </p:spPr>
      </p:pic>
      <p:pic>
        <p:nvPicPr>
          <p:cNvPr id="20" name="Graphic 19" descr="Clock with solid fill">
            <a:extLst>
              <a:ext uri="{FF2B5EF4-FFF2-40B4-BE49-F238E27FC236}">
                <a16:creationId xmlns:a16="http://schemas.microsoft.com/office/drawing/2014/main" id="{5D4EAC88-BCF8-574D-8D0A-E9DAD3A471A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901531" y="1726268"/>
            <a:ext cx="602673" cy="602673"/>
          </a:xfrm>
          <a:prstGeom prst="rect">
            <a:avLst/>
          </a:prstGeom>
        </p:spPr>
      </p:pic>
      <p:pic>
        <p:nvPicPr>
          <p:cNvPr id="22" name="Graphic 21" descr="Flask with solid fill">
            <a:extLst>
              <a:ext uri="{FF2B5EF4-FFF2-40B4-BE49-F238E27FC236}">
                <a16:creationId xmlns:a16="http://schemas.microsoft.com/office/drawing/2014/main" id="{DE451E43-6C19-A124-2EAE-5E26A57F358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432782" y="1647529"/>
            <a:ext cx="602673" cy="602673"/>
          </a:xfrm>
          <a:prstGeom prst="rect">
            <a:avLst/>
          </a:prstGeom>
        </p:spPr>
      </p:pic>
      <p:pic>
        <p:nvPicPr>
          <p:cNvPr id="25" name="Picture 24">
            <a:extLst>
              <a:ext uri="{FF2B5EF4-FFF2-40B4-BE49-F238E27FC236}">
                <a16:creationId xmlns:a16="http://schemas.microsoft.com/office/drawing/2014/main" id="{C3EDFB0B-34CB-41D8-8E61-6C41703E3805}"/>
              </a:ext>
            </a:extLst>
          </p:cNvPr>
          <p:cNvPicPr>
            <a:picLocks noChangeAspect="1"/>
          </p:cNvPicPr>
          <p:nvPr/>
        </p:nvPicPr>
        <p:blipFill>
          <a:blip r:embed="rId17"/>
          <a:stretch>
            <a:fillRect/>
          </a:stretch>
        </p:blipFill>
        <p:spPr>
          <a:xfrm>
            <a:off x="4882003" y="1568540"/>
            <a:ext cx="666784" cy="736638"/>
          </a:xfrm>
          <a:prstGeom prst="rect">
            <a:avLst/>
          </a:prstGeom>
        </p:spPr>
      </p:pic>
      <p:pic>
        <p:nvPicPr>
          <p:cNvPr id="26" name="Picture 25">
            <a:extLst>
              <a:ext uri="{FF2B5EF4-FFF2-40B4-BE49-F238E27FC236}">
                <a16:creationId xmlns:a16="http://schemas.microsoft.com/office/drawing/2014/main" id="{A794C657-1740-3E06-85DA-14AD4250B36E}"/>
              </a:ext>
            </a:extLst>
          </p:cNvPr>
          <p:cNvPicPr>
            <a:picLocks noChangeAspect="1"/>
          </p:cNvPicPr>
          <p:nvPr/>
        </p:nvPicPr>
        <p:blipFill>
          <a:blip r:embed="rId17"/>
          <a:stretch>
            <a:fillRect/>
          </a:stretch>
        </p:blipFill>
        <p:spPr>
          <a:xfrm>
            <a:off x="6628305" y="1640025"/>
            <a:ext cx="602673" cy="665810"/>
          </a:xfrm>
          <a:prstGeom prst="rect">
            <a:avLst/>
          </a:prstGeom>
        </p:spPr>
      </p:pic>
      <p:pic>
        <p:nvPicPr>
          <p:cNvPr id="28" name="Graphic 27" descr="Badge Tick1 with solid fill">
            <a:extLst>
              <a:ext uri="{FF2B5EF4-FFF2-40B4-BE49-F238E27FC236}">
                <a16:creationId xmlns:a16="http://schemas.microsoft.com/office/drawing/2014/main" id="{FD082147-3665-96EE-F05A-22D6C38F78C6}"/>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138230" y="1661862"/>
            <a:ext cx="330065" cy="330065"/>
          </a:xfrm>
          <a:prstGeom prst="rect">
            <a:avLst/>
          </a:prstGeom>
        </p:spPr>
      </p:pic>
      <p:pic>
        <p:nvPicPr>
          <p:cNvPr id="30" name="Graphic 29" descr="Close with solid fill">
            <a:extLst>
              <a:ext uri="{FF2B5EF4-FFF2-40B4-BE49-F238E27FC236}">
                <a16:creationId xmlns:a16="http://schemas.microsoft.com/office/drawing/2014/main" id="{B52065E9-4097-E524-E2BA-C1F4098617B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197400" y="1981360"/>
            <a:ext cx="179856" cy="179856"/>
          </a:xfrm>
          <a:prstGeom prst="rect">
            <a:avLst/>
          </a:prstGeom>
        </p:spPr>
      </p:pic>
      <p:pic>
        <p:nvPicPr>
          <p:cNvPr id="31" name="Picture 30">
            <a:extLst>
              <a:ext uri="{FF2B5EF4-FFF2-40B4-BE49-F238E27FC236}">
                <a16:creationId xmlns:a16="http://schemas.microsoft.com/office/drawing/2014/main" id="{BDC5D8F9-C536-4E63-786E-0A01BC490F4B}"/>
              </a:ext>
            </a:extLst>
          </p:cNvPr>
          <p:cNvPicPr>
            <a:picLocks noChangeAspect="1"/>
          </p:cNvPicPr>
          <p:nvPr/>
        </p:nvPicPr>
        <p:blipFill>
          <a:blip r:embed="rId17"/>
          <a:stretch>
            <a:fillRect/>
          </a:stretch>
        </p:blipFill>
        <p:spPr>
          <a:xfrm>
            <a:off x="10375617" y="1763601"/>
            <a:ext cx="454929" cy="502588"/>
          </a:xfrm>
          <a:prstGeom prst="rect">
            <a:avLst/>
          </a:prstGeom>
        </p:spPr>
      </p:pic>
      <p:pic>
        <p:nvPicPr>
          <p:cNvPr id="1025" name="Graphic 1024" descr="Loading with solid fill">
            <a:extLst>
              <a:ext uri="{FF2B5EF4-FFF2-40B4-BE49-F238E27FC236}">
                <a16:creationId xmlns:a16="http://schemas.microsoft.com/office/drawing/2014/main" id="{EB0818B9-FFD5-1444-899F-08CADC1D7A82}"/>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0702644" y="1584794"/>
            <a:ext cx="814266" cy="814266"/>
          </a:xfrm>
          <a:prstGeom prst="rect">
            <a:avLst/>
          </a:prstGeom>
        </p:spPr>
      </p:pic>
      <p:graphicFrame>
        <p:nvGraphicFramePr>
          <p:cNvPr id="1029" name="Diagram 1028">
            <a:extLst>
              <a:ext uri="{FF2B5EF4-FFF2-40B4-BE49-F238E27FC236}">
                <a16:creationId xmlns:a16="http://schemas.microsoft.com/office/drawing/2014/main" id="{C887FE8F-96F4-7CB5-89DA-760622DFBC14}"/>
              </a:ext>
            </a:extLst>
          </p:cNvPr>
          <p:cNvGraphicFramePr/>
          <p:nvPr>
            <p:extLst>
              <p:ext uri="{D42A27DB-BD31-4B8C-83A1-F6EECF244321}">
                <p14:modId xmlns:p14="http://schemas.microsoft.com/office/powerpoint/2010/main" val="560040444"/>
              </p:ext>
            </p:extLst>
          </p:nvPr>
        </p:nvGraphicFramePr>
        <p:xfrm>
          <a:off x="3676488" y="4936363"/>
          <a:ext cx="1732410" cy="1482070"/>
        </p:xfrm>
        <a:graphic>
          <a:graphicData uri="http://schemas.openxmlformats.org/drawingml/2006/diagram">
            <dgm:relIds xmlns:dgm="http://schemas.openxmlformats.org/drawingml/2006/diagram" xmlns:r="http://schemas.openxmlformats.org/officeDocument/2006/relationships" r:dm="rId24" r:lo="rId25" r:qs="rId26" r:cs="rId27"/>
          </a:graphicData>
        </a:graphic>
      </p:graphicFrame>
      <p:cxnSp>
        <p:nvCxnSpPr>
          <p:cNvPr id="1031" name="Straight Arrow Connector 1030">
            <a:extLst>
              <a:ext uri="{FF2B5EF4-FFF2-40B4-BE49-F238E27FC236}">
                <a16:creationId xmlns:a16="http://schemas.microsoft.com/office/drawing/2014/main" id="{0E8C7DCB-B552-923E-D187-71B2076D4310}"/>
              </a:ext>
            </a:extLst>
          </p:cNvPr>
          <p:cNvCxnSpPr>
            <a:cxnSpLocks/>
          </p:cNvCxnSpPr>
          <p:nvPr/>
        </p:nvCxnSpPr>
        <p:spPr>
          <a:xfrm flipH="1">
            <a:off x="2999186" y="4513736"/>
            <a:ext cx="205832" cy="46663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032" name="Straight Arrow Connector 1031">
            <a:extLst>
              <a:ext uri="{FF2B5EF4-FFF2-40B4-BE49-F238E27FC236}">
                <a16:creationId xmlns:a16="http://schemas.microsoft.com/office/drawing/2014/main" id="{1F16A536-8D49-52F9-EC2A-7052DBBB7EBF}"/>
              </a:ext>
            </a:extLst>
          </p:cNvPr>
          <p:cNvCxnSpPr>
            <a:cxnSpLocks/>
          </p:cNvCxnSpPr>
          <p:nvPr/>
        </p:nvCxnSpPr>
        <p:spPr>
          <a:xfrm flipV="1">
            <a:off x="3182268" y="5309609"/>
            <a:ext cx="372931" cy="30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035" name="Straight Arrow Connector 1034">
            <a:extLst>
              <a:ext uri="{FF2B5EF4-FFF2-40B4-BE49-F238E27FC236}">
                <a16:creationId xmlns:a16="http://schemas.microsoft.com/office/drawing/2014/main" id="{6A767A23-BD64-1505-33CC-AA246251F4AC}"/>
              </a:ext>
            </a:extLst>
          </p:cNvPr>
          <p:cNvCxnSpPr>
            <a:cxnSpLocks/>
          </p:cNvCxnSpPr>
          <p:nvPr/>
        </p:nvCxnSpPr>
        <p:spPr>
          <a:xfrm flipH="1" flipV="1">
            <a:off x="3921274" y="4513736"/>
            <a:ext cx="207381" cy="40372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pic>
        <p:nvPicPr>
          <p:cNvPr id="1040" name="Picture 1039">
            <a:extLst>
              <a:ext uri="{FF2B5EF4-FFF2-40B4-BE49-F238E27FC236}">
                <a16:creationId xmlns:a16="http://schemas.microsoft.com/office/drawing/2014/main" id="{C3A260A9-17D4-2A92-6AFD-4DAF9F443F34}"/>
              </a:ext>
            </a:extLst>
          </p:cNvPr>
          <p:cNvPicPr>
            <a:picLocks noChangeAspect="1"/>
          </p:cNvPicPr>
          <p:nvPr/>
        </p:nvPicPr>
        <p:blipFill>
          <a:blip r:embed="rId29"/>
          <a:stretch>
            <a:fillRect/>
          </a:stretch>
        </p:blipFill>
        <p:spPr>
          <a:xfrm>
            <a:off x="229199" y="1405375"/>
            <a:ext cx="1019336" cy="990889"/>
          </a:xfrm>
          <a:prstGeom prst="rect">
            <a:avLst/>
          </a:prstGeom>
        </p:spPr>
      </p:pic>
      <p:cxnSp>
        <p:nvCxnSpPr>
          <p:cNvPr id="1044" name="Straight Arrow Connector 1043">
            <a:extLst>
              <a:ext uri="{FF2B5EF4-FFF2-40B4-BE49-F238E27FC236}">
                <a16:creationId xmlns:a16="http://schemas.microsoft.com/office/drawing/2014/main" id="{865AF655-67C4-D7CB-11F6-B9843BB0FD3B}"/>
              </a:ext>
            </a:extLst>
          </p:cNvPr>
          <p:cNvCxnSpPr/>
          <p:nvPr/>
        </p:nvCxnSpPr>
        <p:spPr>
          <a:xfrm flipH="1">
            <a:off x="923335" y="3923162"/>
            <a:ext cx="240145" cy="349469"/>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045" name="Straight Arrow Connector 1044">
            <a:extLst>
              <a:ext uri="{FF2B5EF4-FFF2-40B4-BE49-F238E27FC236}">
                <a16:creationId xmlns:a16="http://schemas.microsoft.com/office/drawing/2014/main" id="{F20D2BE3-D6BB-B003-DD60-FF56884B1991}"/>
              </a:ext>
            </a:extLst>
          </p:cNvPr>
          <p:cNvCxnSpPr/>
          <p:nvPr/>
        </p:nvCxnSpPr>
        <p:spPr>
          <a:xfrm flipH="1">
            <a:off x="2471149" y="5541038"/>
            <a:ext cx="240145" cy="349469"/>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046" name="Straight Arrow Connector 1045">
            <a:extLst>
              <a:ext uri="{FF2B5EF4-FFF2-40B4-BE49-F238E27FC236}">
                <a16:creationId xmlns:a16="http://schemas.microsoft.com/office/drawing/2014/main" id="{FF12B5B4-DEE9-2E10-ED00-5C31A29A1667}"/>
              </a:ext>
            </a:extLst>
          </p:cNvPr>
          <p:cNvCxnSpPr>
            <a:cxnSpLocks/>
            <a:endCxn id="13" idx="1"/>
          </p:cNvCxnSpPr>
          <p:nvPr/>
        </p:nvCxnSpPr>
        <p:spPr>
          <a:xfrm>
            <a:off x="4247836" y="4097897"/>
            <a:ext cx="376656" cy="210653"/>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049" name="Straight Arrow Connector 1048">
            <a:extLst>
              <a:ext uri="{FF2B5EF4-FFF2-40B4-BE49-F238E27FC236}">
                <a16:creationId xmlns:a16="http://schemas.microsoft.com/office/drawing/2014/main" id="{A5603ECC-60A8-1C7A-B8B9-EC1393877034}"/>
              </a:ext>
            </a:extLst>
          </p:cNvPr>
          <p:cNvCxnSpPr>
            <a:cxnSpLocks/>
            <a:endCxn id="14" idx="0"/>
          </p:cNvCxnSpPr>
          <p:nvPr/>
        </p:nvCxnSpPr>
        <p:spPr>
          <a:xfrm flipH="1">
            <a:off x="9194700" y="4650310"/>
            <a:ext cx="9242" cy="253651"/>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sp>
        <p:nvSpPr>
          <p:cNvPr id="1052" name="Title 1051">
            <a:extLst>
              <a:ext uri="{FF2B5EF4-FFF2-40B4-BE49-F238E27FC236}">
                <a16:creationId xmlns:a16="http://schemas.microsoft.com/office/drawing/2014/main" id="{7502DFD7-0F92-2A27-A890-CA4F7127D7D6}"/>
              </a:ext>
            </a:extLst>
          </p:cNvPr>
          <p:cNvSpPr>
            <a:spLocks noGrp="1"/>
          </p:cNvSpPr>
          <p:nvPr>
            <p:ph type="title"/>
          </p:nvPr>
        </p:nvSpPr>
        <p:spPr>
          <a:xfrm>
            <a:off x="456000" y="795156"/>
            <a:ext cx="11280000" cy="840000"/>
          </a:xfrm>
        </p:spPr>
        <p:txBody>
          <a:bodyPr/>
          <a:lstStyle/>
          <a:p>
            <a:r>
              <a:rPr lang="en-US" dirty="0"/>
              <a:t>Workflow</a:t>
            </a:r>
          </a:p>
        </p:txBody>
      </p:sp>
      <p:sp>
        <p:nvSpPr>
          <p:cNvPr id="1053" name="Rectangle 1052">
            <a:extLst>
              <a:ext uri="{FF2B5EF4-FFF2-40B4-BE49-F238E27FC236}">
                <a16:creationId xmlns:a16="http://schemas.microsoft.com/office/drawing/2014/main" id="{12FE6158-6F70-4BE6-F30B-BC3EA525A558}"/>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sp>
        <p:nvSpPr>
          <p:cNvPr id="2" name="TextBox 1">
            <a:extLst>
              <a:ext uri="{FF2B5EF4-FFF2-40B4-BE49-F238E27FC236}">
                <a16:creationId xmlns:a16="http://schemas.microsoft.com/office/drawing/2014/main" id="{471E7ED7-D544-ABD6-B3D2-E9936711CE4E}"/>
              </a:ext>
            </a:extLst>
          </p:cNvPr>
          <p:cNvSpPr txBox="1"/>
          <p:nvPr/>
        </p:nvSpPr>
        <p:spPr>
          <a:xfrm>
            <a:off x="7716726" y="5924344"/>
            <a:ext cx="5971836" cy="276999"/>
          </a:xfrm>
          <a:prstGeom prst="rect">
            <a:avLst/>
          </a:prstGeom>
          <a:noFill/>
        </p:spPr>
        <p:txBody>
          <a:bodyPr wrap="square">
            <a:spAutoFit/>
          </a:bodyPr>
          <a:lstStyle/>
          <a:p>
            <a:r>
              <a:rPr lang="en-US" sz="1200" i="1" dirty="0">
                <a:latin typeface="Calibri" panose="020F0502020204030204" pitchFamily="34" charset="0"/>
                <a:ea typeface="Calibri" panose="020F0502020204030204" pitchFamily="34" charset="0"/>
                <a:cs typeface="Cordia New" panose="020B0304020202020204" pitchFamily="34" charset="-34"/>
              </a:rPr>
              <a:t>Figure 2 Steps in the ML model development process</a:t>
            </a:r>
            <a:endParaRPr lang="en-US" sz="1200" i="1" dirty="0"/>
          </a:p>
        </p:txBody>
      </p:sp>
      <p:sp>
        <p:nvSpPr>
          <p:cNvPr id="3" name="Date Placeholder 2">
            <a:extLst>
              <a:ext uri="{FF2B5EF4-FFF2-40B4-BE49-F238E27FC236}">
                <a16:creationId xmlns:a16="http://schemas.microsoft.com/office/drawing/2014/main" id="{08EEDA3A-CA4E-2896-BD66-4E0E07BB1B83}"/>
              </a:ext>
            </a:extLst>
          </p:cNvPr>
          <p:cNvSpPr>
            <a:spLocks noGrp="1"/>
          </p:cNvSpPr>
          <p:nvPr>
            <p:ph type="dt" sz="half" idx="10"/>
          </p:nvPr>
        </p:nvSpPr>
        <p:spPr/>
        <p:txBody>
          <a:bodyPr/>
          <a:lstStyle/>
          <a:p>
            <a:pPr>
              <a:defRPr/>
            </a:pPr>
            <a:fld id="{F04A4882-CD81-4206-ADE5-800C9BEC979C}" type="datetime1">
              <a:rPr lang="en-US" smtClean="0"/>
              <a:t>2/28/2024</a:t>
            </a:fld>
            <a:endParaRPr lang="de-DE" dirty="0"/>
          </a:p>
        </p:txBody>
      </p:sp>
      <p:sp>
        <p:nvSpPr>
          <p:cNvPr id="4" name="Footer Placeholder 3">
            <a:extLst>
              <a:ext uri="{FF2B5EF4-FFF2-40B4-BE49-F238E27FC236}">
                <a16:creationId xmlns:a16="http://schemas.microsoft.com/office/drawing/2014/main" id="{B51B9BF5-2C6F-8ADE-479D-8EF3CF670C3C}"/>
              </a:ext>
            </a:extLst>
          </p:cNvPr>
          <p:cNvSpPr>
            <a:spLocks noGrp="1"/>
          </p:cNvSpPr>
          <p:nvPr>
            <p:ph type="ftr" sz="quarter" idx="11"/>
          </p:nvPr>
        </p:nvSpPr>
        <p:spPr/>
        <p:txBody>
          <a:bodyPr/>
          <a:lstStyle/>
          <a:p>
            <a:pPr>
              <a:defRPr/>
            </a:pPr>
            <a:r>
              <a:rPr lang="de-DE"/>
              <a:t>Pichaya Tappayuthpijarn</a:t>
            </a:r>
            <a:endParaRPr lang="de-DE" dirty="0"/>
          </a:p>
        </p:txBody>
      </p:sp>
      <p:sp>
        <p:nvSpPr>
          <p:cNvPr id="5" name="Slide Number Placeholder 4">
            <a:extLst>
              <a:ext uri="{FF2B5EF4-FFF2-40B4-BE49-F238E27FC236}">
                <a16:creationId xmlns:a16="http://schemas.microsoft.com/office/drawing/2014/main" id="{63BBF4A1-700B-F4BD-CD3F-90B77232ABDC}"/>
              </a:ext>
            </a:extLst>
          </p:cNvPr>
          <p:cNvSpPr>
            <a:spLocks noGrp="1"/>
          </p:cNvSpPr>
          <p:nvPr>
            <p:ph type="sldNum" sz="quarter" idx="12"/>
          </p:nvPr>
        </p:nvSpPr>
        <p:spPr/>
        <p:txBody>
          <a:bodyPr/>
          <a:lstStyle/>
          <a:p>
            <a:pPr>
              <a:defRPr/>
            </a:pPr>
            <a:r>
              <a:rPr lang="de-DE"/>
              <a:t>SEITE</a:t>
            </a:r>
            <a:r>
              <a:rPr lang="de-DE" spc="0"/>
              <a:t> </a:t>
            </a:r>
            <a:fld id="{37ED3A82-C5FC-FE4D-9EDE-EA1B3EA06354}" type="slidenum">
              <a:rPr lang="de-DE" spc="0" smtClean="0"/>
              <a:pPr>
                <a:defRPr/>
              </a:pPr>
              <a:t>4</a:t>
            </a:fld>
            <a:endParaRPr lang="de-DE" spc="0"/>
          </a:p>
        </p:txBody>
      </p:sp>
    </p:spTree>
    <p:extLst>
      <p:ext uri="{BB962C8B-B14F-4D97-AF65-F5344CB8AC3E}">
        <p14:creationId xmlns:p14="http://schemas.microsoft.com/office/powerpoint/2010/main" val="2672941559"/>
      </p:ext>
    </p:extLst>
  </p:cSld>
  <p:clrMapOvr>
    <a:overrideClrMapping bg1="lt1" tx1="dk1" bg2="lt2" tx2="dk2" accent1="accent1" accent2="accent2" accent3="accent3" accent4="accent4" accent5="accent5" accent6="accent6" hlink="hlink" folHlink="folHlink"/>
  </p:clrMapOvr>
  <p:extLst>
    <p:ext uri="{3A86A75C-4F4B-4683-9AE1-C65F6400EC91}">
      <p14:laserTraceLst xmlns:p14="http://schemas.microsoft.com/office/powerpoint/2010/main">
        <p14:tracePtLst>
          <p14:tracePt t="2643" x="47625" y="6535738"/>
          <p14:tracePt t="2648" x="57150" y="6526213"/>
          <p14:tracePt t="2657" x="85725" y="6526213"/>
          <p14:tracePt t="2666" x="141288" y="6499225"/>
          <p14:tracePt t="2675" x="160338" y="6489700"/>
          <p14:tracePt t="2720" x="169863" y="6489700"/>
          <p14:tracePt t="2801" x="179388" y="6470650"/>
          <p14:tracePt t="2807" x="179388" y="6442075"/>
          <p14:tracePt t="3052" x="198438" y="6442075"/>
          <p14:tracePt t="3067" x="246063" y="6432550"/>
          <p14:tracePt t="3070" x="246063" y="6403975"/>
          <p14:tracePt t="3082" x="227013" y="6375400"/>
          <p14:tracePt t="3085" x="207963" y="6356350"/>
          <p14:tracePt t="3104" x="207963" y="6327775"/>
          <p14:tracePt t="3114" x="207963" y="6289675"/>
          <p14:tracePt t="3116" x="207963" y="6281738"/>
          <p14:tracePt t="3153" x="207963" y="6253163"/>
          <p14:tracePt t="3160" x="207963" y="6234113"/>
          <p14:tracePt t="3184" x="207963" y="6224588"/>
          <p14:tracePt t="3193" x="207963" y="6215063"/>
          <p14:tracePt t="3224" x="207963" y="6186488"/>
          <p14:tracePt t="3234" x="198438" y="6157913"/>
          <p14:tracePt t="3241" x="169863" y="6129338"/>
          <p14:tracePt t="3248" x="160338" y="6119813"/>
          <p14:tracePt t="3258" x="131763" y="6091238"/>
          <p14:tracePt t="3264" x="112713" y="6072188"/>
          <p14:tracePt t="3268" x="85725" y="6045200"/>
          <p14:tracePt t="3278" x="47625" y="6007100"/>
          <p14:tracePt t="3281" x="38100" y="5997575"/>
          <p14:tracePt t="15931" x="76200" y="4805363"/>
          <p14:tracePt t="15938" x="169863" y="4786313"/>
          <p14:tracePt t="15943" x="207963" y="4767263"/>
          <p14:tracePt t="15947" x="236538" y="4767263"/>
          <p14:tracePt t="15951" x="284163" y="4767263"/>
          <p14:tracePt t="15958" x="358775" y="4738688"/>
          <p14:tracePt t="15962" x="387350" y="4738688"/>
          <p14:tracePt t="15972" x="434975" y="4738688"/>
          <p14:tracePt t="15977" x="444500" y="4738688"/>
          <p14:tracePt t="15983" x="501650" y="4738688"/>
          <p14:tracePt t="15984" x="511175" y="4738688"/>
          <p14:tracePt t="15989" x="539750" y="4738688"/>
          <p14:tracePt t="16015" x="633413" y="4738688"/>
          <p14:tracePt t="16019" x="681038" y="4738688"/>
          <p14:tracePt t="16021" x="700088" y="4738688"/>
          <p14:tracePt t="16028" x="719138" y="4738688"/>
          <p14:tracePt t="16032" x="757238" y="4767263"/>
          <p14:tracePt t="16045" x="785813" y="4776788"/>
          <p14:tracePt t="16049" x="803275" y="4795838"/>
          <p14:tracePt t="16061" x="812800" y="4795838"/>
          <p14:tracePt t="16068" x="822325" y="4805363"/>
          <p14:tracePt t="16087" x="841375" y="4824413"/>
          <p14:tracePt t="16200" x="908050" y="4824413"/>
          <p14:tracePt t="16211" x="917575" y="4824413"/>
          <p14:tracePt t="16220" x="974725" y="4814888"/>
          <p14:tracePt t="16232" x="1039813" y="4719638"/>
          <p14:tracePt t="16238" x="1049338" y="4710113"/>
          <p14:tracePt t="16242" x="1068388" y="4691063"/>
          <p14:tracePt t="16251" x="1096963" y="4635500"/>
          <p14:tracePt t="16253" x="1125538" y="4606925"/>
          <p14:tracePt t="16266" x="1173163" y="4530725"/>
          <p14:tracePt t="16268" x="1173163" y="4502150"/>
          <p14:tracePt t="16274" x="1173163" y="4456113"/>
          <p14:tracePt t="16289" x="1173163" y="4360863"/>
          <p14:tracePt t="16293" x="1173163" y="4332288"/>
          <p14:tracePt t="16299" x="1173163" y="4303713"/>
          <p14:tracePt t="16306" x="1173163" y="4294188"/>
          <p14:tracePt t="16312" x="1173163" y="4265613"/>
          <p14:tracePt t="16315" x="1173163" y="4210050"/>
          <p14:tracePt t="16326" x="1173163" y="4162425"/>
          <p14:tracePt t="16329" x="1173163" y="4133850"/>
          <p14:tracePt t="16331" x="1173163" y="4124325"/>
          <p14:tracePt t="16347" x="1173163" y="4086225"/>
          <p14:tracePt t="16353" x="1116013" y="4019550"/>
          <p14:tracePt t="16366" x="1087438" y="3944938"/>
          <p14:tracePt t="16374" x="1077913" y="3935413"/>
          <p14:tracePt t="16401" x="1030288" y="3897313"/>
          <p14:tracePt t="16414" x="1030288" y="3868738"/>
          <p14:tracePt t="16416" x="1020763" y="3859213"/>
          <p14:tracePt t="16451" x="984250" y="3859213"/>
          <p14:tracePt t="16479" x="965200" y="3840163"/>
          <p14:tracePt t="16517" x="936625" y="3811588"/>
          <p14:tracePt t="16526" x="927100" y="3773488"/>
          <p14:tracePt t="16544" x="927100" y="3736975"/>
          <p14:tracePt t="16558" x="927100" y="3717925"/>
          <p14:tracePt t="16576" x="898525" y="3679825"/>
          <p14:tracePt t="16792" x="898525" y="3670300"/>
          <p14:tracePt t="16801" x="936625" y="3613150"/>
          <p14:tracePt t="16806" x="936625" y="3594100"/>
          <p14:tracePt t="16814" x="936625" y="3575050"/>
          <p14:tracePt t="16817" x="936625" y="3556000"/>
          <p14:tracePt t="16825" x="946150" y="3546475"/>
          <p14:tracePt t="16830" x="955675" y="3529013"/>
          <p14:tracePt t="16850" x="955675" y="3519488"/>
          <p14:tracePt t="16863" x="955675" y="3509963"/>
          <p14:tracePt t="24778" x="984250" y="3433763"/>
          <p14:tracePt t="24782" x="984250" y="3395663"/>
          <p14:tracePt t="24792" x="984250" y="3328988"/>
          <p14:tracePt t="24806" x="1030288" y="3254375"/>
          <p14:tracePt t="24813" x="1030288" y="3197225"/>
          <p14:tracePt t="24816" x="1030288" y="3168650"/>
          <p14:tracePt t="24822" x="1049338" y="3149600"/>
          <p14:tracePt t="24829" x="1058863" y="3140075"/>
          <p14:tracePt t="24831" x="1058863" y="3111500"/>
          <p14:tracePt t="24839" x="1058863" y="3101975"/>
          <p14:tracePt t="24842" x="1077913" y="3055938"/>
          <p14:tracePt t="24847" x="1077913" y="3046413"/>
          <p14:tracePt t="24865" x="1087438" y="3027363"/>
          <p14:tracePt t="24873" x="1096963" y="3017838"/>
          <p14:tracePt t="24896" x="1125538" y="3017838"/>
          <p14:tracePt t="24905" x="1173163" y="2989263"/>
          <p14:tracePt t="24938" x="1352550" y="2951163"/>
          <p14:tracePt t="24944" x="1381125" y="2951163"/>
          <p14:tracePt t="24947" x="1390650" y="2951163"/>
          <p14:tracePt t="24948" x="1419225" y="2932113"/>
          <p14:tracePt t="24954" x="1428750" y="2922588"/>
          <p14:tracePt t="24959" x="1457325" y="2922588"/>
          <p14:tracePt t="24965" x="1522413" y="2884488"/>
          <p14:tracePt t="24976" x="1560513" y="2884488"/>
          <p14:tracePt t="24995" x="1646238" y="2884488"/>
          <p14:tracePt t="25000" x="1693863" y="2884488"/>
          <p14:tracePt t="25012" x="1749425" y="2884488"/>
          <p14:tracePt t="25022" x="1787525" y="2884488"/>
          <p14:tracePt t="25038" x="1825625" y="2884488"/>
          <p14:tracePt t="25043" x="1854200" y="2884488"/>
          <p14:tracePt t="25046" x="1873250" y="2884488"/>
          <p14:tracePt t="25057" x="1919288" y="2884488"/>
          <p14:tracePt t="25061" x="1938338" y="2884488"/>
          <p14:tracePt t="25064" x="1966913" y="2884488"/>
          <p14:tracePt t="25079" x="1976438" y="2884488"/>
          <p14:tracePt t="25087" x="2014538" y="2884488"/>
          <p14:tracePt t="25099" x="2033588" y="2884488"/>
          <p14:tracePt t="25106" x="2062163" y="2894013"/>
          <p14:tracePt t="25138" x="2138363" y="2970213"/>
          <p14:tracePt t="25150" x="2146300" y="2970213"/>
          <p14:tracePt t="25152" x="2165350" y="2970213"/>
          <p14:tracePt t="25162" x="2203450" y="2989263"/>
          <p14:tracePt t="25178" x="2212975" y="2998788"/>
          <p14:tracePt t="25200" x="2232025" y="3008313"/>
          <p14:tracePt t="25210" x="2241550" y="3027363"/>
          <p14:tracePt t="25231" x="2270125" y="3027363"/>
          <p14:tracePt t="25237" x="2279650" y="3027363"/>
          <p14:tracePt t="25249" x="2308225" y="3046413"/>
          <p14:tracePt t="25258" x="2317750" y="3065463"/>
          <p14:tracePt t="25273" x="2346325" y="3092450"/>
          <p14:tracePt t="25288" x="2355850" y="3101975"/>
          <p14:tracePt t="25305" x="2382838" y="3130550"/>
          <p14:tracePt t="26555" x="2411413" y="3130550"/>
          <p14:tracePt t="26564" x="2468563" y="3168650"/>
          <p14:tracePt t="26575" x="2497138" y="3197225"/>
          <p14:tracePt t="26579" x="2525713" y="3225800"/>
          <p14:tracePt t="26583" x="2535238" y="3235325"/>
          <p14:tracePt t="26595" x="2582863" y="3311525"/>
          <p14:tracePt t="26598" x="2582863" y="3319463"/>
          <p14:tracePt t="26605" x="2582863" y="3348038"/>
          <p14:tracePt t="26608" x="2582863" y="3357563"/>
          <p14:tracePt t="26611" x="2582863" y="3386138"/>
          <p14:tracePt t="26627" x="2582863" y="3424238"/>
          <p14:tracePt t="26629" x="2582863" y="3452813"/>
          <p14:tracePt t="26630" x="2582863" y="3471863"/>
          <p14:tracePt t="26646" x="2582863" y="3509963"/>
          <p14:tracePt t="26657" x="2582863" y="3538538"/>
          <p14:tracePt t="26661" x="2582863" y="3575050"/>
          <p14:tracePt t="26672" x="2582863" y="3613150"/>
          <p14:tracePt t="26678" x="2582863" y="3651250"/>
          <p14:tracePt t="26694" x="2582863" y="3679825"/>
          <p14:tracePt t="26695" x="2582863" y="3698875"/>
          <p14:tracePt t="26705" x="2582863" y="3736975"/>
          <p14:tracePt t="26722" x="2582863" y="3773488"/>
          <p14:tracePt t="26738" x="2544763" y="3821113"/>
          <p14:tracePt t="26755" x="2516188" y="3840163"/>
          <p14:tracePt t="26992" x="2516188" y="3811588"/>
          <p14:tracePt t="26999" x="2516188" y="3773488"/>
          <p14:tracePt t="27009" x="2516188" y="3746500"/>
          <p14:tracePt t="27028" x="2516188" y="3708400"/>
          <p14:tracePt t="27039" x="2516188" y="3679825"/>
          <p14:tracePt t="27063" x="2516188" y="3651250"/>
          <p14:tracePt t="28966" x="2535238" y="3651250"/>
          <p14:tracePt t="28975" x="2600325" y="3717925"/>
          <p14:tracePt t="28990" x="2647950" y="3792538"/>
          <p14:tracePt t="29006" x="2676525" y="3944938"/>
          <p14:tracePt t="29029" x="2752725" y="4246563"/>
          <p14:tracePt t="29033" x="2752725" y="4256088"/>
          <p14:tracePt t="29044" x="2752725" y="4351338"/>
          <p14:tracePt t="29047" x="2752725" y="4398963"/>
          <p14:tracePt t="29048" x="2752725" y="4427538"/>
          <p14:tracePt t="29055" x="2752725" y="4456113"/>
          <p14:tracePt t="29061" x="2752725" y="4511675"/>
          <p14:tracePt t="29074" x="2752725" y="4606925"/>
          <p14:tracePt t="29077" x="2752725" y="4635500"/>
          <p14:tracePt t="29099" x="2752725" y="4710113"/>
          <p14:tracePt t="29107" x="2724150" y="4824413"/>
          <p14:tracePt t="29116" x="2695575" y="4881563"/>
          <p14:tracePt t="29124" x="2638425" y="4956175"/>
          <p14:tracePt t="29138" x="2554288" y="5032375"/>
          <p14:tracePt t="29143" x="2525713" y="5099050"/>
          <p14:tracePt t="29146" x="2497138" y="5127625"/>
          <p14:tracePt t="29157" x="2439988" y="5183188"/>
          <p14:tracePt t="29161" x="2401888" y="5211763"/>
          <p14:tracePt t="29172" x="2346325" y="5268913"/>
          <p14:tracePt t="29177" x="2336800" y="5316538"/>
          <p14:tracePt t="29179" x="2317750" y="5326063"/>
          <p14:tracePt t="29188" x="2298700" y="5354638"/>
          <p14:tracePt t="29205" x="2212975" y="5438775"/>
          <p14:tracePt t="29221" x="2165350" y="5514975"/>
          <p14:tracePt t="29249" x="2138363" y="5543550"/>
          <p14:tracePt t="29254" x="2100263" y="5581650"/>
          <p14:tracePt t="29281" x="2100263" y="5627688"/>
          <p14:tracePt t="30611" x="2100263" y="5637213"/>
          <p14:tracePt t="30616" x="2128838" y="5637213"/>
          <p14:tracePt t="30621" x="2155825" y="5637213"/>
          <p14:tracePt t="30628" x="2193925" y="5637213"/>
          <p14:tracePt t="30630" x="2212975" y="5637213"/>
          <p14:tracePt t="30641" x="2251075" y="5637213"/>
          <p14:tracePt t="30655" x="2289175" y="5637213"/>
          <p14:tracePt t="30661" x="2298700" y="5637213"/>
          <p14:tracePt t="30672" x="2327275" y="5637213"/>
          <p14:tracePt t="30678" x="2346325" y="5637213"/>
          <p14:tracePt t="30689" x="2365375" y="5637213"/>
          <p14:tracePt t="30695" x="2411413" y="5637213"/>
          <p14:tracePt t="30698" x="2439988" y="5627688"/>
          <p14:tracePt t="30709" x="2497138" y="5618163"/>
          <p14:tracePt t="30723" x="2592388" y="5618163"/>
          <p14:tracePt t="30740" x="2657475" y="5591175"/>
          <p14:tracePt t="30754" x="2743200" y="5591175"/>
          <p14:tracePt t="30784" x="2913063" y="5562600"/>
          <p14:tracePt t="30788" x="2922588" y="5562600"/>
          <p14:tracePt t="30794" x="2970213" y="5562600"/>
          <p14:tracePt t="30798" x="3008313" y="5562600"/>
          <p14:tracePt t="30803" x="3027363" y="5562600"/>
          <p14:tracePt t="30814" x="3092450" y="5562600"/>
          <p14:tracePt t="30821" x="3101975" y="5562600"/>
          <p14:tracePt t="30826" x="3121025" y="5562600"/>
          <p14:tracePt t="30828" x="3149600" y="5562600"/>
          <p14:tracePt t="30838" x="3159125" y="5562600"/>
          <p14:tracePt t="30860" x="3197225" y="5562600"/>
          <p14:tracePt t="30885" x="3216275" y="5562600"/>
          <p14:tracePt t="30888" x="3225800" y="5562600"/>
          <p14:tracePt t="30901" x="3235325" y="5543550"/>
          <p14:tracePt t="30914" x="3281363" y="5505450"/>
          <p14:tracePt t="30924" x="3290888" y="5495925"/>
          <p14:tracePt t="30949" x="3357563" y="5467350"/>
          <p14:tracePt t="30962" x="3405188" y="5448300"/>
          <p14:tracePt t="30971" x="3414713" y="5448300"/>
          <p14:tracePt t="30987" x="3452813" y="5381625"/>
          <p14:tracePt t="30992" x="3452813" y="5372100"/>
          <p14:tracePt t="30994" x="3471863" y="5354638"/>
          <p14:tracePt t="31004" x="3481388" y="5345113"/>
          <p14:tracePt t="31464" x="3490913" y="5335588"/>
          <p14:tracePt t="32543" x="3490913" y="5316538"/>
          <p14:tracePt t="32565" x="3490913" y="5297488"/>
          <p14:tracePt t="32580" x="3490913" y="5268913"/>
          <p14:tracePt t="32609" x="3490913" y="5240338"/>
          <p14:tracePt t="32617" x="3490913" y="5230813"/>
          <p14:tracePt t="32629" x="3490913" y="5183188"/>
          <p14:tracePt t="32646" x="3490913" y="5154613"/>
          <p14:tracePt t="32657" x="3490913" y="5145088"/>
          <p14:tracePt t="32672" x="3490913" y="5080000"/>
          <p14:tracePt t="32689" x="3490913" y="5041900"/>
          <p14:tracePt t="32704" x="3490913" y="4975225"/>
          <p14:tracePt t="32710" x="3490913" y="4946650"/>
          <p14:tracePt t="32723" x="3490913" y="4891088"/>
          <p14:tracePt t="32727" x="3508375" y="4881563"/>
          <p14:tracePt t="32730" x="3517900" y="4862513"/>
          <p14:tracePt t="32738" x="3536950" y="4852988"/>
          <p14:tracePt t="32744" x="3565525" y="4824413"/>
          <p14:tracePt t="32746" x="3575050" y="4814888"/>
          <p14:tracePt t="32754" x="3584575" y="4795838"/>
          <p14:tracePt t="32771" x="3641725" y="4738688"/>
          <p14:tracePt t="32788" x="3670300" y="4719638"/>
          <p14:tracePt t="32793" x="3698875" y="4691063"/>
          <p14:tracePt t="32794" x="3725863" y="4691063"/>
          <p14:tracePt t="32804" x="3754438" y="4664075"/>
          <p14:tracePt t="32810" x="3792538" y="4645025"/>
          <p14:tracePt t="32814" x="3802063" y="4635500"/>
          <p14:tracePt t="32821" x="3821113" y="4635500"/>
          <p14:tracePt t="32825" x="3830638" y="4635500"/>
          <p14:tracePt t="32827" x="3859213" y="4635500"/>
          <p14:tracePt t="32846" x="3971925" y="4568825"/>
          <p14:tracePt t="32852" x="4029075" y="4540250"/>
          <p14:tracePt t="32857" x="4038600" y="4540250"/>
          <p14:tracePt t="32864" x="4114800" y="4540250"/>
          <p14:tracePt t="32866" x="4124325" y="4540250"/>
          <p14:tracePt t="32873" x="4152900" y="4540250"/>
          <p14:tracePt t="32874" x="4171950" y="4530725"/>
          <p14:tracePt t="32887" x="4208463" y="4521200"/>
          <p14:tracePt t="32904" x="4284663" y="4521200"/>
          <p14:tracePt t="32909" x="4303713" y="4521200"/>
          <p14:tracePt t="32912" x="4313238" y="4521200"/>
          <p14:tracePt t="32932" x="4351338" y="4521200"/>
          <p14:tracePt t="32935" x="4370388" y="4521200"/>
          <p14:tracePt t="32947" x="4406900" y="4521200"/>
          <p14:tracePt t="32956" x="4445000" y="4521200"/>
          <p14:tracePt t="32971" x="4492625" y="4521200"/>
          <p14:tracePt t="32976" x="4521200" y="4521200"/>
          <p14:tracePt t="32978" x="4530725" y="4521200"/>
          <p14:tracePt t="32994" x="4568825" y="4521200"/>
          <p14:tracePt t="33013" x="4625975" y="4549775"/>
          <p14:tracePt t="33021" x="4652963" y="4559300"/>
          <p14:tracePt t="33027" x="4662488" y="4578350"/>
          <p14:tracePt t="33036" x="4700588" y="4578350"/>
          <p14:tracePt t="33040" x="4719638" y="4587875"/>
          <p14:tracePt t="33048" x="4729163" y="4597400"/>
          <p14:tracePt t="33054" x="4767263" y="4616450"/>
          <p14:tracePt t="33078" x="4786313" y="4625975"/>
          <p14:tracePt t="33085" x="4843463" y="4645025"/>
          <p14:tracePt t="33098" x="4852988" y="4654550"/>
          <p14:tracePt t="33117" x="4879975" y="4683125"/>
          <p14:tracePt t="33127" x="4899025" y="4691063"/>
          <p14:tracePt t="33167" x="4937125" y="4738688"/>
          <p14:tracePt t="33185" x="5003800" y="4805363"/>
          <p14:tracePt t="33197" x="5022850" y="4824413"/>
          <p14:tracePt t="33199" x="5032375" y="4833938"/>
          <p14:tracePt t="33211" x="5080000" y="4881563"/>
          <p14:tracePt t="33224" x="5080000" y="4910138"/>
          <p14:tracePt t="33244" x="5097463" y="4946650"/>
          <p14:tracePt t="33257" x="5097463" y="4965700"/>
          <p14:tracePt t="33271" x="5126038" y="4994275"/>
          <p14:tracePt t="33287" x="5145088" y="5060950"/>
          <p14:tracePt t="33305" x="5154613" y="5089525"/>
          <p14:tracePt t="33309" x="5154613" y="5118100"/>
          <p14:tracePt t="33334" x="5164138" y="5183188"/>
          <p14:tracePt t="33338" x="5183188" y="5192713"/>
          <p14:tracePt t="33348" x="5183188" y="5249863"/>
          <p14:tracePt t="33351" x="5183188" y="5278438"/>
          <p14:tracePt t="33357" x="5183188" y="5297488"/>
          <p14:tracePt t="33359" x="5183188" y="5316538"/>
          <p14:tracePt t="33364" x="5183188" y="5335588"/>
          <p14:tracePt t="33376" x="5192713" y="5381625"/>
          <p14:tracePt t="33378" x="5192713" y="5391150"/>
          <p14:tracePt t="33387" x="5211763" y="5400675"/>
          <p14:tracePt t="33418" x="5211763" y="5524500"/>
          <p14:tracePt t="33423" x="5211763" y="5562600"/>
          <p14:tracePt t="33432" x="5211763" y="5637213"/>
          <p14:tracePt t="33435" x="5211763" y="5646738"/>
          <p14:tracePt t="33442" x="5211763" y="5684838"/>
          <p14:tracePt t="33459" x="5211763" y="5751513"/>
          <p14:tracePt t="33471" x="5211763" y="5835650"/>
          <p14:tracePt t="33487" x="5211763" y="5911850"/>
          <p14:tracePt t="33504" x="5211763" y="5997575"/>
          <p14:tracePt t="33510" x="5173663" y="6045200"/>
          <p14:tracePt t="33520" x="5154613" y="6054725"/>
          <p14:tracePt t="33537" x="5135563" y="6110288"/>
          <p14:tracePt t="33564" x="5087938" y="6176963"/>
          <p14:tracePt t="33568" x="5080000" y="6205538"/>
          <p14:tracePt t="33582" x="5070475" y="6215063"/>
          <p14:tracePt t="33594" x="5051425" y="6224588"/>
          <p14:tracePt t="33631" x="5041900" y="6224588"/>
          <p14:tracePt t="33638" x="5013325" y="6243638"/>
          <p14:tracePt t="33650" x="5003800" y="6253163"/>
          <p14:tracePt t="33662" x="4975225" y="6253163"/>
          <p14:tracePt t="33671" x="4956175" y="6253163"/>
          <p14:tracePt t="33697" x="4889500" y="6299200"/>
          <p14:tracePt t="33703" x="4824413" y="6299200"/>
          <p14:tracePt t="33710" x="4814888" y="6299200"/>
          <p14:tracePt t="33713" x="4786313" y="6299200"/>
          <p14:tracePt t="33715" x="4776788" y="6299200"/>
          <p14:tracePt t="33721" x="4757738" y="6299200"/>
          <p14:tracePt t="33749" x="4681538" y="6299200"/>
          <p14:tracePt t="33757" x="4625975" y="6299200"/>
          <p14:tracePt t="33765" x="4616450" y="6299200"/>
          <p14:tracePt t="33767" x="4587875" y="6299200"/>
          <p14:tracePt t="33774" x="4540250" y="6299200"/>
          <p14:tracePt t="33787" x="4492625" y="6299200"/>
          <p14:tracePt t="33816" x="4406900" y="6299200"/>
          <p14:tracePt t="33821" x="4370388" y="6299200"/>
          <p14:tracePt t="33832" x="4341813" y="6299200"/>
          <p14:tracePt t="33839" x="4303713" y="6299200"/>
          <p14:tracePt t="33843" x="4284663" y="6299200"/>
          <p14:tracePt t="33859" x="4237038" y="6289675"/>
          <p14:tracePt t="33866" x="4208463" y="6272213"/>
          <p14:tracePt t="33877" x="4198938" y="6253163"/>
          <p14:tracePt t="33887" x="4179888" y="6243638"/>
          <p14:tracePt t="33913" x="4171950" y="6224588"/>
          <p14:tracePt t="33920" x="4143375" y="6205538"/>
          <p14:tracePt t="33929" x="4133850" y="6176963"/>
          <p14:tracePt t="33931" x="4133850" y="6157913"/>
          <p14:tracePt t="33939" x="4133850" y="6148388"/>
          <p14:tracePt t="33956" x="4076700" y="6110288"/>
          <p14:tracePt t="33980" x="4029075" y="6054725"/>
          <p14:tracePt t="33995" x="4000500" y="6035675"/>
          <p14:tracePt t="34007" x="3971925" y="5997575"/>
          <p14:tracePt t="34027" x="3962400" y="5988050"/>
          <p14:tracePt t="34047" x="3906838" y="5930900"/>
          <p14:tracePt t="34049" x="3887788" y="5921375"/>
          <p14:tracePt t="34083" x="3868738" y="5892800"/>
          <p14:tracePt t="34094" x="3849688" y="5883275"/>
          <p14:tracePt t="34111" x="3821113" y="5835650"/>
          <p14:tracePt t="34120" x="3811588" y="5808663"/>
          <p14:tracePt t="34131" x="3811588" y="5780088"/>
          <p14:tracePt t="34133" x="3811588" y="5770563"/>
          <p14:tracePt t="34143" x="3811588" y="5741988"/>
          <p14:tracePt t="34166" x="3811588" y="5703888"/>
          <p14:tracePt t="34178" x="3811588" y="5665788"/>
          <p14:tracePt t="34190" x="3811588" y="5656263"/>
          <p14:tracePt t="34194" x="3792538" y="5637213"/>
          <p14:tracePt t="34196" x="3783013" y="5627688"/>
          <p14:tracePt t="34205" x="3783013" y="5618163"/>
          <p14:tracePt t="34229" x="3783013" y="5572125"/>
          <p14:tracePt t="34238" x="3783013" y="5553075"/>
          <p14:tracePt t="34245" x="3783013" y="5505450"/>
          <p14:tracePt t="34248" x="3783013" y="5495925"/>
          <p14:tracePt t="34259" x="3783013" y="5467350"/>
          <p14:tracePt t="34261" x="3783013" y="5457825"/>
          <p14:tracePt t="34280" x="3783013" y="5438775"/>
          <p14:tracePt t="34287" x="3783013" y="5429250"/>
          <p14:tracePt t="34304" x="3783013" y="5391150"/>
          <p14:tracePt t="34328" x="3783013" y="5372100"/>
          <p14:tracePt t="34339" x="3783013" y="5364163"/>
          <p14:tracePt t="34822" x="3783013" y="5335588"/>
          <p14:tracePt t="34832" x="3783013" y="5326063"/>
          <p14:tracePt t="34848" x="3802063" y="5307013"/>
          <p14:tracePt t="34904" x="3802063" y="5297488"/>
          <p14:tracePt t="34909" x="3802063" y="5287963"/>
          <p14:tracePt t="34929" x="3830638" y="5249863"/>
          <p14:tracePt t="34939" x="3840163" y="5240338"/>
          <p14:tracePt t="35128" x="3840163" y="5202238"/>
          <p14:tracePt t="35136" x="3840163" y="5164138"/>
          <p14:tracePt t="35147" x="3859213" y="5145088"/>
          <p14:tracePt t="35161" x="3868738" y="5137150"/>
          <p14:tracePt t="35186" x="3868738" y="5108575"/>
          <p14:tracePt t="35195" x="3868738" y="5099050"/>
          <p14:tracePt t="35206" x="3878263" y="5080000"/>
          <p14:tracePt t="35245" x="3897313" y="5070475"/>
          <p14:tracePt t="35275" x="3906838" y="5060950"/>
          <p14:tracePt t="35280" x="3916363" y="5041900"/>
          <p14:tracePt t="35304" x="3952875" y="5003800"/>
          <p14:tracePt t="35313" x="3962400" y="4984750"/>
          <p14:tracePt t="35344" x="3990975" y="4956175"/>
          <p14:tracePt t="35349" x="4000500" y="4946650"/>
          <p14:tracePt t="35360" x="4019550" y="4946650"/>
          <p14:tracePt t="35371" x="4029075" y="4927600"/>
          <p14:tracePt t="35400" x="4038600" y="4918075"/>
          <p14:tracePt t="35410" x="4057650" y="4910138"/>
          <p14:tracePt t="35433" x="4067175" y="4891088"/>
          <p14:tracePt t="35448" x="4086225" y="4881563"/>
          <p14:tracePt t="35464" x="4095750" y="4872038"/>
          <p14:tracePt t="35474" x="4105275" y="4852988"/>
          <p14:tracePt t="35489" x="4124325" y="4843463"/>
          <p14:tracePt t="35514" x="4133850" y="4824413"/>
          <p14:tracePt t="35525" x="4143375" y="4814888"/>
          <p14:tracePt t="35546" x="4171950" y="4814888"/>
          <p14:tracePt t="35554" x="4198938" y="4814888"/>
          <p14:tracePt t="35571" x="4208463" y="4814888"/>
          <p14:tracePt t="35587" x="4237038" y="4786313"/>
          <p14:tracePt t="35604" x="4275138" y="4786313"/>
          <p14:tracePt t="35621" x="4351338" y="4757738"/>
          <p14:tracePt t="35625" x="4360863" y="4748213"/>
          <p14:tracePt t="35646" x="4398963" y="4748213"/>
          <p14:tracePt t="35659" x="4416425" y="4748213"/>
          <p14:tracePt t="35671" x="4464050" y="4748213"/>
          <p14:tracePt t="35698" x="4511675" y="4719638"/>
          <p14:tracePt t="35704" x="4521200" y="4700588"/>
          <p14:tracePt t="35721" x="4540250" y="4700588"/>
          <p14:tracePt t="35739" x="4568825" y="4700588"/>
          <p14:tracePt t="35745" x="4606925" y="4700588"/>
          <p14:tracePt t="35754" x="4616450" y="4700588"/>
          <p14:tracePt t="35774" x="4633913" y="4700588"/>
          <p14:tracePt t="35787" x="4643438" y="4700588"/>
          <p14:tracePt t="35804" x="4652963" y="4710113"/>
          <p14:tracePt t="35821" x="4672013" y="4719638"/>
          <p14:tracePt t="35839" x="4700588" y="4719638"/>
          <p14:tracePt t="35875" x="4710113" y="4729163"/>
          <p14:tracePt t="35883" x="4719638" y="4748213"/>
          <p14:tracePt t="35914" x="4748213" y="4776788"/>
          <p14:tracePt t="35919" x="4767263" y="4786313"/>
          <p14:tracePt t="35941" x="4795838" y="4814888"/>
          <p14:tracePt t="35946" x="4805363" y="4833938"/>
          <p14:tracePt t="35970" x="4824413" y="4843463"/>
          <p14:tracePt t="35980" x="4833938" y="4852988"/>
          <p14:tracePt t="35994" x="4843463" y="4872038"/>
          <p14:tracePt t="36004" x="4860925" y="4881563"/>
          <p14:tracePt t="36021" x="4870450" y="4900613"/>
          <p14:tracePt t="36039" x="4899025" y="4937125"/>
          <p14:tracePt t="36059" x="4899025" y="4946650"/>
          <p14:tracePt t="36084" x="4899025" y="4975225"/>
          <p14:tracePt t="36093" x="4899025" y="4994275"/>
          <p14:tracePt t="36111" x="4927600" y="5032375"/>
          <p14:tracePt t="36126" x="4927600" y="5041900"/>
          <p14:tracePt t="36138" x="4927600" y="5118100"/>
          <p14:tracePt t="36144" x="4927600" y="5127625"/>
          <p14:tracePt t="36154" x="4927600" y="5137150"/>
          <p14:tracePt t="36171" x="4927600" y="5164138"/>
          <p14:tracePt t="36188" x="4927600" y="5173663"/>
          <p14:tracePt t="36223" x="4937125" y="5192713"/>
          <p14:tracePt t="36231" x="4956175" y="5202238"/>
          <p14:tracePt t="36269" x="4956175" y="5230813"/>
          <p14:tracePt t="36283" x="4956175" y="5316538"/>
          <p14:tracePt t="36294" x="4956175" y="5326063"/>
          <p14:tracePt t="36310" x="4956175" y="5364163"/>
          <p14:tracePt t="36340" x="4956175" y="5391150"/>
          <p14:tracePt t="36362" x="4956175" y="5419725"/>
          <p14:tracePt t="36366" x="4956175" y="5429250"/>
          <p14:tracePt t="36404" x="4956175" y="5467350"/>
          <p14:tracePt t="36419" x="4956175" y="5495925"/>
          <p14:tracePt t="36430" x="4956175" y="5553075"/>
          <p14:tracePt t="36443" x="4956175" y="5581650"/>
          <p14:tracePt t="36454" x="4956175" y="5591175"/>
          <p14:tracePt t="36471" x="4946650" y="5646738"/>
          <p14:tracePt t="36476" x="4937125" y="5656263"/>
          <p14:tracePt t="36478" x="4927600" y="5675313"/>
          <p14:tracePt t="36497" x="4870450" y="5722938"/>
          <p14:tracePt t="36504" x="4824413" y="5770563"/>
          <p14:tracePt t="36510" x="4814888" y="5780088"/>
          <p14:tracePt t="36522" x="4757738" y="5835650"/>
          <p14:tracePt t="36537" x="4719638" y="5873750"/>
          <p14:tracePt t="36540" x="4691063" y="5873750"/>
          <p14:tracePt t="36544" x="4681538" y="5873750"/>
          <p14:tracePt t="36555" x="4616450" y="5911850"/>
          <p14:tracePt t="36584" x="4492625" y="5911850"/>
          <p14:tracePt t="36589" x="4464050" y="5911850"/>
          <p14:tracePt t="36598" x="4398963" y="5911850"/>
          <p14:tracePt t="36607" x="4389438" y="5911850"/>
          <p14:tracePt t="36621" x="4313238" y="5911850"/>
          <p14:tracePt t="36628" x="4275138" y="5911850"/>
          <p14:tracePt t="36630" x="4265613" y="5911850"/>
          <p14:tracePt t="36637" x="4217988" y="5911850"/>
          <p14:tracePt t="36646" x="4179888" y="5911850"/>
          <p14:tracePt t="36654" x="4143375" y="5911850"/>
          <p14:tracePt t="36681" x="4076700" y="5883275"/>
          <p14:tracePt t="36697" x="4000500" y="5827713"/>
          <p14:tracePt t="36710" x="3990975" y="5827713"/>
          <p14:tracePt t="36733" x="3971925" y="5808663"/>
          <p14:tracePt t="36759" x="3971925" y="5799138"/>
          <p14:tracePt t="36767" x="3935413" y="5741988"/>
          <p14:tracePt t="36772" x="3925888" y="5732463"/>
          <p14:tracePt t="36781" x="3906838" y="5722938"/>
          <p14:tracePt t="36794" x="3897313" y="5703888"/>
          <p14:tracePt t="36814" x="3897313" y="5665788"/>
          <p14:tracePt t="36821" x="3868738" y="5637213"/>
          <p14:tracePt t="36834" x="3868738" y="5608638"/>
          <p14:tracePt t="36843" x="3859213" y="5591175"/>
          <p14:tracePt t="36846" x="3840163" y="5572125"/>
          <p14:tracePt t="36859" x="3840163" y="5543550"/>
          <p14:tracePt t="36870" x="3840163" y="5495925"/>
          <p14:tracePt t="36887" x="3802063" y="5448300"/>
          <p14:tracePt t="36904" x="3802063" y="5381625"/>
          <p14:tracePt t="36910" x="3802063" y="5372100"/>
          <p14:tracePt t="36933" x="3802063" y="5307013"/>
          <p14:tracePt t="36949" x="3802063" y="5278438"/>
          <p14:tracePt t="36959" x="3802063" y="5259388"/>
          <p14:tracePt t="36977" x="3802063" y="5249863"/>
          <p14:tracePt t="36995" x="3802063" y="5211763"/>
          <p14:tracePt t="39948" x="3802063" y="5192713"/>
          <p14:tracePt t="39956" x="3802063" y="5154613"/>
          <p14:tracePt t="39971" x="3802063" y="5070475"/>
          <p14:tracePt t="39977" x="3802063" y="5060950"/>
          <p14:tracePt t="39978" x="3802063" y="5032375"/>
          <p14:tracePt t="39987" x="3821113" y="4994275"/>
          <p14:tracePt t="40003" x="3830638" y="4946650"/>
          <p14:tracePt t="40024" x="3878263" y="4900613"/>
          <p14:tracePt t="40026" x="3887788" y="4872038"/>
          <p14:tracePt t="40037" x="3916363" y="4843463"/>
          <p14:tracePt t="40040" x="3916363" y="4814888"/>
          <p14:tracePt t="40044" x="3925888" y="4795838"/>
          <p14:tracePt t="40046" x="3944938" y="4786313"/>
          <p14:tracePt t="40056" x="3981450" y="4729163"/>
          <p14:tracePt t="40071" x="4019550" y="4673600"/>
          <p14:tracePt t="40088" x="4076700" y="4597400"/>
          <p14:tracePt t="40112" x="4152900" y="4521200"/>
          <p14:tracePt t="40116" x="4189413" y="4473575"/>
          <p14:tracePt t="40126" x="4208463" y="4464050"/>
          <p14:tracePt t="40143" x="4265613" y="4408488"/>
          <p14:tracePt t="40148" x="4275138" y="4398963"/>
          <p14:tracePt t="40160" x="4313238" y="4351338"/>
          <p14:tracePt t="40162" x="4341813" y="4322763"/>
          <p14:tracePt t="40175" x="4360863" y="4313238"/>
          <p14:tracePt t="40181" x="4389438" y="4284663"/>
          <p14:tracePt t="40185" x="4398963" y="4275138"/>
          <p14:tracePt t="40196" x="4425950" y="4275138"/>
          <p14:tracePt t="40205" x="4473575" y="4237038"/>
          <p14:tracePt t="40209" x="4483100" y="4229100"/>
          <p14:tracePt t="40220" x="4511675" y="4229100"/>
          <p14:tracePt t="40225" x="4521200" y="4219575"/>
          <p14:tracePt t="40226" x="4540250" y="4200525"/>
          <p14:tracePt t="40236" x="4559300" y="4200525"/>
          <p14:tracePt t="40240" x="4597400" y="4200525"/>
          <p14:tracePt t="40243" x="4606925" y="4191000"/>
          <p14:tracePt t="40254" x="4672013" y="4162425"/>
          <p14:tracePt t="40273" x="4748213" y="4105275"/>
          <p14:tracePt t="40287" x="4795838" y="4105275"/>
          <p14:tracePt t="40313" x="4843463" y="4076700"/>
          <p14:tracePt t="40322" x="4852988" y="4076700"/>
          <p14:tracePt t="40330" x="4860925" y="4076700"/>
          <p14:tracePt t="40339" x="4879975" y="4076700"/>
          <p14:tracePt t="40354" x="4889500" y="4067175"/>
          <p14:tracePt t="40371" x="4927600" y="4057650"/>
          <p14:tracePt t="40387" x="4984750" y="4029075"/>
          <p14:tracePt t="40416" x="5051425" y="4029075"/>
          <p14:tracePt t="40422" x="5060950" y="4029075"/>
          <p14:tracePt t="40430" x="5087938" y="4029075"/>
          <p14:tracePt t="40433" x="5106988" y="4029075"/>
          <p14:tracePt t="40436" x="5116513" y="4029075"/>
          <p14:tracePt t="40440" x="5126038" y="4029075"/>
          <p14:tracePt t="40454" x="5154613" y="4029075"/>
          <p14:tracePt t="40458" x="5173663" y="4029075"/>
          <p14:tracePt t="40469" x="5183188" y="4029075"/>
          <p14:tracePt t="40479" x="5192713" y="4029075"/>
          <p14:tracePt t="40486" x="5230813" y="4029075"/>
          <p14:tracePt t="40511" x="5372100" y="4029075"/>
          <p14:tracePt t="40517" x="5457825" y="4029075"/>
          <p14:tracePt t="40520" x="5505450" y="4029075"/>
          <p14:tracePt t="40525" x="5570538" y="4029075"/>
          <p14:tracePt t="40528" x="5637213" y="4029075"/>
          <p14:tracePt t="40532" x="5684838" y="4029075"/>
          <p14:tracePt t="40534" x="5751513" y="4029075"/>
          <p14:tracePt t="40542" x="5892800" y="4029075"/>
          <p14:tracePt t="40554" x="6072188" y="4029075"/>
          <p14:tracePt t="40559" x="6148388" y="4010025"/>
          <p14:tracePt t="40576" x="7056438" y="3935413"/>
          <p14:tracePt t="40582" x="7766050" y="3811588"/>
          <p14:tracePt t="40595" x="8588375" y="3689350"/>
          <p14:tracePt t="40603" x="9278938" y="3584575"/>
          <p14:tracePt t="40630" x="11993563" y="3216275"/>
          <p14:tracePt t="44582" x="11842750" y="6072188"/>
          <p14:tracePt t="44588" x="11625263" y="6072188"/>
          <p14:tracePt t="44606" x="11312525" y="6072188"/>
          <p14:tracePt t="44611" x="11245850" y="6072188"/>
          <p14:tracePt t="44613" x="11217275" y="6054725"/>
          <p14:tracePt t="44622" x="11171238" y="6026150"/>
          <p14:tracePt t="44627" x="11123613" y="6026150"/>
          <p14:tracePt t="44628" x="11095038" y="6026150"/>
          <p14:tracePt t="44637" x="11009313" y="5959475"/>
          <p14:tracePt t="44653" x="10906125" y="5864225"/>
          <p14:tracePt t="44660" x="10848975" y="5835650"/>
          <p14:tracePt t="44669" x="10782300" y="5770563"/>
          <p14:tracePt t="44700" x="10650538" y="5656263"/>
          <p14:tracePt t="44709" x="10593388" y="5618163"/>
          <p14:tracePt t="44711" x="10555288" y="5618163"/>
          <p14:tracePt t="44714" x="10526713" y="5608638"/>
          <p14:tracePt t="44721" x="10452100" y="5572125"/>
          <p14:tracePt t="44741" x="10366375" y="5562600"/>
          <p14:tracePt t="44747" x="10299700" y="5524500"/>
          <p14:tracePt t="44750" x="10272713" y="5524500"/>
          <p14:tracePt t="44761" x="10158413" y="5486400"/>
          <p14:tracePt t="44771" x="10101263" y="5486400"/>
          <p14:tracePt t="44776" x="10026650" y="5486400"/>
          <p14:tracePt t="44786" x="9950450" y="5486400"/>
          <p14:tracePt t="44791" x="9902825" y="5457825"/>
          <p14:tracePt t="44793" x="9864725" y="5457825"/>
          <p14:tracePt t="44819" x="9656763" y="5457825"/>
          <p14:tracePt t="44824" x="9628188" y="5457825"/>
          <p14:tracePt t="44834" x="9544050" y="5457825"/>
          <p14:tracePt t="44842" x="9477375" y="5457825"/>
          <p14:tracePt t="44844" x="9467850" y="5457825"/>
          <p14:tracePt t="45045" x="9382125" y="5476875"/>
          <p14:tracePt t="45052" x="9372600" y="5505450"/>
          <p14:tracePt t="45058" x="9326563" y="5514975"/>
          <p14:tracePt t="45061" x="9317038" y="5514975"/>
          <p14:tracePt t="45066" x="9288463" y="5514975"/>
          <p14:tracePt t="45070" x="9259888" y="5514975"/>
          <p14:tracePt t="45073" x="9231313" y="5514975"/>
          <p14:tracePt t="45082" x="9137650" y="5514975"/>
          <p14:tracePt t="45091" x="9023350" y="5514975"/>
          <p14:tracePt t="45103" x="8834438" y="5514975"/>
          <p14:tracePt t="45108" x="8767763" y="5514975"/>
          <p14:tracePt t="45110" x="8701088" y="5514975"/>
          <p14:tracePt t="45112" x="8626475" y="5514975"/>
          <p14:tracePt t="45122" x="8512175" y="5514975"/>
          <p14:tracePt t="45126" x="8447088" y="5514975"/>
          <p14:tracePt t="45128" x="8380413" y="5514975"/>
          <p14:tracePt t="45140" x="7964488" y="5505450"/>
          <p14:tracePt t="45165" x="7367588" y="5316538"/>
          <p14:tracePt t="45177" x="7254875" y="5154613"/>
          <p14:tracePt t="45188" x="7197725" y="5041900"/>
          <p14:tracePt t="45192" x="7131050" y="4910138"/>
          <p14:tracePt t="45203" x="7094538" y="4776788"/>
          <p14:tracePt t="45207" x="7056438" y="4700588"/>
          <p14:tracePt t="45209" x="7056438" y="4673600"/>
          <p14:tracePt t="45220" x="7018338" y="4521200"/>
          <p14:tracePt t="45225" x="7018338" y="4511675"/>
          <p14:tracePt t="45236" x="7018338" y="4408488"/>
          <p14:tracePt t="45241" x="7018338" y="4379913"/>
          <p14:tracePt t="45252" x="7018338" y="4370388"/>
          <p14:tracePt t="45277" x="7018338" y="4322763"/>
          <p14:tracePt t="45362" x="7018338" y="4284663"/>
          <p14:tracePt t="45374" x="7018338" y="4275138"/>
          <p14:tracePt t="45380" x="7018338" y="4256088"/>
          <p14:tracePt t="45395" x="7027863" y="4210050"/>
          <p14:tracePt t="45409" x="7037388" y="4191000"/>
          <p14:tracePt t="45411" x="7037388" y="4162425"/>
          <p14:tracePt t="45412" x="7037388" y="4152900"/>
          <p14:tracePt t="45420" x="7075488" y="4114800"/>
          <p14:tracePt t="45426" x="7075488" y="4086225"/>
          <p14:tracePt t="45428" x="7075488" y="4067175"/>
          <p14:tracePt t="45441" x="7075488" y="4010025"/>
          <p14:tracePt t="45455" x="7104063" y="3935413"/>
          <p14:tracePt t="45458" x="7112000" y="3916363"/>
          <p14:tracePt t="45460" x="7131050" y="3906838"/>
          <p14:tracePt t="45479" x="7159625" y="3849688"/>
          <p14:tracePt t="45492" x="7207250" y="3773488"/>
          <p14:tracePt t="45510" x="7235825" y="3746500"/>
          <p14:tracePt t="45517" x="7245350" y="3736975"/>
          <p14:tracePt t="45528" x="7245350" y="3689350"/>
          <p14:tracePt t="45719" x="7245350" y="3708400"/>
          <p14:tracePt t="45731" x="7245350" y="3765550"/>
          <p14:tracePt t="45754" x="7273925" y="3830638"/>
          <p14:tracePt t="45759" x="7273925" y="3878263"/>
          <p14:tracePt t="45769" x="7321550" y="3925888"/>
          <p14:tracePt t="45903" x="7321550" y="3963988"/>
          <p14:tracePt t="45919" x="7312025" y="3983038"/>
          <p14:tracePt t="45931" x="7292975" y="4000500"/>
          <p14:tracePt t="45945" x="7264400" y="4029075"/>
          <p14:tracePt t="45976" x="7226300" y="4038600"/>
          <p14:tracePt t="46035" x="7207250" y="4057650"/>
          <p14:tracePt t="47262" x="7207250" y="4048125"/>
          <p14:tracePt t="47271" x="7207250" y="4038600"/>
          <p14:tracePt t="47991" x="7207250" y="4000500"/>
          <p14:tracePt t="50589" x="7245350" y="4000500"/>
          <p14:tracePt t="50596" x="7321550" y="4000500"/>
          <p14:tracePt t="50603" x="7348538" y="4000500"/>
          <p14:tracePt t="50609" x="7405688" y="4000500"/>
          <p14:tracePt t="50612" x="7415213" y="4000500"/>
          <p14:tracePt t="50619" x="7472363" y="4000500"/>
          <p14:tracePt t="50625" x="7500938" y="4000500"/>
          <p14:tracePt t="50627" x="7529513" y="4000500"/>
          <p14:tracePt t="50631" x="7575550" y="4000500"/>
          <p14:tracePt t="50640" x="7604125" y="4000500"/>
          <p14:tracePt t="50643" x="7670800" y="4019550"/>
          <p14:tracePt t="50652" x="7766050" y="4019550"/>
          <p14:tracePt t="50658" x="7869238" y="4057650"/>
          <p14:tracePt t="50668" x="7926388" y="4057650"/>
          <p14:tracePt t="50673" x="7954963" y="4086225"/>
          <p14:tracePt t="50676" x="7983538" y="4086225"/>
          <p14:tracePt t="50678" x="8012113" y="4086225"/>
          <p14:tracePt t="50687" x="8077200" y="4124325"/>
          <p14:tracePt t="50691" x="8105775" y="4124325"/>
          <p14:tracePt t="50694" x="8115300" y="4124325"/>
          <p14:tracePt t="50707" x="8220075" y="4152900"/>
          <p14:tracePt t="50709" x="8229600" y="4152900"/>
          <p14:tracePt t="50719" x="8266113" y="4152900"/>
          <p14:tracePt t="50725" x="8285163" y="4152900"/>
          <p14:tracePt t="50738" x="8323263" y="4191000"/>
          <p14:tracePt t="50792" x="8342313" y="4191000"/>
          <p14:tracePt t="50809" x="8351838" y="4191000"/>
          <p14:tracePt t="50905" x="8361363" y="4191000"/>
          <p14:tracePt t="50923" x="8447088" y="4191000"/>
          <p14:tracePt t="50937" x="8483600" y="4191000"/>
          <p14:tracePt t="50949" x="8512175" y="4191000"/>
          <p14:tracePt t="50958" x="8521700" y="4191000"/>
          <p14:tracePt t="51029" x="8550275" y="4191000"/>
          <p14:tracePt t="51036" x="8569325" y="4191000"/>
          <p14:tracePt t="51380" x="8578850" y="4191000"/>
          <p14:tracePt t="52152" x="8578850" y="4162425"/>
          <p14:tracePt t="52157" x="8578850" y="4152900"/>
          <p14:tracePt t="54777" x="8578850" y="4133850"/>
          <p14:tracePt t="54781" x="8578850" y="4124325"/>
          <p14:tracePt t="54827" x="8578850" y="4095750"/>
          <p14:tracePt t="54834" x="8578850" y="4086225"/>
          <p14:tracePt t="54854" x="8578850" y="4067175"/>
          <p14:tracePt t="54862" x="8578850" y="4057650"/>
          <p14:tracePt t="54874" x="8578850" y="4029075"/>
          <p14:tracePt t="54885" x="8578850" y="4019550"/>
          <p14:tracePt t="54903" x="8559800" y="3992563"/>
          <p14:tracePt t="54973" x="8559800" y="3963988"/>
          <p14:tracePt t="54978" x="8559800" y="3954463"/>
          <p14:tracePt t="54990" x="8559800" y="3935413"/>
          <p14:tracePt t="55002" x="8559800" y="3925888"/>
          <p14:tracePt t="55373" x="8559800" y="3906838"/>
          <p14:tracePt t="55378" x="8559800" y="3897313"/>
          <p14:tracePt t="55392" x="8559800" y="3859213"/>
          <p14:tracePt t="55583" x="8559800" y="3830638"/>
          <p14:tracePt t="55591" x="8559800" y="3792538"/>
          <p14:tracePt t="55596" x="8559800" y="3773488"/>
          <p14:tracePt t="55615" x="8578850" y="3746500"/>
          <p14:tracePt t="55617" x="8597900" y="3736975"/>
          <p14:tracePt t="55628" x="8597900" y="3717925"/>
          <p14:tracePt t="55639" x="8597900" y="3708400"/>
          <p14:tracePt t="55652" x="8597900" y="3679825"/>
          <p14:tracePt t="55659" x="8597900" y="3670300"/>
          <p14:tracePt t="55684" x="8597900" y="3641725"/>
          <p14:tracePt t="55693" x="8607425" y="3632200"/>
          <p14:tracePt t="56505" x="8616950" y="3613150"/>
          <p14:tracePt t="56517" x="8616950" y="3556000"/>
          <p14:tracePt t="56520" x="8597900" y="3529013"/>
          <p14:tracePt t="56526" x="8588375" y="3509963"/>
          <p14:tracePt t="56535" x="8588375" y="3490913"/>
          <p14:tracePt t="56544" x="8588375" y="3462338"/>
          <p14:tracePt t="56552" x="8588375" y="3433763"/>
          <p14:tracePt t="56568" x="8569325" y="3395663"/>
          <p14:tracePt t="56575" x="8559800" y="3376613"/>
          <p14:tracePt t="56630" x="8559800" y="3357563"/>
          <p14:tracePt t="56636" x="8559800" y="3338513"/>
          <p14:tracePt t="56658" x="8559800" y="3311525"/>
          <p14:tracePt t="56668" x="8559800" y="3273425"/>
          <p14:tracePt t="56689" x="8559800" y="3244850"/>
          <p14:tracePt t="56691" x="8559800" y="3235325"/>
          <p14:tracePt t="56760" x="8559800" y="3206750"/>
          <p14:tracePt t="56768" x="8559800" y="3197225"/>
          <p14:tracePt t="56800" x="8559800" y="3178175"/>
          <p14:tracePt t="56808" x="8578850" y="3168650"/>
          <p14:tracePt t="56871" x="8588375" y="3159125"/>
          <p14:tracePt t="56897" x="8616950" y="3159125"/>
          <p14:tracePt t="56899" x="8626475" y="3159125"/>
          <p14:tracePt t="56911" x="8655050" y="3159125"/>
          <p14:tracePt t="56919" x="8693150" y="3159125"/>
          <p14:tracePt t="56927" x="8710613" y="3159125"/>
          <p14:tracePt t="56935" x="8739188" y="3159125"/>
          <p14:tracePt t="56954" x="8815388" y="3159125"/>
          <p14:tracePt t="56958" x="8843963" y="3159125"/>
          <p14:tracePt t="56968" x="8882063" y="3159125"/>
          <p14:tracePt t="56975" x="8918575" y="3159125"/>
          <p14:tracePt t="56985" x="8966200" y="3159125"/>
          <p14:tracePt t="56988" x="8975725" y="3159125"/>
          <p14:tracePt t="56991" x="9004300" y="3159125"/>
          <p14:tracePt t="57003" x="9070975" y="3159125"/>
          <p14:tracePt t="57009" x="9118600" y="3159125"/>
          <p14:tracePt t="57018" x="9155113" y="3159125"/>
          <p14:tracePt t="57035" x="9240838" y="3159125"/>
          <p14:tracePt t="57052" x="9326563" y="3159125"/>
          <p14:tracePt t="57058" x="9401175" y="3159125"/>
          <p14:tracePt t="57075" x="9505950" y="3121025"/>
          <p14:tracePt t="57079" x="9572625" y="3092450"/>
          <p14:tracePt t="57091" x="9609138" y="3092450"/>
          <p14:tracePt t="57093" x="9637713" y="3074988"/>
          <p14:tracePt t="57094" x="9694863" y="3055938"/>
          <p14:tracePt t="57102" x="9713913" y="3055938"/>
          <p14:tracePt t="57107" x="9742488" y="3027363"/>
          <p14:tracePt t="57127" x="9826625" y="3027363"/>
          <p14:tracePt t="57136" x="9855200" y="3027363"/>
          <p14:tracePt t="57142" x="9864725" y="3027363"/>
          <p14:tracePt t="57168" x="9893300" y="3027363"/>
          <p14:tracePt t="57177" x="9912350" y="3027363"/>
          <p14:tracePt t="57185" x="9931400" y="3027363"/>
          <p14:tracePt t="57189" x="9950450" y="3027363"/>
          <p14:tracePt t="57210" x="9979025" y="3027363"/>
          <p14:tracePt t="57225" x="9998075" y="3027363"/>
          <p14:tracePt t="57227" x="10017125" y="3027363"/>
          <p14:tracePt t="57576" x="10026650" y="3036888"/>
          <p14:tracePt t="57600" x="10026650" y="3074988"/>
          <p14:tracePt t="57620" x="10026650" y="3111500"/>
          <p14:tracePt t="57640" x="10026650" y="3130550"/>
          <p14:tracePt t="57643" x="10026650" y="3140075"/>
          <p14:tracePt t="57686" x="10026650" y="3149600"/>
          <p14:tracePt t="57695" x="10026650" y="3168650"/>
          <p14:tracePt t="57704" x="10026650" y="3178175"/>
          <p14:tracePt t="57709" x="10026650" y="3187700"/>
          <p14:tracePt t="57720" x="10026650" y="3216275"/>
          <p14:tracePt t="57735" x="10026650" y="3235325"/>
          <p14:tracePt t="57755" x="10007600" y="3254375"/>
          <p14:tracePt t="57785" x="10007600" y="3282950"/>
          <p14:tracePt t="57794" x="10007600" y="3302000"/>
          <p14:tracePt t="57834" x="10007600" y="3328988"/>
          <p14:tracePt t="57840" x="10007600" y="3338513"/>
          <p14:tracePt t="57874" x="10007600" y="3367088"/>
          <p14:tracePt t="57879" x="10007600" y="3376613"/>
          <p14:tracePt t="57892" x="10007600" y="3414713"/>
          <p14:tracePt t="57915" x="10007600" y="3443288"/>
          <p14:tracePt t="57917" x="10007600" y="3462338"/>
          <p14:tracePt t="57940" x="10007600" y="3500438"/>
          <p14:tracePt t="57961" x="10007600" y="3529013"/>
          <p14:tracePt t="57966" x="10007600" y="3538538"/>
          <p14:tracePt t="57985" x="10007600" y="3565525"/>
          <p14:tracePt t="57993" x="10007600" y="3575050"/>
          <p14:tracePt t="58008" x="10007600" y="3603625"/>
          <p14:tracePt t="58018" x="10007600" y="3622675"/>
          <p14:tracePt t="58034" x="10007600" y="3651250"/>
          <p14:tracePt t="58040" x="10007600" y="3660775"/>
          <p14:tracePt t="58041" x="10007600" y="3689350"/>
          <p14:tracePt t="58051" x="10007600" y="3698875"/>
          <p14:tracePt t="58070" x="10007600" y="3727450"/>
          <p14:tracePt t="58090" x="10007600" y="3756025"/>
          <p14:tracePt t="58101" x="10007600" y="3765550"/>
          <p14:tracePt t="58118" x="10007600" y="3811588"/>
          <p14:tracePt t="58140" x="10007600" y="3849688"/>
          <p14:tracePt t="58168" x="10007600" y="3878263"/>
          <p14:tracePt t="58177" x="10007600" y="3887788"/>
          <p14:tracePt t="58216" x="10007600" y="3916363"/>
          <p14:tracePt t="58221" x="10007600" y="3925888"/>
          <p14:tracePt t="58249" x="10007600" y="3954463"/>
          <p14:tracePt t="58258" x="10007600" y="3973513"/>
          <p14:tracePt t="58269" x="10007600" y="4010025"/>
          <p14:tracePt t="58285" x="10007600" y="4048125"/>
          <p14:tracePt t="58302" x="10017125" y="4067175"/>
          <p14:tracePt t="58308" x="10026650" y="4076700"/>
          <p14:tracePt t="58328" x="10026650" y="4105275"/>
          <p14:tracePt t="58334" x="10026650" y="4114800"/>
          <p14:tracePt t="58701" x="10026650" y="4143375"/>
          <p14:tracePt t="58712" x="10026650" y="4152900"/>
          <p14:tracePt t="58729" x="10026650" y="4181475"/>
          <p14:tracePt t="58739" x="10026650" y="4200525"/>
          <p14:tracePt t="58751" x="10026650" y="4219575"/>
          <p14:tracePt t="58772" x="10026650" y="4275138"/>
          <p14:tracePt t="58774" x="10026650" y="4284663"/>
          <p14:tracePt t="58784" x="10026650" y="4313238"/>
          <p14:tracePt t="58802" x="10026650" y="4360863"/>
          <p14:tracePt t="58818" x="10026650" y="4370388"/>
          <p14:tracePt t="58889" x="10026650" y="4398963"/>
          <p14:tracePt t="58895" x="10026650" y="4408488"/>
          <p14:tracePt t="58913" x="10026650" y="4427538"/>
          <p14:tracePt t="58922" x="10026650" y="4437063"/>
          <p14:tracePt t="58959" x="10026650" y="4473575"/>
          <p14:tracePt t="59062" x="10026650" y="4492625"/>
          <p14:tracePt t="59086" x="10026650" y="4502150"/>
          <p14:tracePt t="59787" x="9998075" y="4540250"/>
          <p14:tracePt t="59805" x="9988550" y="4549775"/>
          <p14:tracePt t="59818" x="9969500" y="4568825"/>
          <p14:tracePt t="59835" x="9959975" y="4578350"/>
          <p14:tracePt t="64263" x="9950450" y="4587875"/>
          <p14:tracePt t="64276" x="9931400" y="4606925"/>
          <p14:tracePt t="64288" x="9921875" y="4616450"/>
          <p14:tracePt t="64293" x="9912350" y="4635500"/>
          <p14:tracePt t="64592" x="9883775" y="4635500"/>
          <p14:tracePt t="64600" x="9864725" y="4635500"/>
          <p14:tracePt t="64618" x="9845675" y="4635500"/>
          <p14:tracePt t="64646" x="9818688" y="4635500"/>
          <p14:tracePt t="64654" x="9799638" y="4635500"/>
          <p14:tracePt t="64686" x="9771063" y="4635500"/>
          <p14:tracePt t="64694" x="9761538" y="4635500"/>
          <p14:tracePt t="66056" x="9761538" y="4597400"/>
          <p14:tracePt t="66063" x="9790113" y="4559300"/>
          <p14:tracePt t="66075" x="9826625" y="4530725"/>
          <p14:tracePt t="66076" x="9836150" y="4511675"/>
          <p14:tracePt t="66086" x="9874250" y="4473575"/>
          <p14:tracePt t="66100" x="9931400" y="4427538"/>
          <p14:tracePt t="66117" x="9988550" y="4370388"/>
          <p14:tracePt t="66124" x="9998075" y="4351338"/>
          <p14:tracePt t="66134" x="10007600" y="4341813"/>
          <p14:tracePt t="66139" x="10026650" y="4332288"/>
          <p14:tracePt t="66150" x="10036175" y="4313238"/>
          <p14:tracePt t="66167" x="10045700" y="4303713"/>
          <p14:tracePt t="66187" x="10072688" y="4275138"/>
          <p14:tracePt t="66210" x="10101263" y="4246563"/>
          <p14:tracePt t="66224" x="10139363" y="4246563"/>
          <p14:tracePt t="66226" x="10167938" y="4246563"/>
          <p14:tracePt t="66235" x="10177463" y="4237038"/>
          <p14:tracePt t="66266" x="10196513" y="4229100"/>
          <p14:tracePt t="66324" x="10225088" y="4229100"/>
          <p14:tracePt t="66329" x="10234613" y="4229100"/>
          <p14:tracePt t="66346" x="10263188" y="4229100"/>
          <p14:tracePt t="66363" x="10328275" y="4229100"/>
          <p14:tracePt t="66367" x="10337800" y="4229100"/>
          <p14:tracePt t="66376" x="10366375" y="4229100"/>
          <p14:tracePt t="66384" x="10394950" y="4229100"/>
          <p14:tracePt t="66400" x="10461625" y="4229100"/>
          <p14:tracePt t="66407" x="10471150" y="4229100"/>
          <p14:tracePt t="66408" x="10490200" y="4229100"/>
          <p14:tracePt t="66416" x="10498138" y="4229100"/>
          <p14:tracePt t="66439" x="10536238" y="4229100"/>
          <p14:tracePt t="66463" x="10583863" y="4229100"/>
          <p14:tracePt t="66963" x="10621963" y="4229100"/>
          <p14:tracePt t="67017" x="10650538" y="4229100"/>
          <p14:tracePt t="67024" x="10660063" y="4229100"/>
          <p14:tracePt t="67082" x="10679113" y="4229100"/>
          <p14:tracePt t="67089" x="10688638" y="4229100"/>
          <p14:tracePt t="67114" x="10698163" y="4229100"/>
          <p14:tracePt t="67121" x="10717213" y="4237038"/>
          <p14:tracePt t="67201" x="10725150" y="4237038"/>
          <p14:tracePt t="67211" x="10734675" y="4237038"/>
          <p14:tracePt t="67237" x="10763250" y="4237038"/>
          <p14:tracePt t="67241" x="10782300" y="4237038"/>
          <p14:tracePt t="67258" x="10791825" y="4237038"/>
          <p14:tracePt t="67267" x="10801350" y="4237038"/>
          <p14:tracePt t="67275" x="10829925" y="4237038"/>
          <p14:tracePt t="67284" x="10848975" y="4237038"/>
          <p14:tracePt t="67300" x="10877550" y="4237038"/>
          <p14:tracePt t="67306" x="10887075" y="4237038"/>
          <p14:tracePt t="71134" x="10915650" y="4237038"/>
          <p14:tracePt t="71138" x="10980738" y="4237038"/>
          <p14:tracePt t="71142" x="11075988" y="4237038"/>
          <p14:tracePt t="71150" x="11133138" y="4237038"/>
          <p14:tracePt t="71155" x="11171238" y="4237038"/>
          <p14:tracePt t="71158" x="11198225" y="4237038"/>
          <p14:tracePt t="71164" x="11226800" y="4237038"/>
          <p14:tracePt t="71174" x="11283950" y="4284663"/>
          <p14:tracePt t="71185" x="11341100" y="4284663"/>
          <p14:tracePt t="71200" x="11406188" y="4284663"/>
          <p14:tracePt t="71207" x="11463338" y="4284663"/>
          <p14:tracePt t="71210" x="11491913" y="4284663"/>
          <p14:tracePt t="71217" x="11520488" y="4284663"/>
          <p14:tracePt t="71222" x="11577638" y="4284663"/>
          <p14:tracePt t="71237" x="11661775" y="4284663"/>
          <p14:tracePt t="71239" x="11718925" y="4284663"/>
          <p14:tracePt t="71242" x="11747500" y="4284663"/>
          <p14:tracePt t="71251" x="11804650" y="4256088"/>
          <p14:tracePt t="71270" x="11993563" y="4143375"/>
          <p14:tracePt t="71285" x="12182475" y="3992563"/>
        </p14:tracePtLst>
      </p14:laserTrace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83C4AAC-21CF-95F2-1657-DEB7ED52EC3A}"/>
              </a:ext>
            </a:extLst>
          </p:cNvPr>
          <p:cNvSpPr>
            <a:spLocks noGrp="1"/>
          </p:cNvSpPr>
          <p:nvPr>
            <p:ph type="title"/>
          </p:nvPr>
        </p:nvSpPr>
        <p:spPr/>
        <p:txBody>
          <a:bodyPr/>
          <a:lstStyle/>
          <a:p>
            <a:r>
              <a:rPr lang="en-US" dirty="0"/>
              <a:t>Dataset</a:t>
            </a:r>
          </a:p>
        </p:txBody>
      </p:sp>
      <p:sp>
        <p:nvSpPr>
          <p:cNvPr id="4" name="Date Placeholder 3">
            <a:extLst>
              <a:ext uri="{FF2B5EF4-FFF2-40B4-BE49-F238E27FC236}">
                <a16:creationId xmlns:a16="http://schemas.microsoft.com/office/drawing/2014/main" id="{5B5AB915-545D-2825-B696-A9C7F960CBD2}"/>
              </a:ext>
            </a:extLst>
          </p:cNvPr>
          <p:cNvSpPr>
            <a:spLocks noGrp="1"/>
          </p:cNvSpPr>
          <p:nvPr>
            <p:ph type="dt" sz="half" idx="10"/>
          </p:nvPr>
        </p:nvSpPr>
        <p:spPr/>
        <p:txBody>
          <a:bodyPr/>
          <a:lstStyle/>
          <a:p>
            <a:pPr>
              <a:defRPr/>
            </a:pPr>
            <a:fld id="{8547731F-1369-4A73-A3B8-A15F0C212DA8}" type="datetime1">
              <a:rPr lang="en-US" smtClean="0"/>
              <a:t>2/28/2024</a:t>
            </a:fld>
            <a:endParaRPr lang="de-DE" dirty="0"/>
          </a:p>
        </p:txBody>
      </p:sp>
      <p:sp>
        <p:nvSpPr>
          <p:cNvPr id="5" name="Footer Placeholder 4">
            <a:extLst>
              <a:ext uri="{FF2B5EF4-FFF2-40B4-BE49-F238E27FC236}">
                <a16:creationId xmlns:a16="http://schemas.microsoft.com/office/drawing/2014/main" id="{64E829AA-B2B1-105C-9229-A2C8654581A7}"/>
              </a:ext>
            </a:extLst>
          </p:cNvPr>
          <p:cNvSpPr>
            <a:spLocks noGrp="1"/>
          </p:cNvSpPr>
          <p:nvPr>
            <p:ph type="ftr" sz="quarter" idx="11"/>
          </p:nvPr>
        </p:nvSpPr>
        <p:spPr/>
        <p:txBody>
          <a:bodyPr/>
          <a:lstStyle/>
          <a:p>
            <a:pPr>
              <a:defRPr/>
            </a:pPr>
            <a:r>
              <a:rPr lang="de-DE" dirty="0"/>
              <a:t>Pichaya Tappayuthpijarn</a:t>
            </a:r>
          </a:p>
        </p:txBody>
      </p:sp>
      <p:sp>
        <p:nvSpPr>
          <p:cNvPr id="6" name="Slide Number Placeholder 5">
            <a:extLst>
              <a:ext uri="{FF2B5EF4-FFF2-40B4-BE49-F238E27FC236}">
                <a16:creationId xmlns:a16="http://schemas.microsoft.com/office/drawing/2014/main" id="{F540FB58-7AD6-CE37-F5BE-08FAB0E7BDE2}"/>
              </a:ext>
            </a:extLst>
          </p:cNvPr>
          <p:cNvSpPr>
            <a:spLocks noGrp="1"/>
          </p:cNvSpPr>
          <p:nvPr>
            <p:ph type="sldNum" sz="quarter" idx="12"/>
          </p:nvPr>
        </p:nvSpPr>
        <p:spPr/>
        <p:txBody>
          <a:bodyPr/>
          <a:lstStyle/>
          <a:p>
            <a:pPr>
              <a:defRPr/>
            </a:pPr>
            <a:r>
              <a:rPr lang="de-DE"/>
              <a:t>SEITE</a:t>
            </a:r>
            <a:r>
              <a:rPr lang="de-DE" spc="0"/>
              <a:t> </a:t>
            </a:r>
            <a:fld id="{37ED3A82-C5FC-FE4D-9EDE-EA1B3EA06354}" type="slidenum">
              <a:rPr lang="de-DE" spc="0" smtClean="0"/>
              <a:pPr>
                <a:defRPr/>
              </a:pPr>
              <a:t>5</a:t>
            </a:fld>
            <a:endParaRPr lang="de-DE" spc="0"/>
          </a:p>
        </p:txBody>
      </p:sp>
      <p:sp>
        <p:nvSpPr>
          <p:cNvPr id="7" name="Content Placeholder 6">
            <a:extLst>
              <a:ext uri="{FF2B5EF4-FFF2-40B4-BE49-F238E27FC236}">
                <a16:creationId xmlns:a16="http://schemas.microsoft.com/office/drawing/2014/main" id="{BFA1C489-ADD8-1D9B-A6C6-441889BBAB64}"/>
              </a:ext>
            </a:extLst>
          </p:cNvPr>
          <p:cNvSpPr>
            <a:spLocks noGrp="1"/>
          </p:cNvSpPr>
          <p:nvPr>
            <p:ph idx="1"/>
          </p:nvPr>
        </p:nvSpPr>
        <p:spPr/>
        <p:txBody>
          <a:bodyPr>
            <a:normAutofit/>
          </a:bodyPr>
          <a:lstStyle/>
          <a:p>
            <a:pPr marL="0" marR="0" lvl="0" indent="0" algn="l" defTabSz="914400" rtl="0" eaLnBrk="0" fontAlgn="base" latinLnBrk="0" hangingPunct="0">
              <a:spcBef>
                <a:spcPct val="0"/>
              </a:spcBef>
              <a:spcAft>
                <a:spcPct val="0"/>
              </a:spcAft>
              <a:buClrTx/>
              <a:buSzTx/>
              <a:buFontTx/>
              <a:buNone/>
              <a:tabLst/>
            </a:pPr>
            <a:r>
              <a:rPr lang="en-US" sz="2000" dirty="0">
                <a:solidFill>
                  <a:srgbClr val="222222"/>
                </a:solidFill>
              </a:rPr>
              <a:t>Dataset </a:t>
            </a:r>
            <a:r>
              <a:rPr lang="en-US" sz="2000" dirty="0">
                <a:solidFill>
                  <a:srgbClr val="7030A0"/>
                </a:solidFill>
              </a:rPr>
              <a:t>‘</a:t>
            </a:r>
            <a:r>
              <a:rPr lang="en-US" sz="2000" i="1" dirty="0">
                <a:solidFill>
                  <a:srgbClr val="7030A0"/>
                </a:solidFill>
              </a:rPr>
              <a:t>MC Simulation of a therapeutic carbon ion beam in head’</a:t>
            </a:r>
            <a:r>
              <a:rPr lang="en-US" sz="2000" dirty="0">
                <a:solidFill>
                  <a:srgbClr val="7030A0"/>
                </a:solidFill>
              </a:rPr>
              <a:t> </a:t>
            </a:r>
            <a:r>
              <a:rPr lang="en-US" sz="2000" dirty="0">
                <a:solidFill>
                  <a:srgbClr val="222222"/>
                </a:solidFill>
              </a:rPr>
              <a:t>by </a:t>
            </a:r>
            <a:r>
              <a:rPr lang="en-US" sz="1600" dirty="0">
                <a:solidFill>
                  <a:srgbClr val="222222"/>
                </a:solidFill>
              </a:rPr>
              <a:t>(</a:t>
            </a:r>
            <a:r>
              <a:rPr lang="en-US" sz="1600" dirty="0" err="1">
                <a:solidFill>
                  <a:srgbClr val="222222"/>
                </a:solidFill>
              </a:rPr>
              <a:t>Schwarze</a:t>
            </a:r>
            <a:r>
              <a:rPr lang="en-US" sz="1600" dirty="0">
                <a:solidFill>
                  <a:srgbClr val="222222"/>
                </a:solidFill>
              </a:rPr>
              <a:t>, 2023)</a:t>
            </a:r>
          </a:p>
          <a:p>
            <a:pPr marL="0" marR="0" lvl="0" indent="0" algn="l" defTabSz="914400" rtl="0" eaLnBrk="0" fontAlgn="base" latinLnBrk="0" hangingPunct="0">
              <a:spcBef>
                <a:spcPct val="0"/>
              </a:spcBef>
              <a:spcAft>
                <a:spcPct val="0"/>
              </a:spcAft>
              <a:buClrTx/>
              <a:buSzTx/>
              <a:buFontTx/>
              <a:buNone/>
              <a:tabLst/>
            </a:pPr>
            <a:endParaRPr lang="en-US" sz="2000" dirty="0">
              <a:solidFill>
                <a:srgbClr val="222222"/>
              </a:solidFill>
            </a:endParaRPr>
          </a:p>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lang="en-US" altLang="en-US" sz="2000" dirty="0">
                <a:solidFill>
                  <a:srgbClr val="222222"/>
                </a:solidFill>
              </a:rPr>
              <a:t>Based on </a:t>
            </a:r>
            <a:r>
              <a:rPr lang="en-US" sz="2000" i="1" dirty="0">
                <a:solidFill>
                  <a:srgbClr val="7030A0"/>
                </a:solidFill>
              </a:rPr>
              <a:t>'Glioma Image Segmentation for Radiotherapy: RT targets, barriers to cancer spread, and organs at risk (GLIS-RT)’</a:t>
            </a:r>
            <a:r>
              <a:rPr lang="en-US" sz="1400" b="0" i="0" dirty="0">
                <a:solidFill>
                  <a:srgbClr val="7030A0"/>
                </a:solidFill>
                <a:effectLst/>
                <a:latin typeface="Söhne"/>
              </a:rPr>
              <a:t> </a:t>
            </a:r>
            <a:r>
              <a:rPr lang="en-US" sz="1600" dirty="0">
                <a:solidFill>
                  <a:srgbClr val="222222"/>
                </a:solidFill>
              </a:rPr>
              <a:t>(</a:t>
            </a:r>
            <a:r>
              <a:rPr lang="en-US" sz="1600" dirty="0" err="1">
                <a:solidFill>
                  <a:srgbClr val="222222"/>
                </a:solidFill>
              </a:rPr>
              <a:t>Shusharina</a:t>
            </a:r>
            <a:r>
              <a:rPr lang="en-US" sz="1600" dirty="0">
                <a:solidFill>
                  <a:srgbClr val="222222"/>
                </a:solidFill>
              </a:rPr>
              <a:t> &amp; </a:t>
            </a:r>
            <a:r>
              <a:rPr lang="en-US" sz="1600" dirty="0" err="1">
                <a:solidFill>
                  <a:srgbClr val="222222"/>
                </a:solidFill>
              </a:rPr>
              <a:t>Bortfeld</a:t>
            </a:r>
            <a:r>
              <a:rPr lang="en-US" sz="1600" dirty="0">
                <a:solidFill>
                  <a:srgbClr val="222222"/>
                </a:solidFill>
              </a:rPr>
              <a:t>, 2021)</a:t>
            </a:r>
          </a:p>
          <a:p>
            <a:pPr marL="0" marR="0" lvl="0" indent="0" algn="l" defTabSz="914400" rtl="0" eaLnBrk="0" fontAlgn="base" latinLnBrk="0" hangingPunct="0">
              <a:spcBef>
                <a:spcPct val="0"/>
              </a:spcBef>
              <a:spcAft>
                <a:spcPct val="0"/>
              </a:spcAft>
              <a:buClrTx/>
              <a:buSzTx/>
              <a:buNone/>
              <a:tabLst/>
            </a:pPr>
            <a:endParaRPr lang="en-US" sz="2000" dirty="0">
              <a:solidFill>
                <a:srgbClr val="222222"/>
              </a:solidFill>
            </a:endParaRPr>
          </a:p>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lang="en-US" altLang="en-US" sz="2000" dirty="0">
                <a:solidFill>
                  <a:srgbClr val="222222"/>
                </a:solidFill>
              </a:rPr>
              <a:t>Monte-Carlo radiation transport simulation using Geant4 </a:t>
            </a:r>
            <a:r>
              <a:rPr lang="en-US" altLang="en-US" sz="1600" dirty="0">
                <a:solidFill>
                  <a:srgbClr val="222222"/>
                </a:solidFill>
              </a:rPr>
              <a:t>(</a:t>
            </a:r>
            <a:r>
              <a:rPr lang="en-US" altLang="en-US" sz="1600" dirty="0" err="1">
                <a:solidFill>
                  <a:srgbClr val="222222"/>
                </a:solidFill>
              </a:rPr>
              <a:t>Agostinelli</a:t>
            </a:r>
            <a:r>
              <a:rPr lang="en-US" altLang="en-US" sz="1600" dirty="0">
                <a:solidFill>
                  <a:srgbClr val="222222"/>
                </a:solidFill>
              </a:rPr>
              <a:t> et al., 2003) </a:t>
            </a:r>
          </a:p>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lang="en-US" altLang="en-US" sz="2000" dirty="0">
                <a:solidFill>
                  <a:srgbClr val="222222"/>
                </a:solidFill>
              </a:rPr>
              <a:t>30 source positions per beam energy:  1250, 1375, 1500, … , 3000 (MeV)</a:t>
            </a:r>
          </a:p>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lang="en-US" sz="2000" dirty="0">
                <a:solidFill>
                  <a:srgbClr val="222222"/>
                </a:solidFill>
              </a:rPr>
              <a:t>Energy depositions of a beam within </a:t>
            </a:r>
          </a:p>
          <a:p>
            <a:pPr marL="800088" lvl="1" indent="-342900">
              <a:buFont typeface="Courier New" panose="02070309020205020404" pitchFamily="49" charset="0"/>
              <a:buChar char="o"/>
            </a:pPr>
            <a:r>
              <a:rPr lang="en-US" sz="2000" dirty="0">
                <a:solidFill>
                  <a:srgbClr val="222222"/>
                </a:solidFill>
              </a:rPr>
              <a:t>Head phantom : CT images of various patients with a brain tumor.</a:t>
            </a:r>
          </a:p>
          <a:p>
            <a:pPr marL="800088" lvl="1" indent="-342900">
              <a:buFont typeface="Courier New" panose="02070309020205020404" pitchFamily="49" charset="0"/>
              <a:buChar char="o"/>
            </a:pPr>
            <a:r>
              <a:rPr lang="en-US" sz="2000" dirty="0">
                <a:solidFill>
                  <a:srgbClr val="222222"/>
                </a:solidFill>
              </a:rPr>
              <a:t>Pure water phantom </a:t>
            </a:r>
            <a:endParaRPr lang="en-US" altLang="en-US" sz="2000" dirty="0">
              <a:solidFill>
                <a:srgbClr val="222222"/>
              </a:solidFill>
            </a:endParaRPr>
          </a:p>
          <a:p>
            <a:endParaRPr lang="en-US" sz="2000" dirty="0"/>
          </a:p>
        </p:txBody>
      </p:sp>
      <p:sp>
        <p:nvSpPr>
          <p:cNvPr id="2" name="Rectangle 1">
            <a:extLst>
              <a:ext uri="{FF2B5EF4-FFF2-40B4-BE49-F238E27FC236}">
                <a16:creationId xmlns:a16="http://schemas.microsoft.com/office/drawing/2014/main" id="{6CBD4E56-ABA1-A078-7AD3-0AEAF7A5FE38}"/>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spTree>
    <p:extLst>
      <p:ext uri="{BB962C8B-B14F-4D97-AF65-F5344CB8AC3E}">
        <p14:creationId xmlns:p14="http://schemas.microsoft.com/office/powerpoint/2010/main" val="3660867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5D48F464-199E-71EB-34DB-4844635C8FB0}"/>
              </a:ext>
            </a:extLst>
          </p:cNvPr>
          <p:cNvSpPr/>
          <p:nvPr/>
        </p:nvSpPr>
        <p:spPr>
          <a:xfrm>
            <a:off x="300345" y="1679990"/>
            <a:ext cx="3047263" cy="1653369"/>
          </a:xfrm>
          <a:prstGeom prst="roundRect">
            <a:avLst/>
          </a:prstGeom>
        </p:spPr>
        <p:style>
          <a:lnRef idx="1">
            <a:schemeClr val="accent1"/>
          </a:lnRef>
          <a:fillRef idx="2">
            <a:schemeClr val="accent1"/>
          </a:fillRef>
          <a:effectRef idx="1">
            <a:schemeClr val="accent1"/>
          </a:effectRef>
          <a:fontRef idx="minor">
            <a:schemeClr val="dk1"/>
          </a:fontRef>
        </p:style>
        <p:txBody>
          <a:bodyPr rtlCol="0" anchor="t"/>
          <a:lstStyle/>
          <a:p>
            <a:pPr marL="342900" indent="-342900">
              <a:buAutoNum type="arabicParenR"/>
            </a:pPr>
            <a:r>
              <a:rPr lang="en-US" sz="1600" b="0" i="0" u="none" strike="noStrike" dirty="0">
                <a:solidFill>
                  <a:srgbClr val="222222"/>
                </a:solidFill>
                <a:effectLst/>
                <a:latin typeface="Arial" panose="020B0604020202020204" pitchFamily="34" charset="0"/>
              </a:rPr>
              <a:t>Energy deposition in bra</a:t>
            </a:r>
            <a:r>
              <a:rPr lang="en-US" sz="1600" dirty="0">
                <a:solidFill>
                  <a:srgbClr val="222222"/>
                </a:solidFill>
                <a:latin typeface="Arial" panose="020B0604020202020204" pitchFamily="34" charset="0"/>
              </a:rPr>
              <a:t>in phantom</a:t>
            </a:r>
          </a:p>
          <a:p>
            <a:endParaRPr lang="en-US" altLang="en-US" sz="1600" dirty="0">
              <a:solidFill>
                <a:srgbClr val="222222"/>
              </a:solidFill>
              <a:latin typeface="Arial" panose="020B0604020202020204" pitchFamily="34" charset="0"/>
            </a:endParaRPr>
          </a:p>
          <a:p>
            <a:endParaRPr lang="en-US" altLang="en-US" sz="1600" dirty="0">
              <a:solidFill>
                <a:srgbClr val="222222"/>
              </a:solidFill>
              <a:latin typeface="Arial" panose="020B0604020202020204" pitchFamily="34" charset="0"/>
            </a:endParaRPr>
          </a:p>
          <a:p>
            <a:endParaRPr lang="en-US" altLang="en-US" sz="1600" dirty="0">
              <a:solidFill>
                <a:srgbClr val="222222"/>
              </a:solidFill>
              <a:latin typeface="Arial" panose="020B0604020202020204" pitchFamily="34" charset="0"/>
            </a:endParaRPr>
          </a:p>
          <a:p>
            <a:endParaRPr lang="en-US" altLang="en-US" sz="1200" dirty="0">
              <a:solidFill>
                <a:srgbClr val="222222"/>
              </a:solidFill>
              <a:latin typeface="Arial" panose="020B0604020202020204" pitchFamily="34" charset="0"/>
            </a:endParaRPr>
          </a:p>
          <a:p>
            <a:endParaRPr lang="en-US" altLang="en-US" sz="1600" dirty="0">
              <a:solidFill>
                <a:srgbClr val="222222"/>
              </a:solidFill>
              <a:latin typeface="Arial" panose="020B0604020202020204" pitchFamily="34" charset="0"/>
            </a:endParaRPr>
          </a:p>
        </p:txBody>
      </p:sp>
      <p:sp>
        <p:nvSpPr>
          <p:cNvPr id="3" name="Title 2">
            <a:extLst>
              <a:ext uri="{FF2B5EF4-FFF2-40B4-BE49-F238E27FC236}">
                <a16:creationId xmlns:a16="http://schemas.microsoft.com/office/drawing/2014/main" id="{72A62F57-C432-9284-86AF-E5D2DE1CD3A5}"/>
              </a:ext>
            </a:extLst>
          </p:cNvPr>
          <p:cNvSpPr>
            <a:spLocks noGrp="1"/>
          </p:cNvSpPr>
          <p:nvPr>
            <p:ph type="title"/>
          </p:nvPr>
        </p:nvSpPr>
        <p:spPr/>
        <p:txBody>
          <a:bodyPr/>
          <a:lstStyle/>
          <a:p>
            <a:r>
              <a:rPr lang="en-US" dirty="0"/>
              <a:t>Dataset</a:t>
            </a:r>
          </a:p>
        </p:txBody>
      </p:sp>
      <p:sp>
        <p:nvSpPr>
          <p:cNvPr id="4" name="Date Placeholder 3">
            <a:extLst>
              <a:ext uri="{FF2B5EF4-FFF2-40B4-BE49-F238E27FC236}">
                <a16:creationId xmlns:a16="http://schemas.microsoft.com/office/drawing/2014/main" id="{04E0770E-ADF5-ED9B-F7FA-E02EF596C154}"/>
              </a:ext>
            </a:extLst>
          </p:cNvPr>
          <p:cNvSpPr>
            <a:spLocks noGrp="1"/>
          </p:cNvSpPr>
          <p:nvPr>
            <p:ph type="dt" sz="half" idx="10"/>
          </p:nvPr>
        </p:nvSpPr>
        <p:spPr/>
        <p:txBody>
          <a:bodyPr/>
          <a:lstStyle/>
          <a:p>
            <a:pPr>
              <a:defRPr/>
            </a:pPr>
            <a:fld id="{903CA819-C581-4DC8-BB21-8890CD2AC711}" type="datetime1">
              <a:rPr lang="en-US" smtClean="0"/>
              <a:t>2/28/2024</a:t>
            </a:fld>
            <a:endParaRPr lang="de-DE" dirty="0"/>
          </a:p>
        </p:txBody>
      </p:sp>
      <p:sp>
        <p:nvSpPr>
          <p:cNvPr id="5" name="Footer Placeholder 4">
            <a:extLst>
              <a:ext uri="{FF2B5EF4-FFF2-40B4-BE49-F238E27FC236}">
                <a16:creationId xmlns:a16="http://schemas.microsoft.com/office/drawing/2014/main" id="{DEAF0D3A-AD32-DDC5-5F1B-6549E5D773A4}"/>
              </a:ext>
            </a:extLst>
          </p:cNvPr>
          <p:cNvSpPr>
            <a:spLocks noGrp="1"/>
          </p:cNvSpPr>
          <p:nvPr>
            <p:ph type="ftr" sz="quarter" idx="11"/>
          </p:nvPr>
        </p:nvSpPr>
        <p:spPr/>
        <p:txBody>
          <a:bodyPr/>
          <a:lstStyle/>
          <a:p>
            <a:pPr>
              <a:defRPr/>
            </a:pPr>
            <a:r>
              <a:rPr lang="de-DE"/>
              <a:t>Pichaya Tappayuthpijarn</a:t>
            </a:r>
            <a:endParaRPr lang="de-DE" dirty="0"/>
          </a:p>
        </p:txBody>
      </p:sp>
      <p:sp>
        <p:nvSpPr>
          <p:cNvPr id="6" name="Slide Number Placeholder 5">
            <a:extLst>
              <a:ext uri="{FF2B5EF4-FFF2-40B4-BE49-F238E27FC236}">
                <a16:creationId xmlns:a16="http://schemas.microsoft.com/office/drawing/2014/main" id="{F3E24A1B-FAED-BFCA-FF84-4C39FB881253}"/>
              </a:ext>
            </a:extLst>
          </p:cNvPr>
          <p:cNvSpPr>
            <a:spLocks noGrp="1"/>
          </p:cNvSpPr>
          <p:nvPr>
            <p:ph type="sldNum" sz="quarter" idx="12"/>
          </p:nvPr>
        </p:nvSpPr>
        <p:spPr/>
        <p:txBody>
          <a:bodyPr/>
          <a:lstStyle/>
          <a:p>
            <a:pPr>
              <a:defRPr/>
            </a:pPr>
            <a:r>
              <a:rPr lang="de-DE"/>
              <a:t>SEITE</a:t>
            </a:r>
            <a:r>
              <a:rPr lang="de-DE" spc="0"/>
              <a:t> </a:t>
            </a:r>
            <a:fld id="{37ED3A82-C5FC-FE4D-9EDE-EA1B3EA06354}" type="slidenum">
              <a:rPr lang="de-DE" spc="0" smtClean="0"/>
              <a:pPr>
                <a:defRPr/>
              </a:pPr>
              <a:t>6</a:t>
            </a:fld>
            <a:endParaRPr lang="de-DE" spc="0"/>
          </a:p>
        </p:txBody>
      </p:sp>
      <p:sp>
        <p:nvSpPr>
          <p:cNvPr id="11" name="Rectangle 3">
            <a:extLst>
              <a:ext uri="{FF2B5EF4-FFF2-40B4-BE49-F238E27FC236}">
                <a16:creationId xmlns:a16="http://schemas.microsoft.com/office/drawing/2014/main" id="{4B882E69-1467-471C-3AFB-32F84E0ECCA2}"/>
              </a:ext>
            </a:extLst>
          </p:cNvPr>
          <p:cNvSpPr>
            <a:spLocks noChangeArrowheads="1"/>
          </p:cNvSpPr>
          <p:nvPr/>
        </p:nvSpPr>
        <p:spPr bwMode="auto">
          <a:xfrm>
            <a:off x="1177430" y="2489328"/>
            <a:ext cx="1293092" cy="61555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0 1.42153e-09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2 4.83688e-10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3 7.79105e-09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4 2.0861e-07 </a:t>
            </a:r>
          </a:p>
        </p:txBody>
      </p:sp>
      <p:sp>
        <p:nvSpPr>
          <p:cNvPr id="20" name="Rectangle: Rounded Corners 19">
            <a:extLst>
              <a:ext uri="{FF2B5EF4-FFF2-40B4-BE49-F238E27FC236}">
                <a16:creationId xmlns:a16="http://schemas.microsoft.com/office/drawing/2014/main" id="{FD67AE39-79F6-2392-B11E-DE3C592AD032}"/>
              </a:ext>
            </a:extLst>
          </p:cNvPr>
          <p:cNvSpPr/>
          <p:nvPr/>
        </p:nvSpPr>
        <p:spPr>
          <a:xfrm>
            <a:off x="4217342" y="1686186"/>
            <a:ext cx="3209355" cy="623126"/>
          </a:xfrm>
          <a:prstGeom prst="roundRect">
            <a:avLst/>
          </a:prstGeom>
        </p:spPr>
        <p:style>
          <a:lnRef idx="1">
            <a:schemeClr val="accent2"/>
          </a:lnRef>
          <a:fillRef idx="2">
            <a:schemeClr val="accent2"/>
          </a:fillRef>
          <a:effectRef idx="1">
            <a:schemeClr val="accent2"/>
          </a:effectRef>
          <a:fontRef idx="minor">
            <a:schemeClr val="dk1"/>
          </a:fontRef>
        </p:style>
        <p:txBody>
          <a:bodyPr rtlCol="0" anchor="t"/>
          <a:lstStyle/>
          <a:p>
            <a:r>
              <a:rPr lang="en-US" sz="1600" dirty="0">
                <a:solidFill>
                  <a:srgbClr val="222222"/>
                </a:solidFill>
                <a:latin typeface="Arial" panose="020B0604020202020204" pitchFamily="34" charset="0"/>
              </a:rPr>
              <a:t>2) </a:t>
            </a:r>
            <a:r>
              <a:rPr lang="en-US" altLang="en-US" sz="1600" dirty="0">
                <a:solidFill>
                  <a:srgbClr val="222222"/>
                </a:solidFill>
                <a:latin typeface="Arial" panose="020B0604020202020204" pitchFamily="34" charset="0"/>
              </a:rPr>
              <a:t>DICOM image of the head</a:t>
            </a:r>
          </a:p>
          <a:p>
            <a:r>
              <a:rPr lang="en-US" altLang="en-US" sz="1600" dirty="0">
                <a:solidFill>
                  <a:srgbClr val="222222"/>
                </a:solidFill>
                <a:latin typeface="Arial" panose="020B0604020202020204" pitchFamily="34" charset="0"/>
              </a:rPr>
              <a:t> 3D density matrix </a:t>
            </a:r>
          </a:p>
        </p:txBody>
      </p:sp>
      <p:sp>
        <p:nvSpPr>
          <p:cNvPr id="24" name="Rectangle 23">
            <a:extLst>
              <a:ext uri="{FF2B5EF4-FFF2-40B4-BE49-F238E27FC236}">
                <a16:creationId xmlns:a16="http://schemas.microsoft.com/office/drawing/2014/main" id="{616C485A-5BE8-A687-D085-B9845420401F}"/>
              </a:ext>
            </a:extLst>
          </p:cNvPr>
          <p:cNvSpPr/>
          <p:nvPr/>
        </p:nvSpPr>
        <p:spPr>
          <a:xfrm>
            <a:off x="121920" y="67198"/>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sz="2400"/>
          </a:p>
        </p:txBody>
      </p:sp>
      <p:sp>
        <p:nvSpPr>
          <p:cNvPr id="31" name="Plus Sign 30">
            <a:extLst>
              <a:ext uri="{FF2B5EF4-FFF2-40B4-BE49-F238E27FC236}">
                <a16:creationId xmlns:a16="http://schemas.microsoft.com/office/drawing/2014/main" id="{00888A21-663C-87B7-A312-783EDD5D6A35}"/>
              </a:ext>
            </a:extLst>
          </p:cNvPr>
          <p:cNvSpPr/>
          <p:nvPr/>
        </p:nvSpPr>
        <p:spPr>
          <a:xfrm>
            <a:off x="3580949" y="2004375"/>
            <a:ext cx="355676" cy="378883"/>
          </a:xfrm>
          <a:prstGeom prst="mathPlu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Plus Sign 31">
            <a:extLst>
              <a:ext uri="{FF2B5EF4-FFF2-40B4-BE49-F238E27FC236}">
                <a16:creationId xmlns:a16="http://schemas.microsoft.com/office/drawing/2014/main" id="{73C53F91-22A3-6B88-FFBD-E0FACAFFD054}"/>
              </a:ext>
            </a:extLst>
          </p:cNvPr>
          <p:cNvSpPr/>
          <p:nvPr/>
        </p:nvSpPr>
        <p:spPr>
          <a:xfrm>
            <a:off x="7731343" y="1946880"/>
            <a:ext cx="355676" cy="378883"/>
          </a:xfrm>
          <a:prstGeom prst="mathPlu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Content Placeholder 18">
            <a:extLst>
              <a:ext uri="{FF2B5EF4-FFF2-40B4-BE49-F238E27FC236}">
                <a16:creationId xmlns:a16="http://schemas.microsoft.com/office/drawing/2014/main" id="{2CDE60A5-4486-742F-EFC1-4C6A33B3D91A}"/>
              </a:ext>
            </a:extLst>
          </p:cNvPr>
          <p:cNvSpPr>
            <a:spLocks noGrp="1"/>
          </p:cNvSpPr>
          <p:nvPr>
            <p:ph idx="1"/>
          </p:nvPr>
        </p:nvSpPr>
        <p:spPr>
          <a:xfrm>
            <a:off x="8348101" y="1603043"/>
            <a:ext cx="3543554" cy="4575120"/>
          </a:xfrm>
          <a:prstGeom prst="roundRect">
            <a:avLst/>
          </a:prstGeom>
        </p:spPr>
        <p:style>
          <a:lnRef idx="1">
            <a:schemeClr val="accent4"/>
          </a:lnRef>
          <a:fillRef idx="2">
            <a:schemeClr val="accent4"/>
          </a:fillRef>
          <a:effectRef idx="1">
            <a:schemeClr val="accent4"/>
          </a:effectRef>
          <a:fontRef idx="minor">
            <a:schemeClr val="dk1"/>
          </a:fontRef>
        </p:style>
        <p:txBody>
          <a:bodyPr rtlCol="0" anchor="t"/>
          <a:lstStyle/>
          <a:p>
            <a:pPr marL="277193" indent="0">
              <a:buNone/>
            </a:pPr>
            <a:r>
              <a:rPr lang="en-US" sz="1600" dirty="0">
                <a:solidFill>
                  <a:srgbClr val="222222"/>
                </a:solidFill>
                <a:latin typeface="Arial" panose="020B0604020202020204" pitchFamily="34" charset="0"/>
              </a:rPr>
              <a:t>3</a:t>
            </a:r>
            <a:r>
              <a:rPr lang="en-US" sz="1600" b="0" i="0" u="none" strike="noStrike" dirty="0">
                <a:solidFill>
                  <a:srgbClr val="222222"/>
                </a:solidFill>
                <a:effectLst/>
                <a:latin typeface="Arial" panose="020B0604020202020204" pitchFamily="34" charset="0"/>
              </a:rPr>
              <a:t>) Energy deposition in water phantom </a:t>
            </a:r>
          </a:p>
          <a:p>
            <a:pPr marL="277193" indent="0">
              <a:buNone/>
            </a:pPr>
            <a:r>
              <a:rPr lang="en-US" sz="1200" dirty="0">
                <a:solidFill>
                  <a:srgbClr val="222222"/>
                </a:solidFill>
                <a:latin typeface="Arial" panose="020B0604020202020204" pitchFamily="34" charset="0"/>
              </a:rPr>
              <a:t>csv </a:t>
            </a:r>
            <a:r>
              <a:rPr lang="en-US" altLang="en-US" sz="1200" dirty="0">
                <a:solidFill>
                  <a:srgbClr val="222222"/>
                </a:solidFill>
                <a:latin typeface="Arial" panose="020B0604020202020204" pitchFamily="34" charset="0"/>
              </a:rPr>
              <a:t>Data [</a:t>
            </a:r>
            <a:r>
              <a:rPr lang="en-US" altLang="en-US" sz="1200" dirty="0" err="1">
                <a:solidFill>
                  <a:srgbClr val="222222"/>
                </a:solidFill>
                <a:latin typeface="Arial" panose="020B0604020202020204" pitchFamily="34" charset="0"/>
              </a:rPr>
              <a:t>X,Y,Z,Energy</a:t>
            </a:r>
            <a:r>
              <a:rPr lang="en-US" altLang="en-US" sz="1200" dirty="0">
                <a:solidFill>
                  <a:srgbClr val="222222"/>
                </a:solidFill>
                <a:latin typeface="Arial" panose="020B0604020202020204" pitchFamily="34" charset="0"/>
              </a:rPr>
              <a:t> value]</a:t>
            </a:r>
            <a:endParaRPr lang="en-US" sz="1200" dirty="0">
              <a:solidFill>
                <a:srgbClr val="222222"/>
              </a:solidFill>
              <a:latin typeface="Arial" panose="020B0604020202020204" pitchFamily="34" charset="0"/>
            </a:endParaRPr>
          </a:p>
        </p:txBody>
      </p:sp>
      <p:pic>
        <p:nvPicPr>
          <p:cNvPr id="7" name="Picture 6">
            <a:extLst>
              <a:ext uri="{FF2B5EF4-FFF2-40B4-BE49-F238E27FC236}">
                <a16:creationId xmlns:a16="http://schemas.microsoft.com/office/drawing/2014/main" id="{71F4D677-EB6C-E1D3-20C4-0B636CDCB5B5}"/>
              </a:ext>
            </a:extLst>
          </p:cNvPr>
          <p:cNvPicPr>
            <a:picLocks noChangeAspect="1"/>
          </p:cNvPicPr>
          <p:nvPr/>
        </p:nvPicPr>
        <p:blipFill>
          <a:blip r:embed="rId4"/>
          <a:stretch>
            <a:fillRect/>
          </a:stretch>
        </p:blipFill>
        <p:spPr>
          <a:xfrm>
            <a:off x="149498" y="3727175"/>
            <a:ext cx="3992476" cy="1330825"/>
          </a:xfrm>
          <a:prstGeom prst="rect">
            <a:avLst/>
          </a:prstGeom>
        </p:spPr>
      </p:pic>
      <p:sp>
        <p:nvSpPr>
          <p:cNvPr id="10" name="TextBox 9">
            <a:extLst>
              <a:ext uri="{FF2B5EF4-FFF2-40B4-BE49-F238E27FC236}">
                <a16:creationId xmlns:a16="http://schemas.microsoft.com/office/drawing/2014/main" id="{C0026838-DD52-367F-9CEF-7B9331317B4B}"/>
              </a:ext>
            </a:extLst>
          </p:cNvPr>
          <p:cNvSpPr txBox="1"/>
          <p:nvPr/>
        </p:nvSpPr>
        <p:spPr>
          <a:xfrm>
            <a:off x="586072" y="5128121"/>
            <a:ext cx="3047337" cy="646331"/>
          </a:xfrm>
          <a:prstGeom prst="rect">
            <a:avLst/>
          </a:prstGeom>
          <a:noFill/>
        </p:spPr>
        <p:txBody>
          <a:bodyPr wrap="square">
            <a:spAutoFit/>
          </a:bodyPr>
          <a:lstStyle/>
          <a:p>
            <a:r>
              <a:rPr lang="en-US" sz="1200" i="1" dirty="0">
                <a:latin typeface="Calibri" panose="020F0502020204030204" pitchFamily="34" charset="0"/>
                <a:ea typeface="Calibri" panose="020F0502020204030204" pitchFamily="34" charset="0"/>
                <a:cs typeface="Cordia New" panose="020B0304020202020204" pitchFamily="34" charset="-34"/>
              </a:rPr>
              <a:t>Figure 3 </a:t>
            </a:r>
            <a:r>
              <a:rPr lang="en-US" sz="1200" i="1" dirty="0">
                <a:effectLst/>
                <a:latin typeface="Calibri" panose="020F0502020204030204" pitchFamily="34" charset="0"/>
                <a:ea typeface="Calibri" panose="020F0502020204030204" pitchFamily="34" charset="0"/>
                <a:cs typeface="Cordia New" panose="020B0304020202020204" pitchFamily="34" charset="-34"/>
              </a:rPr>
              <a:t>Profiles of the calculated dose distribution of carbon ion in the head along three directions</a:t>
            </a:r>
            <a:endParaRPr lang="en-US" sz="1200" i="1" dirty="0"/>
          </a:p>
        </p:txBody>
      </p:sp>
      <p:pic>
        <p:nvPicPr>
          <p:cNvPr id="13" name="Picture 12">
            <a:extLst>
              <a:ext uri="{FF2B5EF4-FFF2-40B4-BE49-F238E27FC236}">
                <a16:creationId xmlns:a16="http://schemas.microsoft.com/office/drawing/2014/main" id="{DDF84CDE-019C-93F2-5EEE-58F79A033C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4136" y="3515580"/>
            <a:ext cx="2076557" cy="184159"/>
          </a:xfrm>
          <a:prstGeom prst="rect">
            <a:avLst/>
          </a:prstGeom>
        </p:spPr>
      </p:pic>
      <p:grpSp>
        <p:nvGrpSpPr>
          <p:cNvPr id="8" name="Group 7">
            <a:extLst>
              <a:ext uri="{FF2B5EF4-FFF2-40B4-BE49-F238E27FC236}">
                <a16:creationId xmlns:a16="http://schemas.microsoft.com/office/drawing/2014/main" id="{2B6BDDB9-491E-617D-8BAF-47A69B49AF81}"/>
              </a:ext>
            </a:extLst>
          </p:cNvPr>
          <p:cNvGrpSpPr/>
          <p:nvPr/>
        </p:nvGrpSpPr>
        <p:grpSpPr>
          <a:xfrm>
            <a:off x="4204176" y="2851528"/>
            <a:ext cx="4064423" cy="3305667"/>
            <a:chOff x="4204176" y="2851528"/>
            <a:chExt cx="4064423" cy="3305667"/>
          </a:xfrm>
        </p:grpSpPr>
        <p:pic>
          <p:nvPicPr>
            <p:cNvPr id="15" name="Picture 14">
              <a:extLst>
                <a:ext uri="{FF2B5EF4-FFF2-40B4-BE49-F238E27FC236}">
                  <a16:creationId xmlns:a16="http://schemas.microsoft.com/office/drawing/2014/main" id="{8CC548A7-FB17-545B-0806-79F574818AB6}"/>
                </a:ext>
              </a:extLst>
            </p:cNvPr>
            <p:cNvPicPr>
              <a:picLocks noChangeAspect="1"/>
            </p:cNvPicPr>
            <p:nvPr/>
          </p:nvPicPr>
          <p:blipFill>
            <a:blip r:embed="rId6"/>
            <a:stretch>
              <a:fillRect/>
            </a:stretch>
          </p:blipFill>
          <p:spPr>
            <a:xfrm>
              <a:off x="4309800" y="3157981"/>
              <a:ext cx="996745" cy="879481"/>
            </a:xfrm>
            <a:prstGeom prst="rect">
              <a:avLst/>
            </a:prstGeom>
          </p:spPr>
        </p:pic>
        <p:pic>
          <p:nvPicPr>
            <p:cNvPr id="17" name="Picture 16">
              <a:extLst>
                <a:ext uri="{FF2B5EF4-FFF2-40B4-BE49-F238E27FC236}">
                  <a16:creationId xmlns:a16="http://schemas.microsoft.com/office/drawing/2014/main" id="{9AB490D8-A99E-F44A-EA78-E66302B8B9B6}"/>
                </a:ext>
              </a:extLst>
            </p:cNvPr>
            <p:cNvPicPr>
              <a:picLocks noChangeAspect="1"/>
            </p:cNvPicPr>
            <p:nvPr/>
          </p:nvPicPr>
          <p:blipFill>
            <a:blip r:embed="rId7"/>
            <a:stretch>
              <a:fillRect/>
            </a:stretch>
          </p:blipFill>
          <p:spPr>
            <a:xfrm>
              <a:off x="5696880" y="4424880"/>
              <a:ext cx="890622" cy="904015"/>
            </a:xfrm>
            <a:prstGeom prst="rect">
              <a:avLst/>
            </a:prstGeom>
          </p:spPr>
        </p:pic>
        <p:pic>
          <p:nvPicPr>
            <p:cNvPr id="25" name="Picture 24">
              <a:extLst>
                <a:ext uri="{FF2B5EF4-FFF2-40B4-BE49-F238E27FC236}">
                  <a16:creationId xmlns:a16="http://schemas.microsoft.com/office/drawing/2014/main" id="{A4897BB1-8866-1494-D4DA-099E48329C59}"/>
                </a:ext>
              </a:extLst>
            </p:cNvPr>
            <p:cNvPicPr>
              <a:picLocks noChangeAspect="1"/>
            </p:cNvPicPr>
            <p:nvPr/>
          </p:nvPicPr>
          <p:blipFill>
            <a:blip r:embed="rId8"/>
            <a:stretch>
              <a:fillRect/>
            </a:stretch>
          </p:blipFill>
          <p:spPr>
            <a:xfrm>
              <a:off x="6923023" y="3156014"/>
              <a:ext cx="973540" cy="881448"/>
            </a:xfrm>
            <a:prstGeom prst="rect">
              <a:avLst/>
            </a:prstGeom>
          </p:spPr>
        </p:pic>
        <p:pic>
          <p:nvPicPr>
            <p:cNvPr id="27" name="Picture 26">
              <a:extLst>
                <a:ext uri="{FF2B5EF4-FFF2-40B4-BE49-F238E27FC236}">
                  <a16:creationId xmlns:a16="http://schemas.microsoft.com/office/drawing/2014/main" id="{C71B539E-D1C6-63C1-482F-BF0A3B39F241}"/>
                </a:ext>
              </a:extLst>
            </p:cNvPr>
            <p:cNvPicPr>
              <a:picLocks noChangeAspect="1"/>
            </p:cNvPicPr>
            <p:nvPr/>
          </p:nvPicPr>
          <p:blipFill>
            <a:blip r:embed="rId9"/>
            <a:stretch>
              <a:fillRect/>
            </a:stretch>
          </p:blipFill>
          <p:spPr>
            <a:xfrm>
              <a:off x="4329128" y="4414559"/>
              <a:ext cx="973540" cy="906860"/>
            </a:xfrm>
            <a:prstGeom prst="rect">
              <a:avLst/>
            </a:prstGeom>
          </p:spPr>
        </p:pic>
        <p:pic>
          <p:nvPicPr>
            <p:cNvPr id="29" name="Picture 28">
              <a:extLst>
                <a:ext uri="{FF2B5EF4-FFF2-40B4-BE49-F238E27FC236}">
                  <a16:creationId xmlns:a16="http://schemas.microsoft.com/office/drawing/2014/main" id="{B59EC316-09A3-7052-3819-C4151C971070}"/>
                </a:ext>
              </a:extLst>
            </p:cNvPr>
            <p:cNvPicPr>
              <a:picLocks noChangeAspect="1"/>
            </p:cNvPicPr>
            <p:nvPr/>
          </p:nvPicPr>
          <p:blipFill>
            <a:blip r:embed="rId10"/>
            <a:stretch>
              <a:fillRect/>
            </a:stretch>
          </p:blipFill>
          <p:spPr>
            <a:xfrm>
              <a:off x="5666530" y="3156014"/>
              <a:ext cx="950129" cy="903292"/>
            </a:xfrm>
            <a:prstGeom prst="rect">
              <a:avLst/>
            </a:prstGeom>
          </p:spPr>
        </p:pic>
        <p:pic>
          <p:nvPicPr>
            <p:cNvPr id="33" name="Picture 32">
              <a:extLst>
                <a:ext uri="{FF2B5EF4-FFF2-40B4-BE49-F238E27FC236}">
                  <a16:creationId xmlns:a16="http://schemas.microsoft.com/office/drawing/2014/main" id="{AF81F479-CFB9-6BAB-EA72-20158E3B8F4C}"/>
                </a:ext>
              </a:extLst>
            </p:cNvPr>
            <p:cNvPicPr>
              <a:picLocks noChangeAspect="1"/>
            </p:cNvPicPr>
            <p:nvPr/>
          </p:nvPicPr>
          <p:blipFill>
            <a:blip r:embed="rId11"/>
            <a:stretch>
              <a:fillRect/>
            </a:stretch>
          </p:blipFill>
          <p:spPr>
            <a:xfrm>
              <a:off x="6894281" y="4432357"/>
              <a:ext cx="992894" cy="889062"/>
            </a:xfrm>
            <a:prstGeom prst="rect">
              <a:avLst/>
            </a:prstGeom>
          </p:spPr>
        </p:pic>
        <p:sp>
          <p:nvSpPr>
            <p:cNvPr id="41" name="TextBox 40">
              <a:extLst>
                <a:ext uri="{FF2B5EF4-FFF2-40B4-BE49-F238E27FC236}">
                  <a16:creationId xmlns:a16="http://schemas.microsoft.com/office/drawing/2014/main" id="{48E10950-5011-7258-C70E-89E8DBF40247}"/>
                </a:ext>
              </a:extLst>
            </p:cNvPr>
            <p:cNvSpPr txBox="1"/>
            <p:nvPr/>
          </p:nvSpPr>
          <p:spPr>
            <a:xfrm>
              <a:off x="5412954" y="2851528"/>
              <a:ext cx="2855645" cy="307777"/>
            </a:xfrm>
            <a:prstGeom prst="rect">
              <a:avLst/>
            </a:prstGeom>
            <a:noFill/>
          </p:spPr>
          <p:txBody>
            <a:bodyPr wrap="square">
              <a:spAutoFit/>
            </a:bodyPr>
            <a:lstStyle/>
            <a:p>
              <a:r>
                <a:rPr lang="en-US" altLang="en-US" sz="1400" dirty="0">
                  <a:solidFill>
                    <a:srgbClr val="222222"/>
                  </a:solidFill>
                  <a:latin typeface="Arial" panose="020B0604020202020204" pitchFamily="34" charset="0"/>
                </a:rPr>
                <a:t>Dataset # : simulations</a:t>
              </a:r>
            </a:p>
          </p:txBody>
        </p:sp>
        <p:sp>
          <p:nvSpPr>
            <p:cNvPr id="43" name="TextBox 42">
              <a:extLst>
                <a:ext uri="{FF2B5EF4-FFF2-40B4-BE49-F238E27FC236}">
                  <a16:creationId xmlns:a16="http://schemas.microsoft.com/office/drawing/2014/main" id="{E2444AA0-948D-EDAE-ABE8-F40F5628DEAB}"/>
                </a:ext>
              </a:extLst>
            </p:cNvPr>
            <p:cNvSpPr txBox="1"/>
            <p:nvPr/>
          </p:nvSpPr>
          <p:spPr>
            <a:xfrm>
              <a:off x="4204176" y="4084262"/>
              <a:ext cx="1200150" cy="276999"/>
            </a:xfrm>
            <a:prstGeom prst="rect">
              <a:avLst/>
            </a:prstGeom>
            <a:noFill/>
          </p:spPr>
          <p:txBody>
            <a:bodyPr wrap="square">
              <a:spAutoFit/>
            </a:bodyPr>
            <a:lstStyle/>
            <a:p>
              <a:pPr algn="ctr"/>
              <a:r>
                <a:rPr lang="en-US" altLang="en-US" sz="1200" dirty="0">
                  <a:solidFill>
                    <a:srgbClr val="222222"/>
                  </a:solidFill>
                  <a:latin typeface="Arial" panose="020B0604020202020204" pitchFamily="34" charset="0"/>
                </a:rPr>
                <a:t>Dataset 1: 450</a:t>
              </a:r>
            </a:p>
          </p:txBody>
        </p:sp>
        <p:sp>
          <p:nvSpPr>
            <p:cNvPr id="44" name="TextBox 43">
              <a:extLst>
                <a:ext uri="{FF2B5EF4-FFF2-40B4-BE49-F238E27FC236}">
                  <a16:creationId xmlns:a16="http://schemas.microsoft.com/office/drawing/2014/main" id="{C57CB37D-C834-3BD7-F5C2-CA5CF133D9D4}"/>
                </a:ext>
              </a:extLst>
            </p:cNvPr>
            <p:cNvSpPr txBox="1"/>
            <p:nvPr/>
          </p:nvSpPr>
          <p:spPr>
            <a:xfrm>
              <a:off x="5508195" y="4084262"/>
              <a:ext cx="1200150" cy="276999"/>
            </a:xfrm>
            <a:prstGeom prst="rect">
              <a:avLst/>
            </a:prstGeom>
            <a:noFill/>
          </p:spPr>
          <p:txBody>
            <a:bodyPr wrap="square">
              <a:spAutoFit/>
            </a:bodyPr>
            <a:lstStyle/>
            <a:p>
              <a:pPr algn="ctr"/>
              <a:r>
                <a:rPr lang="en-US" altLang="en-US" sz="1200" dirty="0">
                  <a:solidFill>
                    <a:srgbClr val="222222"/>
                  </a:solidFill>
                  <a:latin typeface="Arial" panose="020B0604020202020204" pitchFamily="34" charset="0"/>
                </a:rPr>
                <a:t>Dataset 2: 375</a:t>
              </a:r>
            </a:p>
          </p:txBody>
        </p:sp>
        <p:sp>
          <p:nvSpPr>
            <p:cNvPr id="45" name="TextBox 44">
              <a:extLst>
                <a:ext uri="{FF2B5EF4-FFF2-40B4-BE49-F238E27FC236}">
                  <a16:creationId xmlns:a16="http://schemas.microsoft.com/office/drawing/2014/main" id="{1AD2E6A8-2CDE-D804-D8C6-092366DC9249}"/>
                </a:ext>
              </a:extLst>
            </p:cNvPr>
            <p:cNvSpPr txBox="1"/>
            <p:nvPr/>
          </p:nvSpPr>
          <p:spPr>
            <a:xfrm>
              <a:off x="6757718" y="4084262"/>
              <a:ext cx="1200150" cy="276999"/>
            </a:xfrm>
            <a:prstGeom prst="rect">
              <a:avLst/>
            </a:prstGeom>
            <a:noFill/>
          </p:spPr>
          <p:txBody>
            <a:bodyPr wrap="square">
              <a:spAutoFit/>
            </a:bodyPr>
            <a:lstStyle/>
            <a:p>
              <a:pPr algn="ctr"/>
              <a:r>
                <a:rPr lang="en-US" altLang="en-US" sz="1200" dirty="0">
                  <a:solidFill>
                    <a:srgbClr val="222222"/>
                  </a:solidFill>
                  <a:latin typeface="Arial" panose="020B0604020202020204" pitchFamily="34" charset="0"/>
                </a:rPr>
                <a:t>Dataset 4: 360</a:t>
              </a:r>
            </a:p>
          </p:txBody>
        </p:sp>
        <p:sp>
          <p:nvSpPr>
            <p:cNvPr id="46" name="TextBox 45">
              <a:extLst>
                <a:ext uri="{FF2B5EF4-FFF2-40B4-BE49-F238E27FC236}">
                  <a16:creationId xmlns:a16="http://schemas.microsoft.com/office/drawing/2014/main" id="{804E0560-94B1-1619-6FBD-ABF06168BF26}"/>
                </a:ext>
              </a:extLst>
            </p:cNvPr>
            <p:cNvSpPr txBox="1"/>
            <p:nvPr/>
          </p:nvSpPr>
          <p:spPr>
            <a:xfrm>
              <a:off x="4212804" y="5374227"/>
              <a:ext cx="1200150" cy="276999"/>
            </a:xfrm>
            <a:prstGeom prst="rect">
              <a:avLst/>
            </a:prstGeom>
            <a:noFill/>
          </p:spPr>
          <p:txBody>
            <a:bodyPr wrap="square">
              <a:spAutoFit/>
            </a:bodyPr>
            <a:lstStyle/>
            <a:p>
              <a:pPr algn="ctr"/>
              <a:r>
                <a:rPr lang="en-US" altLang="en-US" sz="1200" dirty="0">
                  <a:solidFill>
                    <a:srgbClr val="222222"/>
                  </a:solidFill>
                  <a:latin typeface="Arial" panose="020B0604020202020204" pitchFamily="34" charset="0"/>
                </a:rPr>
                <a:t>Dataset 5: 360</a:t>
              </a:r>
            </a:p>
          </p:txBody>
        </p:sp>
        <p:sp>
          <p:nvSpPr>
            <p:cNvPr id="47" name="TextBox 46">
              <a:extLst>
                <a:ext uri="{FF2B5EF4-FFF2-40B4-BE49-F238E27FC236}">
                  <a16:creationId xmlns:a16="http://schemas.microsoft.com/office/drawing/2014/main" id="{89B93C03-5781-627A-30D3-F1E5DE7DE043}"/>
                </a:ext>
              </a:extLst>
            </p:cNvPr>
            <p:cNvSpPr txBox="1"/>
            <p:nvPr/>
          </p:nvSpPr>
          <p:spPr>
            <a:xfrm>
              <a:off x="5557568" y="5378149"/>
              <a:ext cx="1200150" cy="276999"/>
            </a:xfrm>
            <a:prstGeom prst="rect">
              <a:avLst/>
            </a:prstGeom>
            <a:noFill/>
          </p:spPr>
          <p:txBody>
            <a:bodyPr wrap="square">
              <a:spAutoFit/>
            </a:bodyPr>
            <a:lstStyle/>
            <a:p>
              <a:pPr algn="ctr"/>
              <a:r>
                <a:rPr lang="en-US" altLang="en-US" sz="1200" dirty="0">
                  <a:solidFill>
                    <a:srgbClr val="222222"/>
                  </a:solidFill>
                  <a:latin typeface="Arial" panose="020B0604020202020204" pitchFamily="34" charset="0"/>
                </a:rPr>
                <a:t>Dataset 7: 300</a:t>
              </a:r>
            </a:p>
          </p:txBody>
        </p:sp>
        <p:sp>
          <p:nvSpPr>
            <p:cNvPr id="48" name="TextBox 47">
              <a:extLst>
                <a:ext uri="{FF2B5EF4-FFF2-40B4-BE49-F238E27FC236}">
                  <a16:creationId xmlns:a16="http://schemas.microsoft.com/office/drawing/2014/main" id="{75DAC1A1-4838-4E89-B722-CF3701C46825}"/>
                </a:ext>
              </a:extLst>
            </p:cNvPr>
            <p:cNvSpPr txBox="1"/>
            <p:nvPr/>
          </p:nvSpPr>
          <p:spPr>
            <a:xfrm>
              <a:off x="6807084" y="5378149"/>
              <a:ext cx="1200150" cy="276999"/>
            </a:xfrm>
            <a:prstGeom prst="rect">
              <a:avLst/>
            </a:prstGeom>
            <a:noFill/>
          </p:spPr>
          <p:txBody>
            <a:bodyPr wrap="square">
              <a:spAutoFit/>
            </a:bodyPr>
            <a:lstStyle/>
            <a:p>
              <a:pPr algn="ctr"/>
              <a:r>
                <a:rPr lang="en-US" altLang="en-US" sz="1200" dirty="0">
                  <a:solidFill>
                    <a:srgbClr val="222222"/>
                  </a:solidFill>
                  <a:latin typeface="Arial" panose="020B0604020202020204" pitchFamily="34" charset="0"/>
                </a:rPr>
                <a:t>Dataset 8: 300</a:t>
              </a:r>
            </a:p>
          </p:txBody>
        </p:sp>
        <p:sp>
          <p:nvSpPr>
            <p:cNvPr id="14" name="TextBox 13">
              <a:extLst>
                <a:ext uri="{FF2B5EF4-FFF2-40B4-BE49-F238E27FC236}">
                  <a16:creationId xmlns:a16="http://schemas.microsoft.com/office/drawing/2014/main" id="{62AC9EA5-FDF9-7ED6-7C4D-0D313E25A169}"/>
                </a:ext>
              </a:extLst>
            </p:cNvPr>
            <p:cNvSpPr txBox="1"/>
            <p:nvPr/>
          </p:nvSpPr>
          <p:spPr>
            <a:xfrm>
              <a:off x="4695161" y="5695530"/>
              <a:ext cx="3047337" cy="461665"/>
            </a:xfrm>
            <a:prstGeom prst="rect">
              <a:avLst/>
            </a:prstGeom>
            <a:noFill/>
          </p:spPr>
          <p:txBody>
            <a:bodyPr wrap="square">
              <a:spAutoFit/>
            </a:bodyPr>
            <a:lstStyle/>
            <a:p>
              <a:r>
                <a:rPr lang="en-US" sz="1200" i="1" dirty="0">
                  <a:latin typeface="Calibri" panose="020F0502020204030204" pitchFamily="34" charset="0"/>
                  <a:ea typeface="Calibri" panose="020F0502020204030204" pitchFamily="34" charset="0"/>
                  <a:cs typeface="Cordia New" panose="020B0304020202020204" pitchFamily="34" charset="-34"/>
                </a:rPr>
                <a:t>Figure 4 Beam source positions of each dataset </a:t>
              </a:r>
              <a:endParaRPr lang="en-US" sz="1200" i="1" dirty="0"/>
            </a:p>
          </p:txBody>
        </p:sp>
      </p:grpSp>
      <p:grpSp>
        <p:nvGrpSpPr>
          <p:cNvPr id="9" name="Group 8">
            <a:extLst>
              <a:ext uri="{FF2B5EF4-FFF2-40B4-BE49-F238E27FC236}">
                <a16:creationId xmlns:a16="http://schemas.microsoft.com/office/drawing/2014/main" id="{94C2C263-0C21-7D9B-A383-0953BA08B81F}"/>
              </a:ext>
            </a:extLst>
          </p:cNvPr>
          <p:cNvGrpSpPr/>
          <p:nvPr/>
        </p:nvGrpSpPr>
        <p:grpSpPr>
          <a:xfrm>
            <a:off x="8449759" y="3007102"/>
            <a:ext cx="3313854" cy="3104236"/>
            <a:chOff x="8449759" y="3007102"/>
            <a:chExt cx="3313854" cy="3104236"/>
          </a:xfrm>
        </p:grpSpPr>
        <p:pic>
          <p:nvPicPr>
            <p:cNvPr id="2" name="Picture 1" descr="A graph of water simulation&#10;&#10;Description automatically generated">
              <a:extLst>
                <a:ext uri="{FF2B5EF4-FFF2-40B4-BE49-F238E27FC236}">
                  <a16:creationId xmlns:a16="http://schemas.microsoft.com/office/drawing/2014/main" id="{FC731B3B-0D0D-7B18-DED1-D9B0B55BC448}"/>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8449759" y="3007102"/>
              <a:ext cx="3313854" cy="2599691"/>
            </a:xfrm>
            <a:prstGeom prst="rect">
              <a:avLst/>
            </a:prstGeom>
            <a:noFill/>
            <a:ln>
              <a:noFill/>
            </a:ln>
          </p:spPr>
        </p:pic>
        <p:sp>
          <p:nvSpPr>
            <p:cNvPr id="16" name="TextBox 15">
              <a:extLst>
                <a:ext uri="{FF2B5EF4-FFF2-40B4-BE49-F238E27FC236}">
                  <a16:creationId xmlns:a16="http://schemas.microsoft.com/office/drawing/2014/main" id="{D494145F-09C4-B5F2-3A47-E09ECB0BAD93}"/>
                </a:ext>
              </a:extLst>
            </p:cNvPr>
            <p:cNvSpPr txBox="1"/>
            <p:nvPr/>
          </p:nvSpPr>
          <p:spPr>
            <a:xfrm>
              <a:off x="8663902" y="5649673"/>
              <a:ext cx="3047337" cy="461665"/>
            </a:xfrm>
            <a:prstGeom prst="rect">
              <a:avLst/>
            </a:prstGeom>
            <a:noFill/>
          </p:spPr>
          <p:txBody>
            <a:bodyPr wrap="square">
              <a:spAutoFit/>
            </a:bodyPr>
            <a:lstStyle/>
            <a:p>
              <a:r>
                <a:rPr lang="en-US" sz="1200" i="1" dirty="0">
                  <a:latin typeface="Calibri" panose="020F0502020204030204" pitchFamily="34" charset="0"/>
                  <a:ea typeface="Calibri" panose="020F0502020204030204" pitchFamily="34" charset="0"/>
                  <a:cs typeface="Cordia New" panose="020B0304020202020204" pitchFamily="34" charset="-34"/>
                </a:rPr>
                <a:t>Figure</a:t>
              </a:r>
              <a:r>
                <a:rPr lang="en-US" sz="1200" i="1" dirty="0">
                  <a:effectLst/>
                  <a:latin typeface="Calibri" panose="020F0502020204030204" pitchFamily="34" charset="0"/>
                  <a:ea typeface="Calibri" panose="020F0502020204030204" pitchFamily="34" charset="0"/>
                  <a:cs typeface="Cordia New" panose="020B0304020202020204" pitchFamily="34" charset="-34"/>
                </a:rPr>
                <a:t> 5 Profiles of the calculated dose distribution of carbon ion in water</a:t>
              </a:r>
              <a:endParaRPr lang="en-US" sz="1200" i="1" dirty="0"/>
            </a:p>
          </p:txBody>
        </p:sp>
      </p:grpSp>
    </p:spTree>
    <p:custDataLst>
      <p:tags r:id="rId1"/>
    </p:custDataLst>
    <p:extLst>
      <p:ext uri="{BB962C8B-B14F-4D97-AF65-F5344CB8AC3E}">
        <p14:creationId xmlns:p14="http://schemas.microsoft.com/office/powerpoint/2010/main" val="378115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down)">
                                      <p:cBhvr>
                                        <p:cTn id="11" dur="500"/>
                                        <p:tgtEl>
                                          <p:spTgt spid="20"/>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500"/>
                                        <p:tgtEl>
                                          <p:spTgt spid="32"/>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38">
                                            <p:bg/>
                                          </p:spTgt>
                                        </p:tgtEl>
                                        <p:attrNameLst>
                                          <p:attrName>style.visibility</p:attrName>
                                        </p:attrNameLst>
                                      </p:cBhvr>
                                      <p:to>
                                        <p:strVal val="visible"/>
                                      </p:to>
                                    </p:set>
                                    <p:animEffect transition="in" filter="fade">
                                      <p:cBhvr>
                                        <p:cTn id="24" dur="500"/>
                                        <p:tgtEl>
                                          <p:spTgt spid="38">
                                            <p:bg/>
                                          </p:spTgt>
                                        </p:tgtEl>
                                      </p:cBhvr>
                                    </p:animEffect>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38">
                                            <p:txEl>
                                              <p:pRg st="0" end="0"/>
                                            </p:txEl>
                                          </p:spTgt>
                                        </p:tgtEl>
                                        <p:attrNameLst>
                                          <p:attrName>style.visibility</p:attrName>
                                        </p:attrNameLst>
                                      </p:cBhvr>
                                      <p:to>
                                        <p:strVal val="visible"/>
                                      </p:to>
                                    </p:set>
                                    <p:animEffect transition="in" filter="fade">
                                      <p:cBhvr>
                                        <p:cTn id="28" dur="500"/>
                                        <p:tgtEl>
                                          <p:spTgt spid="38">
                                            <p:txEl>
                                              <p:pRg st="0" end="0"/>
                                            </p:txEl>
                                          </p:spTgt>
                                        </p:tgtEl>
                                      </p:cBhvr>
                                    </p:animEffect>
                                  </p:childTnLst>
                                </p:cTn>
                              </p:par>
                            </p:childTnLst>
                          </p:cTn>
                        </p:par>
                        <p:par>
                          <p:cTn id="29" fill="hold">
                            <p:stCondLst>
                              <p:cond delay="1500"/>
                            </p:stCondLst>
                            <p:childTnLst>
                              <p:par>
                                <p:cTn id="30" presetID="10" presetClass="entr" presetSubtype="0" fill="hold" grpId="0" nodeType="afterEffect">
                                  <p:stCondLst>
                                    <p:cond delay="0"/>
                                  </p:stCondLst>
                                  <p:childTnLst>
                                    <p:set>
                                      <p:cBhvr>
                                        <p:cTn id="31" dur="1" fill="hold">
                                          <p:stCondLst>
                                            <p:cond delay="0"/>
                                          </p:stCondLst>
                                        </p:cTn>
                                        <p:tgtEl>
                                          <p:spTgt spid="38">
                                            <p:txEl>
                                              <p:pRg st="1" end="1"/>
                                            </p:txEl>
                                          </p:spTgt>
                                        </p:tgtEl>
                                        <p:attrNameLst>
                                          <p:attrName>style.visibility</p:attrName>
                                        </p:attrNameLst>
                                      </p:cBhvr>
                                      <p:to>
                                        <p:strVal val="visible"/>
                                      </p:to>
                                    </p:set>
                                    <p:animEffect transition="in" filter="fade">
                                      <p:cBhvr>
                                        <p:cTn id="32" dur="500"/>
                                        <p:tgtEl>
                                          <p:spTgt spid="38">
                                            <p:txEl>
                                              <p:pRg st="1" end="1"/>
                                            </p:txEl>
                                          </p:spTgt>
                                        </p:tgtEl>
                                      </p:cBhvr>
                                    </p:animEffect>
                                  </p:childTnLst>
                                </p:cTn>
                              </p:par>
                            </p:childTnLst>
                          </p:cTn>
                        </p:par>
                        <p:par>
                          <p:cTn id="33" fill="hold">
                            <p:stCondLst>
                              <p:cond delay="2000"/>
                            </p:stCondLst>
                            <p:childTnLst>
                              <p:par>
                                <p:cTn id="34" presetID="10" presetClass="entr" presetSubtype="0" fill="hold"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31" grpId="0" animBg="1"/>
      <p:bldP spid="32" grpId="0" animBg="1"/>
      <p:bldP spid="38" grpId="0" uiExpand="1" build="p" animBg="1"/>
    </p:bldLst>
  </p:timing>
  <p:extLst>
    <p:ext uri="{3A86A75C-4F4B-4683-9AE1-C65F6400EC91}">
      <p14:laserTraceLst xmlns:p14="http://schemas.microsoft.com/office/powerpoint/2010/main">
        <p14:tracePtLst>
          <p14:tracePt t="6889" x="11501438" y="4133850"/>
          <p14:tracePt t="6894" x="11066463" y="4133850"/>
          <p14:tracePt t="6901" x="10186988" y="4133850"/>
          <p14:tracePt t="6908" x="9317038" y="4133850"/>
          <p14:tracePt t="6918" x="8512175" y="4133850"/>
          <p14:tracePt t="6934" x="7037388" y="4133850"/>
          <p14:tracePt t="6940" x="6743700" y="4133850"/>
          <p14:tracePt t="6941" x="6469063" y="4133850"/>
          <p14:tracePt t="6951" x="5959475" y="4133850"/>
          <p14:tracePt t="6957" x="5561013" y="4133850"/>
          <p14:tracePt t="6960" x="5381625" y="4133850"/>
          <p14:tracePt t="6970" x="5106988" y="4133850"/>
          <p14:tracePt t="6975" x="5013325" y="4133850"/>
          <p14:tracePt t="6977" x="4889500" y="4133850"/>
          <p14:tracePt t="6985" x="4795838" y="4133850"/>
          <p14:tracePt t="7001" x="4748213" y="4133850"/>
          <p14:tracePt t="7541" x="4776788" y="4133850"/>
          <p14:tracePt t="7549" x="4824413" y="4133850"/>
          <p14:tracePt t="7561" x="4833938" y="4133850"/>
          <p14:tracePt t="7573" x="4879975" y="4124325"/>
          <p14:tracePt t="7584" x="4889500" y="4124325"/>
          <p14:tracePt t="7605" x="4899025" y="4105275"/>
          <p14:tracePt t="7606" x="4927600" y="4076700"/>
          <p14:tracePt t="7622" x="4946650" y="4067175"/>
          <p14:tracePt t="7625" x="4975225" y="4038600"/>
          <p14:tracePt t="7634" x="5013325" y="4038600"/>
          <p14:tracePt t="7654" x="5080000" y="4038600"/>
          <p14:tracePt t="7657" x="5106988" y="4038600"/>
          <p14:tracePt t="7670" x="5164138" y="4038600"/>
          <p14:tracePt t="7685" x="5202238" y="4010025"/>
          <p14:tracePt t="7691" x="5268913" y="3983038"/>
          <p14:tracePt t="7704" x="5334000" y="3983038"/>
          <p14:tracePt t="7708" x="5343525" y="3983038"/>
          <p14:tracePt t="7710" x="5381625" y="3954463"/>
          <p14:tracePt t="7719" x="5438775" y="3954463"/>
          <p14:tracePt t="7726" x="5476875" y="3954463"/>
          <p14:tracePt t="7735" x="5505450" y="3954463"/>
          <p14:tracePt t="7760" x="5599113" y="3954463"/>
          <p14:tracePt t="7776" x="5637213" y="3954463"/>
          <p14:tracePt t="7791" x="5665788" y="3954463"/>
          <p14:tracePt t="7809" x="5675313" y="3954463"/>
          <p14:tracePt t="8920" x="5646738" y="3954463"/>
          <p14:tracePt t="9028" x="5627688" y="3954463"/>
          <p14:tracePt t="9033" x="5618163" y="3973513"/>
          <p14:tracePt t="9052" x="5608638" y="3983038"/>
          <p14:tracePt t="9061" x="5589588" y="3992563"/>
          <p14:tracePt t="9075" x="5561013" y="3992563"/>
          <p14:tracePt t="9076" x="5551488" y="3992563"/>
          <p14:tracePt t="9086" x="5514975" y="4048125"/>
          <p14:tracePt t="9103" x="5448300" y="4200525"/>
          <p14:tracePt t="9121" x="5287963" y="4427538"/>
          <p14:tracePt t="9125" x="5192713" y="4559300"/>
          <p14:tracePt t="9134" x="5080000" y="4710113"/>
          <p14:tracePt t="9140" x="4984750" y="4843463"/>
          <p14:tracePt t="9154" x="4805363" y="5127625"/>
          <p14:tracePt t="9157" x="4729163" y="5354638"/>
          <p14:tracePt t="9170" x="4597400" y="5553075"/>
          <p14:tracePt t="9174" x="4521200" y="5627688"/>
          <p14:tracePt t="9176" x="4435475" y="5684838"/>
          <p14:tracePt t="9187" x="4313238" y="5780088"/>
          <p14:tracePt t="9203" x="4029075" y="5959475"/>
          <p14:tracePt t="9218" x="3763963" y="6072188"/>
          <p14:tracePt t="9234" x="3130550" y="6224588"/>
          <p14:tracePt t="9242" x="2836863" y="6308725"/>
          <p14:tracePt t="9244" x="2714625" y="6356350"/>
          <p14:tracePt t="9251" x="2582863" y="6394450"/>
          <p14:tracePt t="9256" x="2449513" y="6442075"/>
          <p14:tracePt t="9257" x="2317750" y="6461125"/>
          <p14:tracePt t="9268" x="1995488" y="6526213"/>
          <p14:tracePt t="9276" x="1863725" y="6545263"/>
          <p14:tracePt t="9285" x="1758950" y="6545263"/>
          <p14:tracePt t="9291" x="1665288" y="6573838"/>
          <p14:tracePt t="9301" x="1598613" y="6573838"/>
          <p14:tracePt t="9317" x="1531938" y="6611938"/>
          <p14:tracePt t="9334" x="1447800" y="6611938"/>
          <p14:tracePt t="9340" x="1438275" y="6611938"/>
          <p14:tracePt t="9342" x="1428750" y="6611938"/>
          <p14:tracePt t="9363" x="1285875" y="6640513"/>
          <p14:tracePt t="9366" x="1257300" y="6640513"/>
          <p14:tracePt t="9372" x="1220788" y="6640513"/>
          <p14:tracePt t="9377" x="1163638" y="6640513"/>
          <p14:tracePt t="9385" x="1106488" y="6640513"/>
          <p14:tracePt t="9389" x="1077913" y="6640513"/>
          <p14:tracePt t="9394" x="1049338" y="6640513"/>
          <p14:tracePt t="9401" x="1012825" y="6602413"/>
          <p14:tracePt t="9417" x="955675" y="6545263"/>
          <p14:tracePt t="9443" x="889000" y="6516688"/>
          <p14:tracePt t="9447" x="850900" y="6516688"/>
          <p14:tracePt t="9450" x="831850" y="6508750"/>
          <p14:tracePt t="9455" x="822325" y="6499225"/>
          <p14:tracePt t="9460" x="812800" y="6499225"/>
          <p14:tracePt t="9466" x="776288" y="6470650"/>
          <p14:tracePt t="9472" x="766763" y="6451600"/>
          <p14:tracePt t="9480" x="757238" y="6451600"/>
          <p14:tracePt t="9496" x="738188" y="6442075"/>
          <p14:tracePt t="9499" x="728663" y="6432550"/>
          <p14:tracePt t="9513" x="690563" y="6384925"/>
          <p14:tracePt t="9522" x="671513" y="6375400"/>
          <p14:tracePt t="9538" x="671513" y="6327775"/>
          <p14:tracePt t="9555" x="642938" y="6308725"/>
          <p14:tracePt t="9570" x="633413" y="6289675"/>
          <p14:tracePt t="9584" x="623888" y="6281738"/>
          <p14:tracePt t="9602" x="623888" y="6253163"/>
          <p14:tracePt t="9606" x="623888" y="6243638"/>
          <p14:tracePt t="9608" x="623888" y="6215063"/>
          <p14:tracePt t="9619" x="623888" y="6176963"/>
          <p14:tracePt t="9642" x="623888" y="6045200"/>
          <p14:tracePt t="9650" x="585788" y="5940425"/>
          <p14:tracePt t="9660" x="558800" y="5854700"/>
          <p14:tracePt t="9662" x="558800" y="5808663"/>
          <p14:tracePt t="9669" x="520700" y="5732463"/>
          <p14:tracePt t="9686" x="520700" y="5572125"/>
          <p14:tracePt t="9717" x="520700" y="5268913"/>
          <p14:tracePt t="9722" x="520700" y="5202238"/>
          <p14:tracePt t="9729" x="520700" y="5022850"/>
          <p14:tracePt t="9736" x="520700" y="4900613"/>
          <p14:tracePt t="9759" x="520700" y="4654550"/>
          <p14:tracePt t="9762" x="520700" y="4511675"/>
          <p14:tracePt t="9775" x="520700" y="4408488"/>
          <p14:tracePt t="9776" x="520700" y="4360863"/>
          <p14:tracePt t="9785" x="520700" y="4303713"/>
          <p14:tracePt t="9792" x="520700" y="4246563"/>
          <p14:tracePt t="9801" x="520700" y="4200525"/>
          <p14:tracePt t="9817" x="520700" y="4124325"/>
          <p14:tracePt t="9834" x="520700" y="4038600"/>
          <p14:tracePt t="9841" x="520700" y="4000500"/>
          <p14:tracePt t="9843" x="520700" y="3983038"/>
          <p14:tracePt t="9851" x="520700" y="3963988"/>
          <p14:tracePt t="9856" x="520700" y="3925888"/>
          <p14:tracePt t="9857" x="520700" y="3897313"/>
          <p14:tracePt t="9881" x="520700" y="3811588"/>
          <p14:tracePt t="9886" x="520700" y="3783013"/>
          <p14:tracePt t="9892" x="520700" y="3736975"/>
          <p14:tracePt t="9897" x="520700" y="3708400"/>
          <p14:tracePt t="9906" x="520700" y="3689350"/>
          <p14:tracePt t="9921" x="520700" y="3613150"/>
          <p14:tracePt t="9929" x="520700" y="3565525"/>
          <p14:tracePt t="9933" x="520700" y="3538538"/>
          <p14:tracePt t="9942" x="520700" y="3490913"/>
          <p14:tracePt t="9961" x="520700" y="3405188"/>
          <p14:tracePt t="9964" x="520700" y="3395663"/>
          <p14:tracePt t="9966" x="520700" y="3367088"/>
          <p14:tracePt t="9971" x="520700" y="3338513"/>
          <p14:tracePt t="9976" x="520700" y="3311525"/>
          <p14:tracePt t="9977" x="520700" y="3282950"/>
          <p14:tracePt t="9983" x="520700" y="3254375"/>
          <p14:tracePt t="9985" x="520700" y="3225800"/>
          <p14:tracePt t="9990" x="520700" y="3216275"/>
          <p14:tracePt t="9992" x="520700" y="3187700"/>
          <p14:tracePt t="9997" x="520700" y="3168650"/>
          <p14:tracePt t="10003" x="520700" y="3159125"/>
          <p14:tracePt t="10017" x="520700" y="3101975"/>
          <p14:tracePt t="10034" x="520700" y="3036888"/>
          <p14:tracePt t="10039" x="520700" y="3027363"/>
          <p14:tracePt t="10041" x="539750" y="2998788"/>
          <p14:tracePt t="10062" x="558800" y="2941638"/>
          <p14:tracePt t="10076" x="595313" y="2865438"/>
          <p14:tracePt t="10086" x="595313" y="2838450"/>
          <p14:tracePt t="10091" x="623888" y="2809875"/>
          <p14:tracePt t="10092" x="642938" y="2800350"/>
          <p14:tracePt t="10101" x="642938" y="2781300"/>
          <p14:tracePt t="10118" x="681038" y="2733675"/>
          <p14:tracePt t="10142" x="681038" y="2695575"/>
          <p14:tracePt t="10146" x="681038" y="2676525"/>
          <p14:tracePt t="10159" x="700088" y="2667000"/>
          <p14:tracePt t="10161" x="709613" y="2647950"/>
          <p14:tracePt t="10204" x="709613" y="2638425"/>
          <p14:tracePt t="10223" x="709613" y="2628900"/>
          <p14:tracePt t="10283" x="719138" y="2611438"/>
          <p14:tracePt t="10290" x="738188" y="2601913"/>
          <p14:tracePt t="10336" x="738188" y="2573338"/>
          <p14:tracePt t="10342" x="738188" y="2563813"/>
          <p14:tracePt t="10371" x="860425" y="2430463"/>
          <p14:tracePt t="10385" x="898525" y="2393950"/>
          <p14:tracePt t="10413" x="927100" y="2365375"/>
          <p14:tracePt t="10424" x="955675" y="2317750"/>
          <p14:tracePt t="10427" x="965200" y="2298700"/>
          <p14:tracePt t="10436" x="993775" y="2270125"/>
          <p14:tracePt t="10451" x="1030288" y="2232025"/>
          <p14:tracePt t="10467" x="1039813" y="2222500"/>
          <p14:tracePt t="10700" x="1068388" y="2193925"/>
          <p14:tracePt t="10714" x="1135063" y="2174875"/>
          <p14:tracePt t="10723" x="1163638" y="2147888"/>
          <p14:tracePt t="10731" x="1220788" y="2081213"/>
          <p14:tracePt t="10741" x="1295400" y="2052638"/>
          <p14:tracePt t="10751" x="1352550" y="2043113"/>
          <p14:tracePt t="10756" x="1428750" y="2024063"/>
          <p14:tracePt t="10758" x="1457325" y="2014538"/>
          <p14:tracePt t="10768" x="1522413" y="1995488"/>
          <p14:tracePt t="10784" x="1655763" y="1957388"/>
          <p14:tracePt t="10789" x="1711325" y="1930400"/>
          <p14:tracePt t="10790" x="1739900" y="1930400"/>
          <p14:tracePt t="10801" x="1797050" y="1930400"/>
          <p14:tracePt t="10805" x="1844675" y="1930400"/>
          <p14:tracePt t="10809" x="1873250" y="1930400"/>
          <p14:tracePt t="10810" x="1892300" y="1930400"/>
          <p14:tracePt t="10819" x="1911350" y="1930400"/>
          <p14:tracePt t="10825" x="1957388" y="1930400"/>
          <p14:tracePt t="10827" x="1966913" y="1930400"/>
          <p14:tracePt t="10836" x="2024063" y="1930400"/>
          <p14:tracePt t="10841" x="2052638" y="1930400"/>
          <p14:tracePt t="10843" x="2081213" y="1930400"/>
          <p14:tracePt t="10865" x="2174875" y="1930400"/>
          <p14:tracePt t="10868" x="2203450" y="1930400"/>
          <p14:tracePt t="10878" x="2260600" y="1930400"/>
          <p14:tracePt t="10890" x="2289175" y="1947863"/>
          <p14:tracePt t="10915" x="2336800" y="1957388"/>
          <p14:tracePt t="10931" x="2392363" y="1976438"/>
          <p14:tracePt t="10946" x="2401888" y="1985963"/>
          <p14:tracePt t="10970" x="2420938" y="1985963"/>
          <p14:tracePt t="10980" x="2468563" y="1985963"/>
          <p14:tracePt t="10995" x="2497138" y="1985963"/>
          <p14:tracePt t="11003" x="2516188" y="1985963"/>
          <p14:tracePt t="11041" x="2544763" y="2014538"/>
          <p14:tracePt t="11049" x="2554288" y="2033588"/>
          <p14:tracePt t="11069" x="2592388" y="2033588"/>
          <p14:tracePt t="11081" x="2638425" y="2033588"/>
          <p14:tracePt t="11110" x="2676525" y="2033588"/>
          <p14:tracePt t="11122" x="2714625" y="2033588"/>
          <p14:tracePt t="11124" x="2743200" y="2033588"/>
          <p14:tracePt t="11136" x="2800350" y="2033588"/>
          <p14:tracePt t="11151" x="2836863" y="2033588"/>
          <p14:tracePt t="11173" x="2865438" y="2062163"/>
          <p14:tracePt t="11174" x="2874963" y="2071688"/>
          <p14:tracePt t="11189" x="2903538" y="2071688"/>
          <p14:tracePt t="11190" x="2922588" y="2071688"/>
          <p14:tracePt t="11201" x="2932113" y="2081213"/>
          <p14:tracePt t="11205" x="2941638" y="2100263"/>
          <p14:tracePt t="11221" x="2970213" y="2100263"/>
          <p14:tracePt t="11244" x="3054350" y="2138363"/>
          <p14:tracePt t="11264" x="3121025" y="2147888"/>
          <p14:tracePt t="11269" x="3168650" y="2166938"/>
          <p14:tracePt t="11275" x="3187700" y="2174875"/>
          <p14:tracePt t="11285" x="3206750" y="2193925"/>
          <p14:tracePt t="11288" x="3235325" y="2193925"/>
          <p14:tracePt t="11300" x="3281363" y="2222500"/>
          <p14:tracePt t="11306" x="3290888" y="2241550"/>
          <p14:tracePt t="11308" x="3309938" y="2241550"/>
          <p14:tracePt t="11317" x="3319463" y="2251075"/>
          <p14:tracePt t="11340" x="3386138" y="2279650"/>
          <p14:tracePt t="11350" x="3405188" y="2289175"/>
          <p14:tracePt t="11356" x="3414713" y="2308225"/>
          <p14:tracePt t="11365" x="3424238" y="2317750"/>
          <p14:tracePt t="11372" x="3443288" y="2317750"/>
          <p14:tracePt t="11375" x="3481388" y="2355850"/>
          <p14:tracePt t="11381" x="3498850" y="2374900"/>
          <p14:tracePt t="11383" x="3508375" y="2384425"/>
          <p14:tracePt t="11394" x="3517900" y="2384425"/>
          <p14:tracePt t="11406" x="3546475" y="2411413"/>
          <p14:tracePt t="11407" x="3565525" y="2430463"/>
          <p14:tracePt t="11417" x="3575050" y="2439988"/>
          <p14:tracePt t="11420" x="3594100" y="2449513"/>
          <p14:tracePt t="11434" x="3613150" y="2478088"/>
          <p14:tracePt t="11440" x="3632200" y="2487613"/>
          <p14:tracePt t="11442" x="3632200" y="2516188"/>
          <p14:tracePt t="11451" x="3632200" y="2563813"/>
          <p14:tracePt t="11478" x="3698875" y="2628900"/>
          <p14:tracePt t="11493" x="3708400" y="2676525"/>
          <p14:tracePt t="11499" x="3754438" y="2733675"/>
          <p14:tracePt t="11507" x="3783013" y="2771775"/>
          <p14:tracePt t="11517" x="3811588" y="2809875"/>
          <p14:tracePt t="11521" x="3821113" y="2828925"/>
          <p14:tracePt t="11525" x="3821113" y="2847975"/>
          <p14:tracePt t="11526" x="3821113" y="2865438"/>
          <p14:tracePt t="11534" x="3868738" y="2903538"/>
          <p14:tracePt t="11540" x="3868738" y="2932113"/>
          <p14:tracePt t="11550" x="3897313" y="3027363"/>
          <p14:tracePt t="11568" x="3952875" y="3111500"/>
          <p14:tracePt t="11573" x="3952875" y="3140075"/>
          <p14:tracePt t="11574" x="3971925" y="3149600"/>
          <p14:tracePt t="11583" x="3981450" y="3206750"/>
          <p14:tracePt t="11600" x="4010025" y="3273425"/>
          <p14:tracePt t="11606" x="4038600" y="3302000"/>
          <p14:tracePt t="11607" x="4038600" y="3328988"/>
          <p14:tracePt t="11632" x="4124325" y="3500438"/>
          <p14:tracePt t="11639" x="4124325" y="3529013"/>
          <p14:tracePt t="11643" x="4152900" y="3603625"/>
          <p14:tracePt t="11653" x="4162425" y="3679825"/>
          <p14:tracePt t="11657" x="4162425" y="3689350"/>
          <p14:tracePt t="11658" x="4189413" y="3717925"/>
          <p14:tracePt t="11663" x="4208463" y="3727450"/>
          <p14:tracePt t="11672" x="4208463" y="3783013"/>
          <p14:tracePt t="11684" x="4256088" y="3859213"/>
          <p14:tracePt t="11690" x="4256088" y="3897313"/>
          <p14:tracePt t="11700" x="4256088" y="3963988"/>
          <p14:tracePt t="11706" x="4256088" y="3992563"/>
          <p14:tracePt t="11707" x="4284663" y="4019550"/>
          <p14:tracePt t="11717" x="4284663" y="4076700"/>
          <p14:tracePt t="11722" x="4284663" y="4133850"/>
          <p14:tracePt t="11734" x="4322763" y="4246563"/>
          <p14:tracePt t="11739" x="4322763" y="4294188"/>
          <p14:tracePt t="11759" x="4322763" y="4418013"/>
          <p14:tracePt t="11768" x="4322763" y="4559300"/>
          <p14:tracePt t="11775" x="4322763" y="4587875"/>
          <p14:tracePt t="11780" x="4322763" y="4691063"/>
          <p14:tracePt t="11782" x="4322763" y="4738688"/>
          <p14:tracePt t="11785" x="4322763" y="4748213"/>
          <p14:tracePt t="11788" x="4322763" y="4795838"/>
          <p14:tracePt t="11793" x="4322763" y="4843463"/>
          <p14:tracePt t="11800" x="4322763" y="4918075"/>
          <p14:tracePt t="11826" x="4322763" y="5145088"/>
          <p14:tracePt t="11831" x="4322763" y="5183188"/>
          <p14:tracePt t="11835" x="4322763" y="5230813"/>
          <p14:tracePt t="11841" x="4322763" y="5287963"/>
          <p14:tracePt t="11844" x="4294188" y="5316538"/>
          <p14:tracePt t="11850" x="4265613" y="5354638"/>
          <p14:tracePt t="11852" x="4265613" y="5381625"/>
          <p14:tracePt t="11870" x="4162425" y="5543550"/>
          <p14:tracePt t="11874" x="4133850" y="5581650"/>
          <p14:tracePt t="11876" x="4133850" y="5608638"/>
          <p14:tracePt t="11884" x="4057650" y="5713413"/>
          <p14:tracePt t="11890" x="4029075" y="5741988"/>
          <p14:tracePt t="11903" x="3887788" y="5902325"/>
          <p14:tracePt t="11909" x="3821113" y="5969000"/>
          <p14:tracePt t="11917" x="3754438" y="6035675"/>
          <p14:tracePt t="11923" x="3708400" y="6081713"/>
          <p14:tracePt t="11925" x="3670300" y="6119813"/>
          <p14:tracePt t="11934" x="3584575" y="6205538"/>
          <p14:tracePt t="11939" x="3556000" y="6234113"/>
          <p14:tracePt t="11941" x="3546475" y="6234113"/>
          <p14:tracePt t="11951" x="3481388" y="6262688"/>
          <p14:tracePt t="11955" x="3452813" y="6281738"/>
          <p14:tracePt t="11958" x="3424238" y="6289675"/>
          <p14:tracePt t="11967" x="3376613" y="6327775"/>
          <p14:tracePt t="11972" x="3367088" y="6327775"/>
          <p14:tracePt t="11974" x="3357563" y="6327775"/>
          <p14:tracePt t="11976" x="3328988" y="6356350"/>
          <p14:tracePt t="11984" x="3263900" y="6384925"/>
          <p14:tracePt t="11990" x="3235325" y="6384925"/>
          <p14:tracePt t="11993" x="3206750" y="6413500"/>
          <p14:tracePt t="12001" x="3140075" y="6451600"/>
          <p14:tracePt t="12021" x="2941638" y="6516688"/>
          <p14:tracePt t="12032" x="2771775" y="6554788"/>
          <p14:tracePt t="12036" x="2724150" y="6564313"/>
          <p14:tracePt t="12041" x="2582863" y="6583363"/>
          <p14:tracePt t="12048" x="2468563" y="6583363"/>
          <p14:tracePt t="12059" x="2327275" y="6621463"/>
          <p14:tracePt t="12060" x="2279650" y="6621463"/>
          <p14:tracePt t="12067" x="2212975" y="6621463"/>
          <p14:tracePt t="12071" x="2146300" y="6621463"/>
          <p14:tracePt t="12092" x="1892300" y="6621463"/>
          <p14:tracePt t="12097" x="1428750" y="6621463"/>
          <p14:tracePt t="12101" x="1304925" y="6621463"/>
          <p14:tracePt t="12109" x="1144588" y="6611938"/>
          <p14:tracePt t="12116" x="1003300" y="6583363"/>
          <p14:tracePt t="12126" x="860425" y="6545263"/>
          <p14:tracePt t="12133" x="757238" y="6499225"/>
          <p14:tracePt t="12150" x="614363" y="6432550"/>
          <p14:tracePt t="12156" x="566738" y="6384925"/>
          <p14:tracePt t="12179" x="482600" y="6281738"/>
          <p14:tracePt t="12184" x="463550" y="6224588"/>
          <p14:tracePt t="12190" x="454025" y="6215063"/>
          <p14:tracePt t="12194" x="425450" y="6148388"/>
          <p14:tracePt t="12196" x="387350" y="6119813"/>
          <p14:tracePt t="12206" x="358775" y="6062663"/>
          <p14:tracePt t="12227" x="293688" y="5940425"/>
          <p14:tracePt t="12230" x="293688" y="5911850"/>
          <p14:tracePt t="12241" x="265113" y="5827713"/>
          <p14:tracePt t="12246" x="246063" y="5770563"/>
          <p14:tracePt t="12255" x="236538" y="5751513"/>
          <p14:tracePt t="12256" x="236538" y="5722938"/>
          <p14:tracePt t="12267" x="236538" y="5665788"/>
          <p14:tracePt t="12273" x="207963" y="5627688"/>
          <p14:tracePt t="12275" x="207963" y="5600700"/>
          <p14:tracePt t="12276" x="207963" y="5572125"/>
          <p14:tracePt t="12284" x="169863" y="5514975"/>
          <p14:tracePt t="12313" x="169863" y="5326063"/>
          <p14:tracePt t="12317" x="141288" y="5240338"/>
          <p14:tracePt t="12325" x="141288" y="5154613"/>
          <p14:tracePt t="12328" x="141288" y="5145088"/>
          <p14:tracePt t="12335" x="141288" y="5118100"/>
          <p14:tracePt t="12336" x="104775" y="5070475"/>
          <p14:tracePt t="12350" x="104775" y="5013325"/>
          <p14:tracePt t="12356" x="104775" y="4937125"/>
          <p14:tracePt t="12370" x="104775" y="4891088"/>
          <p14:tracePt t="12373" x="104775" y="4872038"/>
          <p14:tracePt t="12392" x="104775" y="4786313"/>
          <p14:tracePt t="12401" x="104775" y="4700588"/>
          <p14:tracePt t="12410" x="104775" y="4645025"/>
          <p14:tracePt t="12417" x="104775" y="4616450"/>
          <p14:tracePt t="12419" x="104775" y="4606925"/>
          <p14:tracePt t="12421" x="104775" y="4578350"/>
          <p14:tracePt t="12426" x="104775" y="4549775"/>
          <p14:tracePt t="12440" x="104775" y="4511675"/>
          <p14:tracePt t="12450" x="104775" y="4464050"/>
          <p14:tracePt t="12456" x="104775" y="4456113"/>
          <p14:tracePt t="12459" x="104775" y="4446588"/>
          <p14:tracePt t="12461" x="104775" y="4427538"/>
          <p14:tracePt t="12473" x="104775" y="4418013"/>
          <p14:tracePt t="12477" x="104775" y="4389438"/>
          <p14:tracePt t="12484" x="104775" y="4360863"/>
          <p14:tracePt t="12512" x="104775" y="4332288"/>
          <p14:tracePt t="12516" x="104775" y="4322763"/>
          <p14:tracePt t="12540" x="141288" y="4265613"/>
          <p14:tracePt t="12555" x="141288" y="4256088"/>
          <p14:tracePt t="12567" x="141288" y="4229100"/>
          <p14:tracePt t="12572" x="141288" y="4210050"/>
          <p14:tracePt t="12575" x="169863" y="4171950"/>
          <p14:tracePt t="12576" x="179388" y="4152900"/>
          <p14:tracePt t="12586" x="179388" y="4133850"/>
          <p14:tracePt t="12589" x="198438" y="4105275"/>
          <p14:tracePt t="12601" x="207963" y="4048125"/>
          <p14:tracePt t="12618" x="265113" y="3944938"/>
          <p14:tracePt t="12624" x="303213" y="3878263"/>
          <p14:tracePt t="12633" x="331788" y="3811588"/>
          <p14:tracePt t="12651" x="377825" y="3689350"/>
          <p14:tracePt t="12656" x="387350" y="3651250"/>
          <p14:tracePt t="12667" x="425450" y="3584575"/>
          <p14:tracePt t="12671" x="454025" y="3556000"/>
          <p14:tracePt t="12674" x="473075" y="3546475"/>
          <p14:tracePt t="12687" x="501650" y="3452813"/>
          <p14:tracePt t="12723" x="549275" y="3338513"/>
          <p14:tracePt t="12730" x="566738" y="3319463"/>
          <p14:tracePt t="12762" x="576263" y="3311525"/>
          <p14:tracePt t="13321" x="585788" y="3311525"/>
          <p14:tracePt t="13333" x="585788" y="3328988"/>
          <p14:tracePt t="13343" x="576263" y="3338513"/>
          <p14:tracePt t="14309" x="576263" y="3348038"/>
          <p14:tracePt t="14313" x="604838" y="3348038"/>
          <p14:tracePt t="14316" x="614363" y="3348038"/>
          <p14:tracePt t="14336" x="633413" y="3348038"/>
          <p14:tracePt t="14344" x="642938" y="3348038"/>
          <p14:tracePt t="14811" x="652463" y="3367088"/>
          <p14:tracePt t="18851" x="652463" y="3395663"/>
          <p14:tracePt t="18857" x="652463" y="3462338"/>
          <p14:tracePt t="18861" x="652463" y="3490913"/>
          <p14:tracePt t="18866" x="652463" y="3519488"/>
          <p14:tracePt t="18869" x="652463" y="3538538"/>
          <p14:tracePt t="18875" x="652463" y="3565525"/>
          <p14:tracePt t="18876" x="652463" y="3575050"/>
          <p14:tracePt t="18883" x="652463" y="3622675"/>
          <p14:tracePt t="18887" x="652463" y="3632200"/>
          <p14:tracePt t="18889" x="652463" y="3641725"/>
          <p14:tracePt t="18903" x="652463" y="3717925"/>
          <p14:tracePt t="18907" x="652463" y="3746500"/>
          <p14:tracePt t="18908" x="671513" y="3792538"/>
          <p14:tracePt t="18919" x="690563" y="3830638"/>
          <p14:tracePt t="18940" x="709613" y="3973513"/>
          <p14:tracePt t="18951" x="709613" y="4010025"/>
          <p14:tracePt t="18957" x="709613" y="4057650"/>
          <p14:tracePt t="18966" x="709613" y="4095750"/>
          <p14:tracePt t="18972" x="709613" y="4124325"/>
          <p14:tracePt t="18975" x="709613" y="4133850"/>
          <p14:tracePt t="18976" x="709613" y="4162425"/>
          <p14:tracePt t="18987" x="709613" y="4191000"/>
          <p14:tracePt t="19003" x="709613" y="4200525"/>
          <p14:tracePt t="19122" x="709613" y="4237038"/>
          <p14:tracePt t="19131" x="709613" y="4284663"/>
          <p14:tracePt t="19140" x="709613" y="4351338"/>
          <p14:tracePt t="19145" x="709613" y="4360863"/>
          <p14:tracePt t="19148" x="709613" y="4379913"/>
          <p14:tracePt t="19151" x="709613" y="4408488"/>
          <p14:tracePt t="19156" x="709613" y="4437063"/>
          <p14:tracePt t="19158" x="709613" y="4464050"/>
          <p14:tracePt t="19164" x="709613" y="4492625"/>
          <p14:tracePt t="19172" x="709613" y="4549775"/>
          <p14:tracePt t="19186" x="747713" y="4616450"/>
          <p14:tracePt t="19202" x="776288" y="4719638"/>
          <p14:tracePt t="19217" x="831850" y="4805363"/>
          <p14:tracePt t="19237" x="898525" y="4900613"/>
          <p14:tracePt t="19239" x="898525" y="4927600"/>
          <p14:tracePt t="19242" x="908050" y="4946650"/>
          <p14:tracePt t="19251" x="955675" y="4984750"/>
          <p14:tracePt t="19256" x="965200" y="4994275"/>
          <p14:tracePt t="19258" x="974725" y="5013325"/>
          <p14:tracePt t="19268" x="1003300" y="5032375"/>
          <p14:tracePt t="19283" x="1039813" y="5051425"/>
          <p14:tracePt t="19299" x="1058863" y="5060950"/>
          <p14:tracePt t="19324" x="1135063" y="5060950"/>
          <p14:tracePt t="19345" x="1173163" y="5060950"/>
          <p14:tracePt t="19363" x="1201738" y="5060950"/>
          <p14:tracePt t="19373" x="1220788" y="5060950"/>
          <p14:tracePt t="19390" x="1266825" y="5060950"/>
          <p14:tracePt t="19395" x="1285875" y="5060950"/>
          <p14:tracePt t="19407" x="1323975" y="5060950"/>
          <p14:tracePt t="19416" x="1333500" y="5060950"/>
          <p14:tracePt t="19422" x="1352550" y="5013325"/>
          <p14:tracePt t="19454" x="1381125" y="5013325"/>
          <p14:tracePt t="19457" x="1390650" y="5013325"/>
          <p14:tracePt t="19495" x="1409700" y="5003800"/>
          <p14:tracePt t="19799" x="1409700" y="5022850"/>
          <p14:tracePt t="19819" x="1409700" y="5137150"/>
          <p14:tracePt t="19827" x="1409700" y="5164138"/>
          <p14:tracePt t="19838" x="1409700" y="5202238"/>
          <p14:tracePt t="19839" x="1409700" y="5211763"/>
          <p14:tracePt t="19850" x="1409700" y="5268913"/>
          <p14:tracePt t="19857" x="1409700" y="5278438"/>
          <p14:tracePt t="19866" x="1409700" y="5307013"/>
          <p14:tracePt t="19873" x="1409700" y="5326063"/>
          <p14:tracePt t="19890" x="1400175" y="5364163"/>
          <p14:tracePt t="19899" x="1400175" y="5381625"/>
          <p14:tracePt t="19916" x="1390650" y="5391150"/>
          <p14:tracePt t="19938" x="1390650" y="5429250"/>
          <p14:tracePt t="20497" x="1390650" y="5457825"/>
          <p14:tracePt t="20500" x="1390650" y="5467350"/>
          <p14:tracePt t="20522" x="1390650" y="5495925"/>
          <p14:tracePt t="20526" x="1390650" y="5514975"/>
          <p14:tracePt t="20555" x="1390650" y="5543550"/>
          <p14:tracePt t="20559" x="1390650" y="5553075"/>
          <p14:tracePt t="20574" x="1390650" y="5562600"/>
          <p14:tracePt t="20583" x="1390650" y="5581650"/>
          <p14:tracePt t="20601" x="1390650" y="5600700"/>
          <p14:tracePt t="20620" x="1390650" y="5646738"/>
          <p14:tracePt t="20645" x="1390650" y="5656263"/>
          <p14:tracePt t="20652" x="1390650" y="5665788"/>
          <p14:tracePt t="21063" x="1390650" y="5713413"/>
          <p14:tracePt t="21077" x="1390650" y="5741988"/>
          <p14:tracePt t="21085" x="1390650" y="5751513"/>
          <p14:tracePt t="21108" x="1390650" y="5780088"/>
          <p14:tracePt t="21116" x="1390650" y="5789613"/>
          <p14:tracePt t="21140" x="1390650" y="5818188"/>
          <p14:tracePt t="21150" x="1390650" y="5835650"/>
          <p14:tracePt t="21166" x="1390650" y="5854700"/>
          <p14:tracePt t="21171" x="1390650" y="5873750"/>
          <p14:tracePt t="21212" x="1390650" y="5902325"/>
          <p14:tracePt t="21218" x="1390650" y="5911850"/>
          <p14:tracePt t="21254" x="1390650" y="5921375"/>
          <p14:tracePt t="21260" x="1390650" y="5940425"/>
          <p14:tracePt t="21289" x="1390650" y="5978525"/>
          <p14:tracePt t="21309" x="1390650" y="6007100"/>
          <p14:tracePt t="21314" x="1390650" y="6016625"/>
          <p14:tracePt t="21340" x="1390650" y="6045200"/>
          <p14:tracePt t="21345" x="1390650" y="6062663"/>
          <p14:tracePt t="21356" x="1390650" y="6081713"/>
          <p14:tracePt t="21366" x="1390650" y="6100763"/>
          <p14:tracePt t="21397" x="1390650" y="6110288"/>
          <p14:tracePt t="21406" x="1390650" y="6129338"/>
          <p14:tracePt t="21438" x="1390650" y="6148388"/>
          <p14:tracePt t="21442" x="1390650" y="6167438"/>
          <p14:tracePt t="21460" x="1390650" y="6196013"/>
          <p14:tracePt t="21469" x="1390650" y="6205538"/>
          <p14:tracePt t="21505" x="1390650" y="6243638"/>
          <p14:tracePt t="23685" x="1390650" y="6196013"/>
          <p14:tracePt t="23690" x="1390650" y="6148388"/>
          <p14:tracePt t="23700" x="1390650" y="6110288"/>
          <p14:tracePt t="23705" x="1390650" y="6072188"/>
          <p14:tracePt t="23717" x="1390650" y="6016625"/>
          <p14:tracePt t="23732" x="1371600" y="5949950"/>
          <p14:tracePt t="23738" x="1362075" y="5921375"/>
          <p14:tracePt t="23749" x="1362075" y="5892800"/>
          <p14:tracePt t="23768" x="1333500" y="5827713"/>
          <p14:tracePt t="23788" x="1333500" y="5808663"/>
          <p14:tracePt t="23799" x="1333500" y="5799138"/>
          <p14:tracePt t="24167" x="1333500" y="5770563"/>
          <p14:tracePt t="24172" x="1333500" y="5732463"/>
          <p14:tracePt t="24178" x="1333500" y="5713413"/>
          <p14:tracePt t="24181" x="1333500" y="5694363"/>
          <p14:tracePt t="24187" x="1333500" y="5646738"/>
          <p14:tracePt t="24200" x="1323975" y="5591175"/>
          <p14:tracePt t="24216" x="1276350" y="5524500"/>
          <p14:tracePt t="24232" x="1276350" y="5448300"/>
          <p14:tracePt t="24237" x="1276350" y="5419725"/>
          <p14:tracePt t="24239" x="1276350" y="5400675"/>
          <p14:tracePt t="24249" x="1266825" y="5345113"/>
          <p14:tracePt t="24252" x="1257300" y="5335588"/>
          <p14:tracePt t="24259" x="1257300" y="5307013"/>
          <p14:tracePt t="24267" x="1257300" y="5278438"/>
          <p14:tracePt t="24284" x="1220788" y="5240338"/>
          <p14:tracePt t="24300" x="1201738" y="5154613"/>
          <p14:tracePt t="24321" x="1201738" y="5145088"/>
          <p14:tracePt t="24330" x="1182688" y="5127625"/>
          <p14:tracePt t="24419" x="1182688" y="5089525"/>
          <p14:tracePt t="24437" x="1182688" y="5051425"/>
          <p14:tracePt t="24444" x="1182688" y="5022850"/>
          <p14:tracePt t="24454" x="1154113" y="4975225"/>
          <p14:tracePt t="24456" x="1154113" y="4946650"/>
          <p14:tracePt t="24467" x="1125538" y="4927600"/>
          <p14:tracePt t="24472" x="1125538" y="4900613"/>
          <p14:tracePt t="24474" x="1125538" y="4872038"/>
          <p14:tracePt t="24485" x="1125538" y="4824413"/>
          <p14:tracePt t="24499" x="1106488" y="4757738"/>
          <p14:tracePt t="24505" x="1106488" y="4748213"/>
          <p14:tracePt t="24506" x="1106488" y="4738688"/>
          <p14:tracePt t="24524" x="1106488" y="4700588"/>
          <p14:tracePt t="24529" x="1077913" y="4673600"/>
          <p14:tracePt t="24532" x="1077913" y="4645025"/>
          <p14:tracePt t="24537" x="1077913" y="4635500"/>
          <p14:tracePt t="24552" x="1077913" y="4606925"/>
          <p14:tracePt t="24560" x="1077913" y="4587875"/>
          <p14:tracePt t="24568" x="1077913" y="4549775"/>
          <p14:tracePt t="24591" x="1077913" y="4511675"/>
          <p14:tracePt t="24595" x="1077913" y="4492625"/>
          <p14:tracePt t="24606" x="1077913" y="4483100"/>
          <p14:tracePt t="24733" x="1077913" y="4446588"/>
          <p14:tracePt t="24751" x="1077913" y="4398963"/>
          <p14:tracePt t="24771" x="1077913" y="4360863"/>
          <p14:tracePt t="24781" x="1077913" y="4332288"/>
          <p14:tracePt t="24786" x="1077913" y="4322763"/>
          <p14:tracePt t="26093" x="1077913" y="4341813"/>
          <p14:tracePt t="26109" x="1077913" y="4351338"/>
          <p14:tracePt t="26127" x="1096963" y="4360863"/>
          <p14:tracePt t="26138" x="1096963" y="4408488"/>
          <p14:tracePt t="26149" x="1096963" y="4437063"/>
          <p14:tracePt t="26165" x="1096963" y="4483100"/>
          <p14:tracePt t="26187" x="1096963" y="4549775"/>
          <p14:tracePt t="26190" x="1096963" y="4568825"/>
          <p14:tracePt t="26201" x="1096963" y="4587875"/>
          <p14:tracePt t="26215" x="1096963" y="4635500"/>
          <p14:tracePt t="26241" x="1087438" y="4673600"/>
          <p14:tracePt t="28414" x="1087438" y="4654550"/>
          <p14:tracePt t="28420" x="1077913" y="4625975"/>
          <p14:tracePt t="28443" x="1068388" y="4616450"/>
          <p14:tracePt t="33457" x="1116013" y="4683125"/>
          <p14:tracePt t="33471" x="1230313" y="4862513"/>
          <p14:tracePt t="33479" x="1400175" y="5070475"/>
          <p14:tracePt t="33483" x="1457325" y="5145088"/>
          <p14:tracePt t="33486" x="1541463" y="5230813"/>
          <p14:tracePt t="33496" x="1627188" y="5732463"/>
          <p14:tracePt t="33500" x="1674813" y="6035675"/>
          <p14:tracePt t="33505" x="1778000" y="6289675"/>
          <p14:tracePt t="33507" x="1825625" y="6480175"/>
          <p14:tracePt t="33515" x="1919288" y="6819900"/>
          <p14:tracePt t="35054" x="1579563" y="6753225"/>
          <p14:tracePt t="35058" x="1522413" y="6669088"/>
          <p14:tracePt t="35100" x="1163638" y="5713413"/>
          <p14:tracePt t="35115" x="1144588" y="5600700"/>
          <p14:tracePt t="35120" x="1125538" y="5562600"/>
          <p14:tracePt t="35131" x="1116013" y="5429250"/>
          <p14:tracePt t="35135" x="1116013" y="5381625"/>
          <p14:tracePt t="35138" x="1116013" y="5354638"/>
          <p14:tracePt t="35151" x="1096963" y="5249863"/>
          <p14:tracePt t="35156" x="1087438" y="5202238"/>
          <p14:tracePt t="35166" x="1087438" y="5145088"/>
          <p14:tracePt t="35182" x="1087438" y="5080000"/>
          <p14:tracePt t="35201" x="1039813" y="5032375"/>
          <p14:tracePt t="35204" x="1039813" y="4994275"/>
          <p14:tracePt t="35226" x="1039813" y="4984750"/>
          <p14:tracePt t="35236" x="1039813" y="4965700"/>
          <p14:tracePt t="35494" x="1049338" y="4956175"/>
          <p14:tracePt t="35504" x="1135063" y="4956175"/>
          <p14:tracePt t="35525" x="1646238" y="4994275"/>
          <p14:tracePt t="35530" x="2138363" y="5118100"/>
          <p14:tracePt t="35534" x="2392363" y="5192713"/>
          <p14:tracePt t="35542" x="2913063" y="5345113"/>
          <p14:tracePt t="35551" x="3443288" y="5495925"/>
          <p14:tracePt t="35566" x="4435475" y="5770563"/>
          <p14:tracePt t="35581" x="5126038" y="5978525"/>
          <p14:tracePt t="35598" x="5467350" y="6091238"/>
          <p14:tracePt t="35604" x="5476875" y="6100763"/>
          <p14:tracePt t="35605" x="5495925" y="6100763"/>
          <p14:tracePt t="35629" x="5541963" y="6119813"/>
          <p14:tracePt t="35652" x="5561013" y="6129338"/>
          <p14:tracePt t="35861" x="5570538" y="6129338"/>
          <p14:tracePt t="35870" x="5570538" y="6100763"/>
          <p14:tracePt t="35899" x="5570538" y="5949950"/>
          <p14:tracePt t="35908" x="5599113" y="5911850"/>
          <p14:tracePt t="35910" x="5608638" y="5892800"/>
          <p14:tracePt t="35920" x="5637213" y="5827713"/>
          <p14:tracePt t="35933" x="5656263" y="5770563"/>
          <p14:tracePt t="35937" x="5656263" y="5741988"/>
          <p14:tracePt t="35952" x="5694363" y="5694363"/>
          <p14:tracePt t="35966" x="5694363" y="5591175"/>
          <p14:tracePt t="35971" x="5694363" y="5562600"/>
          <p14:tracePt t="35973" x="5694363" y="5553075"/>
          <p14:tracePt t="35981" x="5694363" y="5514975"/>
          <p14:tracePt t="36006" x="5694363" y="5448300"/>
          <p14:tracePt t="36011" x="5694363" y="5419725"/>
          <p14:tracePt t="36022" x="5694363" y="5400675"/>
          <p14:tracePt t="36037" x="5694363" y="5391150"/>
          <p14:tracePt t="36047" x="5694363" y="5381625"/>
          <p14:tracePt t="36052" x="5694363" y="5364163"/>
          <p14:tracePt t="36054" x="5694363" y="5354638"/>
          <p14:tracePt t="36073" x="5694363" y="5326063"/>
          <p14:tracePt t="36083" x="5694363" y="5287963"/>
          <p14:tracePt t="36088" x="5675313" y="5278438"/>
          <p14:tracePt t="36097" x="5675313" y="5230813"/>
          <p14:tracePt t="36102" x="5675313" y="5202238"/>
          <p14:tracePt t="36104" x="5665788" y="5192713"/>
          <p14:tracePt t="36125" x="5637213" y="5108575"/>
          <p14:tracePt t="36128" x="5627688" y="5099050"/>
          <p14:tracePt t="36140" x="5627688" y="5041900"/>
          <p14:tracePt t="36148" x="5599113" y="5003800"/>
          <p14:tracePt t="36154" x="5589588" y="4994275"/>
          <p14:tracePt t="36156" x="5589588" y="4965700"/>
          <p14:tracePt t="36167" x="5589588" y="4918075"/>
          <p14:tracePt t="36171" x="5570538" y="4881563"/>
          <p14:tracePt t="36174" x="5561013" y="4872038"/>
          <p14:tracePt t="36187" x="5561013" y="4776788"/>
          <p14:tracePt t="36190" x="5561013" y="4767263"/>
          <p14:tracePt t="36203" x="5514975" y="4700588"/>
          <p14:tracePt t="36206" x="5514975" y="4673600"/>
          <p14:tracePt t="36214" x="5505450" y="4625975"/>
          <p14:tracePt t="36220" x="5495925" y="4616450"/>
          <p14:tracePt t="36232" x="5495925" y="4578350"/>
          <p14:tracePt t="36248" x="5495925" y="4492625"/>
          <p14:tracePt t="36253" x="5448300" y="4456113"/>
          <p14:tracePt t="36264" x="5448300" y="4408488"/>
          <p14:tracePt t="36291" x="5410200" y="4313238"/>
          <p14:tracePt t="36309" x="5410200" y="4246563"/>
          <p14:tracePt t="36311" x="5410200" y="4237038"/>
          <p14:tracePt t="36322" x="5410200" y="4210050"/>
          <p14:tracePt t="36342" x="5410200" y="4181475"/>
          <p14:tracePt t="36346" x="5410200" y="4143375"/>
          <p14:tracePt t="36355" x="5410200" y="4114800"/>
          <p14:tracePt t="36364" x="5410200" y="4076700"/>
          <p14:tracePt t="36369" x="5410200" y="4057650"/>
          <p14:tracePt t="36371" x="5410200" y="4029075"/>
          <p14:tracePt t="36392" x="5410200" y="3992563"/>
          <p14:tracePt t="36398" x="5410200" y="3954463"/>
          <p14:tracePt t="36404" x="5410200" y="3944938"/>
          <p14:tracePt t="36408" x="5410200" y="3897313"/>
          <p14:tracePt t="36416" x="5410200" y="3859213"/>
          <p14:tracePt t="36442" x="5410200" y="3821113"/>
          <p14:tracePt t="36455" x="5410200" y="3773488"/>
          <p14:tracePt t="36470" x="5410200" y="3736975"/>
          <p14:tracePt t="36501" x="5410200" y="3708400"/>
          <p14:tracePt t="36509" x="5410200" y="3689350"/>
          <p14:tracePt t="36511" x="5410200" y="3670300"/>
          <p14:tracePt t="36520" x="5410200" y="3632200"/>
          <p14:tracePt t="36531" x="5410200" y="3622675"/>
          <p14:tracePt t="36555" x="5419725" y="3594100"/>
          <p14:tracePt t="36577" x="5448300" y="3556000"/>
          <p14:tracePt t="36580" x="5448300" y="3529013"/>
          <p14:tracePt t="36586" x="5448300" y="3509963"/>
          <p14:tracePt t="36588" x="5457825" y="3500438"/>
          <p14:tracePt t="36594" x="5476875" y="3490913"/>
          <p14:tracePt t="36603" x="5476875" y="3462338"/>
          <p14:tracePt t="36615" x="5486400" y="3433763"/>
          <p14:tracePt t="36640" x="5505450" y="3424238"/>
          <p14:tracePt t="36650" x="5505450" y="3405188"/>
          <p14:tracePt t="36659" x="5505450" y="3395663"/>
          <p14:tracePt t="36667" x="5532438" y="3367088"/>
          <p14:tracePt t="36694" x="5541963" y="3311525"/>
          <p14:tracePt t="36706" x="5541963" y="3282950"/>
          <p14:tracePt t="36714" x="5541963" y="3273425"/>
          <p14:tracePt t="37195" x="5599113" y="3263900"/>
          <p14:tracePt t="37205" x="5608638" y="3263900"/>
          <p14:tracePt t="37215" x="5618163" y="3263900"/>
          <p14:tracePt t="37221" x="5646738" y="3263900"/>
          <p14:tracePt t="37224" x="5665788" y="3263900"/>
          <p14:tracePt t="37231" x="5675313" y="3263900"/>
          <p14:tracePt t="37237" x="5722938" y="3244850"/>
          <p14:tracePt t="37239" x="5732463" y="3244850"/>
          <p14:tracePt t="37247" x="5741988" y="3235325"/>
          <p14:tracePt t="37264" x="5768975" y="3206750"/>
          <p14:tracePt t="37290" x="5854700" y="3178175"/>
          <p14:tracePt t="37298" x="5883275" y="3168650"/>
          <p14:tracePt t="37316" x="5949950" y="3121025"/>
          <p14:tracePt t="37321" x="5959475" y="3111500"/>
          <p14:tracePt t="37323" x="5986463" y="3111500"/>
          <p14:tracePt t="37329" x="6005513" y="3111500"/>
          <p14:tracePt t="37338" x="6072188" y="3111500"/>
          <p14:tracePt t="37347" x="6110288" y="3111500"/>
          <p14:tracePt t="37364" x="6223000" y="3111500"/>
          <p14:tracePt t="37380" x="6394450" y="3111500"/>
          <p14:tracePt t="37385" x="6440488" y="3111500"/>
          <p14:tracePt t="37387" x="6497638" y="3111500"/>
          <p14:tracePt t="37413" x="6762750" y="3111500"/>
          <p14:tracePt t="37425" x="6877050" y="3111500"/>
          <p14:tracePt t="37432" x="6913563" y="3111500"/>
          <p14:tracePt t="37436" x="6942138" y="3111500"/>
          <p14:tracePt t="37438" x="6951663" y="3111500"/>
          <p14:tracePt t="37444" x="6980238" y="3130550"/>
          <p14:tracePt t="37455" x="7008813" y="3159125"/>
          <p14:tracePt t="37467" x="7037388" y="3178175"/>
          <p14:tracePt t="37471" x="7046913" y="3197225"/>
          <p14:tracePt t="37487" x="7094538" y="3235325"/>
          <p14:tracePt t="37501" x="7094538" y="3263900"/>
          <p14:tracePt t="37516" x="7104063" y="3292475"/>
          <p14:tracePt t="37556" x="7131050" y="3319463"/>
          <p14:tracePt t="37562" x="7140575" y="3328988"/>
          <p14:tracePt t="37573" x="7159625" y="3348038"/>
          <p14:tracePt t="37583" x="7169150" y="3357563"/>
          <p14:tracePt t="37597" x="7216775" y="3395663"/>
          <p14:tracePt t="37614" x="7254875" y="3433763"/>
          <p14:tracePt t="37620" x="7254875" y="3462338"/>
          <p14:tracePt t="37630" x="7254875" y="3481388"/>
          <p14:tracePt t="37647" x="7292975" y="3519488"/>
          <p14:tracePt t="37669" x="7321550" y="3546475"/>
          <p14:tracePt t="37681" x="7339013" y="3565525"/>
          <p14:tracePt t="37726" x="7339013" y="3584575"/>
          <p14:tracePt t="37735" x="7339013" y="3603625"/>
          <p14:tracePt t="37769" x="7348538" y="3613150"/>
          <p14:tracePt t="37868" x="7358063" y="3632200"/>
          <p14:tracePt t="37876" x="7377113" y="3641725"/>
          <p14:tracePt t="37904" x="7386638" y="3651250"/>
          <p14:tracePt t="37919" x="7396163" y="3670300"/>
          <p14:tracePt t="37940" x="7424738" y="3698875"/>
          <p14:tracePt t="37949" x="7443788" y="3708400"/>
          <p14:tracePt t="37964" x="7443788" y="3736975"/>
          <p14:tracePt t="37970" x="7443788" y="3746500"/>
          <p14:tracePt t="37972" x="7443788" y="3765550"/>
          <p14:tracePt t="37980" x="7453313" y="3773488"/>
          <p14:tracePt t="37990" x="7472363" y="3783013"/>
          <p14:tracePt t="38012" x="7481888" y="3802063"/>
          <p14:tracePt t="38020" x="7491413" y="3811588"/>
          <p14:tracePt t="38434" x="7491413" y="3840163"/>
          <p14:tracePt t="38447" x="7510463" y="3897313"/>
          <p14:tracePt t="38457" x="7548563" y="3897313"/>
          <p14:tracePt t="38467" x="7575550" y="3897313"/>
          <p14:tracePt t="38484" x="7632700" y="3954463"/>
          <p14:tracePt t="38488" x="7642225" y="3963988"/>
          <p14:tracePt t="38497" x="7651750" y="3983038"/>
          <p14:tracePt t="38517" x="7680325" y="4000500"/>
          <p14:tracePt t="38521" x="7689850" y="4019550"/>
          <p14:tracePt t="38530" x="7708900" y="4029075"/>
          <p14:tracePt t="38536" x="7708900" y="4067175"/>
          <p14:tracePt t="38547" x="7718425" y="4086225"/>
          <p14:tracePt t="38551" x="7737475" y="4095750"/>
          <p14:tracePt t="38565" x="7737475" y="4152900"/>
          <p14:tracePt t="38591" x="7737475" y="4200525"/>
          <p14:tracePt t="38597" x="7737475" y="4219575"/>
          <p14:tracePt t="38604" x="7737475" y="4256088"/>
          <p14:tracePt t="38609" x="7737475" y="4313238"/>
          <p14:tracePt t="38615" x="7737475" y="4341813"/>
          <p14:tracePt t="38618" x="7737475" y="4351338"/>
          <p14:tracePt t="38624" x="7737475" y="4398963"/>
          <p14:tracePt t="38630" x="7737475" y="4418013"/>
          <p14:tracePt t="38636" x="7737475" y="4446588"/>
          <p14:tracePt t="38653" x="7737475" y="4521200"/>
          <p14:tracePt t="38659" x="7737475" y="4578350"/>
          <p14:tracePt t="38662" x="7737475" y="4606925"/>
          <p14:tracePt t="38667" x="7737475" y="4616450"/>
          <p14:tracePt t="38671" x="7737475" y="4645025"/>
          <p14:tracePt t="38673" x="7737475" y="4673600"/>
          <p14:tracePt t="38678" x="7737475" y="4700588"/>
          <p14:tracePt t="38686" x="7737475" y="4757738"/>
          <p14:tracePt t="38705" x="7737475" y="4805363"/>
          <p14:tracePt t="38709" x="7727950" y="4891088"/>
          <p14:tracePt t="38713" x="7727950" y="4900613"/>
          <p14:tracePt t="38725" x="7699375" y="4927600"/>
          <p14:tracePt t="38736" x="7689850" y="4937125"/>
          <p14:tracePt t="38747" x="7689850" y="4975225"/>
          <p14:tracePt t="38751" x="7689850" y="4994275"/>
          <p14:tracePt t="38754" x="7670800" y="5003800"/>
          <p14:tracePt t="38766" x="7661275" y="5032375"/>
          <p14:tracePt t="38769" x="7661275" y="5041900"/>
          <p14:tracePt t="38771" x="7642225" y="5089525"/>
          <p14:tracePt t="38781" x="7632700" y="5118100"/>
          <p14:tracePt t="38807" x="7604125" y="5211763"/>
          <p14:tracePt t="38811" x="7558088" y="5259388"/>
          <p14:tracePt t="38815" x="7558088" y="5287963"/>
          <p14:tracePt t="38821" x="7558088" y="5297488"/>
          <p14:tracePt t="38825" x="7529513" y="5335588"/>
          <p14:tracePt t="38830" x="7529513" y="5354638"/>
          <p14:tracePt t="38834" x="7529513" y="5364163"/>
          <p14:tracePt t="38840" x="7500938" y="5410200"/>
          <p14:tracePt t="38847" x="7500938" y="5419725"/>
          <p14:tracePt t="38851" x="7500938" y="5429250"/>
          <p14:tracePt t="38854" x="7472363" y="5457825"/>
          <p14:tracePt t="38863" x="7472363" y="5476875"/>
          <p14:tracePt t="38880" x="7443788" y="5543550"/>
          <p14:tracePt t="38905" x="7405688" y="5600700"/>
          <p14:tracePt t="38926" x="7321550" y="5684838"/>
          <p14:tracePt t="38941" x="7302500" y="5684838"/>
          <p14:tracePt t="38988" x="7292975" y="5703888"/>
          <p14:tracePt t="39020" x="7283450" y="5713413"/>
          <p14:tracePt t="39123" x="7264400" y="5713413"/>
          <p14:tracePt t="39142" x="7254875" y="5713413"/>
          <p14:tracePt t="39160" x="7197725" y="5722938"/>
          <p14:tracePt t="39165" x="7159625" y="5770563"/>
          <p14:tracePt t="39287" x="7292975" y="5780088"/>
          <p14:tracePt t="39303" x="7566025" y="5780088"/>
          <p14:tracePt t="39308" x="7708900" y="5780088"/>
          <p14:tracePt t="39312" x="7756525" y="5780088"/>
          <p14:tracePt t="39321" x="8266113" y="5780088"/>
          <p14:tracePt t="39323" x="8636000" y="5780088"/>
          <p14:tracePt t="39332" x="9118600" y="5780088"/>
          <p14:tracePt t="39358" x="10414000" y="5780088"/>
          <p14:tracePt t="39365" x="11341100" y="5780088"/>
          <p14:tracePt t="39372" x="11945938" y="5780088"/>
          <p14:tracePt t="42506" x="8758238" y="6829425"/>
          <p14:tracePt t="42514" x="8729663" y="6800850"/>
          <p14:tracePt t="42531" x="8720138" y="6735763"/>
          <p14:tracePt t="42538" x="8710613" y="6726238"/>
          <p14:tracePt t="42634" x="8710613" y="6697663"/>
          <p14:tracePt t="42640" x="8710613" y="6678613"/>
          <p14:tracePt t="42646" x="8710613" y="6621463"/>
          <p14:tracePt t="42666" x="8710613" y="6489700"/>
          <p14:tracePt t="42683" x="8710613" y="6318250"/>
          <p14:tracePt t="42687" x="8710613" y="6234113"/>
          <p14:tracePt t="42697" x="8710613" y="6119813"/>
          <p14:tracePt t="42703" x="8710613" y="6026150"/>
          <p14:tracePt t="42718" x="8710613" y="5883275"/>
          <p14:tracePt t="42720" x="8710613" y="5827713"/>
          <p14:tracePt t="42722" x="8710613" y="5780088"/>
          <p14:tracePt t="42734" x="8710613" y="5703888"/>
          <p14:tracePt t="42737" x="8710613" y="5656263"/>
          <p14:tracePt t="42739" x="8710613" y="5627688"/>
          <p14:tracePt t="42747" x="8710613" y="5562600"/>
          <p14:tracePt t="42764" x="8710613" y="5448300"/>
          <p14:tracePt t="42780" x="8710613" y="5372100"/>
          <p14:tracePt t="42797" x="8710613" y="5268913"/>
          <p14:tracePt t="42802" x="8710613" y="5259388"/>
          <p14:tracePt t="42805" x="8710613" y="5249863"/>
          <p14:tracePt t="42807" x="8710613" y="5221288"/>
          <p14:tracePt t="42816" x="8710613" y="5164138"/>
          <p14:tracePt t="42820" x="8710613" y="5127625"/>
          <p14:tracePt t="42822" x="8710613" y="5118100"/>
          <p14:tracePt t="42831" x="8710613" y="5060950"/>
          <p14:tracePt t="42847" x="8710613" y="4975225"/>
          <p14:tracePt t="42863" x="8710613" y="4937125"/>
          <p14:tracePt t="42923" x="8710613" y="4956175"/>
          <p14:tracePt t="42928" x="8710613" y="4965700"/>
          <p14:tracePt t="42946" x="8710613" y="4984750"/>
          <p14:tracePt t="43170" x="8729663" y="4984750"/>
          <p14:tracePt t="43175" x="8701088" y="4984750"/>
          <p14:tracePt t="43194" x="8674100" y="4956175"/>
          <p14:tracePt t="43203" x="8664575" y="4946650"/>
          <p14:tracePt t="43215" x="8664575" y="4937125"/>
          <p14:tracePt t="43220" x="8645525" y="4918075"/>
          <p14:tracePt t="43236" x="8636000" y="4910138"/>
          <p14:tracePt t="43252" x="8636000" y="4881563"/>
          <p14:tracePt t="43263" x="8636000" y="4872038"/>
          <p14:tracePt t="43302" x="8626475" y="4852988"/>
          <p14:tracePt t="43346" x="8607425" y="4852988"/>
          <p14:tracePt t="43354" x="8569325" y="4852988"/>
          <p14:tracePt t="43364" x="8550275" y="4852988"/>
          <p14:tracePt t="43853" x="8540750" y="4852988"/>
          <p14:tracePt t="43858" x="8531225" y="4852988"/>
          <p14:tracePt t="43996" x="8512175" y="4852988"/>
          <p14:tracePt t="44001" x="8502650" y="4852988"/>
          <p14:tracePt t="44014" x="8437563" y="4852988"/>
          <p14:tracePt t="44030" x="8370888" y="4852988"/>
          <p14:tracePt t="44036" x="8342313" y="4852988"/>
          <p14:tracePt t="44046" x="8313738" y="4852988"/>
          <p14:tracePt t="44066" x="8210550" y="4852988"/>
          <p14:tracePt t="44069" x="8191500" y="4852988"/>
          <p14:tracePt t="44081" x="8124825" y="4852988"/>
          <p14:tracePt t="44097" x="8012113" y="4852988"/>
          <p14:tracePt t="44113" x="7897813" y="4918075"/>
          <p14:tracePt t="44130" x="7831138" y="4965700"/>
          <p14:tracePt t="44146" x="7785100" y="4975225"/>
          <p14:tracePt t="44368" x="7802563" y="4975225"/>
          <p14:tracePt t="44373" x="7812088" y="4975225"/>
          <p14:tracePt t="44380" x="7840663" y="4975225"/>
          <p14:tracePt t="44400" x="7907338" y="4881563"/>
          <p14:tracePt t="44413" x="7954963" y="4833938"/>
          <p14:tracePt t="44420" x="7993063" y="4786313"/>
          <p14:tracePt t="44431" x="8012113" y="4776788"/>
          <p14:tracePt t="44447" x="8048625" y="4729163"/>
          <p14:tracePt t="46345" x="8029575" y="4719638"/>
          <p14:tracePt t="46355" x="7974013" y="4719638"/>
          <p14:tracePt t="46358" x="7964488" y="4719638"/>
          <p14:tracePt t="46370" x="7850188" y="4786313"/>
          <p14:tracePt t="46372" x="7840663" y="4805363"/>
          <p14:tracePt t="46381" x="7766050" y="4881563"/>
          <p14:tracePt t="46387" x="7727950" y="4910138"/>
          <p14:tracePt t="46388" x="7670800" y="4984750"/>
          <p14:tracePt t="46398" x="7529513" y="5145088"/>
          <p14:tracePt t="46401" x="7481888" y="5202238"/>
          <p14:tracePt t="46405" x="7396163" y="5278438"/>
          <p14:tracePt t="46412" x="7235825" y="5448300"/>
          <p14:tracePt t="46435" x="6932613" y="5741988"/>
          <p14:tracePt t="46437" x="6800850" y="5883275"/>
          <p14:tracePt t="46447" x="6640513" y="6045200"/>
          <p14:tracePt t="46453" x="6213475" y="6461125"/>
          <p14:tracePt t="46456" x="5986463" y="6669088"/>
          <p14:tracePt t="46463" x="5816600" y="6810375"/>
          <p14:tracePt t="53183" x="3414713" y="6640513"/>
          <p14:tracePt t="53185" x="3603625" y="6545263"/>
          <p14:tracePt t="53250" x="6081713" y="5457825"/>
          <p14:tracePt t="53265" x="6232525" y="5400675"/>
          <p14:tracePt t="53270" x="6327775" y="5372100"/>
          <p14:tracePt t="53278" x="6394450" y="5372100"/>
          <p14:tracePt t="53301" x="6469063" y="5335588"/>
          <p14:tracePt t="53313" x="6497638" y="5335588"/>
          <p14:tracePt t="53318" x="6516688" y="5335588"/>
          <p14:tracePt t="53355" x="6554788" y="5335588"/>
          <p14:tracePt t="53456" x="6583363" y="5335588"/>
          <p14:tracePt t="53467" x="6650038" y="5297488"/>
          <p14:tracePt t="53484" x="6743700" y="5202238"/>
          <p14:tracePt t="53496" x="6951663" y="5070475"/>
          <p14:tracePt t="53524" x="7415213" y="4700588"/>
          <p14:tracePt t="53528" x="7491413" y="4635500"/>
          <p14:tracePt t="53534" x="7539038" y="4587875"/>
          <p14:tracePt t="53537" x="7623175" y="4530725"/>
          <p14:tracePt t="53539" x="7699375" y="4464050"/>
          <p14:tracePt t="53547" x="7831138" y="4370388"/>
          <p14:tracePt t="53575" x="8758238" y="4152900"/>
          <p14:tracePt t="53578" x="8853488" y="4133850"/>
          <p14:tracePt t="53581" x="8975725" y="4114800"/>
          <p14:tracePt t="53591" x="9288463" y="4010025"/>
          <p14:tracePt t="53600" x="9382125" y="3963988"/>
          <p14:tracePt t="53602" x="9458325" y="3963988"/>
          <p14:tracePt t="53620" x="9525000" y="3935413"/>
          <p14:tracePt t="53625" x="9563100" y="3916363"/>
          <p14:tracePt t="53628" x="9582150" y="3906838"/>
          <p14:tracePt t="53634" x="9591675" y="3897313"/>
          <p14:tracePt t="53669" x="9599613" y="3878263"/>
          <p14:tracePt t="53692" x="9771063" y="3765550"/>
          <p14:tracePt t="53704" x="9845675" y="3689350"/>
          <p14:tracePt t="53712" x="9902825" y="3660775"/>
          <p14:tracePt t="53718" x="9950450" y="3641725"/>
          <p14:tracePt t="53719" x="9969500" y="3622675"/>
          <p14:tracePt t="53729" x="10007600" y="3584575"/>
          <p14:tracePt t="53735" x="10053638" y="3546475"/>
          <p14:tracePt t="53752" x="10101263" y="3490913"/>
          <p14:tracePt t="53757" x="10148888" y="3443288"/>
          <p14:tracePt t="53759" x="10177463" y="3414713"/>
          <p14:tracePt t="53771" x="10196513" y="3405188"/>
          <p14:tracePt t="53785" x="10234613" y="3357563"/>
          <p14:tracePt t="53834" x="10244138" y="3357563"/>
          <p14:tracePt t="53850" x="10244138" y="3376613"/>
          <p14:tracePt t="53856" x="10244138" y="3386138"/>
          <p14:tracePt t="53865" x="10244138" y="3405188"/>
          <p14:tracePt t="54113" x="10244138" y="3443288"/>
          <p14:tracePt t="54212" x="10234613" y="3433763"/>
          <p14:tracePt t="54244" x="10120313" y="3424238"/>
          <p14:tracePt t="54249" x="10110788" y="3424238"/>
          <p14:tracePt t="54264" x="10082213" y="3424238"/>
          <p14:tracePt t="54268" x="10072688" y="3424238"/>
          <p14:tracePt t="54275" x="10026650" y="3367088"/>
          <p14:tracePt t="54286" x="9959975" y="3292475"/>
          <p14:tracePt t="54295" x="9931400" y="3235325"/>
          <p14:tracePt t="54321" x="9874250" y="3168650"/>
          <p14:tracePt t="54328" x="9864725" y="3130550"/>
          <p14:tracePt t="54341" x="9845675" y="3121025"/>
          <p14:tracePt t="54350" x="9836150" y="3101975"/>
          <p14:tracePt t="54372" x="9826625" y="3084513"/>
          <p14:tracePt t="54376" x="9809163" y="3055938"/>
          <p14:tracePt t="54390" x="9799638" y="3036888"/>
          <p14:tracePt t="54435" x="9799638" y="3008313"/>
          <p14:tracePt t="54442" x="9799638" y="2998788"/>
          <p14:tracePt t="54458" x="9799638" y="2970213"/>
          <p14:tracePt t="54463" x="9799638" y="2960688"/>
          <p14:tracePt t="54550" x="9799638" y="2932113"/>
          <p14:tracePt t="54574" x="9799638" y="2903538"/>
          <p14:tracePt t="54582" x="9799638" y="2894013"/>
          <p14:tracePt t="54764" x="9799638" y="2865438"/>
          <p14:tracePt t="54769" x="9799638" y="2847975"/>
          <p14:tracePt t="54785" x="9864725" y="2838450"/>
          <p14:tracePt t="54793" x="9893300" y="2809875"/>
          <p14:tracePt t="54800" x="9912350" y="2809875"/>
          <p14:tracePt t="54802" x="9921875" y="2809875"/>
          <p14:tracePt t="54815" x="9959975" y="2809875"/>
          <p14:tracePt t="54830" x="9998075" y="2809875"/>
          <p14:tracePt t="54850" x="10026650" y="2809875"/>
          <p14:tracePt t="54861" x="10045700" y="2809875"/>
          <p14:tracePt t="54911" x="10063163" y="2809875"/>
          <p14:tracePt t="55063" x="10091738" y="2809875"/>
          <p14:tracePt t="55074" x="10129838" y="2809875"/>
          <p14:tracePt t="55094" x="10244138" y="2809875"/>
          <p14:tracePt t="55100" x="10299700" y="2809875"/>
          <p14:tracePt t="55106" x="10356850" y="2809875"/>
          <p14:tracePt t="55110" x="10394950" y="2809875"/>
          <p14:tracePt t="55119" x="10452100" y="2809875"/>
          <p14:tracePt t="55121" x="10480675" y="2809875"/>
          <p14:tracePt t="55131" x="10536238" y="2809875"/>
          <p14:tracePt t="55145" x="10631488" y="2809875"/>
          <p14:tracePt t="55162" x="10698163" y="2809875"/>
          <p14:tracePt t="55178" x="10717213" y="2809875"/>
          <p14:tracePt t="55258" x="10734675" y="2809875"/>
          <p14:tracePt t="55265" x="10782300" y="2809875"/>
          <p14:tracePt t="55283" x="10820400" y="2809875"/>
          <p14:tracePt t="55290" x="10858500" y="2809875"/>
          <p14:tracePt t="55294" x="10877550" y="2809875"/>
          <p14:tracePt t="55309" x="10915650" y="2809875"/>
          <p14:tracePt t="55315" x="10944225" y="2809875"/>
          <p14:tracePt t="55320" x="10952163" y="2809875"/>
          <p14:tracePt t="55337" x="10980738" y="2809875"/>
          <p14:tracePt t="55341" x="10990263" y="2809875"/>
          <p14:tracePt t="55351" x="11018838" y="2809875"/>
          <p14:tracePt t="55362" x="11047413" y="2809875"/>
          <p14:tracePt t="55368" x="11056938" y="2809875"/>
          <p14:tracePt t="55378" x="11085513" y="2809875"/>
          <p14:tracePt t="55383" x="11104563" y="2809875"/>
          <p14:tracePt t="55413" x="11114088" y="2809875"/>
          <p14:tracePt t="55424" x="11123613" y="2809875"/>
          <p14:tracePt t="55505" x="11152188" y="2809875"/>
          <p14:tracePt t="55532" x="11188700" y="2838450"/>
          <p14:tracePt t="55545" x="11188700" y="2874963"/>
          <p14:tracePt t="55555" x="11188700" y="2903538"/>
          <p14:tracePt t="55557" x="11188700" y="2922588"/>
          <p14:tracePt t="55563" x="11207750" y="2932113"/>
          <p14:tracePt t="55586" x="11217275" y="2989263"/>
          <p14:tracePt t="55590" x="11217275" y="3027363"/>
          <p14:tracePt t="55602" x="11217275" y="3092450"/>
          <p14:tracePt t="55604" x="11217275" y="3121025"/>
          <p14:tracePt t="55613" x="11161713" y="3168650"/>
          <p14:tracePt t="55618" x="11161713" y="3187700"/>
          <p14:tracePt t="55629" x="11152188" y="3244850"/>
          <p14:tracePt t="55635" x="11123613" y="3273425"/>
          <p14:tracePt t="55637" x="11085513" y="3302000"/>
          <p14:tracePt t="55645" x="11028363" y="3328988"/>
          <p14:tracePt t="55661" x="10868025" y="3367088"/>
          <p14:tracePt t="55669" x="10753725" y="3367088"/>
          <p14:tracePt t="55678" x="10612438" y="3405188"/>
          <p14:tracePt t="55685" x="10498138" y="3405188"/>
          <p14:tracePt t="55688" x="10433050" y="3405188"/>
          <p14:tracePt t="55695" x="10356850" y="3414713"/>
          <p14:tracePt t="55700" x="10290175" y="3433763"/>
          <p14:tracePt t="55702" x="10244138" y="3433763"/>
          <p14:tracePt t="55712" x="10053638" y="3471863"/>
          <p14:tracePt t="55719" x="9988550" y="3471863"/>
          <p14:tracePt t="55722" x="9921875" y="3471863"/>
          <p14:tracePt t="55729" x="9799638" y="3509963"/>
          <p14:tracePt t="55755" x="9534525" y="3509963"/>
          <p14:tracePt t="55759" x="9458325" y="3509963"/>
          <p14:tracePt t="55763" x="9429750" y="3509963"/>
          <p14:tracePt t="55768" x="9401175" y="3509963"/>
          <p14:tracePt t="55770" x="9372600" y="3509963"/>
          <p14:tracePt t="55778" x="9307513" y="3509963"/>
          <p14:tracePt t="55784" x="9278938" y="3509963"/>
          <p14:tracePt t="55785" x="9250363" y="3509963"/>
          <p14:tracePt t="55790" x="9240838" y="3509963"/>
          <p14:tracePt t="55800" x="9202738" y="3509963"/>
          <p14:tracePt t="55813" x="9145588" y="3509963"/>
          <p14:tracePt t="55818" x="9137650" y="3509963"/>
          <p14:tracePt t="55970" x="9118600" y="3500438"/>
          <p14:tracePt t="55987" x="9080500" y="3452813"/>
          <p14:tracePt t="55992" x="9080500" y="3433763"/>
          <p14:tracePt t="56001" x="9080500" y="3395663"/>
          <p14:tracePt t="56014" x="9080500" y="3367088"/>
          <p14:tracePt t="56028" x="9080500" y="3338513"/>
          <p14:tracePt t="56053" x="9080500" y="3273425"/>
          <p14:tracePt t="56544" x="9109075" y="3235325"/>
          <p14:tracePt t="56552" x="9128125" y="3235325"/>
          <p14:tracePt t="56567" x="9164638" y="3197225"/>
          <p14:tracePt t="56595" x="9193213" y="3197225"/>
          <p14:tracePt t="56604" x="9202738" y="3197225"/>
          <p14:tracePt t="56613" x="9221788" y="3197225"/>
          <p14:tracePt t="56632" x="9259888" y="3197225"/>
          <p14:tracePt t="56635" x="9269413" y="3197225"/>
          <p14:tracePt t="56646" x="9297988" y="3197225"/>
          <p14:tracePt t="56651" x="9336088" y="3197225"/>
          <p14:tracePt t="56663" x="9355138" y="3197225"/>
          <p14:tracePt t="56682" x="9391650" y="3197225"/>
          <p14:tracePt t="56914" x="9420225" y="3197225"/>
          <p14:tracePt t="56921" x="9429750" y="3197225"/>
          <p14:tracePt t="56940" x="9496425" y="3168650"/>
          <p14:tracePt t="56954" x="9544050" y="3168650"/>
          <p14:tracePt t="56965" x="9572625" y="3168650"/>
          <p14:tracePt t="56980" x="9609138" y="3140075"/>
          <p14:tracePt t="56994" x="9647238" y="3140075"/>
          <p14:tracePt t="57012" x="9675813" y="3140075"/>
          <p14:tracePt t="57034" x="9685338" y="3130550"/>
          <p14:tracePt t="57387" x="9694863" y="3121025"/>
          <p14:tracePt t="57405" x="9723438" y="3121025"/>
          <p14:tracePt t="57407" x="9742488" y="3121025"/>
          <p14:tracePt t="57417" x="9780588" y="3121025"/>
          <p14:tracePt t="57418" x="9809163" y="3121025"/>
          <p14:tracePt t="57428" x="9836150" y="3121025"/>
          <p14:tracePt t="57435" x="9874250" y="3121025"/>
          <p14:tracePt t="57445" x="9883775" y="3121025"/>
          <p14:tracePt t="57463" x="9921875" y="3121025"/>
          <p14:tracePt t="57788" x="9969500" y="3121025"/>
          <p14:tracePt t="57805" x="9998075" y="3121025"/>
          <p14:tracePt t="57812" x="10036175" y="3121025"/>
          <p14:tracePt t="57818" x="10045700" y="3121025"/>
          <p14:tracePt t="57820" x="10072688" y="3121025"/>
          <p14:tracePt t="57831" x="10110788" y="3121025"/>
          <p14:tracePt t="57845" x="10196513" y="3121025"/>
          <p14:tracePt t="57863" x="10280650" y="3121025"/>
          <p14:tracePt t="57879" x="10394950" y="3121025"/>
          <p14:tracePt t="57894" x="10433050" y="3121025"/>
          <p14:tracePt t="57899" x="10452100" y="3121025"/>
          <p14:tracePt t="57903" x="10471150" y="3121025"/>
          <p14:tracePt t="57905" x="10490200" y="3121025"/>
          <p14:tracePt t="57924" x="10517188" y="3121025"/>
          <p14:tracePt t="57934" x="10526713" y="3121025"/>
          <p14:tracePt t="58310" x="10536238" y="3121025"/>
          <p14:tracePt t="58318" x="10564813" y="3121025"/>
          <p14:tracePt t="58329" x="10583863" y="3130550"/>
          <p14:tracePt t="58336" x="10593388" y="3149600"/>
          <p14:tracePt t="58345" x="10602913" y="3159125"/>
          <p14:tracePt t="58367" x="10631488" y="3159125"/>
          <p14:tracePt t="58369" x="10650538" y="3178175"/>
          <p14:tracePt t="58580" x="10660063" y="3187700"/>
          <p14:tracePt t="58600" x="10698163" y="3187700"/>
          <p14:tracePt t="58620" x="10725150" y="3187700"/>
          <p14:tracePt t="58625" x="10734675" y="3187700"/>
          <p14:tracePt t="58655" x="10753725" y="3187700"/>
          <p14:tracePt t="58656" x="10763250" y="3187700"/>
          <p14:tracePt t="58709" x="10782300" y="3197225"/>
          <p14:tracePt t="58716" x="10791825" y="3216275"/>
          <p14:tracePt t="59092" x="10801350" y="3216275"/>
          <p14:tracePt t="59100" x="10829925" y="3206750"/>
          <p14:tracePt t="59111" x="10848975" y="3197225"/>
          <p14:tracePt t="59129" x="10887075" y="3178175"/>
          <p14:tracePt t="59150" x="10896600" y="3168650"/>
          <p14:tracePt t="59182" x="10925175" y="3168650"/>
          <p14:tracePt t="59187" x="10944225" y="3168650"/>
          <p14:tracePt t="59442" x="10952163" y="3168650"/>
          <p14:tracePt t="59456" x="10952163" y="3197225"/>
          <p14:tracePt t="59467" x="10952163" y="3216275"/>
          <p14:tracePt t="59482" x="10980738" y="3235325"/>
          <p14:tracePt t="59486" x="10990263" y="3254375"/>
          <p14:tracePt t="59504" x="10999788" y="3254375"/>
          <p14:tracePt t="59509" x="11018838" y="3254375"/>
          <p14:tracePt t="59700" x="11056938" y="3254375"/>
          <p14:tracePt t="59711" x="11095038" y="3254375"/>
          <p14:tracePt t="59721" x="11114088" y="3254375"/>
          <p14:tracePt t="59725" x="11123613" y="3254375"/>
          <p14:tracePt t="59735" x="11152188" y="3254375"/>
          <p14:tracePt t="59744" x="11188700" y="3254375"/>
          <p14:tracePt t="59750" x="11226800" y="3254375"/>
          <p14:tracePt t="59754" x="11245850" y="3254375"/>
          <p14:tracePt t="59761" x="11274425" y="3254375"/>
          <p14:tracePt t="59766" x="11283950" y="3254375"/>
          <p14:tracePt t="59780" x="11322050" y="3254375"/>
          <p14:tracePt t="59785" x="11341100" y="3244850"/>
          <p14:tracePt t="59795" x="11350625" y="3235325"/>
          <p14:tracePt t="59800" x="11360150" y="3235325"/>
          <p14:tracePt t="59803" x="11379200" y="3235325"/>
          <p14:tracePt t="59816" x="11406188" y="3235325"/>
          <p14:tracePt t="59818" x="11415713" y="3235325"/>
          <p14:tracePt t="59827" x="11444288" y="3225800"/>
          <p14:tracePt t="59844" x="11453813" y="3206750"/>
          <p14:tracePt t="59861" x="11482388" y="3206750"/>
          <p14:tracePt t="60360" x="11491913" y="3216275"/>
          <p14:tracePt t="60367" x="11491913" y="3244850"/>
          <p14:tracePt t="60382" x="11482388" y="3348038"/>
          <p14:tracePt t="60396" x="11236325" y="3613150"/>
          <p14:tracePt t="60411" x="10734675" y="3992563"/>
          <p14:tracePt t="60428" x="9836150" y="4559300"/>
          <p14:tracePt t="60446" x="8483600" y="5051425"/>
          <p14:tracePt t="60450" x="8058150" y="5145088"/>
          <p14:tracePt t="60451" x="7642225" y="5230813"/>
          <p14:tracePt t="60464" x="6640513" y="5476875"/>
          <p14:tracePt t="60468" x="6356350" y="5600700"/>
          <p14:tracePt t="60470" x="6100763" y="5732463"/>
          <p14:tracePt t="60482" x="5684838" y="5949950"/>
          <p14:tracePt t="60495" x="5060950" y="6272213"/>
          <p14:tracePt t="60513" x="4870450" y="6365875"/>
          <p14:tracePt t="60518" x="4824413" y="6394450"/>
          <p14:tracePt t="60528" x="4786313" y="6403975"/>
          <p14:tracePt t="60534" x="4776788" y="6403975"/>
          <p14:tracePt t="60735" x="4757738" y="6423025"/>
          <p14:tracePt t="60755" x="4662488" y="6583363"/>
          <p14:tracePt t="60762" x="4597400" y="6650038"/>
          <p14:tracePt t="60766" x="4568825" y="6688138"/>
          <p14:tracePt t="60774" x="4483100" y="6772275"/>
          <p14:tracePt t="60786" x="4406900" y="6810375"/>
          <p14:tracePt t="60794" x="4370388" y="6838950"/>
          <p14:tracePt t="60885" x="4341813" y="6650038"/>
          <p14:tracePt t="60888" x="4425950" y="6564313"/>
          <p14:tracePt t="60897" x="4559300" y="6432550"/>
          <p14:tracePt t="60918" x="5060950" y="6062663"/>
          <p14:tracePt t="60923" x="5561013" y="5854700"/>
          <p14:tracePt t="60926" x="5816600" y="5732463"/>
          <p14:tracePt t="60937" x="6650038" y="5400675"/>
          <p14:tracePt t="60948" x="7245350" y="5221288"/>
          <p14:tracePt t="60976" x="9128125" y="4767263"/>
          <p14:tracePt t="60979" x="9307513" y="4748213"/>
          <p14:tracePt t="60986" x="9618663" y="4748213"/>
          <p14:tracePt t="60988" x="9713913" y="4748213"/>
          <p14:tracePt t="60997" x="9874250" y="4748213"/>
          <p14:tracePt t="61018" x="9959975" y="4786313"/>
          <p14:tracePt t="61022" x="9988550" y="4852988"/>
          <p14:tracePt t="61027" x="10017125" y="4881563"/>
          <p14:tracePt t="61031" x="10045700" y="4910138"/>
          <p14:tracePt t="61039" x="10082213" y="4994275"/>
          <p14:tracePt t="61041" x="10091738" y="5022850"/>
          <p14:tracePt t="61052" x="10148888" y="5154613"/>
          <p14:tracePt t="61060" x="10196513" y="5211763"/>
          <p14:tracePt t="61077" x="10234613" y="5316538"/>
          <p14:tracePt t="61100" x="10244138" y="5345113"/>
          <p14:tracePt t="61140" x="10263188" y="5354638"/>
          <p14:tracePt t="61153" x="10290175" y="5354638"/>
          <p14:tracePt t="61162" x="10347325" y="5316538"/>
          <p14:tracePt t="61186" x="10347325" y="5118100"/>
          <p14:tracePt t="61189" x="10347325" y="4994275"/>
          <p14:tracePt t="61201" x="10347325" y="4910138"/>
          <p14:tracePt t="61221" x="10328275" y="4852988"/>
          <p14:tracePt t="61224" x="10244138" y="4881563"/>
          <p14:tracePt t="61236" x="10177463" y="4910138"/>
          <p14:tracePt t="61245" x="10053638" y="4965700"/>
          <p14:tracePt t="61271" x="9704388" y="5192713"/>
          <p14:tracePt t="61275" x="9355138" y="5307013"/>
          <p14:tracePt t="61281" x="9070975" y="5410200"/>
          <p14:tracePt t="61285" x="8655050" y="5600700"/>
          <p14:tracePt t="61292" x="8332788" y="5789613"/>
          <p14:tracePt t="61304" x="7945438" y="6062663"/>
          <p14:tracePt t="61311" x="7840663" y="6148388"/>
          <p14:tracePt t="61315" x="7727950" y="6234113"/>
          <p14:tracePt t="61318" x="7670800" y="6318250"/>
          <p14:tracePt t="61328" x="7548563" y="6499225"/>
          <p14:tracePt t="61333" x="7510463" y="6602413"/>
          <p14:tracePt t="61345" x="7405688" y="6772275"/>
          <p14:tracePt t="61350" x="7367588" y="6848475"/>
          <p14:tracePt t="65694" x="3443288" y="6697663"/>
          <p14:tracePt t="65697" x="3725863" y="6592888"/>
          <p14:tracePt t="65703" x="4000500" y="6470650"/>
          <p14:tracePt t="65705" x="4284663" y="6337300"/>
          <p14:tracePt t="65713" x="4568825" y="6234113"/>
          <p14:tracePt t="65717" x="5126038" y="6035675"/>
          <p14:tracePt t="65730" x="5959475" y="5732463"/>
          <p14:tracePt t="65734" x="6205538" y="5656263"/>
          <p14:tracePt t="65736" x="6432550" y="5553075"/>
          <p14:tracePt t="65747" x="6838950" y="5438775"/>
          <p14:tracePt t="65761" x="7415213" y="5259388"/>
          <p14:tracePt t="65785" x="7585075" y="5154613"/>
          <p14:tracePt t="65960" x="7548563" y="5154613"/>
          <p14:tracePt t="65963" x="7529513" y="5145088"/>
          <p14:tracePt t="65971" x="7519988" y="5127625"/>
          <p14:tracePt t="65975" x="7510463" y="5127625"/>
          <p14:tracePt t="65985" x="7434263" y="5099050"/>
          <p14:tracePt t="65999" x="7386638" y="5060950"/>
          <p14:tracePt t="66000" x="7358063" y="5060950"/>
          <p14:tracePt t="66010" x="7302500" y="5060950"/>
          <p14:tracePt t="66027" x="7226300" y="5032375"/>
          <p14:tracePt t="66030" x="7188200" y="5032375"/>
          <p14:tracePt t="66035" x="7159625" y="5013325"/>
          <p14:tracePt t="66037" x="7121525" y="5003800"/>
          <p14:tracePt t="66044" x="7046913" y="5003800"/>
          <p14:tracePt t="66050" x="6999288" y="5003800"/>
          <p14:tracePt t="66052" x="6951663" y="5003800"/>
          <p14:tracePt t="66065" x="6810375" y="5003800"/>
          <p14:tracePt t="66077" x="6583363" y="5003800"/>
          <p14:tracePt t="66094" x="6478588" y="5032375"/>
          <p14:tracePt t="66100" x="6450013" y="5070475"/>
          <p14:tracePt t="66102" x="6413500" y="5099050"/>
          <p14:tracePt t="66110" x="6384925" y="5164138"/>
          <p14:tracePt t="66117" x="6384925" y="5221288"/>
          <p14:tracePt t="66127" x="6346825" y="5268913"/>
          <p14:tracePt t="66133" x="6346825" y="5278438"/>
          <p14:tracePt t="66145" x="6346825" y="5335588"/>
          <p14:tracePt t="66149" x="6346825" y="5345113"/>
          <p14:tracePt t="66160" x="6356350" y="5354638"/>
          <p14:tracePt t="66177" x="6413500" y="5354638"/>
          <p14:tracePt t="66194" x="6564313" y="5297488"/>
          <p14:tracePt t="66199" x="6602413" y="5268913"/>
          <p14:tracePt t="66200" x="6667500" y="5230813"/>
          <p14:tracePt t="66220" x="6743700" y="5137150"/>
          <p14:tracePt t="66222" x="6762750" y="5127625"/>
          <p14:tracePt t="66225" x="6791325" y="5080000"/>
          <p14:tracePt t="66231" x="6810375" y="5051425"/>
          <p14:tracePt t="66235" x="6819900" y="5022850"/>
          <p14:tracePt t="66237" x="6819900" y="4975225"/>
          <p14:tracePt t="66246" x="6819900" y="4872038"/>
          <p14:tracePt t="66262" x="6819900" y="4719638"/>
          <p14:tracePt t="66287" x="6800850" y="4587875"/>
          <p14:tracePt t="66291" x="6772275" y="4559300"/>
          <p14:tracePt t="66307" x="6743700" y="4559300"/>
          <p14:tracePt t="66309" x="6734175" y="4559300"/>
          <p14:tracePt t="66319" x="6696075" y="4559300"/>
          <p14:tracePt t="66331" x="6667500" y="4559300"/>
          <p14:tracePt t="66333" x="6650038" y="4559300"/>
          <p14:tracePt t="66346" x="6583363" y="4559300"/>
          <p14:tracePt t="66349" x="6554788" y="4587875"/>
          <p14:tracePt t="66352" x="6535738" y="4597400"/>
          <p14:tracePt t="66361" x="6497638" y="4645025"/>
          <p14:tracePt t="66386" x="6432550" y="4710113"/>
          <p14:tracePt t="66406" x="6403975" y="4767263"/>
          <p14:tracePt t="66417" x="6375400" y="4786313"/>
          <p14:tracePt t="66427" x="6375400" y="4814888"/>
          <p14:tracePt t="66431" x="6375400" y="4833938"/>
          <p14:tracePt t="66434" x="6375400" y="4862513"/>
          <p14:tracePt t="66443" x="6375400" y="4872038"/>
          <p14:tracePt t="66461" x="6384925" y="4927600"/>
          <p14:tracePt t="66533" x="6394450" y="4918075"/>
          <p14:tracePt t="66564" x="6394450" y="4795838"/>
          <p14:tracePt t="66574" x="6394450" y="4757738"/>
          <p14:tracePt t="66585" x="6394450" y="4748213"/>
          <p14:tracePt t="66593" x="6365875" y="4748213"/>
          <p14:tracePt t="66598" x="6346825" y="4748213"/>
          <p14:tracePt t="66600" x="6318250" y="4748213"/>
          <p14:tracePt t="66620" x="6270625" y="4748213"/>
          <p14:tracePt t="66625" x="6205538" y="4748213"/>
          <p14:tracePt t="66630" x="6186488" y="4748213"/>
          <p14:tracePt t="66635" x="6148388" y="4748213"/>
          <p14:tracePt t="66637" x="6129338" y="4748213"/>
          <p14:tracePt t="66642" x="6119813" y="4748213"/>
          <p14:tracePt t="66647" x="6091238" y="4748213"/>
          <p14:tracePt t="66649" x="6062663" y="4748213"/>
          <p14:tracePt t="66654" x="6034088" y="4748213"/>
          <p14:tracePt t="66660" x="5969000" y="4795838"/>
          <p14:tracePt t="66666" x="5940425" y="4795838"/>
          <p14:tracePt t="66677" x="5883275" y="4843463"/>
          <p14:tracePt t="66705" x="5845175" y="4910138"/>
          <p14:tracePt t="66708" x="5845175" y="4956175"/>
          <p14:tracePt t="66711" x="5845175" y="4984750"/>
          <p14:tracePt t="66716" x="5845175" y="4994275"/>
          <p14:tracePt t="66718" x="5845175" y="5022850"/>
          <p14:tracePt t="66724" x="5845175" y="5060950"/>
          <p14:tracePt t="66735" x="5845175" y="5080000"/>
          <p14:tracePt t="66736" x="5845175" y="5108575"/>
          <p14:tracePt t="66747" x="5845175" y="5145088"/>
          <p14:tracePt t="66749" x="5845175" y="5154613"/>
          <p14:tracePt t="66761" x="5911850" y="5230813"/>
          <p14:tracePt t="66766" x="5921375" y="5240338"/>
          <p14:tracePt t="66768" x="5949950" y="5240338"/>
          <p14:tracePt t="66777" x="5986463" y="5240338"/>
          <p14:tracePt t="66793" x="6072188" y="5240338"/>
          <p14:tracePt t="66799" x="6100763" y="5240338"/>
          <p14:tracePt t="66800" x="6110288" y="5240338"/>
          <p14:tracePt t="66810" x="6196013" y="5221288"/>
          <p14:tracePt t="66814" x="6205538" y="5202238"/>
          <p14:tracePt t="66816" x="6232525" y="5202238"/>
          <p14:tracePt t="66826" x="6261100" y="5173663"/>
          <p14:tracePt t="66831" x="6261100" y="5145088"/>
          <p14:tracePt t="66833" x="6289675" y="5145088"/>
          <p14:tracePt t="66844" x="6318250" y="5089525"/>
          <p14:tracePt t="66848" x="6318250" y="5070475"/>
          <p14:tracePt t="66850" x="6318250" y="5041900"/>
          <p14:tracePt t="66871" x="6365875" y="4975225"/>
          <p14:tracePt t="66878" x="6365875" y="4946650"/>
          <p14:tracePt t="66886" x="6365875" y="4910138"/>
          <p14:tracePt t="66888" x="6365875" y="4881563"/>
          <p14:tracePt t="66896" x="6365875" y="4843463"/>
          <p14:tracePt t="66910" x="6365875" y="4757738"/>
          <p14:tracePt t="66914" x="6365875" y="4738688"/>
          <p14:tracePt t="66917" x="6365875" y="4719638"/>
          <p14:tracePt t="66926" x="6327775" y="4673600"/>
          <p14:tracePt t="66931" x="6318250" y="4654550"/>
          <p14:tracePt t="66935" x="6299200" y="4645025"/>
          <p14:tracePt t="66936" x="6289675" y="4635500"/>
          <p14:tracePt t="66947" x="6261100" y="4606925"/>
          <p14:tracePt t="66960" x="6205538" y="4587875"/>
          <p14:tracePt t="66979" x="6167438" y="4587875"/>
          <p14:tracePt t="66998" x="6100763" y="4587875"/>
          <p14:tracePt t="67021" x="6081713" y="4587875"/>
          <p14:tracePt t="67034" x="6062663" y="4587875"/>
          <p14:tracePt t="67067" x="6043613" y="4597400"/>
          <p14:tracePt t="67084" x="6043613" y="4664075"/>
          <p14:tracePt t="67088" x="6043613" y="4700588"/>
          <p14:tracePt t="67319" x="6043613" y="4748213"/>
          <p14:tracePt t="67334" x="6043613" y="4786313"/>
          <p14:tracePt t="67343" x="6053138" y="4795838"/>
          <p14:tracePt t="67351" x="6081713" y="4824413"/>
          <p14:tracePt t="67358" x="6176963" y="4927600"/>
          <p14:tracePt t="67361" x="6196013" y="4937125"/>
          <p14:tracePt t="67365" x="6261100" y="5032375"/>
          <p14:tracePt t="67367" x="6270625" y="5041900"/>
          <p14:tracePt t="67575" x="6308725" y="5070475"/>
          <p14:tracePt t="67587" x="6186488" y="4881563"/>
          <p14:tracePt t="67600" x="6205538" y="4900613"/>
          <p14:tracePt t="67611" x="6186488" y="4881563"/>
          <p14:tracePt t="67618" x="6196013" y="4872038"/>
          <p14:tracePt t="67635" x="6196013" y="4852988"/>
          <p14:tracePt t="67703" x="6186488" y="4843463"/>
          <p14:tracePt t="67724" x="6157913" y="4805363"/>
          <p14:tracePt t="67730" x="6157913" y="4786313"/>
          <p14:tracePt t="67747" x="6129338" y="4738688"/>
          <p14:tracePt t="67750" x="6119813" y="4719638"/>
          <p14:tracePt t="67759" x="6091238" y="4700588"/>
          <p14:tracePt t="67770" x="6062663" y="4645025"/>
          <p14:tracePt t="67777" x="6062663" y="4625975"/>
          <p14:tracePt t="67807" x="6053138" y="4616450"/>
          <p14:tracePt t="67920" x="6053138" y="4635500"/>
          <p14:tracePt t="67933" x="6053138" y="4664075"/>
          <p14:tracePt t="67944" x="6091238" y="4664075"/>
          <p14:tracePt t="67983" x="6119813" y="4664075"/>
          <p14:tracePt t="67989" x="6138863" y="4664075"/>
          <p14:tracePt t="68031" x="6148388" y="4654550"/>
          <p14:tracePt t="68060" x="6148388" y="4645025"/>
          <p14:tracePt t="68068" x="6129338" y="4645025"/>
          <p14:tracePt t="68077" x="6119813" y="4645025"/>
          <p14:tracePt t="68096" x="6062663" y="4645025"/>
          <p14:tracePt t="68100" x="6053138" y="4645025"/>
          <p14:tracePt t="68121" x="6024563" y="4700588"/>
          <p14:tracePt t="68126" x="6024563" y="4729163"/>
          <p14:tracePt t="68138" x="6024563" y="4767263"/>
          <p14:tracePt t="68149" x="6034088" y="4814888"/>
          <p14:tracePt t="68171" x="6091238" y="4852988"/>
          <p14:tracePt t="68185" x="6100763" y="4872038"/>
          <p14:tracePt t="68198" x="6110288" y="4881563"/>
          <p14:tracePt t="68237" x="6129338" y="4881563"/>
          <p14:tracePt t="68251" x="6129338" y="4833938"/>
          <p14:tracePt t="68261" x="6129338" y="4795838"/>
          <p14:tracePt t="68267" x="6129338" y="4757738"/>
          <p14:tracePt t="68285" x="6129338" y="4700588"/>
          <p14:tracePt t="68296" x="6129338" y="4664075"/>
          <p14:tracePt t="68425" x="6167438" y="4664075"/>
          <p14:tracePt t="68444" x="6213475" y="4691063"/>
          <p14:tracePt t="68451" x="6232525" y="4691063"/>
          <p14:tracePt t="68458" x="6289675" y="4710113"/>
          <p14:tracePt t="68539" x="6289675" y="4691063"/>
          <p14:tracePt t="69278" x="6289675" y="4719638"/>
          <p14:tracePt t="69288" x="6375400" y="4805363"/>
          <p14:tracePt t="69291" x="6384925" y="4824413"/>
          <p14:tracePt t="69297" x="6413500" y="4824413"/>
          <p14:tracePt t="69301" x="6423025" y="4824413"/>
          <p14:tracePt t="69309" x="6469063" y="4852988"/>
          <p14:tracePt t="69321" x="6478588" y="4852988"/>
          <p14:tracePt t="69334" x="6516688" y="4852988"/>
          <p14:tracePt t="69345" x="6573838" y="4852988"/>
          <p14:tracePt t="69350" x="6630988" y="4805363"/>
          <p14:tracePt t="69354" x="6640513" y="4795838"/>
          <p14:tracePt t="69356" x="6640513" y="4786313"/>
          <p14:tracePt t="69372" x="6640513" y="4719638"/>
          <p14:tracePt t="69383" x="6640513" y="4664075"/>
          <p14:tracePt t="69384" x="6640513" y="4635500"/>
          <p14:tracePt t="69402" x="6640513" y="4578350"/>
          <p14:tracePt t="69411" x="6640513" y="4559300"/>
          <p14:tracePt t="69451" x="6640513" y="4549775"/>
          <p14:tracePt t="69463" x="6583363" y="4597400"/>
          <p14:tracePt t="69465" x="6573838" y="4606925"/>
          <p14:tracePt t="69489" x="6469063" y="4738688"/>
          <p14:tracePt t="69494" x="6469063" y="4767263"/>
          <p14:tracePt t="69499" x="6459538" y="4776788"/>
          <p14:tracePt t="69502" x="6440488" y="4795838"/>
          <p14:tracePt t="69510" x="6440488" y="4852988"/>
          <p14:tracePt t="69512" x="6440488" y="4862513"/>
          <p14:tracePt t="69535" x="6440488" y="4956175"/>
          <p14:tracePt t="69539" x="6440488" y="5003800"/>
          <p14:tracePt t="69542" x="6440488" y="5032375"/>
          <p14:tracePt t="69547" x="6440488" y="5041900"/>
          <p14:tracePt t="69551" x="6440488" y="5051425"/>
          <p14:tracePt t="69553" x="6440488" y="5070475"/>
          <p14:tracePt t="69559" x="6440488" y="5099050"/>
          <p14:tracePt t="69563" x="6440488" y="5108575"/>
          <p14:tracePt t="69586" x="6440488" y="5137150"/>
          <p14:tracePt t="69595" x="6450013" y="5145088"/>
          <p14:tracePt t="69597" x="6478588" y="5145088"/>
          <p14:tracePt t="69600" x="6488113" y="5145088"/>
          <p14:tracePt t="69617" x="6516688" y="5145088"/>
          <p14:tracePt t="69621" x="6526213" y="5145088"/>
          <p14:tracePt t="69670" x="6545263" y="5145088"/>
          <p14:tracePt t="69686" x="6545263" y="5118100"/>
          <p14:tracePt t="69697" x="6545263" y="5080000"/>
          <p14:tracePt t="69703" x="6545263" y="5060950"/>
          <p14:tracePt t="69717" x="6545263" y="5022850"/>
          <p14:tracePt t="69879" x="6554788" y="5070475"/>
          <p14:tracePt t="70232" x="6564313" y="5060950"/>
          <p14:tracePt t="70243" x="6564313" y="5013325"/>
          <p14:tracePt t="70396" x="6554788" y="5041900"/>
          <p14:tracePt t="70402" x="6554788" y="5051425"/>
          <p14:tracePt t="70422" x="6564313" y="5080000"/>
          <p14:tracePt t="70450" x="6583363" y="5089525"/>
          <p14:tracePt t="70479" x="6611938" y="5089525"/>
          <p14:tracePt t="70483" x="6621463" y="5089525"/>
          <p14:tracePt t="70497" x="6630988" y="5060950"/>
          <p14:tracePt t="70513" x="6630988" y="4975225"/>
          <p14:tracePt t="70527" x="6630988" y="4918075"/>
          <p14:tracePt t="70544" x="6592888" y="4891088"/>
          <p14:tracePt t="70562" x="6573838" y="4881563"/>
          <p14:tracePt t="70792" x="6602413" y="4881563"/>
          <p14:tracePt t="70803" x="6659563" y="4927600"/>
          <p14:tracePt t="70810" x="6677025" y="4937125"/>
          <p14:tracePt t="70818" x="6696075" y="4965700"/>
          <p14:tracePt t="70828" x="6724650" y="4994275"/>
          <p14:tracePt t="70844" x="6753225" y="5060950"/>
          <p14:tracePt t="70849" x="6753225" y="5089525"/>
          <p14:tracePt t="70850" x="6762750" y="5099050"/>
          <p14:tracePt t="70860" x="6781800" y="5145088"/>
          <p14:tracePt t="70876" x="6829425" y="5230813"/>
          <p14:tracePt t="70883" x="6829425" y="5287963"/>
          <p14:tracePt t="70893" x="6829425" y="5345113"/>
          <p14:tracePt t="70897" x="6829425" y="5364163"/>
          <p14:tracePt t="70902" x="6829425" y="5419725"/>
          <p14:tracePt t="70912" x="6829425" y="5476875"/>
          <p14:tracePt t="70917" x="6829425" y="5524500"/>
          <p14:tracePt t="70918" x="6829425" y="5534025"/>
          <p14:tracePt t="70927" x="6829425" y="5608638"/>
          <p14:tracePt t="70944" x="6829425" y="5741988"/>
          <p14:tracePt t="70960" x="6724650" y="5892800"/>
          <p14:tracePt t="70983" x="6526213" y="6081713"/>
          <p14:tracePt t="70986" x="6497638" y="6110288"/>
          <p14:tracePt t="70997" x="6432550" y="6148388"/>
          <p14:tracePt t="70999" x="6384925" y="6176963"/>
          <p14:tracePt t="71010" x="6232525" y="6243638"/>
          <p14:tracePt t="71015" x="6186488" y="6243638"/>
          <p14:tracePt t="71028" x="6034088" y="6318250"/>
          <p14:tracePt t="71033" x="6005513" y="6318250"/>
          <p14:tracePt t="71034" x="5959475" y="6318250"/>
          <p14:tracePt t="71045" x="5854700" y="6365875"/>
          <p14:tracePt t="71060" x="5675313" y="6413500"/>
          <p14:tracePt t="71066" x="5618163" y="6413500"/>
          <p14:tracePt t="71086" x="5476875" y="6413500"/>
          <p14:tracePt t="71089" x="5353050" y="6413500"/>
          <p14:tracePt t="71092" x="5324475" y="6413500"/>
          <p14:tracePt t="71097" x="5297488" y="6413500"/>
          <p14:tracePt t="71101" x="5268913" y="6413500"/>
          <p14:tracePt t="71104" x="5202238" y="6413500"/>
          <p14:tracePt t="71112" x="5135563" y="6356350"/>
          <p14:tracePt t="71133" x="5070475" y="6215063"/>
          <p14:tracePt t="71139" x="4994275" y="6062663"/>
          <p14:tracePt t="71155" x="4899025" y="5799138"/>
          <p14:tracePt t="71166" x="4860925" y="5608638"/>
          <p14:tracePt t="71178" x="4860925" y="5476875"/>
          <p14:tracePt t="71183" x="4860925" y="5364163"/>
          <p14:tracePt t="71185" x="4860925" y="5335588"/>
          <p14:tracePt t="71201" x="4860925" y="5230813"/>
          <p14:tracePt t="71208" x="4860925" y="5145088"/>
          <p14:tracePt t="71215" x="4860925" y="5137150"/>
          <p14:tracePt t="71221" x="4889500" y="5070475"/>
          <p14:tracePt t="71222" x="4918075" y="5041900"/>
          <p14:tracePt t="71232" x="4946650" y="4984750"/>
          <p14:tracePt t="71245" x="4984750" y="4900613"/>
          <p14:tracePt t="71249" x="5013325" y="4862513"/>
          <p14:tracePt t="71259" x="5051425" y="4805363"/>
          <p14:tracePt t="71263" x="5080000" y="4729163"/>
          <p14:tracePt t="71265" x="5116513" y="4683125"/>
          <p14:tracePt t="71277" x="5183188" y="4568825"/>
          <p14:tracePt t="71293" x="5324475" y="4313238"/>
          <p14:tracePt t="71309" x="5476875" y="4057650"/>
          <p14:tracePt t="71326" x="5570538" y="3859213"/>
          <p14:tracePt t="71331" x="5608638" y="3830638"/>
          <p14:tracePt t="71333" x="5637213" y="3756025"/>
          <p14:tracePt t="71343" x="5675313" y="3679825"/>
          <p14:tracePt t="71346" x="5713413" y="3622675"/>
          <p14:tracePt t="71349" x="5722938" y="3613150"/>
          <p14:tracePt t="71360" x="5768975" y="3538538"/>
          <p14:tracePt t="71377" x="5835650" y="3452813"/>
          <p14:tracePt t="71400" x="5845175" y="3443288"/>
          <p14:tracePt t="71412" x="5911850" y="3424238"/>
          <p14:tracePt t="71421" x="5959475" y="3414713"/>
          <p14:tracePt t="71430" x="6053138" y="3414713"/>
          <p14:tracePt t="71443" x="6223000" y="3414713"/>
          <p14:tracePt t="71446" x="6289675" y="3414713"/>
          <p14:tracePt t="71449" x="6337300" y="3414713"/>
          <p14:tracePt t="71469" x="6592888" y="3414713"/>
          <p14:tracePt t="71472" x="6724650" y="3414713"/>
          <p14:tracePt t="71486" x="6913563" y="3414713"/>
          <p14:tracePt t="71497" x="7046913" y="3443288"/>
          <p14:tracePt t="71499" x="7104063" y="3452813"/>
          <p14:tracePt t="71500" x="7169150" y="3471863"/>
          <p14:tracePt t="71511" x="7312025" y="3529013"/>
          <p14:tracePt t="71526" x="7585075" y="3651250"/>
          <p14:tracePt t="71532" x="7708900" y="3689350"/>
          <p14:tracePt t="71543" x="7859713" y="3765550"/>
          <p14:tracePt t="71547" x="7888288" y="3802063"/>
          <p14:tracePt t="71549" x="7926388" y="3830638"/>
          <p14:tracePt t="71566" x="8002588" y="3906838"/>
          <p14:tracePt t="71570" x="8058150" y="3963988"/>
          <p14:tracePt t="71585" x="8153400" y="4124325"/>
          <p14:tracePt t="71593" x="8220075" y="4191000"/>
          <p14:tracePt t="71609" x="8332788" y="4360863"/>
          <p14:tracePt t="71635" x="8474075" y="4492625"/>
          <p14:tracePt t="71639" x="8531225" y="4559300"/>
          <p14:tracePt t="71641" x="8569325" y="4597400"/>
          <p14:tracePt t="71646" x="8597900" y="4625975"/>
          <p14:tracePt t="71649" x="8636000" y="4664075"/>
          <p14:tracePt t="71656" x="8645525" y="4700588"/>
          <p14:tracePt t="71667" x="8693150" y="4786313"/>
          <p14:tracePt t="71669" x="8693150" y="4795838"/>
          <p14:tracePt t="71684" x="8720138" y="4852988"/>
          <p14:tracePt t="71689" x="8729663" y="4881563"/>
          <p14:tracePt t="71703" x="8729663" y="4956175"/>
          <p14:tracePt t="71705" x="8729663" y="4965700"/>
          <p14:tracePt t="71716" x="8758238" y="5041900"/>
          <p14:tracePt t="71726" x="8758238" y="5099050"/>
          <p14:tracePt t="71732" x="8758238" y="5137150"/>
          <p14:tracePt t="71747" x="8777288" y="5221288"/>
          <p14:tracePt t="71749" x="8786813" y="5230813"/>
          <p14:tracePt t="71760" x="8786813" y="5287963"/>
          <p14:tracePt t="71765" x="8786813" y="5345113"/>
          <p14:tracePt t="71776" x="8786813" y="5438775"/>
          <p14:tracePt t="71803" x="8720138" y="5572125"/>
          <p14:tracePt t="71811" x="8693150" y="5656263"/>
          <p14:tracePt t="71818" x="8683625" y="5694363"/>
          <p14:tracePt t="71821" x="8674100" y="5722938"/>
          <p14:tracePt t="71828" x="8674100" y="5761038"/>
          <p14:tracePt t="71850" x="8607425" y="5883275"/>
          <p14:tracePt t="71855" x="8597900" y="5930900"/>
          <p14:tracePt t="71858" x="8578850" y="5940425"/>
          <p14:tracePt t="71870" x="8540750" y="6045200"/>
          <p14:tracePt t="71876" x="8512175" y="6072188"/>
          <p14:tracePt t="71902" x="8408988" y="6186488"/>
          <p14:tracePt t="71907" x="8370888" y="6215063"/>
          <p14:tracePt t="71919" x="8294688" y="6262688"/>
          <p14:tracePt t="71921" x="8285163" y="6262688"/>
          <p14:tracePt t="71930" x="8256588" y="6289675"/>
          <p14:tracePt t="71932" x="8201025" y="6289675"/>
          <p14:tracePt t="71942" x="8153400" y="6318250"/>
          <p14:tracePt t="71960" x="8086725" y="6318250"/>
          <p14:tracePt t="71966" x="8077200" y="6318250"/>
          <p14:tracePt t="71968" x="8058150" y="6318250"/>
          <p14:tracePt t="71979" x="8002588" y="6318250"/>
          <p14:tracePt t="72005" x="7869238" y="6318250"/>
          <p14:tracePt t="72007" x="7840663" y="6318250"/>
          <p14:tracePt t="72011" x="7821613" y="6318250"/>
          <p14:tracePt t="72017" x="7747000" y="6318250"/>
          <p14:tracePt t="72023" x="7718425" y="6318250"/>
          <p14:tracePt t="72025" x="7670800" y="6318250"/>
          <p14:tracePt t="72033" x="7594600" y="6318250"/>
          <p14:tracePt t="72050" x="7472363" y="6318250"/>
          <p14:tracePt t="72058" x="7321550" y="6318250"/>
          <p14:tracePt t="72063" x="7273925" y="6318250"/>
          <p14:tracePt t="72070" x="7197725" y="6318250"/>
          <p14:tracePt t="72076" x="7104063" y="6318250"/>
          <p14:tracePt t="72083" x="7027863" y="6289675"/>
          <p14:tracePt t="72084" x="7018338" y="6289675"/>
          <p14:tracePt t="72093" x="6923088" y="6262688"/>
          <p14:tracePt t="72109" x="6715125" y="6262688"/>
          <p14:tracePt t="72145" x="6346825" y="6196013"/>
          <p14:tracePt t="72151" x="6251575" y="6196013"/>
          <p14:tracePt t="72157" x="6138863" y="6157913"/>
          <p14:tracePt t="72165" x="6062663" y="6157913"/>
          <p14:tracePt t="72176" x="5986463" y="6157913"/>
          <p14:tracePt t="72182" x="5949950" y="6148388"/>
          <p14:tracePt t="72184" x="5930900" y="6129338"/>
          <p14:tracePt t="72193" x="5892800" y="6129338"/>
          <p14:tracePt t="72220" x="5816600" y="6100763"/>
          <p14:tracePt t="72226" x="5797550" y="6100763"/>
          <p14:tracePt t="72233" x="5778500" y="6091238"/>
          <p14:tracePt t="72245" x="5694363" y="6081713"/>
          <p14:tracePt t="72268" x="5618163" y="6081713"/>
          <p14:tracePt t="72274" x="5570538" y="6081713"/>
          <p14:tracePt t="72277" x="5561013" y="6062663"/>
          <p14:tracePt t="72286" x="5551488" y="6054725"/>
          <p14:tracePt t="72294" x="5524500" y="6054725"/>
          <p14:tracePt t="72310" x="5438775" y="6054725"/>
          <p14:tracePt t="72341" x="5268913" y="5978525"/>
          <p14:tracePt t="72349" x="5202238" y="5940425"/>
          <p14:tracePt t="72354" x="5145088" y="5940425"/>
          <p14:tracePt t="72357" x="5097463" y="5930900"/>
          <p14:tracePt t="72365" x="5060950" y="5911850"/>
          <p14:tracePt t="72386" x="4975225" y="5911850"/>
          <p14:tracePt t="72391" x="4908550" y="5883275"/>
          <p14:tracePt t="72397" x="4899025" y="5864225"/>
          <p14:tracePt t="72410" x="4870450" y="5864225"/>
          <p14:tracePt t="72416" x="4860925" y="5864225"/>
          <p14:tracePt t="72621" x="4843463" y="5827713"/>
          <p14:tracePt t="72634" x="4805363" y="5770563"/>
          <p14:tracePt t="72662" x="4805363" y="5637213"/>
          <p14:tracePt t="72670" x="4776788" y="5572125"/>
          <p14:tracePt t="72675" x="4776788" y="5543550"/>
          <p14:tracePt t="72678" x="4776788" y="5514975"/>
          <p14:tracePt t="72686" x="4776788" y="5457825"/>
          <p14:tracePt t="72693" x="4776788" y="5400675"/>
          <p14:tracePt t="72710" x="4776788" y="5202238"/>
          <p14:tracePt t="72717" x="4776788" y="5108575"/>
          <p14:tracePt t="72726" x="4776788" y="4994275"/>
          <p14:tracePt t="72732" x="4776788" y="4891088"/>
          <p14:tracePt t="72751" x="4776788" y="4729163"/>
          <p14:tracePt t="72755" x="4776788" y="4635500"/>
          <p14:tracePt t="72759" x="4776788" y="4568825"/>
          <p14:tracePt t="72764" x="4776788" y="4511675"/>
          <p14:tracePt t="72771" x="4776788" y="4456113"/>
          <p14:tracePt t="72774" x="4776788" y="4408488"/>
          <p14:tracePt t="72782" x="4776788" y="4332288"/>
          <p14:tracePt t="72792" x="4814888" y="4181475"/>
          <p14:tracePt t="72817" x="4908550" y="3973513"/>
          <p14:tracePt t="72822" x="4965700" y="3868738"/>
          <p14:tracePt t="72825" x="4994275" y="3811588"/>
          <p14:tracePt t="72836" x="5051425" y="3746500"/>
          <p14:tracePt t="72846" x="5070475" y="3727450"/>
          <p14:tracePt t="72848" x="5097463" y="3670300"/>
          <p14:tracePt t="72859" x="5126038" y="3632200"/>
          <p14:tracePt t="72864" x="5135563" y="3613150"/>
          <p14:tracePt t="72865" x="5164138" y="3603625"/>
          <p14:tracePt t="72878" x="5192713" y="3546475"/>
          <p14:tracePt t="72882" x="5211763" y="3538538"/>
          <p14:tracePt t="72892" x="5230813" y="3509963"/>
          <p14:tracePt t="72921" x="5305425" y="3405188"/>
          <p14:tracePt t="72924" x="5305425" y="3376613"/>
          <p14:tracePt t="72936" x="5324475" y="3348038"/>
          <p14:tracePt t="72942" x="5343525" y="3338513"/>
          <p14:tracePt t="72968" x="5400675" y="3292475"/>
          <p14:tracePt t="72988" x="5467350" y="3225800"/>
          <p14:tracePt t="72992" x="5486400" y="3206750"/>
          <p14:tracePt t="73005" x="5495925" y="3197225"/>
          <p14:tracePt t="73007" x="5505450" y="3178175"/>
          <p14:tracePt t="73018" x="5561013" y="3140075"/>
          <p14:tracePt t="73026" x="5589588" y="3111500"/>
          <p14:tracePt t="73043" x="5665788" y="3065463"/>
          <p14:tracePt t="73059" x="5722938" y="3055938"/>
          <p14:tracePt t="73085" x="5864225" y="3017838"/>
          <p14:tracePt t="73095" x="5921375" y="2989263"/>
          <p14:tracePt t="73108" x="6053138" y="2989263"/>
          <p14:tracePt t="73111" x="6100763" y="2960688"/>
          <p14:tracePt t="73116" x="6129338" y="2960688"/>
          <p14:tracePt t="73119" x="6196013" y="2960688"/>
          <p14:tracePt t="73123" x="6223000" y="2960688"/>
          <p14:tracePt t="73131" x="6299200" y="2960688"/>
          <p14:tracePt t="73144" x="6488113" y="2960688"/>
          <p14:tracePt t="73159" x="6715125" y="2960688"/>
          <p14:tracePt t="73188" x="7140575" y="2960688"/>
          <p14:tracePt t="73192" x="7188200" y="2970213"/>
          <p14:tracePt t="73199" x="7245350" y="2979738"/>
          <p14:tracePt t="73202" x="7292975" y="2979738"/>
          <p14:tracePt t="73208" x="7321550" y="2979738"/>
          <p14:tracePt t="73213" x="7348538" y="3017838"/>
          <p14:tracePt t="73215" x="7386638" y="3017838"/>
          <p14:tracePt t="73220" x="7415213" y="3017838"/>
          <p14:tracePt t="73226" x="7434263" y="3046413"/>
          <p14:tracePt t="73231" x="7462838" y="3046413"/>
          <p14:tracePt t="73234" x="7500938" y="3074988"/>
          <p14:tracePt t="73244" x="7539038" y="3084513"/>
          <p14:tracePt t="73272" x="7699375" y="3197225"/>
          <p14:tracePt t="73282" x="7756525" y="3254375"/>
          <p14:tracePt t="73287" x="7812088" y="3292475"/>
          <p14:tracePt t="73293" x="7859713" y="3357563"/>
          <p14:tracePt t="73295" x="7878763" y="3357563"/>
          <p14:tracePt t="73302" x="7935913" y="3414713"/>
          <p14:tracePt t="73310" x="7974013" y="3443288"/>
          <p14:tracePt t="73315" x="8029575" y="3500438"/>
          <p14:tracePt t="73326" x="8153400" y="3613150"/>
          <p14:tracePt t="73343" x="8247063" y="3792538"/>
          <p14:tracePt t="73359" x="8389938" y="4000500"/>
          <p14:tracePt t="73390" x="8559800" y="4332288"/>
          <p14:tracePt t="73399" x="8626475" y="4502150"/>
          <p14:tracePt t="73403" x="8664575" y="4645025"/>
          <p14:tracePt t="73412" x="8701088" y="4767263"/>
          <p14:tracePt t="73427" x="8777288" y="4965700"/>
          <p14:tracePt t="73431" x="8777288" y="4994275"/>
          <p14:tracePt t="73452" x="8777288" y="5154613"/>
          <p14:tracePt t="73456" x="8777288" y="5230813"/>
          <p14:tracePt t="73467" x="8777288" y="5335588"/>
          <p14:tracePt t="73478" x="8777288" y="5391150"/>
          <p14:tracePt t="73482" x="8777288" y="5448300"/>
          <p14:tracePt t="73504" x="8777288" y="5562600"/>
          <p14:tracePt t="73508" x="8777288" y="5591175"/>
          <p14:tracePt t="73513" x="8777288" y="5608638"/>
          <p14:tracePt t="73518" x="8777288" y="5646738"/>
          <p14:tracePt t="73523" x="8777288" y="5675313"/>
          <p14:tracePt t="73531" x="8748713" y="5732463"/>
          <p14:tracePt t="73533" x="8739188" y="5751513"/>
          <p14:tracePt t="73542" x="8693150" y="5808663"/>
          <p14:tracePt t="73574" x="8588375" y="5949950"/>
          <p14:tracePt t="73580" x="8578850" y="5959475"/>
          <p14:tracePt t="73584" x="8540750" y="6007100"/>
          <p14:tracePt t="73591" x="8540750" y="6045200"/>
          <p14:tracePt t="73596" x="8521700" y="6054725"/>
          <p14:tracePt t="73599" x="8512175" y="6072188"/>
          <p14:tracePt t="73605" x="8483600" y="6100763"/>
          <p14:tracePt t="73606" x="8466138" y="6110288"/>
          <p14:tracePt t="73616" x="8437563" y="6157913"/>
          <p14:tracePt t="73633" x="8428038" y="6176963"/>
          <p14:tracePt t="73638" x="8418513" y="6205538"/>
          <p14:tracePt t="73640" x="8418513" y="6215063"/>
          <p14:tracePt t="73651" x="8370888" y="6262688"/>
          <p14:tracePt t="73659" x="8370888" y="6289675"/>
          <p14:tracePt t="73675" x="8342313" y="6327775"/>
          <p14:tracePt t="73706" x="8313738" y="6394450"/>
          <p14:tracePt t="73738" x="8304213" y="6413500"/>
          <p14:tracePt t="74453" x="8294688" y="6423025"/>
          <p14:tracePt t="78669" x="8247063" y="6423025"/>
          <p14:tracePt t="78678" x="8172450" y="6451600"/>
          <p14:tracePt t="78692" x="7983538" y="6451600"/>
          <p14:tracePt t="78709" x="7727950" y="6451600"/>
          <p14:tracePt t="78725" x="7434263" y="6451600"/>
          <p14:tracePt t="78747" x="7273925" y="6394450"/>
          <p14:tracePt t="78749" x="7264400" y="6394450"/>
          <p14:tracePt t="78751" x="7245350" y="6384925"/>
          <p14:tracePt t="78759" x="7207250" y="6365875"/>
          <p14:tracePt t="78776" x="7121525" y="6327775"/>
          <p14:tracePt t="78782" x="7104063" y="6308725"/>
          <p14:tracePt t="78792" x="7094538" y="6299200"/>
          <p14:tracePt t="78821" x="7046913" y="6243638"/>
          <p14:tracePt t="78825" x="7027863" y="6234113"/>
          <p14:tracePt t="78839" x="7018338" y="6224588"/>
          <p14:tracePt t="78974" x="6999288" y="6205538"/>
          <p14:tracePt t="78999" x="6989763" y="6196013"/>
          <p14:tracePt t="79007" x="6980238" y="6186488"/>
          <p14:tracePt t="79206" x="6951663" y="6186488"/>
          <p14:tracePt t="79211" x="6932613" y="6186488"/>
          <p14:tracePt t="79234" x="6894513" y="6186488"/>
          <p14:tracePt t="79248" x="6838950" y="6186488"/>
          <p14:tracePt t="79264" x="6781800" y="6186488"/>
          <p14:tracePt t="79277" x="6724650" y="6186488"/>
          <p14:tracePt t="79282" x="6696075" y="6186488"/>
          <p14:tracePt t="79284" x="6677025" y="6186488"/>
          <p14:tracePt t="79292" x="6621463" y="6186488"/>
          <p14:tracePt t="79295" x="6592888" y="6186488"/>
          <p14:tracePt t="79300" x="6564313" y="6186488"/>
          <p14:tracePt t="79308" x="6526213" y="6215063"/>
          <p14:tracePt t="79314" x="6497638" y="6215063"/>
          <p14:tracePt t="79315" x="6469063" y="6215063"/>
          <p14:tracePt t="79325" x="6423025" y="6215063"/>
          <p14:tracePt t="79328" x="6413500" y="6215063"/>
          <p14:tracePt t="79332" x="6384925" y="6215063"/>
          <p14:tracePt t="79343" x="6327775" y="6215063"/>
          <p14:tracePt t="79347" x="6318250" y="6215063"/>
          <p14:tracePt t="79359" x="6251575" y="6215063"/>
          <p14:tracePt t="79385" x="6138863" y="6215063"/>
          <p14:tracePt t="79392" x="6062663" y="6215063"/>
          <p14:tracePt t="79400" x="6053138" y="6215063"/>
          <p14:tracePt t="79403" x="6043613" y="6215063"/>
          <p14:tracePt t="79410" x="5995988" y="6167438"/>
          <p14:tracePt t="79430" x="5921375" y="6119813"/>
          <p14:tracePt t="79437" x="5911850" y="6110288"/>
          <p14:tracePt t="79439" x="5892800" y="6091238"/>
          <p14:tracePt t="79614" x="5883275" y="6081713"/>
          <p14:tracePt t="79640" x="5883275" y="6045200"/>
          <p14:tracePt t="79656" x="5883275" y="6026150"/>
          <p14:tracePt t="79668" x="5883275" y="5978525"/>
          <p14:tracePt t="79683" x="5883275" y="5959475"/>
          <p14:tracePt t="79692" x="5883275" y="5949950"/>
          <p14:tracePt t="79709" x="5883275" y="5921375"/>
          <p14:tracePt t="79729" x="5883275" y="5892800"/>
          <p14:tracePt t="79742" x="5883275" y="5883275"/>
          <p14:tracePt t="79758" x="5883275" y="5845175"/>
          <p14:tracePt t="79783" x="5883275" y="5818188"/>
          <p14:tracePt t="79792" x="5883275" y="5799138"/>
          <p14:tracePt t="79809" x="5883275" y="5780088"/>
          <p14:tracePt t="79814" x="5883275" y="5761038"/>
          <p14:tracePt t="79825" x="5883275" y="5732463"/>
          <p14:tracePt t="79830" x="5883275" y="5722938"/>
          <p14:tracePt t="79832" x="5883275" y="5694363"/>
          <p14:tracePt t="79842" x="5883275" y="5684838"/>
          <p14:tracePt t="79848" x="5883275" y="5656263"/>
          <p14:tracePt t="79851" x="5883275" y="5637213"/>
          <p14:tracePt t="79860" x="5883275" y="5600700"/>
          <p14:tracePt t="79866" x="5883275" y="5591175"/>
          <p14:tracePt t="79875" x="5883275" y="5572125"/>
          <p14:tracePt t="79883" x="5883275" y="5514975"/>
          <p14:tracePt t="79892" x="5883275" y="5476875"/>
          <p14:tracePt t="79908" x="5883275" y="5391150"/>
          <p14:tracePt t="79915" x="5883275" y="5354638"/>
          <p14:tracePt t="79925" x="5845175" y="5297488"/>
          <p14:tracePt t="79930" x="5845175" y="5268913"/>
          <p14:tracePt t="79932" x="5845175" y="5240338"/>
          <p14:tracePt t="79944" x="5826125" y="5183188"/>
          <p14:tracePt t="79973" x="5788025" y="4956175"/>
          <p14:tracePt t="79977" x="5788025" y="4946650"/>
          <p14:tracePt t="79986" x="5788025" y="4872038"/>
          <p14:tracePt t="79988" x="5788025" y="4824413"/>
          <p14:tracePt t="79996" x="5788025" y="4776788"/>
          <p14:tracePt t="80009" x="5759450" y="4710113"/>
          <p14:tracePt t="80014" x="5759450" y="4683125"/>
          <p14:tracePt t="80016" x="5759450" y="4654550"/>
          <p14:tracePt t="80025" x="5759450" y="4606925"/>
          <p14:tracePt t="80028" x="5759450" y="4578350"/>
          <p14:tracePt t="80031" x="5759450" y="4568825"/>
          <p14:tracePt t="80043" x="5759450" y="4483100"/>
          <p14:tracePt t="80047" x="5759450" y="4456113"/>
          <p14:tracePt t="80059" x="5759450" y="4418013"/>
          <p14:tracePt t="80086" x="5759450" y="4322763"/>
          <p14:tracePt t="80091" x="5759450" y="4313238"/>
          <p14:tracePt t="80099" x="5759450" y="4284663"/>
          <p14:tracePt t="80102" x="5759450" y="4237038"/>
          <p14:tracePt t="80110" x="5759450" y="4219575"/>
          <p14:tracePt t="80129" x="5759450" y="4200525"/>
          <p14:tracePt t="80143" x="5759450" y="4162425"/>
          <p14:tracePt t="80168" x="5759450" y="4124325"/>
          <p14:tracePt t="80185" x="5778500" y="4095750"/>
          <p14:tracePt t="80187" x="5788025" y="4076700"/>
          <p14:tracePt t="80453" x="5807075" y="4067175"/>
          <p14:tracePt t="80485" x="5816600" y="4010025"/>
          <p14:tracePt t="81363" x="5816600" y="4000500"/>
          <p14:tracePt t="81426" x="5788025" y="4000500"/>
          <p14:tracePt t="81436" x="5778500" y="4000500"/>
          <p14:tracePt t="81449" x="5751513" y="4000500"/>
          <p14:tracePt t="81459" x="5732463" y="4000500"/>
          <p14:tracePt t="81714" x="5703888" y="4000500"/>
          <p14:tracePt t="81718" x="5694363" y="4000500"/>
          <p14:tracePt t="81725" x="5684838" y="4000500"/>
          <p14:tracePt t="81730" x="5665788" y="4019550"/>
          <p14:tracePt t="81732" x="5665788" y="4048125"/>
          <p14:tracePt t="81747" x="5599113" y="4284663"/>
          <p14:tracePt t="81761" x="5505450" y="4502150"/>
          <p14:tracePt t="81775" x="5381625" y="4767263"/>
          <p14:tracePt t="81781" x="5343525" y="4824413"/>
          <p14:tracePt t="81784" x="5314950" y="4891088"/>
          <p14:tracePt t="81793" x="5202238" y="5761038"/>
          <p14:tracePt t="81798" x="5135563" y="6100763"/>
          <p14:tracePt t="81808" x="5041900" y="6365875"/>
          <p14:tracePt t="81813" x="5003800" y="6470650"/>
          <p14:tracePt t="81815" x="4965700" y="6573838"/>
          <p14:tracePt t="81825" x="4889500" y="6726238"/>
          <p14:tracePt t="81829" x="4852988" y="6753225"/>
          <p14:tracePt t="81831" x="4776788" y="6829425"/>
          <p14:tracePt t="82308" x="2800350" y="6630988"/>
          <p14:tracePt t="82314" x="2874963" y="6545263"/>
          <p14:tracePt t="82319" x="3017838" y="6413500"/>
          <p14:tracePt t="82322" x="3092450" y="6337300"/>
          <p14:tracePt t="82327" x="3178175" y="6253163"/>
          <p14:tracePt t="82332" x="3225800" y="6196013"/>
          <p14:tracePt t="82342" x="3717925" y="5240338"/>
          <p14:tracePt t="82348" x="3868738" y="5013325"/>
          <p14:tracePt t="82349" x="4048125" y="4786313"/>
          <p14:tracePt t="82359" x="4370388" y="4360863"/>
          <p14:tracePt t="82382" x="5097463" y="3149600"/>
          <p14:tracePt t="82388" x="5353050" y="2647950"/>
          <p14:tracePt t="82400" x="5694363" y="2005013"/>
          <p14:tracePt t="82408" x="5864225" y="1627188"/>
          <p14:tracePt t="82413" x="5930900" y="1466850"/>
          <p14:tracePt t="82416" x="6024563" y="1323975"/>
          <p14:tracePt t="82425" x="6186488" y="1049338"/>
          <p14:tracePt t="82430" x="6270625" y="822325"/>
          <p14:tracePt t="82453" x="6469063" y="358775"/>
          <p14:tracePt t="82456" x="6507163" y="284163"/>
          <p14:tracePt t="82460" x="6545263" y="217488"/>
          <p14:tracePt t="82466" x="6592888" y="95250"/>
          <p14:tracePt t="82475" x="6621463" y="47625"/>
        </p14:tracePtLst>
      </p14:laserTrace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93C19C-365C-1C61-4737-ECC8D228AF73}"/>
              </a:ext>
            </a:extLst>
          </p:cNvPr>
          <p:cNvSpPr>
            <a:spLocks noGrp="1"/>
          </p:cNvSpPr>
          <p:nvPr>
            <p:ph idx="1"/>
          </p:nvPr>
        </p:nvSpPr>
        <p:spPr>
          <a:xfrm>
            <a:off x="296426" y="2032807"/>
            <a:ext cx="10676374" cy="3609984"/>
          </a:xfrm>
        </p:spPr>
        <p:txBody>
          <a:bodyPr>
            <a:normAutofit fontScale="92500" lnSpcReduction="20000"/>
          </a:bodyPr>
          <a:lstStyle/>
          <a:p>
            <a:pPr marL="734381" lvl="1" indent="0">
              <a:buNone/>
            </a:pPr>
            <a:endParaRPr lang="en-US" altLang="en-US" sz="1600" dirty="0">
              <a:solidFill>
                <a:srgbClr val="3F3F3F"/>
              </a:solidFill>
              <a:latin typeface="Roboto" panose="02000000000000000000" pitchFamily="2" charset="0"/>
            </a:endParaRPr>
          </a:p>
          <a:p>
            <a:r>
              <a:rPr lang="en-US" altLang="en-US" sz="1600" dirty="0">
                <a:solidFill>
                  <a:srgbClr val="3F3F3F"/>
                </a:solidFill>
                <a:latin typeface="Roboto" panose="02000000000000000000" pitchFamily="2" charset="0"/>
              </a:rPr>
              <a:t>Convert raw data into a 3D </a:t>
            </a:r>
            <a:r>
              <a:rPr lang="en-US" altLang="en-US" sz="1600" dirty="0" err="1">
                <a:solidFill>
                  <a:srgbClr val="3F3F3F"/>
                </a:solidFill>
                <a:latin typeface="Roboto" panose="02000000000000000000" pitchFamily="2" charset="0"/>
              </a:rPr>
              <a:t>Numpy</a:t>
            </a:r>
            <a:r>
              <a:rPr lang="en-US" altLang="en-US" sz="1600" dirty="0">
                <a:solidFill>
                  <a:srgbClr val="3F3F3F"/>
                </a:solidFill>
                <a:latin typeface="Roboto" panose="02000000000000000000" pitchFamily="2" charset="0"/>
              </a:rPr>
              <a:t> array</a:t>
            </a:r>
          </a:p>
          <a:p>
            <a:r>
              <a:rPr lang="en-US" altLang="en-US" sz="1600" dirty="0">
                <a:solidFill>
                  <a:srgbClr val="3F3F3F"/>
                </a:solidFill>
                <a:latin typeface="Roboto" panose="02000000000000000000" pitchFamily="2" charset="0"/>
              </a:rPr>
              <a:t>Resampling :</a:t>
            </a:r>
            <a:r>
              <a:rPr lang="en-US" sz="1600" dirty="0" err="1">
                <a:solidFill>
                  <a:srgbClr val="3F3F3F"/>
                </a:solidFill>
                <a:latin typeface="Roboto" panose="02000000000000000000" pitchFamily="2" charset="0"/>
              </a:rPr>
              <a:t>SimpleITK</a:t>
            </a:r>
            <a:r>
              <a:rPr lang="en-US" sz="1600" dirty="0">
                <a:solidFill>
                  <a:srgbClr val="3F3F3F"/>
                </a:solidFill>
                <a:latin typeface="Roboto" panose="02000000000000000000" pitchFamily="2" charset="0"/>
              </a:rPr>
              <a:t> library </a:t>
            </a:r>
            <a:r>
              <a:rPr lang="en-US" sz="1800" dirty="0">
                <a:effectLst/>
                <a:latin typeface="Calibri" panose="020F0502020204030204" pitchFamily="34" charset="0"/>
                <a:ea typeface="Calibri" panose="020F0502020204030204" pitchFamily="34" charset="0"/>
                <a:cs typeface="Cordia New" panose="020B0304020202020204" pitchFamily="34" charset="-34"/>
              </a:rPr>
              <a:t>(</a:t>
            </a:r>
            <a:r>
              <a:rPr lang="en-US" sz="1800" u="sng" dirty="0">
                <a:solidFill>
                  <a:srgbClr val="0000FF"/>
                </a:solidFill>
                <a:effectLst/>
                <a:latin typeface="Calibri" panose="020F0502020204030204" pitchFamily="34" charset="0"/>
                <a:ea typeface="Calibri" panose="020F0502020204030204" pitchFamily="34" charset="0"/>
                <a:cs typeface="Cordia New" panose="020B0304020202020204" pitchFamily="34" charset="-34"/>
                <a:hlinkClick r:id="rId3"/>
              </a:rPr>
              <a:t>https://simpleitk.org/</a:t>
            </a:r>
            <a:r>
              <a:rPr lang="en-US" sz="1800" dirty="0">
                <a:effectLst/>
                <a:latin typeface="Calibri" panose="020F0502020204030204" pitchFamily="34" charset="0"/>
                <a:ea typeface="Calibri" panose="020F0502020204030204" pitchFamily="34" charset="0"/>
                <a:cs typeface="Cordia New" panose="020B0304020202020204" pitchFamily="34" charset="-34"/>
              </a:rPr>
              <a:t>)</a:t>
            </a:r>
          </a:p>
          <a:p>
            <a:r>
              <a:rPr lang="en-US" altLang="en-US" sz="1600" dirty="0">
                <a:solidFill>
                  <a:srgbClr val="3F3F3F"/>
                </a:solidFill>
                <a:latin typeface="Roboto" panose="02000000000000000000" pitchFamily="2" charset="0"/>
              </a:rPr>
              <a:t>Cropping datasets to focus on a specific region of interest (16*16*256)</a:t>
            </a:r>
          </a:p>
          <a:p>
            <a:r>
              <a:rPr lang="en-US" sz="1600" b="0" i="0" u="none" strike="noStrike" dirty="0">
                <a:solidFill>
                  <a:srgbClr val="3F3F3F"/>
                </a:solidFill>
                <a:effectLst/>
                <a:latin typeface="Roboto" panose="02000000000000000000" pitchFamily="2" charset="0"/>
              </a:rPr>
              <a:t>Shuffle and split data </a:t>
            </a:r>
          </a:p>
          <a:p>
            <a:pPr lvl="1"/>
            <a:r>
              <a:rPr lang="en-US" sz="1600" b="0" i="0" u="none" strike="noStrike" dirty="0">
                <a:solidFill>
                  <a:srgbClr val="3F3F3F"/>
                </a:solidFill>
                <a:effectLst/>
                <a:latin typeface="Roboto" panose="02000000000000000000" pitchFamily="2" charset="0"/>
              </a:rPr>
              <a:t>Train subset - 70%</a:t>
            </a:r>
          </a:p>
          <a:p>
            <a:pPr lvl="1"/>
            <a:r>
              <a:rPr lang="en-US" sz="1600" b="0" i="0" u="none" strike="noStrike" dirty="0">
                <a:solidFill>
                  <a:srgbClr val="3F3F3F"/>
                </a:solidFill>
                <a:effectLst/>
                <a:latin typeface="Roboto" panose="02000000000000000000" pitchFamily="2" charset="0"/>
              </a:rPr>
              <a:t>Validation subset - 15%</a:t>
            </a:r>
          </a:p>
          <a:p>
            <a:pPr lvl="1"/>
            <a:r>
              <a:rPr lang="en-US" sz="1600" b="0" i="0" u="none" strike="noStrike" dirty="0">
                <a:solidFill>
                  <a:srgbClr val="3F3F3F"/>
                </a:solidFill>
                <a:effectLst/>
                <a:latin typeface="Roboto" panose="02000000000000000000" pitchFamily="2" charset="0"/>
              </a:rPr>
              <a:t>Test subset  - 15% </a:t>
            </a:r>
          </a:p>
          <a:p>
            <a:pPr>
              <a:buFont typeface="Arial" panose="020B0604020202020204" pitchFamily="34" charset="0"/>
              <a:buChar char="•"/>
            </a:pPr>
            <a:r>
              <a:rPr lang="en-US" altLang="en-US" sz="1600" dirty="0">
                <a:solidFill>
                  <a:srgbClr val="3F3F3F"/>
                </a:solidFill>
                <a:latin typeface="Roboto" panose="02000000000000000000" pitchFamily="2" charset="0"/>
              </a:rPr>
              <a:t>Create custom dataset and </a:t>
            </a:r>
            <a:r>
              <a:rPr lang="en-US" altLang="en-US" sz="1600" dirty="0" err="1">
                <a:solidFill>
                  <a:srgbClr val="3F3F3F"/>
                </a:solidFill>
                <a:latin typeface="Roboto" panose="02000000000000000000" pitchFamily="2" charset="0"/>
              </a:rPr>
              <a:t>Dataloader</a:t>
            </a:r>
            <a:endParaRPr lang="en-US" altLang="en-US" sz="1600" dirty="0">
              <a:solidFill>
                <a:srgbClr val="3F3F3F"/>
              </a:solidFill>
              <a:latin typeface="Roboto" panose="02000000000000000000" pitchFamily="2" charset="0"/>
            </a:endParaRPr>
          </a:p>
          <a:p>
            <a:pPr lvl="1"/>
            <a:r>
              <a:rPr lang="en-US" sz="1600" dirty="0">
                <a:solidFill>
                  <a:srgbClr val="3F3F3F"/>
                </a:solidFill>
                <a:latin typeface="Roboto" panose="02000000000000000000" pitchFamily="2" charset="0"/>
              </a:rPr>
              <a:t>Augmentation</a:t>
            </a:r>
          </a:p>
          <a:p>
            <a:pPr lvl="1"/>
            <a:r>
              <a:rPr lang="en-US" sz="1600" dirty="0">
                <a:solidFill>
                  <a:srgbClr val="3F3F3F"/>
                </a:solidFill>
                <a:latin typeface="Roboto" panose="02000000000000000000" pitchFamily="2" charset="0"/>
              </a:rPr>
              <a:t>Normalization with min-max scaling to range [0,1] </a:t>
            </a:r>
          </a:p>
          <a:p>
            <a:pPr lvl="1"/>
            <a:r>
              <a:rPr lang="en-US" sz="1600" dirty="0">
                <a:solidFill>
                  <a:srgbClr val="3F3F3F"/>
                </a:solidFill>
                <a:latin typeface="Roboto" panose="02000000000000000000" pitchFamily="2" charset="0"/>
              </a:rPr>
              <a:t>Transform to tensor</a:t>
            </a:r>
          </a:p>
          <a:p>
            <a:r>
              <a:rPr lang="en-US" sz="1600" dirty="0" err="1">
                <a:solidFill>
                  <a:srgbClr val="3F3F3F"/>
                </a:solidFill>
                <a:latin typeface="Roboto" panose="02000000000000000000" pitchFamily="2" charset="0"/>
              </a:rPr>
              <a:t>DataLoader</a:t>
            </a:r>
            <a:r>
              <a:rPr lang="en-US" sz="1600" dirty="0">
                <a:solidFill>
                  <a:srgbClr val="3F3F3F"/>
                </a:solidFill>
                <a:latin typeface="Roboto" panose="02000000000000000000" pitchFamily="2" charset="0"/>
              </a:rPr>
              <a:t> to load as batch to GPU</a:t>
            </a:r>
          </a:p>
          <a:p>
            <a:endParaRPr lang="en-US" altLang="en-US" sz="1400" dirty="0">
              <a:solidFill>
                <a:srgbClr val="222222"/>
              </a:solidFill>
              <a:latin typeface="Arial" panose="020B0604020202020204" pitchFamily="34" charset="0"/>
            </a:endParaRPr>
          </a:p>
          <a:p>
            <a:pPr lvl="1"/>
            <a:endParaRPr lang="en-US" sz="1400" b="0" i="0" u="none" strike="noStrike" dirty="0">
              <a:solidFill>
                <a:srgbClr val="222222"/>
              </a:solidFill>
              <a:effectLst/>
              <a:latin typeface="Arial" panose="020B0604020202020204" pitchFamily="34" charset="0"/>
            </a:endParaRPr>
          </a:p>
          <a:p>
            <a:endParaRPr lang="en-US" dirty="0"/>
          </a:p>
        </p:txBody>
      </p:sp>
      <p:sp>
        <p:nvSpPr>
          <p:cNvPr id="3" name="Title 2">
            <a:extLst>
              <a:ext uri="{FF2B5EF4-FFF2-40B4-BE49-F238E27FC236}">
                <a16:creationId xmlns:a16="http://schemas.microsoft.com/office/drawing/2014/main" id="{CC203F78-41D9-46C2-D4EC-270CBBE153C8}"/>
              </a:ext>
            </a:extLst>
          </p:cNvPr>
          <p:cNvSpPr>
            <a:spLocks noGrp="1"/>
          </p:cNvSpPr>
          <p:nvPr>
            <p:ph type="title"/>
          </p:nvPr>
        </p:nvSpPr>
        <p:spPr/>
        <p:txBody>
          <a:bodyPr/>
          <a:lstStyle/>
          <a:p>
            <a:r>
              <a:rPr lang="en-US" dirty="0"/>
              <a:t>Data preprocessing</a:t>
            </a:r>
          </a:p>
        </p:txBody>
      </p:sp>
      <p:sp>
        <p:nvSpPr>
          <p:cNvPr id="4" name="Date Placeholder 3">
            <a:extLst>
              <a:ext uri="{FF2B5EF4-FFF2-40B4-BE49-F238E27FC236}">
                <a16:creationId xmlns:a16="http://schemas.microsoft.com/office/drawing/2014/main" id="{147008C4-4BF6-109F-874D-FFDA8E395A50}"/>
              </a:ext>
            </a:extLst>
          </p:cNvPr>
          <p:cNvSpPr>
            <a:spLocks noGrp="1"/>
          </p:cNvSpPr>
          <p:nvPr>
            <p:ph type="dt" sz="half" idx="10"/>
          </p:nvPr>
        </p:nvSpPr>
        <p:spPr/>
        <p:txBody>
          <a:bodyPr/>
          <a:lstStyle/>
          <a:p>
            <a:pPr>
              <a:defRPr/>
            </a:pPr>
            <a:fld id="{D13E859E-FF31-463A-9B72-2B761AEB4EBF}" type="datetime1">
              <a:rPr lang="en-US" smtClean="0"/>
              <a:t>2/28/2024</a:t>
            </a:fld>
            <a:endParaRPr lang="de-DE" dirty="0"/>
          </a:p>
        </p:txBody>
      </p:sp>
      <p:sp>
        <p:nvSpPr>
          <p:cNvPr id="5" name="Footer Placeholder 4">
            <a:extLst>
              <a:ext uri="{FF2B5EF4-FFF2-40B4-BE49-F238E27FC236}">
                <a16:creationId xmlns:a16="http://schemas.microsoft.com/office/drawing/2014/main" id="{B71A4DEE-857B-A205-9F42-32DBD71F4752}"/>
              </a:ext>
            </a:extLst>
          </p:cNvPr>
          <p:cNvSpPr>
            <a:spLocks noGrp="1"/>
          </p:cNvSpPr>
          <p:nvPr>
            <p:ph type="ftr" sz="quarter" idx="11"/>
          </p:nvPr>
        </p:nvSpPr>
        <p:spPr/>
        <p:txBody>
          <a:bodyPr/>
          <a:lstStyle/>
          <a:p>
            <a:pPr>
              <a:defRPr/>
            </a:pPr>
            <a:r>
              <a:rPr lang="de-DE"/>
              <a:t>Pichaya Tappayuthpijarn</a:t>
            </a:r>
            <a:endParaRPr lang="de-DE" dirty="0"/>
          </a:p>
        </p:txBody>
      </p:sp>
      <p:sp>
        <p:nvSpPr>
          <p:cNvPr id="6" name="Slide Number Placeholder 5">
            <a:extLst>
              <a:ext uri="{FF2B5EF4-FFF2-40B4-BE49-F238E27FC236}">
                <a16:creationId xmlns:a16="http://schemas.microsoft.com/office/drawing/2014/main" id="{31566D92-FF92-168C-F58B-BC50B4220C82}"/>
              </a:ext>
            </a:extLst>
          </p:cNvPr>
          <p:cNvSpPr>
            <a:spLocks noGrp="1"/>
          </p:cNvSpPr>
          <p:nvPr>
            <p:ph type="sldNum" sz="quarter" idx="12"/>
          </p:nvPr>
        </p:nvSpPr>
        <p:spPr/>
        <p:txBody>
          <a:bodyPr/>
          <a:lstStyle/>
          <a:p>
            <a:pPr>
              <a:defRPr/>
            </a:pPr>
            <a:r>
              <a:rPr lang="de-DE"/>
              <a:t>SEITE</a:t>
            </a:r>
            <a:r>
              <a:rPr lang="de-DE" spc="0"/>
              <a:t> </a:t>
            </a:r>
            <a:fld id="{37ED3A82-C5FC-FE4D-9EDE-EA1B3EA06354}" type="slidenum">
              <a:rPr lang="de-DE" spc="0" smtClean="0"/>
              <a:pPr>
                <a:defRPr/>
              </a:pPr>
              <a:t>7</a:t>
            </a:fld>
            <a:endParaRPr lang="de-DE" spc="0"/>
          </a:p>
        </p:txBody>
      </p:sp>
      <p:sp>
        <p:nvSpPr>
          <p:cNvPr id="11" name="Rectangle 10">
            <a:extLst>
              <a:ext uri="{FF2B5EF4-FFF2-40B4-BE49-F238E27FC236}">
                <a16:creationId xmlns:a16="http://schemas.microsoft.com/office/drawing/2014/main" id="{3C3D794B-CE46-1AE8-5A23-FC33184F8CA3}"/>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sp>
        <p:nvSpPr>
          <p:cNvPr id="7" name="AutoShape 2">
            <a:extLst>
              <a:ext uri="{FF2B5EF4-FFF2-40B4-BE49-F238E27FC236}">
                <a16:creationId xmlns:a16="http://schemas.microsoft.com/office/drawing/2014/main" id="{C3797B9B-BCF7-58E1-93B3-F999047F1343}"/>
              </a:ext>
            </a:extLst>
          </p:cNvPr>
          <p:cNvSpPr>
            <a:spLocks noChangeAspect="1" noChangeArrowheads="1"/>
          </p:cNvSpPr>
          <p:nvPr/>
        </p:nvSpPr>
        <p:spPr bwMode="auto">
          <a:xfrm>
            <a:off x="5815584" y="380695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descr="A black and white bar with numbers&#10;&#10;Description automatically generated with medium confidence">
            <a:extLst>
              <a:ext uri="{FF2B5EF4-FFF2-40B4-BE49-F238E27FC236}">
                <a16:creationId xmlns:a16="http://schemas.microsoft.com/office/drawing/2014/main" id="{2469F02E-A5FF-E999-95A7-3BC8EADA832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15232" y="3383280"/>
            <a:ext cx="6266576" cy="1278597"/>
          </a:xfrm>
          <a:prstGeom prst="rect">
            <a:avLst/>
          </a:prstGeom>
          <a:noFill/>
          <a:ln>
            <a:noFill/>
          </a:ln>
        </p:spPr>
      </p:pic>
      <p:pic>
        <p:nvPicPr>
          <p:cNvPr id="9" name="Picture 8" descr="A black rectangular object with white text&#10;&#10;Description automatically generated with medium confidence">
            <a:extLst>
              <a:ext uri="{FF2B5EF4-FFF2-40B4-BE49-F238E27FC236}">
                <a16:creationId xmlns:a16="http://schemas.microsoft.com/office/drawing/2014/main" id="{C8D4E6FE-4186-F661-8597-73A1C4528F7B}"/>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15232" y="4539420"/>
            <a:ext cx="6266576" cy="1278597"/>
          </a:xfrm>
          <a:prstGeom prst="rect">
            <a:avLst/>
          </a:prstGeom>
          <a:noFill/>
          <a:ln>
            <a:noFill/>
          </a:ln>
        </p:spPr>
      </p:pic>
      <p:sp>
        <p:nvSpPr>
          <p:cNvPr id="13" name="TextBox 12">
            <a:extLst>
              <a:ext uri="{FF2B5EF4-FFF2-40B4-BE49-F238E27FC236}">
                <a16:creationId xmlns:a16="http://schemas.microsoft.com/office/drawing/2014/main" id="{C6769C6E-5240-2988-562C-B951BE2C1306}"/>
              </a:ext>
            </a:extLst>
          </p:cNvPr>
          <p:cNvSpPr txBox="1"/>
          <p:nvPr/>
        </p:nvSpPr>
        <p:spPr>
          <a:xfrm>
            <a:off x="5815584" y="5853329"/>
            <a:ext cx="6096000" cy="340734"/>
          </a:xfrm>
          <a:prstGeom prst="rect">
            <a:avLst/>
          </a:prstGeom>
          <a:noFill/>
        </p:spPr>
        <p:txBody>
          <a:bodyPr wrap="square">
            <a:spAutoFit/>
          </a:bodyPr>
          <a:lstStyle/>
          <a:p>
            <a:pPr marL="0" marR="0" algn="ctr">
              <a:lnSpc>
                <a:spcPct val="150000"/>
              </a:lnSpc>
              <a:spcBef>
                <a:spcPts val="0"/>
              </a:spcBef>
              <a:spcAft>
                <a:spcPts val="1000"/>
              </a:spcAft>
            </a:pPr>
            <a:r>
              <a:rPr lang="en-US" sz="1200" i="1" dirty="0">
                <a:latin typeface="Calibri" panose="020F0502020204030204" pitchFamily="34" charset="0"/>
                <a:cs typeface="Cordia New" panose="020B0304020202020204" pitchFamily="34" charset="-34"/>
              </a:rPr>
              <a:t>Figure 6 Samples from different datasets compared with their respective doses in the water.</a:t>
            </a:r>
          </a:p>
        </p:txBody>
      </p:sp>
    </p:spTree>
    <p:extLst>
      <p:ext uri="{BB962C8B-B14F-4D97-AF65-F5344CB8AC3E}">
        <p14:creationId xmlns:p14="http://schemas.microsoft.com/office/powerpoint/2010/main" val="1743524483"/>
      </p:ext>
    </p:extLst>
  </p:cSld>
  <p:clrMapOvr>
    <a:masterClrMapping/>
  </p:clrMapOvr>
  <p:extLst>
    <p:ext uri="{3A86A75C-4F4B-4683-9AE1-C65F6400EC91}">
      <p14:laserTraceLst xmlns:p14="http://schemas.microsoft.com/office/powerpoint/2010/main">
        <p14:tracePtLst>
          <p14:tracePt t="17358" x="28575" y="4473575"/>
          <p14:tracePt t="17364" x="76200" y="4502150"/>
          <p14:tracePt t="17371" x="160338" y="4587875"/>
          <p14:tracePt t="17379" x="265113" y="4664075"/>
          <p14:tracePt t="17388" x="339725" y="4691063"/>
          <p14:tracePt t="17391" x="454025" y="4729163"/>
          <p14:tracePt t="17399" x="558800" y="4786313"/>
          <p14:tracePt t="17415" x="738188" y="4833938"/>
          <p14:tracePt t="17422" x="803275" y="4872038"/>
          <p14:tracePt t="17431" x="860425" y="4872038"/>
          <p14:tracePt t="17438" x="898525" y="4881563"/>
          <p14:tracePt t="17448" x="917575" y="4891088"/>
          <p14:tracePt t="17714" x="927100" y="4891088"/>
          <p14:tracePt t="17725" x="927100" y="4862513"/>
          <p14:tracePt t="17728" x="927100" y="4833938"/>
          <p14:tracePt t="17737" x="927100" y="4824413"/>
          <p14:tracePt t="17750" x="898525" y="4776788"/>
          <p14:tracePt t="17767" x="879475" y="4767263"/>
          <p14:tracePt t="17771" x="869950" y="4767263"/>
          <p14:tracePt t="17786" x="841375" y="4757738"/>
          <p14:tracePt t="17799" x="831850" y="4738688"/>
          <p14:tracePt t="17854" x="803275" y="4738688"/>
          <p14:tracePt t="17858" x="785813" y="4738688"/>
          <p14:tracePt t="17870" x="766763" y="4738688"/>
          <p14:tracePt t="17882" x="747713" y="4738688"/>
          <p14:tracePt t="17898" x="719138" y="4719638"/>
          <p14:tracePt t="17915" x="681038" y="4719638"/>
          <p14:tracePt t="17921" x="671513" y="4700588"/>
          <p14:tracePt t="17932" x="652463" y="4691063"/>
          <p14:tracePt t="17983" x="633413" y="4691063"/>
          <p14:tracePt t="17987" x="614363" y="4691063"/>
          <p14:tracePt t="17999" x="585788" y="4691063"/>
          <p14:tracePt t="18015" x="576263" y="4691063"/>
          <p14:tracePt t="18031" x="539750" y="4691063"/>
          <p14:tracePt t="18259" x="501650" y="4691063"/>
          <p14:tracePt t="18265" x="501650" y="4710113"/>
          <p14:tracePt t="18275" x="482600" y="4719638"/>
          <p14:tracePt t="18284" x="473075" y="4729163"/>
          <p14:tracePt t="18302" x="454025" y="4776788"/>
          <p14:tracePt t="18315" x="444500" y="4786313"/>
          <p14:tracePt t="18331" x="434975" y="4795838"/>
          <p14:tracePt t="23271" x="434975" y="4814888"/>
          <p14:tracePt t="23285" x="444500" y="4824413"/>
          <p14:tracePt t="23291" x="463550" y="4833938"/>
          <p14:tracePt t="23299" x="473075" y="4852988"/>
          <p14:tracePt t="23315" x="492125" y="4862513"/>
          <p14:tracePt t="23339" x="492125" y="4891088"/>
          <p14:tracePt t="23348" x="492125" y="4900613"/>
          <p14:tracePt t="23364" x="520700" y="4956175"/>
          <p14:tracePt t="23381" x="558800" y="5003800"/>
          <p14:tracePt t="23398" x="558800" y="5022850"/>
          <p14:tracePt t="23415" x="558800" y="5051425"/>
          <p14:tracePt t="23421" x="558800" y="5070475"/>
          <p14:tracePt t="23424" x="558800" y="5080000"/>
          <p14:tracePt t="23432" x="558800" y="5118100"/>
          <p14:tracePt t="23449" x="558800" y="5154613"/>
          <p14:tracePt t="23464" x="558800" y="5183188"/>
          <p14:tracePt t="23470" x="558800" y="5202238"/>
          <p14:tracePt t="23692" x="558800" y="5211763"/>
          <p14:tracePt t="23741" x="530225" y="5211763"/>
          <p14:tracePt t="23745" x="511175" y="5211763"/>
          <p14:tracePt t="23830" x="492125" y="5211763"/>
          <p14:tracePt t="23836" x="473075" y="5211763"/>
          <p14:tracePt t="23941" x="415925" y="5211763"/>
          <p14:tracePt t="23971" x="387350" y="5211763"/>
          <p14:tracePt t="23979" x="377825" y="5211763"/>
          <p14:tracePt t="26591" x="623888" y="5268913"/>
          <p14:tracePt t="26605" x="1693863" y="5457825"/>
          <p14:tracePt t="26608" x="1938338" y="5505450"/>
          <p14:tracePt t="26619" x="2317750" y="5600700"/>
          <p14:tracePt t="26621" x="2535238" y="5646738"/>
          <p14:tracePt t="26625" x="2724150" y="5722938"/>
          <p14:tracePt t="26626" x="2970213" y="5770563"/>
          <p14:tracePt t="26634" x="3433763" y="5864225"/>
          <p14:tracePt t="26647" x="4105275" y="5988050"/>
          <p14:tracePt t="26667" x="4700588" y="6072188"/>
          <p14:tracePt t="26680" x="5070475" y="6176963"/>
          <p14:tracePt t="26686" x="5087938" y="6186488"/>
          <p14:tracePt t="26687" x="5116513" y="6186488"/>
          <p14:tracePt t="26703" x="5135563" y="6215063"/>
          <p14:tracePt t="26750" x="5154613" y="6224588"/>
          <p14:tracePt t="26761" x="5164138" y="6243638"/>
          <p14:tracePt t="26782" x="5230813" y="6289675"/>
          <p14:tracePt t="26796" x="5259388" y="6346825"/>
          <p14:tracePt t="26804" x="5259388" y="6356350"/>
          <p14:tracePt t="26821" x="5305425" y="6413500"/>
          <p14:tracePt t="26833" x="5305425" y="6442075"/>
          <p14:tracePt t="26838" x="5305425" y="6480175"/>
          <p14:tracePt t="26852" x="5314950" y="6489700"/>
          <p14:tracePt t="26865" x="5343525" y="6516688"/>
          <p14:tracePt t="26905" x="5372100" y="6516688"/>
          <p14:tracePt t="26913" x="5381625" y="6516688"/>
          <p14:tracePt t="26939" x="5419725" y="6516688"/>
          <p14:tracePt t="26948" x="5438775" y="6516688"/>
          <p14:tracePt t="26950" x="5448300" y="6516688"/>
          <p14:tracePt t="26972" x="5486400" y="6516688"/>
          <p14:tracePt t="26977" x="5505450" y="6516688"/>
          <p14:tracePt t="26982" x="5505450" y="6489700"/>
          <p14:tracePt t="26989" x="5524500" y="6461125"/>
          <p14:tracePt t="26994" x="5541963" y="6451600"/>
          <p14:tracePt t="27004" x="5570538" y="6423025"/>
          <p14:tracePt t="27006" x="5580063" y="6403975"/>
          <p14:tracePt t="27014" x="5618163" y="6365875"/>
          <p14:tracePt t="27019" x="5656263" y="6337300"/>
          <p14:tracePt t="27034" x="5703888" y="6281738"/>
          <p14:tracePt t="27037" x="5751513" y="6253163"/>
          <p14:tracePt t="27038" x="5759450" y="6234113"/>
          <p14:tracePt t="27049" x="5807075" y="6196013"/>
          <p14:tracePt t="27073" x="5873750" y="6119813"/>
          <p14:tracePt t="27079" x="5892800" y="6110288"/>
          <p14:tracePt t="27323" x="5883275" y="6110288"/>
          <p14:tracePt t="27331" x="5845175" y="6062663"/>
          <p14:tracePt t="27342" x="5816600" y="6045200"/>
          <p14:tracePt t="27354" x="5788025" y="6016625"/>
          <p14:tracePt t="27364" x="5778500" y="6007100"/>
          <p14:tracePt t="27379" x="5768975" y="5988050"/>
          <p14:tracePt t="27388" x="5768975" y="5959475"/>
          <p14:tracePt t="27397" x="5751513" y="5940425"/>
          <p14:tracePt t="27419" x="5741988" y="5921375"/>
          <p14:tracePt t="27431" x="5741988" y="5883275"/>
          <p14:tracePt t="27437" x="5722938" y="5873750"/>
          <p14:tracePt t="27447" x="5713413" y="5854700"/>
          <p14:tracePt t="27464" x="5713413" y="5818188"/>
          <p14:tracePt t="30142" x="5732463" y="5818188"/>
          <p14:tracePt t="30149" x="5741988" y="5818188"/>
          <p14:tracePt t="30308" x="5759450" y="5818188"/>
          <p14:tracePt t="30419" x="5768975" y="5835650"/>
          <p14:tracePt t="30441" x="5797550" y="5835650"/>
          <p14:tracePt t="30448" x="5807075" y="5835650"/>
          <p14:tracePt t="30463" x="5854700" y="5835650"/>
          <p14:tracePt t="30480" x="5892800" y="5835650"/>
          <p14:tracePt t="30518" x="5921375" y="5835650"/>
          <p14:tracePt t="30523" x="5930900" y="5835650"/>
          <p14:tracePt t="32291" x="5949950" y="5835650"/>
          <p14:tracePt t="32303" x="5959475" y="5835650"/>
          <p14:tracePt t="32496" x="5986463" y="5835650"/>
          <p14:tracePt t="32500" x="5995988" y="5835650"/>
          <p14:tracePt t="32504" x="6024563" y="5835650"/>
          <p14:tracePt t="32512" x="6081713" y="5835650"/>
          <p14:tracePt t="32517" x="6110288" y="5799138"/>
          <p14:tracePt t="32520" x="6119813" y="5789613"/>
          <p14:tracePt t="32526" x="6138863" y="5770563"/>
          <p14:tracePt t="32538" x="6176963" y="5703888"/>
          <p14:tracePt t="32540" x="6196013" y="5694363"/>
          <p14:tracePt t="32547" x="6196013" y="5675313"/>
          <p14:tracePt t="32552" x="6196013" y="5637213"/>
          <p14:tracePt t="32553" x="6205538" y="5618163"/>
          <p14:tracePt t="32566" x="6213475" y="5581650"/>
          <p14:tracePt t="32570" x="6213475" y="5553075"/>
          <p14:tracePt t="32572" x="6213475" y="5524500"/>
          <p14:tracePt t="32583" x="6213475" y="5495925"/>
          <p14:tracePt t="32603" x="6232525" y="5467350"/>
          <p14:tracePt t="32621" x="6242050" y="5457825"/>
          <p14:tracePt t="32636" x="6242050" y="5429250"/>
          <p14:tracePt t="32646" x="6242050" y="5419725"/>
          <p14:tracePt t="32673" x="6242050" y="5372100"/>
          <p14:tracePt t="32679" x="6242050" y="5364163"/>
          <p14:tracePt t="32685" x="6242050" y="5354638"/>
          <p14:tracePt t="32691" x="6242050" y="5335588"/>
          <p14:tracePt t="32697" x="6242050" y="5326063"/>
          <p14:tracePt t="32702" x="6242050" y="5297488"/>
          <p14:tracePt t="32713" x="6242050" y="5259388"/>
          <p14:tracePt t="32718" x="6242050" y="5230813"/>
          <p14:tracePt t="32720" x="6242050" y="5211763"/>
          <p14:tracePt t="32731" x="6242050" y="5127625"/>
          <p14:tracePt t="32736" x="6242050" y="5089525"/>
          <p14:tracePt t="32738" x="6242050" y="5070475"/>
          <p14:tracePt t="32748" x="6242050" y="5013325"/>
          <p14:tracePt t="32772" x="6318250" y="4900613"/>
          <p14:tracePt t="32777" x="6365875" y="4852988"/>
          <p14:tracePt t="32789" x="6375400" y="4843463"/>
          <p14:tracePt t="32826" x="6384925" y="4843463"/>
          <p14:tracePt t="32841" x="6413500" y="4843463"/>
          <p14:tracePt t="32865" x="6497638" y="4910138"/>
          <p14:tracePt t="32875" x="6535738" y="4965700"/>
          <p14:tracePt t="32883" x="6554788" y="5013325"/>
          <p14:tracePt t="32896" x="6583363" y="5089525"/>
          <p14:tracePt t="32924" x="6592888" y="5127625"/>
          <p14:tracePt t="33003" x="6611938" y="5089525"/>
          <p14:tracePt t="33011" x="6611938" y="5032375"/>
          <p14:tracePt t="33021" x="6583363" y="4900613"/>
          <p14:tracePt t="33036" x="6516688" y="4767263"/>
          <p14:tracePt t="33043" x="6478588" y="4635500"/>
          <p14:tracePt t="33052" x="6440488" y="4502150"/>
          <p14:tracePt t="33066" x="6413500" y="4332288"/>
          <p14:tracePt t="33080" x="6375400" y="4095750"/>
          <p14:tracePt t="33086" x="6375400" y="3983038"/>
          <p14:tracePt t="33096" x="6375400" y="3859213"/>
          <p14:tracePt t="33101" x="6375400" y="3830638"/>
          <p14:tracePt t="33103" x="6375400" y="3765550"/>
          <p14:tracePt t="33113" x="6375400" y="3670300"/>
          <p14:tracePt t="33118" x="6375400" y="3641725"/>
          <p14:tracePt t="33119" x="6375400" y="3594100"/>
          <p14:tracePt t="33130" x="6375400" y="3481388"/>
          <p14:tracePt t="33136" x="6375400" y="3452813"/>
          <p14:tracePt t="33138" x="6375400" y="3424238"/>
          <p14:tracePt t="33147" x="6394450" y="3367088"/>
          <p14:tracePt t="33182" x="6440488" y="3206750"/>
          <p14:tracePt t="33191" x="6488113" y="3140075"/>
          <p14:tracePt t="33199" x="6488113" y="3111500"/>
          <p14:tracePt t="33220" x="6488113" y="3074988"/>
          <p14:tracePt t="33224" x="6488113" y="3055938"/>
          <p14:tracePt t="33423" x="6488113" y="2979738"/>
          <p14:tracePt t="33433" x="6488113" y="2951163"/>
          <p14:tracePt t="33450" x="6488113" y="2922588"/>
          <p14:tracePt t="33459" x="6488113" y="2903538"/>
          <p14:tracePt t="33465" x="6488113" y="2874963"/>
          <p14:tracePt t="33467" x="6488113" y="2857500"/>
          <p14:tracePt t="33479" x="6488113" y="2809875"/>
          <p14:tracePt t="33496" x="6488113" y="2743200"/>
          <p14:tracePt t="33502" x="6488113" y="2724150"/>
          <p14:tracePt t="33505" x="6488113" y="2695575"/>
          <p14:tracePt t="33506" x="6488113" y="2686050"/>
          <p14:tracePt t="33516" x="6488113" y="2628900"/>
          <p14:tracePt t="33519" x="6488113" y="2601913"/>
          <p14:tracePt t="33533" x="6488113" y="2544763"/>
          <p14:tracePt t="33549" x="6488113" y="2449513"/>
          <p14:tracePt t="33566" x="6497638" y="2336800"/>
          <p14:tracePt t="33569" x="6516688" y="2317750"/>
          <p14:tracePt t="33571" x="6545263" y="2289175"/>
          <p14:tracePt t="33580" x="6545263" y="2251075"/>
          <p14:tracePt t="33586" x="6573838" y="2184400"/>
          <p14:tracePt t="33597" x="6573838" y="2147888"/>
          <p14:tracePt t="33615" x="6573838" y="2109788"/>
          <p14:tracePt t="33683" x="6592888" y="2090738"/>
          <p14:tracePt t="33720" x="6630988" y="2128838"/>
          <p14:tracePt t="33734" x="6705600" y="2166938"/>
          <p14:tracePt t="33740" x="6800850" y="2251075"/>
          <p14:tracePt t="33746" x="6829425" y="2260600"/>
          <p14:tracePt t="33749" x="6838950" y="2270125"/>
          <p14:tracePt t="33751" x="6867525" y="2270125"/>
          <p14:tracePt t="33758" x="6904038" y="2289175"/>
          <p14:tracePt t="33767" x="6923088" y="2298700"/>
          <p14:tracePt t="33782" x="6989763" y="2346325"/>
          <p14:tracePt t="33859" x="7018338" y="2374900"/>
          <p14:tracePt t="33867" x="7046913" y="2393950"/>
          <p14:tracePt t="33875" x="7046913" y="2420938"/>
          <p14:tracePt t="33883" x="7046913" y="2439988"/>
          <p14:tracePt t="33907" x="7046913" y="2478088"/>
          <p14:tracePt t="33927" x="7046913" y="2487613"/>
          <p14:tracePt t="33933" x="7046913" y="2506663"/>
          <p14:tracePt t="33954" x="7046913" y="2525713"/>
          <p14:tracePt t="33973" x="7046913" y="2554288"/>
          <p14:tracePt t="33978" x="7046913" y="2573338"/>
          <p14:tracePt t="33990" x="7046913" y="2611438"/>
          <p14:tracePt t="34002" x="7046913" y="2647950"/>
          <p14:tracePt t="34025" x="7046913" y="2676525"/>
          <p14:tracePt t="34042" x="7046913" y="2686050"/>
          <p14:tracePt t="34055" x="7046913" y="2705100"/>
          <p14:tracePt t="34151" x="7056438" y="2714625"/>
          <p14:tracePt t="34163" x="7085013" y="2714625"/>
          <p14:tracePt t="34173" x="7094538" y="2714625"/>
          <p14:tracePt t="34184" x="7140575" y="2714625"/>
          <p14:tracePt t="34188" x="7169150" y="2714625"/>
          <p14:tracePt t="34190" x="7178675" y="2714625"/>
          <p14:tracePt t="34198" x="7216775" y="2714625"/>
          <p14:tracePt t="34215" x="7254875" y="2714625"/>
          <p14:tracePt t="34242" x="7339013" y="2714625"/>
          <p14:tracePt t="34257" x="7367588" y="2714625"/>
          <p14:tracePt t="34265" x="7377113" y="2714625"/>
          <p14:tracePt t="34312" x="7415213" y="2714625"/>
          <p14:tracePt t="34331" x="7462838" y="2714625"/>
          <p14:tracePt t="34344" x="7529513" y="2752725"/>
          <p14:tracePt t="34351" x="7566025" y="2771775"/>
          <p14:tracePt t="34354" x="7594600" y="2771775"/>
          <p14:tracePt t="34359" x="7623175" y="2800350"/>
          <p14:tracePt t="34362" x="7642225" y="2800350"/>
          <p14:tracePt t="34365" x="7670800" y="2800350"/>
          <p14:tracePt t="34369" x="7699375" y="2800350"/>
          <p14:tracePt t="34379" x="7812088" y="2800350"/>
          <p14:tracePt t="34382" x="7859713" y="2819400"/>
          <p14:tracePt t="34385" x="7916863" y="2838450"/>
          <p14:tracePt t="34397" x="8039100" y="2838450"/>
          <p14:tracePt t="34413" x="8124825" y="2865438"/>
          <p14:tracePt t="34438" x="8162925" y="2865438"/>
          <p14:tracePt t="34457" x="8181975" y="2874963"/>
          <p14:tracePt t="34468" x="8191500" y="2894013"/>
          <p14:tracePt t="34481" x="8247063" y="2903538"/>
          <p14:tracePt t="34497" x="8247063" y="2932113"/>
          <p14:tracePt t="34520" x="8256588" y="2960688"/>
          <p14:tracePt t="34588" x="8275638" y="2960688"/>
          <p14:tracePt t="34608" x="8285163" y="2960688"/>
          <p14:tracePt t="34626" x="8294688" y="2970213"/>
          <p14:tracePt t="35566" x="8294688" y="2979738"/>
          <p14:tracePt t="35572" x="8266113" y="2979738"/>
          <p14:tracePt t="35581" x="8256588" y="2979738"/>
          <p14:tracePt t="35596" x="8201025" y="2951163"/>
          <p14:tracePt t="35613" x="8181975" y="2951163"/>
          <p14:tracePt t="35629" x="8143875" y="2951163"/>
          <p14:tracePt t="35648" x="8086725" y="2951163"/>
          <p14:tracePt t="35652" x="8077200" y="2951163"/>
          <p14:tracePt t="35656" x="8048625" y="2951163"/>
          <p14:tracePt t="35674" x="8039100" y="2951163"/>
          <p14:tracePt t="35684" x="8020050" y="2951163"/>
          <p14:tracePt t="36317" x="8029575" y="2951163"/>
          <p14:tracePt t="36325" x="8067675" y="2951163"/>
          <p14:tracePt t="36334" x="8077200" y="2951163"/>
          <p14:tracePt t="36346" x="8124825" y="2951163"/>
          <p14:tracePt t="36365" x="8191500" y="2951163"/>
          <p14:tracePt t="36369" x="8201025" y="2951163"/>
          <p14:tracePt t="36379" x="8229600" y="2951163"/>
          <p14:tracePt t="36396" x="8275638" y="2951163"/>
          <p14:tracePt t="36402" x="8304213" y="2951163"/>
          <p14:tracePt t="36406" x="8351838" y="2951163"/>
          <p14:tracePt t="36412" x="8399463" y="2951163"/>
          <p14:tracePt t="36418" x="8466138" y="2951163"/>
          <p14:tracePt t="36420" x="8493125" y="2951163"/>
          <p14:tracePt t="36429" x="8588375" y="2951163"/>
          <p14:tracePt t="36432" x="8636000" y="2951163"/>
          <p14:tracePt t="36437" x="8683625" y="2951163"/>
          <p14:tracePt t="36439" x="8739188" y="2951163"/>
          <p14:tracePt t="36447" x="8815388" y="2951163"/>
          <p14:tracePt t="36452" x="8843963" y="2951163"/>
          <p14:tracePt t="36455" x="8872538" y="2951163"/>
          <p14:tracePt t="36463" x="8910638" y="2951163"/>
          <p14:tracePt t="36479" x="8966200" y="2951163"/>
          <p14:tracePt t="36681" x="9004300" y="2951163"/>
          <p14:tracePt t="36689" x="9051925" y="2951163"/>
          <p14:tracePt t="36697" x="9070975" y="2922588"/>
          <p14:tracePt t="36700" x="9099550" y="2922588"/>
          <p14:tracePt t="36708" x="9128125" y="2922588"/>
          <p14:tracePt t="36715" x="9137650" y="2922588"/>
          <p14:tracePt t="36729" x="9202738" y="2922588"/>
          <p14:tracePt t="36734" x="9231313" y="2922588"/>
          <p14:tracePt t="36736" x="9250363" y="2922588"/>
          <p14:tracePt t="36746" x="9317038" y="2922588"/>
          <p14:tracePt t="36752" x="9326563" y="2922588"/>
          <p14:tracePt t="36755" x="9355138" y="2922588"/>
          <p14:tracePt t="36765" x="9391650" y="2922588"/>
          <p14:tracePt t="36782" x="9429750" y="2922588"/>
          <p14:tracePt t="36806" x="9477375" y="2922588"/>
          <p14:tracePt t="36818" x="9515475" y="2922588"/>
          <p14:tracePt t="36820" x="9544050" y="2922588"/>
          <p14:tracePt t="36832" x="9591675" y="2922588"/>
          <p14:tracePt t="36836" x="9609138" y="2913063"/>
          <p14:tracePt t="36838" x="9637713" y="2884488"/>
          <p14:tracePt t="36847" x="9685338" y="2838450"/>
          <p14:tracePt t="36852" x="9685338" y="2809875"/>
          <p14:tracePt t="36854" x="9713913" y="2781300"/>
          <p14:tracePt t="36865" x="9742488" y="2752725"/>
          <p14:tracePt t="36888" x="9771063" y="2667000"/>
          <p14:tracePt t="36904" x="9809163" y="2628900"/>
          <p14:tracePt t="36920" x="9826625" y="2573338"/>
          <p14:tracePt t="36933" x="9836150" y="2554288"/>
          <p14:tracePt t="36946" x="9845675" y="2544763"/>
          <p14:tracePt t="36973" x="9893300" y="2506663"/>
          <p14:tracePt t="36978" x="9931400" y="2459038"/>
          <p14:tracePt t="36984" x="9931400" y="2449513"/>
          <p14:tracePt t="36987" x="9931400" y="2439988"/>
          <p14:tracePt t="37040" x="9959975" y="2401888"/>
          <p14:tracePt t="37047" x="9969500" y="2393950"/>
          <p14:tracePt t="37082" x="10017125" y="2355850"/>
          <p14:tracePt t="37103" x="10026650" y="2355850"/>
          <p14:tracePt t="37109" x="10036175" y="2355850"/>
          <p14:tracePt t="37118" x="10053638" y="2355850"/>
          <p14:tracePt t="37121" x="10091738" y="2355850"/>
          <p14:tracePt t="37130" x="10186988" y="2355850"/>
          <p14:tracePt t="37152" x="10366375" y="2355850"/>
          <p14:tracePt t="37163" x="10498138" y="2355850"/>
          <p14:tracePt t="37169" x="10526713" y="2355850"/>
          <p14:tracePt t="37171" x="10574338" y="2355850"/>
          <p14:tracePt t="37173" x="10621963" y="2355850"/>
          <p14:tracePt t="37179" x="10650538" y="2355850"/>
          <p14:tracePt t="37181" x="10679113" y="2355850"/>
          <p14:tracePt t="37206" x="10839450" y="2449513"/>
          <p14:tracePt t="37209" x="10887075" y="2468563"/>
          <p14:tracePt t="37215" x="10896600" y="2478088"/>
          <p14:tracePt t="37238" x="10934700" y="2516188"/>
          <p14:tracePt t="37267" x="10952163" y="2535238"/>
          <p14:tracePt t="37286" x="10961688" y="2582863"/>
          <p14:tracePt t="37300" x="10980738" y="2611438"/>
          <p14:tracePt t="37316" x="10980738" y="2695575"/>
          <p14:tracePt t="37349" x="10980738" y="2874963"/>
          <p14:tracePt t="37357" x="10980738" y="2941638"/>
          <p14:tracePt t="37361" x="10980738" y="2951163"/>
          <p14:tracePt t="37365" x="10990263" y="2970213"/>
          <p14:tracePt t="37373" x="10999788" y="2979738"/>
          <p14:tracePt t="37401" x="11028363" y="3008313"/>
          <p14:tracePt t="37411" x="11047413" y="3027363"/>
          <p14:tracePt t="37421" x="11056938" y="3036888"/>
          <p14:tracePt t="37436" x="11104563" y="3065463"/>
          <p14:tracePt t="37446" x="11133138" y="3074988"/>
          <p14:tracePt t="37479" x="11274425" y="3074988"/>
          <p14:tracePt t="37487" x="11303000" y="3101975"/>
          <p14:tracePt t="37489" x="11322050" y="3101975"/>
          <p14:tracePt t="37494" x="11331575" y="3101975"/>
          <p14:tracePt t="37504" x="11369675" y="3101975"/>
          <p14:tracePt t="37515" x="11406188" y="3101975"/>
          <p14:tracePt t="37549" x="11558588" y="3101975"/>
          <p14:tracePt t="37558" x="11587163" y="3101975"/>
          <p14:tracePt t="37567" x="11596688" y="3101975"/>
          <p14:tracePt t="37585" x="11642725" y="3101975"/>
          <p14:tracePt t="37591" x="11652250" y="3101975"/>
          <p14:tracePt t="37597" x="11661775" y="3101975"/>
          <p14:tracePt t="38993" x="11625263" y="3046413"/>
          <p14:tracePt t="39003" x="11472863" y="2847975"/>
          <p14:tracePt t="39013" x="11388725" y="2743200"/>
          <p14:tracePt t="39032" x="11217275" y="2430463"/>
          <p14:tracePt t="39038" x="11171238" y="2336800"/>
          <p14:tracePt t="39046" x="11152188" y="2298700"/>
          <p14:tracePt t="39053" x="11123613" y="2222500"/>
          <p14:tracePt t="39062" x="11085513" y="2138363"/>
          <p14:tracePt t="39068" x="11047413" y="2043113"/>
          <p14:tracePt t="39079" x="10999788" y="1939925"/>
          <p14:tracePt t="39083" x="10980738" y="1911350"/>
          <p14:tracePt t="39086" x="10944225" y="1835150"/>
          <p14:tracePt t="39097" x="10887075" y="1749425"/>
          <p14:tracePt t="39101" x="10877550" y="1730375"/>
          <p14:tracePt t="39115" x="10820400" y="1646238"/>
          <p14:tracePt t="39118" x="10801350" y="1646238"/>
          <p14:tracePt t="39120" x="10772775" y="1617663"/>
          <p14:tracePt t="39129" x="10744200" y="1560513"/>
          <p14:tracePt t="39146" x="10612438" y="1371600"/>
          <p14:tracePt t="39162" x="10480675" y="1182688"/>
          <p14:tracePt t="39167" x="10442575" y="1135063"/>
          <p14:tracePt t="39169" x="10414000" y="1106488"/>
          <p14:tracePt t="39179" x="10347325" y="1039813"/>
          <p14:tracePt t="39182" x="10309225" y="984250"/>
          <p14:tracePt t="39187" x="10280650" y="936625"/>
          <p14:tracePt t="39202" x="10177463" y="841375"/>
          <p14:tracePt t="39208" x="10082213" y="709613"/>
          <p14:tracePt t="39219" x="10026650" y="623888"/>
          <p14:tracePt t="39220" x="9998075" y="576263"/>
          <p14:tracePt t="39239" x="9845675" y="406400"/>
          <p14:tracePt t="39242" x="9826625" y="396875"/>
          <p14:tracePt t="39254" x="9752013" y="322263"/>
          <p14:tracePt t="39262" x="9713913" y="274638"/>
          <p14:tracePt t="39269" x="9685338" y="246063"/>
          <p14:tracePt t="39283" x="9618663" y="179388"/>
          <p14:tracePt t="39287" x="9599613" y="169863"/>
          <p14:tracePt t="39289" x="9591675" y="150813"/>
          <p14:tracePt t="39299" x="9563100" y="131763"/>
          <p14:tracePt t="39304" x="9525000" y="85725"/>
          <p14:tracePt t="39316" x="9467850" y="28575"/>
        </p14:tracePtLst>
      </p14:laserTrace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82A0DE1-5A64-03CA-B4B2-DD5BBCF6B888}"/>
              </a:ext>
            </a:extLst>
          </p:cNvPr>
          <p:cNvSpPr>
            <a:spLocks noGrp="1"/>
          </p:cNvSpPr>
          <p:nvPr>
            <p:ph type="title"/>
          </p:nvPr>
        </p:nvSpPr>
        <p:spPr/>
        <p:txBody>
          <a:bodyPr/>
          <a:lstStyle/>
          <a:p>
            <a:r>
              <a:rPr lang="en-US" dirty="0"/>
              <a:t>Generator :  3D-UNet architecture </a:t>
            </a:r>
          </a:p>
        </p:txBody>
      </p:sp>
      <p:sp>
        <p:nvSpPr>
          <p:cNvPr id="4" name="Date Placeholder 3">
            <a:extLst>
              <a:ext uri="{FF2B5EF4-FFF2-40B4-BE49-F238E27FC236}">
                <a16:creationId xmlns:a16="http://schemas.microsoft.com/office/drawing/2014/main" id="{06A3B60B-DA35-CA84-3E8F-D56C81698024}"/>
              </a:ext>
            </a:extLst>
          </p:cNvPr>
          <p:cNvSpPr>
            <a:spLocks noGrp="1"/>
          </p:cNvSpPr>
          <p:nvPr>
            <p:ph type="dt" sz="half" idx="10"/>
          </p:nvPr>
        </p:nvSpPr>
        <p:spPr/>
        <p:txBody>
          <a:bodyPr/>
          <a:lstStyle/>
          <a:p>
            <a:pPr>
              <a:defRPr/>
            </a:pPr>
            <a:fld id="{64840030-7607-4F93-BF7E-54392E983BCF}" type="datetime1">
              <a:rPr lang="en-US" smtClean="0"/>
              <a:t>2/28/2024</a:t>
            </a:fld>
            <a:endParaRPr lang="de-DE" dirty="0"/>
          </a:p>
        </p:txBody>
      </p:sp>
      <p:sp>
        <p:nvSpPr>
          <p:cNvPr id="5" name="Footer Placeholder 4">
            <a:extLst>
              <a:ext uri="{FF2B5EF4-FFF2-40B4-BE49-F238E27FC236}">
                <a16:creationId xmlns:a16="http://schemas.microsoft.com/office/drawing/2014/main" id="{DC7D3024-9C49-5E8F-0421-65A35E88FEE1}"/>
              </a:ext>
            </a:extLst>
          </p:cNvPr>
          <p:cNvSpPr>
            <a:spLocks noGrp="1"/>
          </p:cNvSpPr>
          <p:nvPr>
            <p:ph type="ftr" sz="quarter" idx="11"/>
          </p:nvPr>
        </p:nvSpPr>
        <p:spPr/>
        <p:txBody>
          <a:bodyPr/>
          <a:lstStyle/>
          <a:p>
            <a:pPr>
              <a:defRPr/>
            </a:pPr>
            <a:r>
              <a:rPr lang="de-DE"/>
              <a:t>Pichaya Tappayuthpijarn</a:t>
            </a:r>
            <a:endParaRPr lang="de-DE" dirty="0"/>
          </a:p>
        </p:txBody>
      </p:sp>
      <p:sp>
        <p:nvSpPr>
          <p:cNvPr id="6" name="Slide Number Placeholder 5">
            <a:extLst>
              <a:ext uri="{FF2B5EF4-FFF2-40B4-BE49-F238E27FC236}">
                <a16:creationId xmlns:a16="http://schemas.microsoft.com/office/drawing/2014/main" id="{7A62A041-BE52-ED77-EEAD-D45AB8ED63D1}"/>
              </a:ext>
            </a:extLst>
          </p:cNvPr>
          <p:cNvSpPr>
            <a:spLocks noGrp="1"/>
          </p:cNvSpPr>
          <p:nvPr>
            <p:ph type="sldNum" sz="quarter" idx="12"/>
          </p:nvPr>
        </p:nvSpPr>
        <p:spPr/>
        <p:txBody>
          <a:bodyPr/>
          <a:lstStyle/>
          <a:p>
            <a:pPr>
              <a:defRPr/>
            </a:pPr>
            <a:r>
              <a:rPr lang="de-DE"/>
              <a:t>SEITE</a:t>
            </a:r>
            <a:r>
              <a:rPr lang="de-DE" spc="0"/>
              <a:t> </a:t>
            </a:r>
            <a:fld id="{37ED3A82-C5FC-FE4D-9EDE-EA1B3EA06354}" type="slidenum">
              <a:rPr lang="de-DE" spc="0"/>
              <a:pPr>
                <a:defRPr/>
              </a:pPr>
              <a:t>8</a:t>
            </a:fld>
            <a:endParaRPr lang="de-DE" spc="0"/>
          </a:p>
        </p:txBody>
      </p:sp>
      <p:sp>
        <p:nvSpPr>
          <p:cNvPr id="2" name="Rectangle 1">
            <a:extLst>
              <a:ext uri="{FF2B5EF4-FFF2-40B4-BE49-F238E27FC236}">
                <a16:creationId xmlns:a16="http://schemas.microsoft.com/office/drawing/2014/main" id="{EFF4C42F-8183-C8BD-C1C5-7E314211C767}"/>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sz="2400"/>
          </a:p>
        </p:txBody>
      </p:sp>
      <p:pic>
        <p:nvPicPr>
          <p:cNvPr id="11" name="Picture 10">
            <a:extLst>
              <a:ext uri="{FF2B5EF4-FFF2-40B4-BE49-F238E27FC236}">
                <a16:creationId xmlns:a16="http://schemas.microsoft.com/office/drawing/2014/main" id="{401C99BC-916F-C2E1-E1CD-41F204AA02B1}"/>
              </a:ext>
            </a:extLst>
          </p:cNvPr>
          <p:cNvPicPr>
            <a:picLocks noChangeAspect="1"/>
          </p:cNvPicPr>
          <p:nvPr/>
        </p:nvPicPr>
        <p:blipFill>
          <a:blip r:embed="rId3"/>
          <a:stretch>
            <a:fillRect/>
          </a:stretch>
        </p:blipFill>
        <p:spPr>
          <a:xfrm>
            <a:off x="3854744" y="5206917"/>
            <a:ext cx="3336578" cy="1054154"/>
          </a:xfrm>
          <a:prstGeom prst="rect">
            <a:avLst/>
          </a:prstGeom>
        </p:spPr>
      </p:pic>
      <p:sp>
        <p:nvSpPr>
          <p:cNvPr id="13" name="Rectangle 12">
            <a:extLst>
              <a:ext uri="{FF2B5EF4-FFF2-40B4-BE49-F238E27FC236}">
                <a16:creationId xmlns:a16="http://schemas.microsoft.com/office/drawing/2014/main" id="{070C6F99-8EA1-AED0-7222-BE218F1C36E6}"/>
              </a:ext>
            </a:extLst>
          </p:cNvPr>
          <p:cNvSpPr/>
          <p:nvPr/>
        </p:nvSpPr>
        <p:spPr>
          <a:xfrm>
            <a:off x="629543" y="1407244"/>
            <a:ext cx="3336578" cy="2295119"/>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4" name="Picture 13" descr="A diagram of a diagram of a diagram&#10;&#10;Description automatically generated with medium confidence">
            <a:extLst>
              <a:ext uri="{FF2B5EF4-FFF2-40B4-BE49-F238E27FC236}">
                <a16:creationId xmlns:a16="http://schemas.microsoft.com/office/drawing/2014/main" id="{CDEE9BAD-9242-C910-FE26-B4571290280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0543" y="1685802"/>
            <a:ext cx="10128933" cy="4033121"/>
          </a:xfrm>
          <a:prstGeom prst="rect">
            <a:avLst/>
          </a:prstGeom>
          <a:noFill/>
        </p:spPr>
      </p:pic>
      <p:sp>
        <p:nvSpPr>
          <p:cNvPr id="8" name="TextBox 7">
            <a:extLst>
              <a:ext uri="{FF2B5EF4-FFF2-40B4-BE49-F238E27FC236}">
                <a16:creationId xmlns:a16="http://schemas.microsoft.com/office/drawing/2014/main" id="{C2B9A71E-FBC8-55F9-21C8-2E202CB6BEFD}"/>
              </a:ext>
            </a:extLst>
          </p:cNvPr>
          <p:cNvSpPr txBox="1"/>
          <p:nvPr/>
        </p:nvSpPr>
        <p:spPr>
          <a:xfrm>
            <a:off x="7911846" y="5749064"/>
            <a:ext cx="4123945" cy="617733"/>
          </a:xfrm>
          <a:prstGeom prst="rect">
            <a:avLst/>
          </a:prstGeom>
          <a:noFill/>
        </p:spPr>
        <p:txBody>
          <a:bodyPr wrap="square">
            <a:spAutoFit/>
          </a:bodyPr>
          <a:lstStyle/>
          <a:p>
            <a:pPr marL="0" marR="0" algn="ctr">
              <a:lnSpc>
                <a:spcPct val="150000"/>
              </a:lnSpc>
              <a:spcBef>
                <a:spcPts val="0"/>
              </a:spcBef>
              <a:spcAft>
                <a:spcPts val="1000"/>
              </a:spcAft>
            </a:pPr>
            <a:r>
              <a:rPr lang="en-US" sz="1200" i="1" dirty="0">
                <a:solidFill>
                  <a:srgbClr val="44546A"/>
                </a:solidFill>
                <a:effectLst/>
                <a:latin typeface="Calibri" panose="020F0502020204030204" pitchFamily="34" charset="0"/>
                <a:ea typeface="Calibri" panose="020F0502020204030204" pitchFamily="34" charset="0"/>
                <a:cs typeface="Cordia New" panose="020B0304020202020204" pitchFamily="34" charset="-34"/>
              </a:rPr>
              <a:t>Figure </a:t>
            </a:r>
            <a:r>
              <a:rPr lang="en-US" sz="1200" i="1" dirty="0">
                <a:solidFill>
                  <a:srgbClr val="44546A"/>
                </a:solidFill>
                <a:latin typeface="Calibri" panose="020F0502020204030204" pitchFamily="34" charset="0"/>
                <a:ea typeface="Calibri" panose="020F0502020204030204" pitchFamily="34" charset="0"/>
                <a:cs typeface="Cordia New" panose="020B0304020202020204" pitchFamily="34" charset="-34"/>
              </a:rPr>
              <a:t>7</a:t>
            </a:r>
            <a:r>
              <a:rPr lang="en-US" sz="1200" i="1" dirty="0">
                <a:solidFill>
                  <a:srgbClr val="44546A"/>
                </a:solidFill>
                <a:effectLst/>
                <a:latin typeface="Calibri" panose="020F0502020204030204" pitchFamily="34" charset="0"/>
                <a:ea typeface="Calibri" panose="020F0502020204030204" pitchFamily="34" charset="0"/>
                <a:cs typeface="Cordia New" panose="020B0304020202020204" pitchFamily="34" charset="-34"/>
              </a:rPr>
              <a:t> The generator model architecture adapted from </a:t>
            </a:r>
            <a:r>
              <a:rPr lang="de-DE" sz="1200" i="1" dirty="0">
                <a:solidFill>
                  <a:srgbClr val="44546A"/>
                </a:solidFill>
                <a:effectLst/>
                <a:latin typeface="Calibri" panose="020F0502020204030204" pitchFamily="34" charset="0"/>
                <a:ea typeface="Calibri" panose="020F0502020204030204" pitchFamily="34" charset="0"/>
                <a:cs typeface="Calibri" panose="020F0502020204030204" pitchFamily="34" charset="0"/>
              </a:rPr>
              <a:t>(Mentzel et al., 2022)</a:t>
            </a:r>
            <a:r>
              <a:rPr lang="en-US" sz="1200" i="1" dirty="0">
                <a:solidFill>
                  <a:srgbClr val="44546A"/>
                </a:solidFill>
                <a:effectLst/>
                <a:latin typeface="Calibri" panose="020F0502020204030204" pitchFamily="34" charset="0"/>
                <a:ea typeface="Calibri" panose="020F0502020204030204" pitchFamily="34" charset="0"/>
                <a:cs typeface="Cordia New" panose="020B0304020202020204" pitchFamily="34" charset="-34"/>
              </a:rPr>
              <a:t>.</a:t>
            </a:r>
          </a:p>
        </p:txBody>
      </p:sp>
    </p:spTree>
    <p:extLst>
      <p:ext uri="{BB962C8B-B14F-4D97-AF65-F5344CB8AC3E}">
        <p14:creationId xmlns:p14="http://schemas.microsoft.com/office/powerpoint/2010/main" val="2070802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007C6A1-2F5E-4A9A-1048-8E709A465950}"/>
              </a:ext>
            </a:extLst>
          </p:cNvPr>
          <p:cNvSpPr>
            <a:spLocks noGrp="1"/>
          </p:cNvSpPr>
          <p:nvPr>
            <p:ph type="title"/>
          </p:nvPr>
        </p:nvSpPr>
        <p:spPr/>
        <p:txBody>
          <a:bodyPr/>
          <a:lstStyle/>
          <a:p>
            <a:r>
              <a:rPr lang="en-US" dirty="0"/>
              <a:t>Critic : Convolutional Neural Network </a:t>
            </a:r>
          </a:p>
        </p:txBody>
      </p:sp>
      <p:sp>
        <p:nvSpPr>
          <p:cNvPr id="4" name="Date Placeholder 3">
            <a:extLst>
              <a:ext uri="{FF2B5EF4-FFF2-40B4-BE49-F238E27FC236}">
                <a16:creationId xmlns:a16="http://schemas.microsoft.com/office/drawing/2014/main" id="{C1A8BCC2-6D23-632D-E41A-8F0DF05C6F5B}"/>
              </a:ext>
            </a:extLst>
          </p:cNvPr>
          <p:cNvSpPr>
            <a:spLocks noGrp="1"/>
          </p:cNvSpPr>
          <p:nvPr>
            <p:ph type="dt" sz="half" idx="10"/>
          </p:nvPr>
        </p:nvSpPr>
        <p:spPr/>
        <p:txBody>
          <a:bodyPr/>
          <a:lstStyle/>
          <a:p>
            <a:pPr>
              <a:defRPr/>
            </a:pPr>
            <a:fld id="{4632F0C0-AB28-4A18-982D-358300F0DEFD}" type="datetime1">
              <a:rPr lang="en-US" smtClean="0"/>
              <a:t>2/28/2024</a:t>
            </a:fld>
            <a:endParaRPr lang="de-DE" dirty="0"/>
          </a:p>
        </p:txBody>
      </p:sp>
      <p:sp>
        <p:nvSpPr>
          <p:cNvPr id="5" name="Footer Placeholder 4">
            <a:extLst>
              <a:ext uri="{FF2B5EF4-FFF2-40B4-BE49-F238E27FC236}">
                <a16:creationId xmlns:a16="http://schemas.microsoft.com/office/drawing/2014/main" id="{2718D475-3ECC-B261-FFBE-1C6D4D39C741}"/>
              </a:ext>
            </a:extLst>
          </p:cNvPr>
          <p:cNvSpPr>
            <a:spLocks noGrp="1"/>
          </p:cNvSpPr>
          <p:nvPr>
            <p:ph type="ftr" sz="quarter" idx="11"/>
          </p:nvPr>
        </p:nvSpPr>
        <p:spPr/>
        <p:txBody>
          <a:bodyPr/>
          <a:lstStyle/>
          <a:p>
            <a:pPr>
              <a:defRPr/>
            </a:pPr>
            <a:r>
              <a:rPr lang="de-DE"/>
              <a:t>Pichaya Tappayuthpijarn</a:t>
            </a:r>
            <a:endParaRPr lang="de-DE" dirty="0"/>
          </a:p>
        </p:txBody>
      </p:sp>
      <p:sp>
        <p:nvSpPr>
          <p:cNvPr id="6" name="Slide Number Placeholder 5">
            <a:extLst>
              <a:ext uri="{FF2B5EF4-FFF2-40B4-BE49-F238E27FC236}">
                <a16:creationId xmlns:a16="http://schemas.microsoft.com/office/drawing/2014/main" id="{EEB7F38A-782A-477C-3774-6A46AE963F73}"/>
              </a:ext>
            </a:extLst>
          </p:cNvPr>
          <p:cNvSpPr>
            <a:spLocks noGrp="1"/>
          </p:cNvSpPr>
          <p:nvPr>
            <p:ph type="sldNum" sz="quarter" idx="12"/>
          </p:nvPr>
        </p:nvSpPr>
        <p:spPr/>
        <p:txBody>
          <a:bodyPr/>
          <a:lstStyle/>
          <a:p>
            <a:pPr>
              <a:defRPr/>
            </a:pPr>
            <a:r>
              <a:rPr lang="de-DE"/>
              <a:t>SEITE</a:t>
            </a:r>
            <a:r>
              <a:rPr lang="de-DE" spc="0"/>
              <a:t> </a:t>
            </a:r>
            <a:fld id="{37ED3A82-C5FC-FE4D-9EDE-EA1B3EA06354}" type="slidenum">
              <a:rPr lang="de-DE" spc="0"/>
              <a:pPr>
                <a:defRPr/>
              </a:pPr>
              <a:t>9</a:t>
            </a:fld>
            <a:endParaRPr lang="de-DE" spc="0"/>
          </a:p>
        </p:txBody>
      </p:sp>
      <p:sp>
        <p:nvSpPr>
          <p:cNvPr id="2" name="Rectangle 1">
            <a:extLst>
              <a:ext uri="{FF2B5EF4-FFF2-40B4-BE49-F238E27FC236}">
                <a16:creationId xmlns:a16="http://schemas.microsoft.com/office/drawing/2014/main" id="{BD27D05C-3E1D-953E-5CB6-04F380872717}"/>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sz="2400"/>
          </a:p>
        </p:txBody>
      </p:sp>
      <p:pic>
        <p:nvPicPr>
          <p:cNvPr id="13" name="Picture 12" descr="A computer graphics of a toilet&#10;&#10;Description automatically generated">
            <a:extLst>
              <a:ext uri="{FF2B5EF4-FFF2-40B4-BE49-F238E27FC236}">
                <a16:creationId xmlns:a16="http://schemas.microsoft.com/office/drawing/2014/main" id="{FF7FEF6E-B722-6E23-D097-8F11A330B0E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33917" y="1699379"/>
            <a:ext cx="7253034" cy="4533146"/>
          </a:xfrm>
          <a:prstGeom prst="rect">
            <a:avLst/>
          </a:prstGeom>
          <a:noFill/>
        </p:spPr>
      </p:pic>
      <p:sp>
        <p:nvSpPr>
          <p:cNvPr id="8" name="TextBox 7">
            <a:extLst>
              <a:ext uri="{FF2B5EF4-FFF2-40B4-BE49-F238E27FC236}">
                <a16:creationId xmlns:a16="http://schemas.microsoft.com/office/drawing/2014/main" id="{65AC964E-D612-1EA2-B659-123DDF91DA90}"/>
              </a:ext>
            </a:extLst>
          </p:cNvPr>
          <p:cNvSpPr txBox="1"/>
          <p:nvPr/>
        </p:nvSpPr>
        <p:spPr>
          <a:xfrm>
            <a:off x="6260434" y="5898000"/>
            <a:ext cx="6094476" cy="340734"/>
          </a:xfrm>
          <a:prstGeom prst="rect">
            <a:avLst/>
          </a:prstGeom>
          <a:noFill/>
        </p:spPr>
        <p:txBody>
          <a:bodyPr wrap="square">
            <a:spAutoFit/>
          </a:bodyPr>
          <a:lstStyle/>
          <a:p>
            <a:pPr marL="0" marR="0" algn="ctr">
              <a:lnSpc>
                <a:spcPct val="150000"/>
              </a:lnSpc>
              <a:spcBef>
                <a:spcPts val="0"/>
              </a:spcBef>
              <a:spcAft>
                <a:spcPts val="1000"/>
              </a:spcAft>
            </a:pPr>
            <a:r>
              <a:rPr lang="en-US" sz="1200" i="1" dirty="0">
                <a:solidFill>
                  <a:srgbClr val="44546A"/>
                </a:solidFill>
                <a:effectLst/>
                <a:latin typeface="Calibri" panose="020F0502020204030204" pitchFamily="34" charset="0"/>
                <a:ea typeface="Calibri" panose="020F0502020204030204" pitchFamily="34" charset="0"/>
                <a:cs typeface="Cordia New" panose="020B0304020202020204" pitchFamily="34" charset="-34"/>
              </a:rPr>
              <a:t>Figure </a:t>
            </a:r>
            <a:r>
              <a:rPr lang="en-US" sz="1200" i="1" dirty="0">
                <a:solidFill>
                  <a:srgbClr val="44546A"/>
                </a:solidFill>
                <a:latin typeface="Calibri" panose="020F0502020204030204" pitchFamily="34" charset="0"/>
                <a:ea typeface="Calibri" panose="020F0502020204030204" pitchFamily="34" charset="0"/>
                <a:cs typeface="Cordia New" panose="020B0304020202020204" pitchFamily="34" charset="-34"/>
              </a:rPr>
              <a:t>8</a:t>
            </a:r>
            <a:r>
              <a:rPr lang="en-US" sz="1200" i="1" dirty="0">
                <a:solidFill>
                  <a:srgbClr val="44546A"/>
                </a:solidFill>
                <a:effectLst/>
                <a:latin typeface="Calibri" panose="020F0502020204030204" pitchFamily="34" charset="0"/>
                <a:ea typeface="Calibri" panose="020F0502020204030204" pitchFamily="34" charset="0"/>
                <a:cs typeface="Cordia New" panose="020B0304020202020204" pitchFamily="34" charset="-34"/>
              </a:rPr>
              <a:t> Critic model architecture adapted from </a:t>
            </a:r>
            <a:r>
              <a:rPr lang="de-DE" sz="1200" i="1" dirty="0">
                <a:solidFill>
                  <a:srgbClr val="44546A"/>
                </a:solidFill>
                <a:effectLst/>
                <a:latin typeface="Calibri" panose="020F0502020204030204" pitchFamily="34" charset="0"/>
                <a:ea typeface="Calibri" panose="020F0502020204030204" pitchFamily="34" charset="0"/>
                <a:cs typeface="Calibri" panose="020F0502020204030204" pitchFamily="34" charset="0"/>
              </a:rPr>
              <a:t>(Mentzel et al., 2022)</a:t>
            </a:r>
            <a:r>
              <a:rPr lang="en-US" sz="1200" i="1" dirty="0">
                <a:solidFill>
                  <a:srgbClr val="44546A"/>
                </a:solidFill>
                <a:effectLst/>
                <a:latin typeface="Calibri" panose="020F0502020204030204" pitchFamily="34" charset="0"/>
                <a:ea typeface="Calibri" panose="020F0502020204030204" pitchFamily="34" charset="0"/>
                <a:cs typeface="Cordia New" panose="020B0304020202020204" pitchFamily="34" charset="-34"/>
              </a:rPr>
              <a:t>.</a:t>
            </a:r>
          </a:p>
        </p:txBody>
      </p:sp>
    </p:spTree>
    <p:extLst>
      <p:ext uri="{BB962C8B-B14F-4D97-AF65-F5344CB8AC3E}">
        <p14:creationId xmlns:p14="http://schemas.microsoft.com/office/powerpoint/2010/main" val="3795941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013481A1-3343-AF2C-B54F-7AFA69038092}"/>
              </a:ext>
            </a:extLst>
          </p:cNvPr>
          <p:cNvSpPr>
            <a:spLocks noGrp="1"/>
          </p:cNvSpPr>
          <p:nvPr>
            <p:ph type="title"/>
          </p:nvPr>
        </p:nvSpPr>
        <p:spPr>
          <a:xfrm>
            <a:off x="480000" y="960000"/>
            <a:ext cx="11280000" cy="840000"/>
          </a:xfrm>
        </p:spPr>
        <p:txBody>
          <a:bodyPr/>
          <a:lstStyle/>
          <a:p>
            <a:r>
              <a:rPr lang="en-US" dirty="0"/>
              <a:t>Generative Adversarial Network (GAN)</a:t>
            </a:r>
          </a:p>
        </p:txBody>
      </p:sp>
      <p:sp>
        <p:nvSpPr>
          <p:cNvPr id="8" name="TextBox 7">
            <a:extLst>
              <a:ext uri="{FF2B5EF4-FFF2-40B4-BE49-F238E27FC236}">
                <a16:creationId xmlns:a16="http://schemas.microsoft.com/office/drawing/2014/main" id="{C6C18946-0B7C-D912-85B4-D29C6761674F}"/>
              </a:ext>
            </a:extLst>
          </p:cNvPr>
          <p:cNvSpPr txBox="1"/>
          <p:nvPr/>
        </p:nvSpPr>
        <p:spPr>
          <a:xfrm>
            <a:off x="535023" y="1783557"/>
            <a:ext cx="9838751" cy="3865209"/>
          </a:xfrm>
          <a:prstGeom prst="rect">
            <a:avLst/>
          </a:prstGeom>
        </p:spPr>
        <p:txBody>
          <a:bodyPr vert="horz" lIns="0" tIns="0" rIns="0" bIns="0" rtlCol="0">
            <a:normAutofit/>
          </a:bodyPr>
          <a:lstStyle/>
          <a:p>
            <a:pPr indent="-179996" defTabSz="457189" fontAlgn="base">
              <a:lnSpc>
                <a:spcPct val="110000"/>
              </a:lnSpc>
              <a:spcBef>
                <a:spcPct val="0"/>
              </a:spcBef>
              <a:spcAft>
                <a:spcPts val="800"/>
              </a:spcAft>
              <a:buClr>
                <a:srgbClr val="D40009"/>
              </a:buClr>
              <a:buFont typeface="Arial" charset="0"/>
              <a:buChar char="•"/>
            </a:pPr>
            <a:r>
              <a:rPr lang="de-DE" dirty="0">
                <a:solidFill>
                  <a:prstClr val="black"/>
                </a:solidFill>
                <a:latin typeface="Source Sans Pro" charset="0"/>
                <a:ea typeface="Source Sans Pro" charset="0"/>
              </a:rPr>
              <a:t>Kullback-Leibler (KL),  Jensen-Shannon (JS) divergene</a:t>
            </a:r>
          </a:p>
          <a:p>
            <a:pPr defTabSz="457189" fontAlgn="base">
              <a:lnSpc>
                <a:spcPct val="110000"/>
              </a:lnSpc>
              <a:spcBef>
                <a:spcPct val="0"/>
              </a:spcBef>
              <a:spcAft>
                <a:spcPts val="800"/>
              </a:spcAft>
              <a:buClr>
                <a:srgbClr val="D40009"/>
              </a:buClr>
            </a:pPr>
            <a:endParaRPr lang="de-DE" dirty="0">
              <a:solidFill>
                <a:prstClr val="black"/>
              </a:solidFill>
              <a:latin typeface="Source Sans Pro" charset="0"/>
              <a:ea typeface="Source Sans Pro" charset="0"/>
            </a:endParaRPr>
          </a:p>
          <a:p>
            <a:pPr indent="-179996" defTabSz="457189" fontAlgn="base">
              <a:lnSpc>
                <a:spcPct val="110000"/>
              </a:lnSpc>
              <a:spcBef>
                <a:spcPct val="0"/>
              </a:spcBef>
              <a:spcAft>
                <a:spcPts val="800"/>
              </a:spcAft>
              <a:buClr>
                <a:srgbClr val="D40009"/>
              </a:buClr>
              <a:buFont typeface="Arial" charset="0"/>
              <a:buChar char="•"/>
            </a:pPr>
            <a:r>
              <a:rPr lang="de-DE" dirty="0">
                <a:solidFill>
                  <a:prstClr val="black"/>
                </a:solidFill>
                <a:latin typeface="Source Sans Pro" charset="0"/>
                <a:ea typeface="Source Sans Pro" charset="0"/>
              </a:rPr>
              <a:t> Optimize the loss function (Based on BCE function</a:t>
            </a:r>
            <a:r>
              <a:rPr lang="en-US" dirty="0">
                <a:solidFill>
                  <a:prstClr val="black"/>
                </a:solidFill>
                <a:latin typeface="Source Sans Pro" charset="0"/>
                <a:ea typeface="Source Sans Pro" charset="0"/>
              </a:rPr>
              <a:t> )</a:t>
            </a:r>
            <a:endParaRPr lang="de-DE" dirty="0">
              <a:solidFill>
                <a:prstClr val="black"/>
              </a:solidFill>
              <a:latin typeface="Source Sans Pro" charset="0"/>
              <a:ea typeface="Source Sans Pro" charset="0"/>
            </a:endParaRPr>
          </a:p>
          <a:p>
            <a:pPr defTabSz="457189" fontAlgn="base">
              <a:lnSpc>
                <a:spcPct val="110000"/>
              </a:lnSpc>
              <a:spcBef>
                <a:spcPct val="0"/>
              </a:spcBef>
              <a:spcAft>
                <a:spcPts val="800"/>
              </a:spcAft>
              <a:buClr>
                <a:srgbClr val="D40009"/>
              </a:buClr>
            </a:pPr>
            <a:endParaRPr lang="de-DE" dirty="0">
              <a:solidFill>
                <a:prstClr val="black"/>
              </a:solidFill>
              <a:latin typeface="Source Sans Pro" charset="0"/>
              <a:ea typeface="Source Sans Pro" charset="0"/>
            </a:endParaRPr>
          </a:p>
        </p:txBody>
      </p:sp>
      <p:sp>
        <p:nvSpPr>
          <p:cNvPr id="4" name="Date Placeholder 3">
            <a:extLst>
              <a:ext uri="{FF2B5EF4-FFF2-40B4-BE49-F238E27FC236}">
                <a16:creationId xmlns:a16="http://schemas.microsoft.com/office/drawing/2014/main" id="{A4ABA835-5629-15B0-43CF-12FD09D5D7DA}"/>
              </a:ext>
            </a:extLst>
          </p:cNvPr>
          <p:cNvSpPr>
            <a:spLocks noGrp="1"/>
          </p:cNvSpPr>
          <p:nvPr>
            <p:ph type="dt" sz="half" idx="19"/>
          </p:nvPr>
        </p:nvSpPr>
        <p:spPr>
          <a:xfrm>
            <a:off x="480484" y="6479117"/>
            <a:ext cx="1439333" cy="378883"/>
          </a:xfrm>
        </p:spPr>
        <p:txBody>
          <a:bodyPr vert="horz" wrap="none" lIns="0" tIns="0" rIns="0" bIns="0" rtlCol="0" anchor="ctr" anchorCtr="0">
            <a:normAutofit/>
          </a:bodyPr>
          <a:lstStyle/>
          <a:p>
            <a:pPr defTabSz="609585">
              <a:spcAft>
                <a:spcPts val="800"/>
              </a:spcAft>
              <a:defRPr/>
            </a:pPr>
            <a:fld id="{6565DFB8-BBC1-49B9-933F-309E976AA5EC}" type="datetime1">
              <a:rPr lang="en-US" smtClean="0">
                <a:solidFill>
                  <a:prstClr val="white"/>
                </a:solidFill>
              </a:rPr>
              <a:t>2/28/2024</a:t>
            </a:fld>
            <a:endParaRPr lang="de-DE">
              <a:solidFill>
                <a:prstClr val="white"/>
              </a:solidFill>
            </a:endParaRPr>
          </a:p>
        </p:txBody>
      </p:sp>
      <p:sp>
        <p:nvSpPr>
          <p:cNvPr id="5" name="Footer Placeholder 4">
            <a:extLst>
              <a:ext uri="{FF2B5EF4-FFF2-40B4-BE49-F238E27FC236}">
                <a16:creationId xmlns:a16="http://schemas.microsoft.com/office/drawing/2014/main" id="{C2B6993F-0CA6-78BB-3D74-2F9ACE225485}"/>
              </a:ext>
            </a:extLst>
          </p:cNvPr>
          <p:cNvSpPr>
            <a:spLocks noGrp="1"/>
          </p:cNvSpPr>
          <p:nvPr>
            <p:ph type="ftr" sz="quarter" idx="20"/>
          </p:nvPr>
        </p:nvSpPr>
        <p:spPr>
          <a:xfrm>
            <a:off x="2400300" y="6479117"/>
            <a:ext cx="7486651" cy="378883"/>
          </a:xfrm>
        </p:spPr>
        <p:txBody>
          <a:bodyPr vert="horz" wrap="none" lIns="0" tIns="0" rIns="0" bIns="0" rtlCol="0" anchor="ctr">
            <a:normAutofit/>
          </a:bodyPr>
          <a:lstStyle/>
          <a:p>
            <a:pPr defTabSz="609585">
              <a:spcAft>
                <a:spcPts val="800"/>
              </a:spcAft>
              <a:defRPr/>
            </a:pPr>
            <a:r>
              <a:rPr lang="de-DE">
                <a:solidFill>
                  <a:prstClr val="white"/>
                </a:solidFill>
              </a:rPr>
              <a:t>Pichaya Tappayuthpijarn</a:t>
            </a:r>
          </a:p>
        </p:txBody>
      </p:sp>
      <p:sp>
        <p:nvSpPr>
          <p:cNvPr id="6" name="Slide Number Placeholder 5">
            <a:extLst>
              <a:ext uri="{FF2B5EF4-FFF2-40B4-BE49-F238E27FC236}">
                <a16:creationId xmlns:a16="http://schemas.microsoft.com/office/drawing/2014/main" id="{A3C977C9-9EEB-C73E-4644-16214B26D6F5}"/>
              </a:ext>
            </a:extLst>
          </p:cNvPr>
          <p:cNvSpPr>
            <a:spLocks noGrp="1"/>
          </p:cNvSpPr>
          <p:nvPr>
            <p:ph type="sldNum" sz="quarter" idx="21"/>
          </p:nvPr>
        </p:nvSpPr>
        <p:spPr>
          <a:xfrm>
            <a:off x="10318752" y="6479117"/>
            <a:ext cx="1441449" cy="378883"/>
          </a:xfrm>
        </p:spPr>
        <p:txBody>
          <a:bodyPr vert="horz" lIns="0" tIns="0" rIns="0" bIns="0" rtlCol="0" anchor="ctr" anchorCtr="0">
            <a:normAutofit/>
          </a:bodyPr>
          <a:lstStyle/>
          <a:p>
            <a:pPr defTabSz="609585">
              <a:spcAft>
                <a:spcPts val="800"/>
              </a:spcAft>
              <a:defRPr/>
            </a:pPr>
            <a:r>
              <a:rPr lang="de-DE">
                <a:solidFill>
                  <a:prstClr val="white"/>
                </a:solidFill>
              </a:rPr>
              <a:t>SEITE</a:t>
            </a:r>
            <a:r>
              <a:rPr lang="de-DE" spc="0">
                <a:solidFill>
                  <a:prstClr val="white"/>
                </a:solidFill>
              </a:rPr>
              <a:t> </a:t>
            </a:r>
            <a:fld id="{37ED3A82-C5FC-FE4D-9EDE-EA1B3EA06354}" type="slidenum">
              <a:rPr lang="de-DE" spc="0">
                <a:solidFill>
                  <a:prstClr val="white"/>
                </a:solidFill>
              </a:rPr>
              <a:pPr defTabSz="609585">
                <a:spcAft>
                  <a:spcPts val="800"/>
                </a:spcAft>
                <a:defRPr/>
              </a:pPr>
              <a:t>10</a:t>
            </a:fld>
            <a:endParaRPr lang="de-DE" spc="0">
              <a:solidFill>
                <a:prstClr val="white"/>
              </a:solidFill>
            </a:endParaRPr>
          </a:p>
        </p:txBody>
      </p:sp>
      <p:pic>
        <p:nvPicPr>
          <p:cNvPr id="2" name="Picture 1" descr="generative-adversarial-network">
            <a:extLst>
              <a:ext uri="{FF2B5EF4-FFF2-40B4-BE49-F238E27FC236}">
                <a16:creationId xmlns:a16="http://schemas.microsoft.com/office/drawing/2014/main" id="{B3FB0168-7BE7-AEA2-F63F-18BA7F4C849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55343" y="1588318"/>
            <a:ext cx="4696460" cy="3204210"/>
          </a:xfrm>
          <a:prstGeom prst="rect">
            <a:avLst/>
          </a:prstGeom>
          <a:noFill/>
          <a:ln>
            <a:noFill/>
          </a:ln>
        </p:spPr>
      </p:pic>
      <p:sp>
        <p:nvSpPr>
          <p:cNvPr id="7" name="TextBox 6">
            <a:extLst>
              <a:ext uri="{FF2B5EF4-FFF2-40B4-BE49-F238E27FC236}">
                <a16:creationId xmlns:a16="http://schemas.microsoft.com/office/drawing/2014/main" id="{7D3991E6-4D0B-D4EA-7E6F-C1AB139CBED6}"/>
              </a:ext>
            </a:extLst>
          </p:cNvPr>
          <p:cNvSpPr txBox="1"/>
          <p:nvPr/>
        </p:nvSpPr>
        <p:spPr>
          <a:xfrm>
            <a:off x="7410616" y="4792528"/>
            <a:ext cx="4585914" cy="617733"/>
          </a:xfrm>
          <a:prstGeom prst="rect">
            <a:avLst/>
          </a:prstGeom>
          <a:noFill/>
        </p:spPr>
        <p:txBody>
          <a:bodyPr wrap="square">
            <a:spAutoFit/>
          </a:bodyPr>
          <a:lstStyle/>
          <a:p>
            <a:pPr marL="0" marR="0" algn="ctr">
              <a:lnSpc>
                <a:spcPct val="150000"/>
              </a:lnSpc>
              <a:spcBef>
                <a:spcPts val="0"/>
              </a:spcBef>
              <a:spcAft>
                <a:spcPts val="1000"/>
              </a:spcAft>
            </a:pPr>
            <a:r>
              <a:rPr lang="en-US" sz="1200" i="1" dirty="0">
                <a:solidFill>
                  <a:srgbClr val="44546A"/>
                </a:solidFill>
                <a:latin typeface="Calibri" panose="020F0502020204030204" pitchFamily="34" charset="0"/>
                <a:cs typeface="Cordia New" panose="020B0304020202020204" pitchFamily="34" charset="-34"/>
              </a:rPr>
              <a:t>Figure 9</a:t>
            </a:r>
            <a:r>
              <a:rPr lang="de-DE" sz="1200" i="1" dirty="0">
                <a:solidFill>
                  <a:srgbClr val="44546A"/>
                </a:solidFill>
                <a:latin typeface="Calibri" panose="020F0502020204030204" pitchFamily="34" charset="0"/>
                <a:cs typeface="Cordia New" panose="020B0304020202020204" pitchFamily="34" charset="-34"/>
              </a:rPr>
              <a:t> </a:t>
            </a:r>
            <a:r>
              <a:rPr lang="en-US" sz="1200" i="1" dirty="0">
                <a:solidFill>
                  <a:srgbClr val="44546A"/>
                </a:solidFill>
                <a:latin typeface="Calibri" panose="020F0502020204030204" pitchFamily="34" charset="0"/>
                <a:cs typeface="Cordia New" panose="020B0304020202020204" pitchFamily="34" charset="-34"/>
              </a:rPr>
              <a:t>Architecture of a generative adversarial network. (Image source: </a:t>
            </a:r>
            <a:r>
              <a:rPr lang="en-US" sz="1200" i="1" dirty="0" err="1">
                <a:solidFill>
                  <a:srgbClr val="44546A"/>
                </a:solidFill>
                <a:latin typeface="Calibri" panose="020F0502020204030204" pitchFamily="34" charset="0"/>
                <a:cs typeface="Cordia New" panose="020B0304020202020204" pitchFamily="34" charset="-34"/>
                <a:hlinkClick r:id="rId4"/>
              </a:rPr>
              <a:t>KDNuggets</a:t>
            </a:r>
            <a:r>
              <a:rPr lang="en-US" sz="1200" i="1" dirty="0">
                <a:solidFill>
                  <a:srgbClr val="44546A"/>
                </a:solidFill>
                <a:latin typeface="Calibri" panose="020F0502020204030204" pitchFamily="34" charset="0"/>
                <a:cs typeface="Cordia New" panose="020B0304020202020204" pitchFamily="34" charset="-34"/>
              </a:rPr>
              <a:t>).</a:t>
            </a:r>
          </a:p>
        </p:txBody>
      </p:sp>
      <p:sp>
        <p:nvSpPr>
          <p:cNvPr id="10" name="TextBox 9">
            <a:extLst>
              <a:ext uri="{FF2B5EF4-FFF2-40B4-BE49-F238E27FC236}">
                <a16:creationId xmlns:a16="http://schemas.microsoft.com/office/drawing/2014/main" id="{17A1B2D8-B17D-9903-4399-D845F30957A6}"/>
              </a:ext>
            </a:extLst>
          </p:cNvPr>
          <p:cNvSpPr txBox="1"/>
          <p:nvPr/>
        </p:nvSpPr>
        <p:spPr>
          <a:xfrm>
            <a:off x="7110454" y="983883"/>
            <a:ext cx="6094674" cy="369332"/>
          </a:xfrm>
          <a:prstGeom prst="rect">
            <a:avLst/>
          </a:prstGeom>
          <a:noFill/>
        </p:spPr>
        <p:txBody>
          <a:bodyPr wrap="square">
            <a:spAutoFit/>
          </a:bodyPr>
          <a:lstStyle/>
          <a:p>
            <a:r>
              <a:rPr lang="en-US" sz="1800" dirty="0">
                <a:effectLst/>
                <a:latin typeface="Calibri" panose="020F0502020204030204" pitchFamily="34" charset="0"/>
                <a:ea typeface="Calibri" panose="020F0502020204030204" pitchFamily="34" charset="0"/>
              </a:rPr>
              <a:t>(Goodfellow et al., 2014)</a:t>
            </a:r>
            <a:endParaRPr lang="en-US" dirty="0"/>
          </a:p>
        </p:txBody>
      </p:sp>
      <p:pic>
        <p:nvPicPr>
          <p:cNvPr id="12" name="Picture 11">
            <a:extLst>
              <a:ext uri="{FF2B5EF4-FFF2-40B4-BE49-F238E27FC236}">
                <a16:creationId xmlns:a16="http://schemas.microsoft.com/office/drawing/2014/main" id="{7B7E29FE-22E0-2342-3A60-3E09446C3972}"/>
              </a:ext>
            </a:extLst>
          </p:cNvPr>
          <p:cNvPicPr>
            <a:picLocks noChangeAspect="1"/>
          </p:cNvPicPr>
          <p:nvPr/>
        </p:nvPicPr>
        <p:blipFill>
          <a:blip r:embed="rId5"/>
          <a:stretch>
            <a:fillRect/>
          </a:stretch>
        </p:blipFill>
        <p:spPr>
          <a:xfrm>
            <a:off x="801403" y="3144450"/>
            <a:ext cx="6232538" cy="1019157"/>
          </a:xfrm>
          <a:prstGeom prst="rect">
            <a:avLst/>
          </a:prstGeom>
        </p:spPr>
      </p:pic>
      <p:sp>
        <p:nvSpPr>
          <p:cNvPr id="15" name="TextBox 14">
            <a:extLst>
              <a:ext uri="{FF2B5EF4-FFF2-40B4-BE49-F238E27FC236}">
                <a16:creationId xmlns:a16="http://schemas.microsoft.com/office/drawing/2014/main" id="{36F303F8-25A0-27AD-15F1-BDC10458E9B0}"/>
              </a:ext>
            </a:extLst>
          </p:cNvPr>
          <p:cNvSpPr txBox="1"/>
          <p:nvPr/>
        </p:nvSpPr>
        <p:spPr>
          <a:xfrm>
            <a:off x="506896" y="4448370"/>
            <a:ext cx="6603558" cy="837345"/>
          </a:xfrm>
          <a:prstGeom prst="rect">
            <a:avLst/>
          </a:prstGeom>
          <a:noFill/>
        </p:spPr>
        <p:txBody>
          <a:bodyPr wrap="square">
            <a:spAutoFit/>
          </a:bodyPr>
          <a:lstStyle/>
          <a:p>
            <a:pPr indent="-179996" defTabSz="457189" fontAlgn="base">
              <a:lnSpc>
                <a:spcPct val="120000"/>
              </a:lnSpc>
              <a:spcAft>
                <a:spcPts val="800"/>
              </a:spcAft>
              <a:buClr>
                <a:srgbClr val="D40009"/>
              </a:buClr>
              <a:buFont typeface="Arial" charset="0"/>
              <a:buChar char="•"/>
            </a:pPr>
            <a:r>
              <a:rPr lang="de-DE" sz="1800" dirty="0">
                <a:solidFill>
                  <a:prstClr val="black"/>
                </a:solidFill>
                <a:latin typeface="Source Sans Pro" charset="0"/>
                <a:ea typeface="Source Sans Pro" charset="0"/>
              </a:rPr>
              <a:t> Limitations of normal GAN:</a:t>
            </a:r>
          </a:p>
          <a:p>
            <a:pPr defTabSz="457189" fontAlgn="base">
              <a:lnSpc>
                <a:spcPct val="120000"/>
              </a:lnSpc>
              <a:spcAft>
                <a:spcPts val="800"/>
              </a:spcAft>
              <a:buClr>
                <a:srgbClr val="D40009"/>
              </a:buClr>
            </a:pPr>
            <a:r>
              <a:rPr lang="de-DE" sz="1800" dirty="0">
                <a:solidFill>
                  <a:prstClr val="black"/>
                </a:solidFill>
                <a:latin typeface="Source Sans Pro" charset="0"/>
                <a:ea typeface="Source Sans Pro" charset="0"/>
              </a:rPr>
              <a:t>	- mode collapse , vanishing gradient ,  non-convergence</a:t>
            </a:r>
            <a:endParaRPr lang="en-US" dirty="0"/>
          </a:p>
        </p:txBody>
      </p:sp>
      <p:sp>
        <p:nvSpPr>
          <p:cNvPr id="16" name="TextBox 15">
            <a:extLst>
              <a:ext uri="{FF2B5EF4-FFF2-40B4-BE49-F238E27FC236}">
                <a16:creationId xmlns:a16="http://schemas.microsoft.com/office/drawing/2014/main" id="{E34E36DA-493F-EAEC-6FBE-2DDC37F072BE}"/>
              </a:ext>
            </a:extLst>
          </p:cNvPr>
          <p:cNvSpPr txBox="1"/>
          <p:nvPr/>
        </p:nvSpPr>
        <p:spPr>
          <a:xfrm>
            <a:off x="3441218" y="4485093"/>
            <a:ext cx="6796086" cy="369332"/>
          </a:xfrm>
          <a:prstGeom prst="rect">
            <a:avLst/>
          </a:prstGeom>
          <a:noFill/>
        </p:spPr>
        <p:txBody>
          <a:bodyPr wrap="square">
            <a:spAutoFit/>
          </a:bodyPr>
          <a:lstStyle/>
          <a:p>
            <a:r>
              <a:rPr lang="en-US" sz="1800" dirty="0">
                <a:effectLst/>
                <a:latin typeface="Calibri" panose="020F0502020204030204" pitchFamily="34" charset="0"/>
                <a:ea typeface="Calibri" panose="020F0502020204030204" pitchFamily="34" charset="0"/>
              </a:rPr>
              <a:t>(</a:t>
            </a:r>
            <a:r>
              <a:rPr lang="en-US" sz="1800" dirty="0" err="1">
                <a:effectLst/>
                <a:latin typeface="Calibri" panose="020F0502020204030204" pitchFamily="34" charset="0"/>
                <a:ea typeface="Calibri" panose="020F0502020204030204" pitchFamily="34" charset="0"/>
              </a:rPr>
              <a:t>Arjovsky</a:t>
            </a:r>
            <a:r>
              <a:rPr lang="en-US" sz="1800" dirty="0">
                <a:effectLst/>
                <a:latin typeface="Calibri" panose="020F0502020204030204" pitchFamily="34" charset="0"/>
                <a:ea typeface="Calibri" panose="020F0502020204030204" pitchFamily="34" charset="0"/>
              </a:rPr>
              <a:t> &amp; </a:t>
            </a:r>
            <a:r>
              <a:rPr lang="en-US" sz="1800" dirty="0" err="1">
                <a:effectLst/>
                <a:latin typeface="Calibri" panose="020F0502020204030204" pitchFamily="34" charset="0"/>
                <a:ea typeface="Calibri" panose="020F0502020204030204" pitchFamily="34" charset="0"/>
              </a:rPr>
              <a:t>Bottou</a:t>
            </a:r>
            <a:r>
              <a:rPr lang="en-US" sz="1800" dirty="0">
                <a:effectLst/>
                <a:latin typeface="Calibri" panose="020F0502020204030204" pitchFamily="34" charset="0"/>
                <a:ea typeface="Calibri" panose="020F0502020204030204" pitchFamily="34" charset="0"/>
              </a:rPr>
              <a:t>, 2017)</a:t>
            </a:r>
            <a:endParaRPr lang="en-US" dirty="0"/>
          </a:p>
        </p:txBody>
      </p:sp>
      <p:sp>
        <p:nvSpPr>
          <p:cNvPr id="3" name="TextBox 2">
            <a:extLst>
              <a:ext uri="{FF2B5EF4-FFF2-40B4-BE49-F238E27FC236}">
                <a16:creationId xmlns:a16="http://schemas.microsoft.com/office/drawing/2014/main" id="{8DD5EF17-6C83-B0B1-188E-382DB1AE7AF3}"/>
              </a:ext>
            </a:extLst>
          </p:cNvPr>
          <p:cNvSpPr txBox="1"/>
          <p:nvPr/>
        </p:nvSpPr>
        <p:spPr>
          <a:xfrm>
            <a:off x="480000" y="3290500"/>
            <a:ext cx="491014" cy="276999"/>
          </a:xfrm>
          <a:prstGeom prst="rect">
            <a:avLst/>
          </a:prstGeom>
          <a:noFill/>
        </p:spPr>
        <p:txBody>
          <a:bodyPr wrap="square" rtlCol="0">
            <a:spAutoFit/>
          </a:bodyPr>
          <a:lstStyle/>
          <a:p>
            <a:r>
              <a:rPr lang="en-US" sz="1200" b="1" i="1" dirty="0">
                <a:solidFill>
                  <a:srgbClr val="44546A"/>
                </a:solidFill>
                <a:latin typeface="Calibri" panose="020F0502020204030204" pitchFamily="34" charset="0"/>
                <a:cs typeface="Cordia New" panose="020B0304020202020204" pitchFamily="34" charset="-34"/>
              </a:rPr>
              <a:t>Eq. 1</a:t>
            </a:r>
          </a:p>
        </p:txBody>
      </p:sp>
      <p:sp>
        <p:nvSpPr>
          <p:cNvPr id="9" name="Rectangle 8">
            <a:extLst>
              <a:ext uri="{FF2B5EF4-FFF2-40B4-BE49-F238E27FC236}">
                <a16:creationId xmlns:a16="http://schemas.microsoft.com/office/drawing/2014/main" id="{1EDD5054-9CE0-4B8D-B3A2-637503C00475}"/>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spTree>
    <p:extLst>
      <p:ext uri="{BB962C8B-B14F-4D97-AF65-F5344CB8AC3E}">
        <p14:creationId xmlns:p14="http://schemas.microsoft.com/office/powerpoint/2010/main" val="1119510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06ED339-45B6-AA41-295B-10F07625112D}"/>
              </a:ext>
            </a:extLst>
          </p:cNvPr>
          <p:cNvSpPr>
            <a:spLocks noGrp="1"/>
          </p:cNvSpPr>
          <p:nvPr>
            <p:ph type="title"/>
          </p:nvPr>
        </p:nvSpPr>
        <p:spPr>
          <a:xfrm>
            <a:off x="503625" y="867361"/>
            <a:ext cx="11280000" cy="840000"/>
          </a:xfrm>
        </p:spPr>
        <p:txBody>
          <a:bodyPr>
            <a:normAutofit fontScale="90000"/>
          </a:bodyPr>
          <a:lstStyle/>
          <a:p>
            <a:r>
              <a:rPr lang="en-US" dirty="0"/>
              <a:t>Wasserstein GAN (WGAN)</a:t>
            </a:r>
            <a:br>
              <a:rPr lang="en-US" dirty="0"/>
            </a:br>
            <a:br>
              <a:rPr lang="en-US" sz="2400" dirty="0"/>
            </a:br>
            <a:endParaRPr lang="en-US" sz="2400" dirty="0"/>
          </a:p>
        </p:txBody>
      </p:sp>
      <p:sp>
        <p:nvSpPr>
          <p:cNvPr id="4" name="Date Placeholder 3">
            <a:extLst>
              <a:ext uri="{FF2B5EF4-FFF2-40B4-BE49-F238E27FC236}">
                <a16:creationId xmlns:a16="http://schemas.microsoft.com/office/drawing/2014/main" id="{DBA7BE48-7379-82AC-10DB-520107101523}"/>
              </a:ext>
            </a:extLst>
          </p:cNvPr>
          <p:cNvSpPr>
            <a:spLocks noGrp="1"/>
          </p:cNvSpPr>
          <p:nvPr>
            <p:ph type="dt" sz="half" idx="10"/>
          </p:nvPr>
        </p:nvSpPr>
        <p:spPr/>
        <p:txBody>
          <a:bodyPr/>
          <a:lstStyle/>
          <a:p>
            <a:pPr defTabSz="609585">
              <a:defRPr/>
            </a:pPr>
            <a:fld id="{764E91B8-B513-452A-B2A1-975A476488DB}" type="datetime1">
              <a:rPr lang="en-US" smtClean="0">
                <a:solidFill>
                  <a:prstClr val="white"/>
                </a:solidFill>
              </a:rPr>
              <a:t>2/28/2024</a:t>
            </a:fld>
            <a:endParaRPr lang="de-DE" dirty="0">
              <a:solidFill>
                <a:prstClr val="white"/>
              </a:solidFill>
            </a:endParaRPr>
          </a:p>
        </p:txBody>
      </p:sp>
      <p:sp>
        <p:nvSpPr>
          <p:cNvPr id="5" name="Footer Placeholder 4">
            <a:extLst>
              <a:ext uri="{FF2B5EF4-FFF2-40B4-BE49-F238E27FC236}">
                <a16:creationId xmlns:a16="http://schemas.microsoft.com/office/drawing/2014/main" id="{5E1F7A09-516E-88D8-7DA6-CF6974BC17FD}"/>
              </a:ext>
            </a:extLst>
          </p:cNvPr>
          <p:cNvSpPr>
            <a:spLocks noGrp="1"/>
          </p:cNvSpPr>
          <p:nvPr>
            <p:ph type="ftr" sz="quarter" idx="11"/>
          </p:nvPr>
        </p:nvSpPr>
        <p:spPr/>
        <p:txBody>
          <a:bodyPr/>
          <a:lstStyle/>
          <a:p>
            <a:pPr defTabSz="609585">
              <a:defRPr/>
            </a:pPr>
            <a:r>
              <a:rPr lang="de-DE">
                <a:solidFill>
                  <a:prstClr val="white"/>
                </a:solidFill>
              </a:rPr>
              <a:t>Pichaya Tappayuthpijarn</a:t>
            </a:r>
            <a:endParaRPr lang="de-DE" dirty="0">
              <a:solidFill>
                <a:prstClr val="white"/>
              </a:solidFill>
            </a:endParaRPr>
          </a:p>
        </p:txBody>
      </p:sp>
      <p:sp>
        <p:nvSpPr>
          <p:cNvPr id="6" name="Slide Number Placeholder 5">
            <a:extLst>
              <a:ext uri="{FF2B5EF4-FFF2-40B4-BE49-F238E27FC236}">
                <a16:creationId xmlns:a16="http://schemas.microsoft.com/office/drawing/2014/main" id="{C2A98A08-7740-A6F3-0241-429E04358DD0}"/>
              </a:ext>
            </a:extLst>
          </p:cNvPr>
          <p:cNvSpPr>
            <a:spLocks noGrp="1"/>
          </p:cNvSpPr>
          <p:nvPr>
            <p:ph type="sldNum" sz="quarter" idx="12"/>
          </p:nvPr>
        </p:nvSpPr>
        <p:spPr/>
        <p:txBody>
          <a:bodyPr/>
          <a:lstStyle/>
          <a:p>
            <a:pPr defTabSz="609585">
              <a:defRPr/>
            </a:pPr>
            <a:r>
              <a:rPr lang="de-DE">
                <a:solidFill>
                  <a:prstClr val="white"/>
                </a:solidFill>
              </a:rPr>
              <a:t>SEITE</a:t>
            </a:r>
            <a:r>
              <a:rPr lang="de-DE" spc="0">
                <a:solidFill>
                  <a:prstClr val="white"/>
                </a:solidFill>
              </a:rPr>
              <a:t> </a:t>
            </a:r>
            <a:fld id="{37ED3A82-C5FC-FE4D-9EDE-EA1B3EA06354}" type="slidenum">
              <a:rPr lang="de-DE" spc="0">
                <a:solidFill>
                  <a:prstClr val="white"/>
                </a:solidFill>
              </a:rPr>
              <a:pPr defTabSz="609585">
                <a:defRPr/>
              </a:pPr>
              <a:t>11</a:t>
            </a:fld>
            <a:endParaRPr lang="de-DE" spc="0">
              <a:solidFill>
                <a:prstClr val="white"/>
              </a:solidFill>
            </a:endParaRPr>
          </a:p>
        </p:txBody>
      </p:sp>
      <p:sp>
        <p:nvSpPr>
          <p:cNvPr id="9" name="TextBox 8">
            <a:extLst>
              <a:ext uri="{FF2B5EF4-FFF2-40B4-BE49-F238E27FC236}">
                <a16:creationId xmlns:a16="http://schemas.microsoft.com/office/drawing/2014/main" id="{234383F2-E7CF-4842-B301-C2CF3085D778}"/>
              </a:ext>
            </a:extLst>
          </p:cNvPr>
          <p:cNvSpPr txBox="1"/>
          <p:nvPr/>
        </p:nvSpPr>
        <p:spPr>
          <a:xfrm>
            <a:off x="480485" y="1656858"/>
            <a:ext cx="10461055" cy="1477328"/>
          </a:xfrm>
          <a:prstGeom prst="rect">
            <a:avLst/>
          </a:prstGeom>
          <a:noFill/>
        </p:spPr>
        <p:txBody>
          <a:bodyPr wrap="square">
            <a:spAutoFit/>
          </a:bodyPr>
          <a:lstStyle/>
          <a:p>
            <a:pPr defTabSz="609585" eaLnBrk="0" fontAlgn="ctr" hangingPunct="0"/>
            <a:r>
              <a:rPr lang="en-US" dirty="0">
                <a:solidFill>
                  <a:prstClr val="black"/>
                </a:solidFill>
                <a:latin typeface="Calibri" panose="020F0502020204030204" pitchFamily="34" charset="0"/>
              </a:rPr>
              <a:t>Wasserstein loss Function :Earth-Mover’s distance</a:t>
            </a:r>
          </a:p>
          <a:p>
            <a:pPr defTabSz="609585" eaLnBrk="0" fontAlgn="ctr" hangingPunct="0"/>
            <a:endParaRPr lang="en-US" dirty="0">
              <a:solidFill>
                <a:prstClr val="black"/>
              </a:solidFill>
              <a:latin typeface="Calibri" panose="020F0502020204030204" pitchFamily="34" charset="0"/>
            </a:endParaRPr>
          </a:p>
          <a:p>
            <a:pPr defTabSz="609585" eaLnBrk="0" fontAlgn="ctr" hangingPunct="0"/>
            <a:endParaRPr lang="en-US" dirty="0">
              <a:solidFill>
                <a:prstClr val="black"/>
              </a:solidFill>
              <a:latin typeface="Calibri" panose="020F0502020204030204" pitchFamily="34" charset="0"/>
            </a:endParaRPr>
          </a:p>
          <a:p>
            <a:pPr defTabSz="609585" eaLnBrk="0" fontAlgn="ctr" hangingPunct="0"/>
            <a:endParaRPr lang="en-US" dirty="0">
              <a:solidFill>
                <a:prstClr val="black"/>
              </a:solidFill>
              <a:latin typeface="Calibri" panose="020F0502020204030204" pitchFamily="34" charset="0"/>
            </a:endParaRPr>
          </a:p>
          <a:p>
            <a:pPr defTabSz="609585" eaLnBrk="0" fontAlgn="ctr" hangingPunct="0"/>
            <a:endParaRPr lang="en-US" u="sng" dirty="0">
              <a:solidFill>
                <a:prstClr val="black"/>
              </a:solidFill>
              <a:latin typeface="Calibri" panose="020F0502020204030204" pitchFamily="34" charset="0"/>
            </a:endParaRPr>
          </a:p>
        </p:txBody>
      </p:sp>
      <p:sp>
        <p:nvSpPr>
          <p:cNvPr id="12" name="Rectangle 11">
            <a:extLst>
              <a:ext uri="{FF2B5EF4-FFF2-40B4-BE49-F238E27FC236}">
                <a16:creationId xmlns:a16="http://schemas.microsoft.com/office/drawing/2014/main" id="{885B716A-E659-ABA4-12F0-810CF2B6C274}"/>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sp>
        <p:nvSpPr>
          <p:cNvPr id="14" name="TextBox 13">
            <a:extLst>
              <a:ext uri="{FF2B5EF4-FFF2-40B4-BE49-F238E27FC236}">
                <a16:creationId xmlns:a16="http://schemas.microsoft.com/office/drawing/2014/main" id="{2B06F5D2-1B8C-963F-088D-AF99B4B093ED}"/>
              </a:ext>
            </a:extLst>
          </p:cNvPr>
          <p:cNvSpPr txBox="1"/>
          <p:nvPr/>
        </p:nvSpPr>
        <p:spPr>
          <a:xfrm>
            <a:off x="9564553" y="2521059"/>
            <a:ext cx="2495297" cy="1815882"/>
          </a:xfrm>
          <a:prstGeom prst="rect">
            <a:avLst/>
          </a:prstGeom>
          <a:ln>
            <a:headEnd type="none" w="med" len="med"/>
            <a:tailEnd type="none" w="med" len="med"/>
          </a:ln>
        </p:spPr>
        <p:style>
          <a:lnRef idx="0">
            <a:schemeClr val="accent4"/>
          </a:lnRef>
          <a:fillRef idx="3">
            <a:schemeClr val="accent4"/>
          </a:fillRef>
          <a:effectRef idx="3">
            <a:schemeClr val="accent4"/>
          </a:effectRef>
          <a:fontRef idx="minor">
            <a:schemeClr val="lt1"/>
          </a:fontRef>
        </p:style>
        <p:txBody>
          <a:bodyPr wrap="square">
            <a:spAutoFit/>
          </a:bodyPr>
          <a:lstStyle/>
          <a:p>
            <a:pPr marL="380990" indent="-380990" defTabSz="609585" eaLnBrk="0" fontAlgn="ctr" hangingPunct="0">
              <a:buFont typeface="Arial" panose="020B0604020202020204" pitchFamily="34" charset="0"/>
              <a:buChar char="•"/>
            </a:pPr>
            <a:endParaRPr lang="en-US" sz="1600" dirty="0">
              <a:solidFill>
                <a:schemeClr val="tx1"/>
              </a:solidFill>
              <a:latin typeface="Calibri" panose="020F0502020204030204" pitchFamily="34" charset="0"/>
            </a:endParaRPr>
          </a:p>
          <a:p>
            <a:pPr defTabSz="609585" eaLnBrk="0" fontAlgn="ctr" hangingPunct="0"/>
            <a:r>
              <a:rPr lang="en-US" sz="1600" u="sng" dirty="0">
                <a:solidFill>
                  <a:schemeClr val="tx1"/>
                </a:solidFill>
                <a:latin typeface="Calibri" panose="020F0502020204030204" pitchFamily="34" charset="0"/>
              </a:rPr>
              <a:t>Implementation:</a:t>
            </a:r>
            <a:endParaRPr lang="en-US" sz="1600" dirty="0">
              <a:solidFill>
                <a:schemeClr val="tx1"/>
              </a:solidFill>
              <a:latin typeface="Calibri" panose="020F0502020204030204" pitchFamily="34" charset="0"/>
            </a:endParaRPr>
          </a:p>
          <a:p>
            <a:pPr marL="380990" indent="-380990" defTabSz="1219170" eaLnBrk="0" fontAlgn="base" hangingPunct="0">
              <a:buFont typeface="Arial" panose="020B0604020202020204" pitchFamily="34" charset="0"/>
              <a:buChar char="•"/>
              <a:defRPr/>
            </a:pPr>
            <a:r>
              <a:rPr lang="en-US" sz="1600" dirty="0">
                <a:solidFill>
                  <a:schemeClr val="tx1"/>
                </a:solidFill>
                <a:latin typeface="Calibri" panose="020F0502020204030204" pitchFamily="34" charset="0"/>
              </a:rPr>
              <a:t>Weight clipping </a:t>
            </a:r>
            <a:r>
              <a:rPr lang="en-US" sz="1600" dirty="0">
                <a:solidFill>
                  <a:schemeClr val="tx1"/>
                </a:solidFill>
                <a:latin typeface="Calibri" panose="020F0502020204030204" pitchFamily="34" charset="0"/>
                <a:ea typeface="Calibri" panose="020F0502020204030204" pitchFamily="34" charset="0"/>
              </a:rPr>
              <a:t>(</a:t>
            </a:r>
            <a:r>
              <a:rPr lang="en-US" sz="1600" dirty="0" err="1">
                <a:solidFill>
                  <a:schemeClr val="tx1"/>
                </a:solidFill>
                <a:latin typeface="Calibri" panose="020F0502020204030204" pitchFamily="34" charset="0"/>
                <a:ea typeface="Calibri" panose="020F0502020204030204" pitchFamily="34" charset="0"/>
              </a:rPr>
              <a:t>Arjovsky</a:t>
            </a:r>
            <a:r>
              <a:rPr lang="en-US" sz="1600" dirty="0">
                <a:solidFill>
                  <a:schemeClr val="tx1"/>
                </a:solidFill>
                <a:latin typeface="Calibri" panose="020F0502020204030204" pitchFamily="34" charset="0"/>
                <a:ea typeface="Calibri" panose="020F0502020204030204" pitchFamily="34" charset="0"/>
              </a:rPr>
              <a:t> et al., 2017)</a:t>
            </a:r>
            <a:endParaRPr lang="en-US" sz="1600" i="1" dirty="0">
              <a:solidFill>
                <a:schemeClr val="tx1"/>
              </a:solidFill>
              <a:latin typeface="Calibri" charset="0"/>
            </a:endParaRPr>
          </a:p>
          <a:p>
            <a:pPr marL="380990" indent="-380990" defTabSz="1219170" eaLnBrk="0" fontAlgn="base" hangingPunct="0">
              <a:buFont typeface="Arial" panose="020B0604020202020204" pitchFamily="34" charset="0"/>
              <a:buChar char="•"/>
              <a:defRPr/>
            </a:pPr>
            <a:r>
              <a:rPr lang="en-US" sz="1600" dirty="0">
                <a:solidFill>
                  <a:srgbClr val="0070C0"/>
                </a:solidFill>
                <a:latin typeface="Calibri" panose="020F0502020204030204" pitchFamily="34" charset="0"/>
              </a:rPr>
              <a:t>Gradient penalty </a:t>
            </a:r>
            <a:r>
              <a:rPr lang="en-US" sz="1600" dirty="0">
                <a:solidFill>
                  <a:schemeClr val="tx1"/>
                </a:solidFill>
                <a:latin typeface="Calibri" panose="020F0502020204030204" pitchFamily="34" charset="0"/>
                <a:ea typeface="Calibri" panose="020F0502020204030204" pitchFamily="34" charset="0"/>
              </a:rPr>
              <a:t>(</a:t>
            </a:r>
            <a:r>
              <a:rPr lang="en-US" sz="1600" dirty="0" err="1">
                <a:solidFill>
                  <a:schemeClr val="tx1"/>
                </a:solidFill>
                <a:latin typeface="Calibri" panose="020F0502020204030204" pitchFamily="34" charset="0"/>
                <a:ea typeface="Calibri" panose="020F0502020204030204" pitchFamily="34" charset="0"/>
              </a:rPr>
              <a:t>Gulrajani</a:t>
            </a:r>
            <a:r>
              <a:rPr lang="en-US" sz="1600" dirty="0">
                <a:solidFill>
                  <a:schemeClr val="tx1"/>
                </a:solidFill>
                <a:latin typeface="Calibri" panose="020F0502020204030204" pitchFamily="34" charset="0"/>
                <a:ea typeface="Calibri" panose="020F0502020204030204" pitchFamily="34" charset="0"/>
              </a:rPr>
              <a:t> et al., 2017)</a:t>
            </a:r>
            <a:r>
              <a:rPr lang="en-US" sz="1600" dirty="0">
                <a:solidFill>
                  <a:schemeClr val="tx1"/>
                </a:solidFill>
                <a:latin typeface="Calibri" panose="020F0502020204030204" pitchFamily="34" charset="0"/>
                <a:ea typeface="Calibri" panose="020F0502020204030204" pitchFamily="34" charset="0"/>
                <a:cs typeface="Cordia New" panose="020B0304020202020204" pitchFamily="34" charset="-34"/>
              </a:rPr>
              <a:t> </a:t>
            </a:r>
            <a:endParaRPr lang="en-US" sz="1600" dirty="0">
              <a:solidFill>
                <a:schemeClr val="tx1"/>
              </a:solidFill>
            </a:endParaRPr>
          </a:p>
          <a:p>
            <a:pPr defTabSz="1219170" eaLnBrk="0" fontAlgn="base" hangingPunct="0">
              <a:defRPr/>
            </a:pPr>
            <a:r>
              <a:rPr lang="en-US" sz="1600" dirty="0">
                <a:solidFill>
                  <a:schemeClr val="tx1"/>
                </a:solidFill>
                <a:latin typeface="Calibri" panose="020F0502020204030204" pitchFamily="34" charset="0"/>
              </a:rPr>
              <a:t> </a:t>
            </a:r>
          </a:p>
        </p:txBody>
      </p:sp>
      <p:sp>
        <p:nvSpPr>
          <p:cNvPr id="7" name="TextBox 6">
            <a:extLst>
              <a:ext uri="{FF2B5EF4-FFF2-40B4-BE49-F238E27FC236}">
                <a16:creationId xmlns:a16="http://schemas.microsoft.com/office/drawing/2014/main" id="{75DAD7F9-67E0-C8BA-1565-9BB14323C444}"/>
              </a:ext>
            </a:extLst>
          </p:cNvPr>
          <p:cNvSpPr txBox="1"/>
          <p:nvPr/>
        </p:nvSpPr>
        <p:spPr>
          <a:xfrm>
            <a:off x="4518660" y="910935"/>
            <a:ext cx="6096000" cy="369332"/>
          </a:xfrm>
          <a:prstGeom prst="rect">
            <a:avLst/>
          </a:prstGeom>
          <a:noFill/>
        </p:spPr>
        <p:txBody>
          <a:bodyPr wrap="square">
            <a:spAutoFit/>
          </a:bodyPr>
          <a:lstStyle/>
          <a:p>
            <a:r>
              <a:rPr lang="en-US" sz="1800" dirty="0">
                <a:effectLst/>
                <a:latin typeface="Calibri" panose="020F0502020204030204" pitchFamily="34" charset="0"/>
                <a:ea typeface="Calibri" panose="020F0502020204030204" pitchFamily="34" charset="0"/>
              </a:rPr>
              <a:t>(</a:t>
            </a:r>
            <a:r>
              <a:rPr lang="en-US" sz="1800" dirty="0" err="1">
                <a:effectLst/>
                <a:latin typeface="Calibri" panose="020F0502020204030204" pitchFamily="34" charset="0"/>
                <a:ea typeface="Calibri" panose="020F0502020204030204" pitchFamily="34" charset="0"/>
              </a:rPr>
              <a:t>Arjovsky</a:t>
            </a:r>
            <a:r>
              <a:rPr lang="en-US" sz="1800" dirty="0">
                <a:effectLst/>
                <a:latin typeface="Calibri" panose="020F0502020204030204" pitchFamily="34" charset="0"/>
                <a:ea typeface="Calibri" panose="020F0502020204030204" pitchFamily="34" charset="0"/>
              </a:rPr>
              <a:t> et al., 2017)</a:t>
            </a:r>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A388FDA-EC5D-8E54-5C83-15305A21AD34}"/>
                  </a:ext>
                </a:extLst>
              </p:cNvPr>
              <p:cNvSpPr txBox="1"/>
              <p:nvPr/>
            </p:nvSpPr>
            <p:spPr>
              <a:xfrm>
                <a:off x="575734" y="3343545"/>
                <a:ext cx="6096000" cy="6106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𝑊</m:t>
                      </m:r>
                      <m:d>
                        <m:dPr>
                          <m:ctrlPr>
                            <a:rPr lang="en-US" i="1">
                              <a:solidFill>
                                <a:srgbClr val="836967"/>
                              </a:solidFill>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𝑟</m:t>
                              </m:r>
                            </m:sub>
                          </m:sSub>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𝑔</m:t>
                              </m:r>
                            </m:sub>
                          </m:sSub>
                        </m:e>
                      </m:d>
                      <m:r>
                        <a:rPr lang="en-US" i="0">
                          <a:latin typeface="Cambria Math" panose="02040503050406030204" pitchFamily="18" charset="0"/>
                        </a:rPr>
                        <m:t>=</m:t>
                      </m:r>
                      <m:func>
                        <m:funcPr>
                          <m:ctrlPr>
                            <a:rPr lang="en-US" i="1">
                              <a:latin typeface="Cambria Math" panose="02040503050406030204" pitchFamily="18" charset="0"/>
                            </a:rPr>
                          </m:ctrlPr>
                        </m:funcPr>
                        <m:fName>
                          <m:limLow>
                            <m:limLowPr>
                              <m:ctrlPr>
                                <a:rPr lang="en-US" i="1">
                                  <a:solidFill>
                                    <a:srgbClr val="836967"/>
                                  </a:solidFill>
                                  <a:latin typeface="Cambria Math" panose="02040503050406030204" pitchFamily="18" charset="0"/>
                                </a:rPr>
                              </m:ctrlPr>
                            </m:limLowPr>
                            <m:e>
                              <m:r>
                                <a:rPr lang="en-US" i="1">
                                  <a:latin typeface="Cambria Math" panose="02040503050406030204" pitchFamily="18" charset="0"/>
                                </a:rPr>
                                <m:t>𝑖𝑛𝑓</m:t>
                              </m:r>
                            </m:e>
                            <m:lim>
                              <m:r>
                                <a:rPr lang="en-US" i="1">
                                  <a:latin typeface="Cambria Math" panose="02040503050406030204" pitchFamily="18" charset="0"/>
                                </a:rPr>
                                <m:t>𝛾</m:t>
                              </m:r>
                              <m:r>
                                <a:rPr lang="en-US" i="0">
                                  <a:latin typeface="Cambria Math" panose="02040503050406030204" pitchFamily="18" charset="0"/>
                                </a:rPr>
                                <m:t>∈</m:t>
                              </m:r>
                              <m:r>
                                <a:rPr lang="en-US" i="1">
                                  <a:latin typeface="Cambria Math" panose="02040503050406030204" pitchFamily="18" charset="0"/>
                                </a:rPr>
                                <m:t>𝛱</m:t>
                              </m:r>
                              <m:d>
                                <m:dPr>
                                  <m:ctrlPr>
                                    <a:rPr lang="en-US" i="1">
                                      <a:solidFill>
                                        <a:srgbClr val="836967"/>
                                      </a:solidFill>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𝑟</m:t>
                                      </m:r>
                                    </m:sub>
                                  </m:sSub>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𝑔</m:t>
                                      </m:r>
                                    </m:sub>
                                  </m:sSub>
                                </m:e>
                              </m:d>
                            </m:lim>
                          </m:limLow>
                        </m:fName>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𝐸</m:t>
                              </m:r>
                            </m:e>
                            <m:sub>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𝑥</m:t>
                                  </m:r>
                                  <m:r>
                                    <a:rPr lang="en-US" i="0">
                                      <a:latin typeface="Cambria Math" panose="02040503050406030204" pitchFamily="18" charset="0"/>
                                    </a:rPr>
                                    <m:t>,</m:t>
                                  </m:r>
                                  <m:r>
                                    <a:rPr lang="en-US" i="1">
                                      <a:latin typeface="Cambria Math" panose="02040503050406030204" pitchFamily="18" charset="0"/>
                                    </a:rPr>
                                    <m:t>𝑦</m:t>
                                  </m:r>
                                </m:e>
                              </m:d>
                              <m:r>
                                <a:rPr lang="en-US" i="0">
                                  <a:latin typeface="Cambria Math" panose="02040503050406030204" pitchFamily="18" charset="0"/>
                                </a:rPr>
                                <m:t>∼</m:t>
                              </m:r>
                              <m:r>
                                <a:rPr lang="en-US" i="1">
                                  <a:latin typeface="Cambria Math" panose="02040503050406030204" pitchFamily="18" charset="0"/>
                                </a:rPr>
                                <m:t>𝛾</m:t>
                              </m:r>
                            </m:sub>
                          </m:sSub>
                        </m:e>
                      </m:func>
                      <m:d>
                        <m:dPr>
                          <m:begChr m:val="["/>
                          <m:endChr m:val="]"/>
                          <m:ctrlPr>
                            <a:rPr lang="en-US" i="1">
                              <a:solidFill>
                                <a:srgbClr val="836967"/>
                              </a:solidFill>
                              <a:latin typeface="Cambria Math" panose="02040503050406030204" pitchFamily="18" charset="0"/>
                            </a:rPr>
                          </m:ctrlPr>
                        </m:dPr>
                        <m:e>
                          <m:r>
                            <a:rPr lang="en-US" i="1">
                              <a:latin typeface="Cambria Math" panose="02040503050406030204" pitchFamily="18" charset="0"/>
                            </a:rPr>
                            <m:t>𝑓</m:t>
                          </m:r>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𝑥</m:t>
                              </m:r>
                            </m:e>
                          </m:d>
                          <m:r>
                            <a:rPr lang="en-US" i="0">
                              <a:latin typeface="Cambria Math" panose="02040503050406030204" pitchFamily="18" charset="0"/>
                            </a:rPr>
                            <m:t>−</m:t>
                          </m:r>
                          <m:r>
                            <a:rPr lang="en-US" i="1">
                              <a:latin typeface="Cambria Math" panose="02040503050406030204" pitchFamily="18" charset="0"/>
                            </a:rPr>
                            <m:t>𝑓</m:t>
                          </m:r>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𝑦</m:t>
                              </m:r>
                            </m:e>
                          </m:d>
                        </m:e>
                      </m:d>
                    </m:oMath>
                  </m:oMathPara>
                </a14:m>
                <a:endParaRPr lang="en-US" dirty="0"/>
              </a:p>
            </p:txBody>
          </p:sp>
        </mc:Choice>
        <mc:Fallback xmlns="">
          <p:sp>
            <p:nvSpPr>
              <p:cNvPr id="11" name="TextBox 10">
                <a:extLst>
                  <a:ext uri="{FF2B5EF4-FFF2-40B4-BE49-F238E27FC236}">
                    <a16:creationId xmlns:a16="http://schemas.microsoft.com/office/drawing/2014/main" id="{CA388FDA-EC5D-8E54-5C83-15305A21AD34}"/>
                  </a:ext>
                </a:extLst>
              </p:cNvPr>
              <p:cNvSpPr txBox="1">
                <a:spLocks noRot="1" noChangeAspect="1" noMove="1" noResize="1" noEditPoints="1" noAdjustHandles="1" noChangeArrowheads="1" noChangeShapeType="1" noTextEdit="1"/>
              </p:cNvSpPr>
              <p:nvPr/>
            </p:nvSpPr>
            <p:spPr>
              <a:xfrm>
                <a:off x="575734" y="3343545"/>
                <a:ext cx="6096000" cy="61068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6CE314F-7DBF-5BC8-22FD-FD8A7BC0C6D2}"/>
                  </a:ext>
                </a:extLst>
              </p:cNvPr>
              <p:cNvSpPr txBox="1"/>
              <p:nvPr/>
            </p:nvSpPr>
            <p:spPr>
              <a:xfrm>
                <a:off x="362902" y="2060234"/>
                <a:ext cx="6096000" cy="6106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𝑊</m:t>
                      </m:r>
                      <m:d>
                        <m:dPr>
                          <m:ctrlPr>
                            <a:rPr lang="en-US" i="1">
                              <a:solidFill>
                                <a:srgbClr val="836967"/>
                              </a:solidFill>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𝑟</m:t>
                              </m:r>
                            </m:sub>
                          </m:sSub>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𝑔</m:t>
                              </m:r>
                            </m:sub>
                          </m:sSub>
                        </m:e>
                      </m:d>
                      <m:r>
                        <a:rPr lang="en-US" i="0">
                          <a:latin typeface="Cambria Math" panose="02040503050406030204" pitchFamily="18" charset="0"/>
                        </a:rPr>
                        <m:t>=</m:t>
                      </m:r>
                      <m:func>
                        <m:funcPr>
                          <m:ctrlPr>
                            <a:rPr lang="en-US" i="1">
                              <a:latin typeface="Cambria Math" panose="02040503050406030204" pitchFamily="18" charset="0"/>
                            </a:rPr>
                          </m:ctrlPr>
                        </m:funcPr>
                        <m:fName>
                          <m:limLow>
                            <m:limLowPr>
                              <m:ctrlPr>
                                <a:rPr lang="en-US" i="1">
                                  <a:solidFill>
                                    <a:srgbClr val="836967"/>
                                  </a:solidFill>
                                  <a:latin typeface="Cambria Math" panose="02040503050406030204" pitchFamily="18" charset="0"/>
                                </a:rPr>
                              </m:ctrlPr>
                            </m:limLowPr>
                            <m:e>
                              <m:r>
                                <a:rPr lang="en-US" i="1">
                                  <a:latin typeface="Cambria Math" panose="02040503050406030204" pitchFamily="18" charset="0"/>
                                </a:rPr>
                                <m:t>𝑖𝑛𝑓</m:t>
                              </m:r>
                            </m:e>
                            <m:lim>
                              <m:r>
                                <a:rPr lang="en-US" i="1">
                                  <a:latin typeface="Cambria Math" panose="02040503050406030204" pitchFamily="18" charset="0"/>
                                </a:rPr>
                                <m:t>𝛾</m:t>
                              </m:r>
                              <m:r>
                                <a:rPr lang="en-US" i="0">
                                  <a:latin typeface="Cambria Math" panose="02040503050406030204" pitchFamily="18" charset="0"/>
                                </a:rPr>
                                <m:t>∈</m:t>
                              </m:r>
                              <m:r>
                                <a:rPr lang="en-US" i="1">
                                  <a:latin typeface="Cambria Math" panose="02040503050406030204" pitchFamily="18" charset="0"/>
                                </a:rPr>
                                <m:t>𝛱</m:t>
                              </m:r>
                              <m:d>
                                <m:dPr>
                                  <m:ctrlPr>
                                    <a:rPr lang="en-US" i="1">
                                      <a:solidFill>
                                        <a:srgbClr val="836967"/>
                                      </a:solidFill>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𝑟</m:t>
                                      </m:r>
                                    </m:sub>
                                  </m:sSub>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𝑔</m:t>
                                      </m:r>
                                    </m:sub>
                                  </m:sSub>
                                </m:e>
                              </m:d>
                            </m:lim>
                          </m:limLow>
                        </m:fName>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𝐸</m:t>
                              </m:r>
                            </m:e>
                            <m:sub>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𝑥</m:t>
                                  </m:r>
                                  <m:r>
                                    <a:rPr lang="en-US" i="0">
                                      <a:latin typeface="Cambria Math" panose="02040503050406030204" pitchFamily="18" charset="0"/>
                                    </a:rPr>
                                    <m:t>,</m:t>
                                  </m:r>
                                  <m:r>
                                    <a:rPr lang="en-US" i="1">
                                      <a:latin typeface="Cambria Math" panose="02040503050406030204" pitchFamily="18" charset="0"/>
                                    </a:rPr>
                                    <m:t>𝑦</m:t>
                                  </m:r>
                                </m:e>
                              </m:d>
                              <m:r>
                                <a:rPr lang="en-US" i="0">
                                  <a:latin typeface="Cambria Math" panose="02040503050406030204" pitchFamily="18" charset="0"/>
                                </a:rPr>
                                <m:t>∼</m:t>
                              </m:r>
                              <m:r>
                                <a:rPr lang="en-US" i="1">
                                  <a:latin typeface="Cambria Math" panose="02040503050406030204" pitchFamily="18" charset="0"/>
                                </a:rPr>
                                <m:t>𝛾</m:t>
                              </m:r>
                            </m:sub>
                          </m:sSub>
                        </m:e>
                      </m:func>
                      <m:d>
                        <m:dPr>
                          <m:begChr m:val="["/>
                          <m:endChr m:val="]"/>
                          <m:ctrlPr>
                            <a:rPr lang="en-US" i="1">
                              <a:solidFill>
                                <a:srgbClr val="836967"/>
                              </a:solidFill>
                              <a:latin typeface="Cambria Math" panose="02040503050406030204" pitchFamily="18" charset="0"/>
                            </a:rPr>
                          </m:ctrlPr>
                        </m:dPr>
                        <m:e>
                          <m:d>
                            <m:dPr>
                              <m:begChr m:val="|"/>
                              <m:endChr m:val="|"/>
                              <m:ctrlPr>
                                <a:rPr lang="en-US" i="1">
                                  <a:latin typeface="Cambria Math" panose="02040503050406030204" pitchFamily="18" charset="0"/>
                                </a:rPr>
                              </m:ctrlPr>
                            </m:dPr>
                            <m:e>
                              <m:r>
                                <a:rPr lang="en-US" i="1">
                                  <a:latin typeface="Cambria Math" panose="02040503050406030204" pitchFamily="18" charset="0"/>
                                </a:rPr>
                                <m:t>𝑥</m:t>
                              </m:r>
                              <m:r>
                                <a:rPr lang="en-US" i="0">
                                  <a:latin typeface="Cambria Math" panose="02040503050406030204" pitchFamily="18" charset="0"/>
                                </a:rPr>
                                <m:t>−</m:t>
                              </m:r>
                              <m:r>
                                <a:rPr lang="en-US" i="1">
                                  <a:latin typeface="Cambria Math" panose="02040503050406030204" pitchFamily="18" charset="0"/>
                                </a:rPr>
                                <m:t>𝑦</m:t>
                              </m:r>
                            </m:e>
                          </m:d>
                        </m:e>
                      </m:d>
                    </m:oMath>
                  </m:oMathPara>
                </a14:m>
                <a:endParaRPr lang="en-US" dirty="0"/>
              </a:p>
            </p:txBody>
          </p:sp>
        </mc:Choice>
        <mc:Fallback xmlns="">
          <p:sp>
            <p:nvSpPr>
              <p:cNvPr id="15" name="TextBox 14">
                <a:extLst>
                  <a:ext uri="{FF2B5EF4-FFF2-40B4-BE49-F238E27FC236}">
                    <a16:creationId xmlns:a16="http://schemas.microsoft.com/office/drawing/2014/main" id="{A6CE314F-7DBF-5BC8-22FD-FD8A7BC0C6D2}"/>
                  </a:ext>
                </a:extLst>
              </p:cNvPr>
              <p:cNvSpPr txBox="1">
                <a:spLocks noRot="1" noChangeAspect="1" noMove="1" noResize="1" noEditPoints="1" noAdjustHandles="1" noChangeArrowheads="1" noChangeShapeType="1" noTextEdit="1"/>
              </p:cNvSpPr>
              <p:nvPr/>
            </p:nvSpPr>
            <p:spPr>
              <a:xfrm>
                <a:off x="362902" y="2060234"/>
                <a:ext cx="6096000" cy="610680"/>
              </a:xfrm>
              <a:prstGeom prst="rect">
                <a:avLst/>
              </a:prstGeom>
              <a:blipFill>
                <a:blip r:embed="rId5"/>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926E9DE3-D9A3-8ECF-AF31-11563280BEBF}"/>
              </a:ext>
            </a:extLst>
          </p:cNvPr>
          <p:cNvSpPr txBox="1"/>
          <p:nvPr/>
        </p:nvSpPr>
        <p:spPr>
          <a:xfrm>
            <a:off x="503625" y="2779324"/>
            <a:ext cx="6674416" cy="369332"/>
          </a:xfrm>
          <a:prstGeom prst="rect">
            <a:avLst/>
          </a:prstGeom>
          <a:noFill/>
        </p:spPr>
        <p:txBody>
          <a:bodyPr wrap="square">
            <a:spAutoFit/>
          </a:bodyPr>
          <a:lstStyle/>
          <a:p>
            <a:r>
              <a:rPr lang="en-US" dirty="0">
                <a:latin typeface="Calibri" panose="020F0502020204030204" pitchFamily="34" charset="0"/>
                <a:ea typeface="Calibri" panose="020F0502020204030204" pitchFamily="34" charset="0"/>
                <a:cs typeface="Cordia New" panose="020B0304020202020204" pitchFamily="34" charset="-34"/>
              </a:rPr>
              <a:t>T</a:t>
            </a:r>
            <a:r>
              <a:rPr lang="en-US" sz="1800" dirty="0">
                <a:effectLst/>
                <a:latin typeface="Calibri" panose="020F0502020204030204" pitchFamily="34" charset="0"/>
                <a:ea typeface="Calibri" panose="020F0502020204030204" pitchFamily="34" charset="0"/>
                <a:cs typeface="Cordia New" panose="020B0304020202020204" pitchFamily="34" charset="-34"/>
              </a:rPr>
              <a:t>ransformation of the formula using Kantorovich-Rubinstein duality :</a:t>
            </a:r>
            <a:endParaRPr lang="en-US" dirty="0"/>
          </a:p>
        </p:txBody>
      </p:sp>
      <p:sp>
        <p:nvSpPr>
          <p:cNvPr id="19" name="TextBox 18">
            <a:extLst>
              <a:ext uri="{FF2B5EF4-FFF2-40B4-BE49-F238E27FC236}">
                <a16:creationId xmlns:a16="http://schemas.microsoft.com/office/drawing/2014/main" id="{8613A86B-0EED-379F-22BE-2800347A0F09}"/>
              </a:ext>
            </a:extLst>
          </p:cNvPr>
          <p:cNvSpPr txBox="1"/>
          <p:nvPr/>
        </p:nvSpPr>
        <p:spPr>
          <a:xfrm>
            <a:off x="6143625" y="3391216"/>
            <a:ext cx="2686050" cy="369332"/>
          </a:xfrm>
          <a:prstGeom prst="rect">
            <a:avLst/>
          </a:prstGeom>
          <a:noFill/>
        </p:spPr>
        <p:txBody>
          <a:bodyPr wrap="square">
            <a:spAutoFit/>
          </a:bodyPr>
          <a:lstStyle/>
          <a:p>
            <a:r>
              <a:rPr lang="en-US" sz="1800" dirty="0">
                <a:effectLst/>
                <a:latin typeface="Calibri" panose="020F0502020204030204" pitchFamily="34" charset="0"/>
                <a:ea typeface="Calibri" panose="020F0502020204030204" pitchFamily="34" charset="0"/>
                <a:cs typeface="Cordia New" panose="020B0304020202020204" pitchFamily="34" charset="-34"/>
              </a:rPr>
              <a:t>f is 1-Lipschitz continuous.</a:t>
            </a:r>
            <a:endParaRPr lang="en-US" dirty="0"/>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0743D29-F84F-5F18-D33E-1526D9F6FC95}"/>
                  </a:ext>
                </a:extLst>
              </p:cNvPr>
              <p:cNvSpPr txBox="1"/>
              <p:nvPr/>
            </p:nvSpPr>
            <p:spPr>
              <a:xfrm>
                <a:off x="480484" y="4655797"/>
                <a:ext cx="6181724" cy="4128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𝑉</m:t>
                      </m:r>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𝐺</m:t>
                          </m:r>
                          <m:r>
                            <a:rPr lang="en-US" i="0">
                              <a:latin typeface="Cambria Math" panose="02040503050406030204" pitchFamily="18" charset="0"/>
                            </a:rPr>
                            <m:t>,</m:t>
                          </m:r>
                          <m:r>
                            <a:rPr lang="en-US" i="1">
                              <a:latin typeface="Cambria Math" panose="02040503050406030204" pitchFamily="18" charset="0"/>
                            </a:rPr>
                            <m:t>𝐷</m:t>
                          </m:r>
                        </m:e>
                      </m:d>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𝑥</m:t>
                          </m:r>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𝑟</m:t>
                              </m:r>
                            </m:sub>
                          </m:sSub>
                        </m:sub>
                      </m:sSub>
                      <m:d>
                        <m:dPr>
                          <m:begChr m:val="["/>
                          <m:endChr m:val="]"/>
                          <m:ctrlPr>
                            <a:rPr lang="en-US" i="1">
                              <a:solidFill>
                                <a:srgbClr val="836967"/>
                              </a:solidFill>
                              <a:latin typeface="Cambria Math" panose="02040503050406030204" pitchFamily="18" charset="0"/>
                            </a:rPr>
                          </m:ctrlPr>
                        </m:dPr>
                        <m:e>
                          <m:r>
                            <a:rPr lang="en-US" i="1">
                              <a:latin typeface="Cambria Math" panose="02040503050406030204" pitchFamily="18" charset="0"/>
                            </a:rPr>
                            <m:t>𝐷</m:t>
                          </m:r>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𝑥</m:t>
                              </m:r>
                            </m:e>
                          </m:d>
                        </m:e>
                      </m:d>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𝑧</m:t>
                          </m:r>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𝑧</m:t>
                              </m:r>
                            </m:sub>
                          </m:sSub>
                        </m:sub>
                      </m:sSub>
                      <m:d>
                        <m:dPr>
                          <m:begChr m:val="["/>
                          <m:endChr m:val="]"/>
                          <m:ctrlPr>
                            <a:rPr lang="en-US" i="1">
                              <a:solidFill>
                                <a:srgbClr val="836967"/>
                              </a:solidFill>
                              <a:latin typeface="Cambria Math" panose="02040503050406030204" pitchFamily="18" charset="0"/>
                            </a:rPr>
                          </m:ctrlPr>
                        </m:dPr>
                        <m:e>
                          <m:r>
                            <a:rPr lang="en-US" i="1">
                              <a:latin typeface="Cambria Math" panose="02040503050406030204" pitchFamily="18" charset="0"/>
                            </a:rPr>
                            <m:t>𝐷</m:t>
                          </m:r>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𝐺</m:t>
                              </m:r>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𝑧</m:t>
                                  </m:r>
                                </m:e>
                              </m:d>
                            </m:e>
                          </m:d>
                        </m:e>
                      </m:d>
                    </m:oMath>
                  </m:oMathPara>
                </a14:m>
                <a:endParaRPr lang="en-US" dirty="0"/>
              </a:p>
            </p:txBody>
          </p:sp>
        </mc:Choice>
        <mc:Fallback xmlns="">
          <p:sp>
            <p:nvSpPr>
              <p:cNvPr id="27" name="TextBox 26">
                <a:extLst>
                  <a:ext uri="{FF2B5EF4-FFF2-40B4-BE49-F238E27FC236}">
                    <a16:creationId xmlns:a16="http://schemas.microsoft.com/office/drawing/2014/main" id="{A0743D29-F84F-5F18-D33E-1526D9F6FC95}"/>
                  </a:ext>
                </a:extLst>
              </p:cNvPr>
              <p:cNvSpPr txBox="1">
                <a:spLocks noRot="1" noChangeAspect="1" noMove="1" noResize="1" noEditPoints="1" noAdjustHandles="1" noChangeArrowheads="1" noChangeShapeType="1" noTextEdit="1"/>
              </p:cNvSpPr>
              <p:nvPr/>
            </p:nvSpPr>
            <p:spPr>
              <a:xfrm>
                <a:off x="480484" y="4655797"/>
                <a:ext cx="6181724" cy="412870"/>
              </a:xfrm>
              <a:prstGeom prst="rect">
                <a:avLst/>
              </a:prstGeom>
              <a:blipFill>
                <a:blip r:embed="rId6"/>
                <a:stretch>
                  <a:fillRect b="-2985"/>
                </a:stretch>
              </a:blipFill>
            </p:spPr>
            <p:txBody>
              <a:bodyPr/>
              <a:lstStyle/>
              <a:p>
                <a:r>
                  <a:rPr lang="en-US">
                    <a:noFill/>
                  </a:rPr>
                  <a:t> </a:t>
                </a:r>
              </a:p>
            </p:txBody>
          </p:sp>
        </mc:Fallback>
      </mc:AlternateContent>
      <p:sp>
        <p:nvSpPr>
          <p:cNvPr id="28" name="Arrow: Right 27">
            <a:extLst>
              <a:ext uri="{FF2B5EF4-FFF2-40B4-BE49-F238E27FC236}">
                <a16:creationId xmlns:a16="http://schemas.microsoft.com/office/drawing/2014/main" id="{18208690-B110-C341-B751-C2A6D4359F1A}"/>
              </a:ext>
            </a:extLst>
          </p:cNvPr>
          <p:cNvSpPr/>
          <p:nvPr/>
        </p:nvSpPr>
        <p:spPr>
          <a:xfrm>
            <a:off x="9001125" y="3429000"/>
            <a:ext cx="476250" cy="17195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54A3B0-B9E2-97FB-3784-3F4B081A8F9E}"/>
                  </a:ext>
                </a:extLst>
              </p:cNvPr>
              <p:cNvSpPr txBox="1"/>
              <p:nvPr/>
            </p:nvSpPr>
            <p:spPr>
              <a:xfrm>
                <a:off x="506703" y="4098141"/>
                <a:ext cx="9380248" cy="369332"/>
              </a:xfrm>
              <a:prstGeom prst="rect">
                <a:avLst/>
              </a:prstGeom>
              <a:noFill/>
            </p:spPr>
            <p:txBody>
              <a:bodyPr wrap="square">
                <a:spAutoFit/>
              </a:bodyPr>
              <a:lstStyle/>
              <a:p>
                <a:r>
                  <a:rPr lang="en-US" dirty="0"/>
                  <a:t>The WGAN value function </a:t>
                </a:r>
                <a:r>
                  <a:rPr lang="en-US" sz="1800" dirty="0">
                    <a:effectLst/>
                    <a:latin typeface="Calibri" panose="020F0502020204030204" pitchFamily="34" charset="0"/>
                    <a:ea typeface="Calibri" panose="020F0502020204030204" pitchFamily="34" charset="0"/>
                    <a:cs typeface="Cordia New" panose="020B0304020202020204" pitchFamily="34" charset="-34"/>
                  </a:rPr>
                  <a:t>in terms of the generator </a:t>
                </a:r>
                <a14:m>
                  <m:oMath xmlns:m="http://schemas.openxmlformats.org/officeDocument/2006/math">
                    <m:r>
                      <a:rPr lang="en-US" sz="1800" i="1">
                        <a:effectLst/>
                        <a:latin typeface="Cambria Math" panose="02040503050406030204" pitchFamily="18" charset="0"/>
                        <a:ea typeface="Calibri" panose="020F0502020204030204" pitchFamily="34" charset="0"/>
                        <a:cs typeface="Cordia New" panose="020B0304020202020204" pitchFamily="34" charset="-34"/>
                      </a:rPr>
                      <m:t>𝐺</m:t>
                    </m:r>
                  </m:oMath>
                </a14:m>
                <a:r>
                  <a:rPr lang="en-US" sz="1800" dirty="0">
                    <a:effectLst/>
                    <a:latin typeface="Calibri" panose="020F0502020204030204" pitchFamily="34" charset="0"/>
                    <a:ea typeface="Calibri" panose="020F0502020204030204" pitchFamily="34" charset="0"/>
                    <a:cs typeface="Cordia New" panose="020B0304020202020204" pitchFamily="34" charset="-34"/>
                  </a:rPr>
                  <a:t>  and the critic </a:t>
                </a:r>
                <a14:m>
                  <m:oMath xmlns:m="http://schemas.openxmlformats.org/officeDocument/2006/math">
                    <m:r>
                      <a:rPr lang="en-US" sz="1800" i="1">
                        <a:effectLst/>
                        <a:latin typeface="Cambria Math" panose="02040503050406030204" pitchFamily="18" charset="0"/>
                        <a:ea typeface="Calibri" panose="020F0502020204030204" pitchFamily="34" charset="0"/>
                        <a:cs typeface="Cordia New" panose="020B0304020202020204" pitchFamily="34" charset="-34"/>
                      </a:rPr>
                      <m:t>𝐷</m:t>
                    </m:r>
                  </m:oMath>
                </a14:m>
                <a:r>
                  <a:rPr lang="en-US" sz="1800" dirty="0">
                    <a:effectLst/>
                    <a:latin typeface="Calibri" panose="020F0502020204030204" pitchFamily="34" charset="0"/>
                    <a:ea typeface="Calibri" panose="020F0502020204030204" pitchFamily="34" charset="0"/>
                    <a:cs typeface="Cordia New" panose="020B0304020202020204" pitchFamily="34" charset="-34"/>
                  </a:rPr>
                  <a:t> of the GAN :</a:t>
                </a:r>
                <a:endParaRPr lang="en-US" dirty="0"/>
              </a:p>
            </p:txBody>
          </p:sp>
        </mc:Choice>
        <mc:Fallback xmlns="">
          <p:sp>
            <p:nvSpPr>
              <p:cNvPr id="30" name="TextBox 29">
                <a:extLst>
                  <a:ext uri="{FF2B5EF4-FFF2-40B4-BE49-F238E27FC236}">
                    <a16:creationId xmlns:a16="http://schemas.microsoft.com/office/drawing/2014/main" id="{F154A3B0-B9E2-97FB-3784-3F4B081A8F9E}"/>
                  </a:ext>
                </a:extLst>
              </p:cNvPr>
              <p:cNvSpPr txBox="1">
                <a:spLocks noRot="1" noChangeAspect="1" noMove="1" noResize="1" noEditPoints="1" noAdjustHandles="1" noChangeArrowheads="1" noChangeShapeType="1" noTextEdit="1"/>
              </p:cNvSpPr>
              <p:nvPr/>
            </p:nvSpPr>
            <p:spPr>
              <a:xfrm>
                <a:off x="506703" y="4098141"/>
                <a:ext cx="9380248" cy="369332"/>
              </a:xfrm>
              <a:prstGeom prst="rect">
                <a:avLst/>
              </a:prstGeom>
              <a:blipFill>
                <a:blip r:embed="rId7"/>
                <a:stretch>
                  <a:fillRect l="-520"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8AA311E-06CE-0C86-96F4-243C9CE5463C}"/>
                  </a:ext>
                </a:extLst>
              </p:cNvPr>
              <p:cNvSpPr txBox="1"/>
              <p:nvPr/>
            </p:nvSpPr>
            <p:spPr>
              <a:xfrm>
                <a:off x="5711012" y="5720197"/>
                <a:ext cx="6096000" cy="42845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𝑐</m:t>
                          </m:r>
                        </m:sub>
                      </m:sSub>
                      <m:r>
                        <a:rPr lang="en-US" i="0">
                          <a:latin typeface="Cambria Math" panose="02040503050406030204" pitchFamily="18" charset="0"/>
                        </a:rPr>
                        <m:t>=</m:t>
                      </m:r>
                      <m:r>
                        <a:rPr lang="en-US" i="1">
                          <a:latin typeface="Cambria Math" panose="02040503050406030204" pitchFamily="18" charset="0"/>
                        </a:rPr>
                        <m:t>𝐸</m:t>
                      </m:r>
                      <m:d>
                        <m:dPr>
                          <m:begChr m:val="["/>
                          <m:endChr m:val="]"/>
                          <m:ctrlPr>
                            <a:rPr lang="en-US" i="1">
                              <a:solidFill>
                                <a:srgbClr val="836967"/>
                              </a:solidFill>
                              <a:latin typeface="Cambria Math" panose="02040503050406030204" pitchFamily="18" charset="0"/>
                            </a:rPr>
                          </m:ctrlPr>
                        </m:dPr>
                        <m:e>
                          <m:r>
                            <a:rPr lang="en-US" i="1">
                              <a:latin typeface="Cambria Math" panose="02040503050406030204" pitchFamily="18" charset="0"/>
                            </a:rPr>
                            <m:t>𝐷</m:t>
                          </m:r>
                          <m:d>
                            <m:dPr>
                              <m:ctrlPr>
                                <a:rPr lang="en-US" i="1">
                                  <a:solidFill>
                                    <a:srgbClr val="836967"/>
                                  </a:solidFill>
                                  <a:latin typeface="Cambria Math" panose="02040503050406030204" pitchFamily="18" charset="0"/>
                                </a:rPr>
                              </m:ctrlPr>
                            </m:dPr>
                            <m:e>
                              <m:r>
                                <a:rPr lang="en-US" i="1">
                                  <a:latin typeface="Cambria Math" panose="02040503050406030204" pitchFamily="18" charset="0"/>
                                </a:rPr>
                                <m:t>𝑥</m:t>
                              </m:r>
                            </m:e>
                          </m:d>
                        </m:e>
                      </m:d>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𝐸</m:t>
                          </m:r>
                        </m:e>
                        <m:sub>
                          <m:acc>
                            <m:accPr>
                              <m:chr m:val="̃"/>
                              <m:ctrlPr>
                                <a:rPr lang="en-US" i="1">
                                  <a:solidFill>
                                    <a:srgbClr val="836967"/>
                                  </a:solidFill>
                                  <a:latin typeface="Cambria Math" panose="02040503050406030204" pitchFamily="18" charset="0"/>
                                </a:rPr>
                              </m:ctrlPr>
                            </m:accPr>
                            <m:e>
                              <m:r>
                                <a:rPr lang="en-US" i="1">
                                  <a:latin typeface="Cambria Math" panose="02040503050406030204" pitchFamily="18" charset="0"/>
                                </a:rPr>
                                <m:t>𝑥</m:t>
                              </m:r>
                            </m:e>
                          </m:acc>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𝑔</m:t>
                              </m:r>
                            </m:sub>
                          </m:sSub>
                        </m:sub>
                      </m:sSub>
                      <m:d>
                        <m:dPr>
                          <m:begChr m:val="["/>
                          <m:endChr m:val="]"/>
                          <m:ctrlPr>
                            <a:rPr lang="en-US" i="1">
                              <a:solidFill>
                                <a:srgbClr val="836967"/>
                              </a:solidFill>
                              <a:latin typeface="Cambria Math" panose="02040503050406030204" pitchFamily="18" charset="0"/>
                            </a:rPr>
                          </m:ctrlPr>
                        </m:dPr>
                        <m:e>
                          <m:r>
                            <a:rPr lang="en-US" i="1">
                              <a:latin typeface="Cambria Math" panose="02040503050406030204" pitchFamily="18" charset="0"/>
                            </a:rPr>
                            <m:t>𝐷</m:t>
                          </m:r>
                          <m:d>
                            <m:dPr>
                              <m:ctrlPr>
                                <a:rPr lang="en-US" i="1">
                                  <a:solidFill>
                                    <a:srgbClr val="836967"/>
                                  </a:solidFill>
                                  <a:latin typeface="Cambria Math" panose="02040503050406030204" pitchFamily="18" charset="0"/>
                                </a:rPr>
                              </m:ctrlPr>
                            </m:dPr>
                            <m:e>
                              <m:acc>
                                <m:accPr>
                                  <m:chr m:val="̃"/>
                                  <m:ctrlPr>
                                    <a:rPr lang="en-US" i="1">
                                      <a:solidFill>
                                        <a:srgbClr val="836967"/>
                                      </a:solidFill>
                                      <a:latin typeface="Cambria Math" panose="02040503050406030204" pitchFamily="18" charset="0"/>
                                    </a:rPr>
                                  </m:ctrlPr>
                                </m:accPr>
                                <m:e>
                                  <m:r>
                                    <a:rPr lang="en-US" i="1">
                                      <a:latin typeface="Cambria Math" panose="02040503050406030204" pitchFamily="18" charset="0"/>
                                    </a:rPr>
                                    <m:t>𝑥</m:t>
                                  </m:r>
                                </m:e>
                              </m:acc>
                            </m:e>
                          </m:d>
                        </m:e>
                      </m:d>
                      <m:r>
                        <a:rPr lang="en-US" i="0" smtClean="0">
                          <a:solidFill>
                            <a:srgbClr val="0070C0"/>
                          </a:solidFill>
                          <a:latin typeface="Cambria Math" panose="02040503050406030204" pitchFamily="18" charset="0"/>
                        </a:rPr>
                        <m:t>+</m:t>
                      </m:r>
                      <m:r>
                        <a:rPr lang="en-US" i="1" smtClean="0">
                          <a:solidFill>
                            <a:srgbClr val="0070C0"/>
                          </a:solidFill>
                          <a:latin typeface="Cambria Math" panose="02040503050406030204" pitchFamily="18" charset="0"/>
                        </a:rPr>
                        <m:t>𝜆</m:t>
                      </m:r>
                      <m:r>
                        <a:rPr lang="en-US" i="0">
                          <a:solidFill>
                            <a:srgbClr val="0070C0"/>
                          </a:solidFill>
                          <a:latin typeface="Cambria Math" panose="02040503050406030204" pitchFamily="18" charset="0"/>
                        </a:rPr>
                        <m:t> </m:t>
                      </m:r>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𝐸</m:t>
                          </m:r>
                        </m:e>
                        <m:sub>
                          <m:acc>
                            <m:accPr>
                              <m:chr m:val="̂"/>
                              <m:ctrlPr>
                                <a:rPr lang="en-US" i="1">
                                  <a:solidFill>
                                    <a:srgbClr val="0070C0"/>
                                  </a:solidFill>
                                  <a:latin typeface="Cambria Math" panose="02040503050406030204" pitchFamily="18" charset="0"/>
                                </a:rPr>
                              </m:ctrlPr>
                            </m:accPr>
                            <m:e>
                              <m:r>
                                <a:rPr lang="en-US" i="1">
                                  <a:solidFill>
                                    <a:srgbClr val="0070C0"/>
                                  </a:solidFill>
                                  <a:latin typeface="Cambria Math" panose="02040503050406030204" pitchFamily="18" charset="0"/>
                                </a:rPr>
                                <m:t>𝑥</m:t>
                              </m:r>
                            </m:e>
                          </m:acc>
                          <m:r>
                            <a:rPr lang="en-US" i="0">
                              <a:solidFill>
                                <a:srgbClr val="0070C0"/>
                              </a:solidFill>
                              <a:latin typeface="Cambria Math" panose="02040503050406030204" pitchFamily="18" charset="0"/>
                            </a:rPr>
                            <m:t>∼</m:t>
                          </m:r>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𝑝</m:t>
                              </m:r>
                            </m:e>
                            <m:sub>
                              <m:acc>
                                <m:accPr>
                                  <m:chr m:val="̂"/>
                                  <m:ctrlPr>
                                    <a:rPr lang="en-US" i="1">
                                      <a:solidFill>
                                        <a:srgbClr val="0070C0"/>
                                      </a:solidFill>
                                      <a:latin typeface="Cambria Math" panose="02040503050406030204" pitchFamily="18" charset="0"/>
                                    </a:rPr>
                                  </m:ctrlPr>
                                </m:accPr>
                                <m:e>
                                  <m:r>
                                    <a:rPr lang="en-US" i="1">
                                      <a:solidFill>
                                        <a:srgbClr val="0070C0"/>
                                      </a:solidFill>
                                      <a:latin typeface="Cambria Math" panose="02040503050406030204" pitchFamily="18" charset="0"/>
                                    </a:rPr>
                                    <m:t>𝑥</m:t>
                                  </m:r>
                                </m:e>
                              </m:acc>
                            </m:sub>
                          </m:sSub>
                        </m:sub>
                      </m:sSub>
                      <m:d>
                        <m:dPr>
                          <m:begChr m:val="["/>
                          <m:endChr m:val="]"/>
                          <m:ctrlPr>
                            <a:rPr lang="en-US" i="1">
                              <a:solidFill>
                                <a:srgbClr val="0070C0"/>
                              </a:solidFill>
                              <a:latin typeface="Cambria Math" panose="02040503050406030204" pitchFamily="18" charset="0"/>
                            </a:rPr>
                          </m:ctrlPr>
                        </m:dPr>
                        <m:e>
                          <m:sSup>
                            <m:sSupPr>
                              <m:ctrlPr>
                                <a:rPr lang="en-US" i="1">
                                  <a:solidFill>
                                    <a:srgbClr val="0070C0"/>
                                  </a:solidFill>
                                  <a:latin typeface="Cambria Math" panose="02040503050406030204" pitchFamily="18" charset="0"/>
                                </a:rPr>
                              </m:ctrlPr>
                            </m:sSupPr>
                            <m:e>
                              <m:d>
                                <m:dPr>
                                  <m:ctrlPr>
                                    <a:rPr lang="en-US" i="1">
                                      <a:solidFill>
                                        <a:srgbClr val="0070C0"/>
                                      </a:solidFill>
                                      <a:latin typeface="Cambria Math" panose="02040503050406030204" pitchFamily="18" charset="0"/>
                                    </a:rPr>
                                  </m:ctrlPr>
                                </m:dPr>
                                <m:e>
                                  <m:sSub>
                                    <m:sSubPr>
                                      <m:ctrlPr>
                                        <a:rPr lang="en-US" i="1">
                                          <a:solidFill>
                                            <a:srgbClr val="0070C0"/>
                                          </a:solidFill>
                                          <a:latin typeface="Cambria Math" panose="02040503050406030204" pitchFamily="18" charset="0"/>
                                        </a:rPr>
                                      </m:ctrlPr>
                                    </m:sSubPr>
                                    <m:e>
                                      <m:d>
                                        <m:dPr>
                                          <m:begChr m:val="|"/>
                                          <m:endChr m:val="|"/>
                                          <m:ctrlPr>
                                            <a:rPr lang="en-US" i="1">
                                              <a:solidFill>
                                                <a:srgbClr val="0070C0"/>
                                              </a:solidFill>
                                              <a:latin typeface="Cambria Math" panose="02040503050406030204" pitchFamily="18" charset="0"/>
                                            </a:rPr>
                                          </m:ctrlPr>
                                        </m:dPr>
                                        <m:e>
                                          <m:sSub>
                                            <m:sSubPr>
                                              <m:ctrlPr>
                                                <a:rPr lang="en-US" i="1">
                                                  <a:solidFill>
                                                    <a:srgbClr val="0070C0"/>
                                                  </a:solidFill>
                                                  <a:latin typeface="Cambria Math" panose="02040503050406030204" pitchFamily="18" charset="0"/>
                                                </a:rPr>
                                              </m:ctrlPr>
                                            </m:sSubPr>
                                            <m:e>
                                              <m:r>
                                                <m:rPr>
                                                  <m:sty m:val="p"/>
                                                </m:rPr>
                                                <a:rPr lang="en-US" i="0">
                                                  <a:solidFill>
                                                    <a:srgbClr val="0070C0"/>
                                                  </a:solidFill>
                                                  <a:latin typeface="Cambria Math" panose="02040503050406030204" pitchFamily="18" charset="0"/>
                                                </a:rPr>
                                                <m:t>∇</m:t>
                                              </m:r>
                                            </m:e>
                                            <m:sub>
                                              <m:acc>
                                                <m:accPr>
                                                  <m:chr m:val="̂"/>
                                                  <m:ctrlPr>
                                                    <a:rPr lang="en-US" i="1">
                                                      <a:solidFill>
                                                        <a:srgbClr val="0070C0"/>
                                                      </a:solidFill>
                                                      <a:latin typeface="Cambria Math" panose="02040503050406030204" pitchFamily="18" charset="0"/>
                                                    </a:rPr>
                                                  </m:ctrlPr>
                                                </m:accPr>
                                                <m:e>
                                                  <m:r>
                                                    <a:rPr lang="en-US" i="1">
                                                      <a:solidFill>
                                                        <a:srgbClr val="0070C0"/>
                                                      </a:solidFill>
                                                      <a:latin typeface="Cambria Math" panose="02040503050406030204" pitchFamily="18" charset="0"/>
                                                    </a:rPr>
                                                    <m:t>𝑥</m:t>
                                                  </m:r>
                                                </m:e>
                                              </m:acc>
                                            </m:sub>
                                          </m:sSub>
                                          <m:r>
                                            <a:rPr lang="en-US" i="1">
                                              <a:solidFill>
                                                <a:srgbClr val="0070C0"/>
                                              </a:solidFill>
                                              <a:latin typeface="Cambria Math" panose="02040503050406030204" pitchFamily="18" charset="0"/>
                                            </a:rPr>
                                            <m:t>𝐷</m:t>
                                          </m:r>
                                          <m:d>
                                            <m:dPr>
                                              <m:ctrlPr>
                                                <a:rPr lang="en-US" i="1">
                                                  <a:solidFill>
                                                    <a:srgbClr val="0070C0"/>
                                                  </a:solidFill>
                                                  <a:latin typeface="Cambria Math" panose="02040503050406030204" pitchFamily="18" charset="0"/>
                                                </a:rPr>
                                              </m:ctrlPr>
                                            </m:dPr>
                                            <m:e>
                                              <m:acc>
                                                <m:accPr>
                                                  <m:chr m:val="̂"/>
                                                  <m:ctrlPr>
                                                    <a:rPr lang="en-US" i="1">
                                                      <a:solidFill>
                                                        <a:srgbClr val="0070C0"/>
                                                      </a:solidFill>
                                                      <a:latin typeface="Cambria Math" panose="02040503050406030204" pitchFamily="18" charset="0"/>
                                                    </a:rPr>
                                                  </m:ctrlPr>
                                                </m:accPr>
                                                <m:e>
                                                  <m:r>
                                                    <a:rPr lang="en-US" i="1">
                                                      <a:solidFill>
                                                        <a:srgbClr val="0070C0"/>
                                                      </a:solidFill>
                                                      <a:latin typeface="Cambria Math" panose="02040503050406030204" pitchFamily="18" charset="0"/>
                                                    </a:rPr>
                                                    <m:t>𝑥</m:t>
                                                  </m:r>
                                                </m:e>
                                              </m:acc>
                                            </m:e>
                                          </m:d>
                                        </m:e>
                                      </m:d>
                                    </m:e>
                                    <m:sub>
                                      <m:r>
                                        <a:rPr lang="en-US" i="0">
                                          <a:solidFill>
                                            <a:srgbClr val="0070C0"/>
                                          </a:solidFill>
                                          <a:latin typeface="Cambria Math" panose="02040503050406030204" pitchFamily="18" charset="0"/>
                                        </a:rPr>
                                        <m:t>2</m:t>
                                      </m:r>
                                    </m:sub>
                                  </m:sSub>
                                  <m:r>
                                    <a:rPr lang="en-US" i="0">
                                      <a:solidFill>
                                        <a:srgbClr val="0070C0"/>
                                      </a:solidFill>
                                      <a:latin typeface="Cambria Math" panose="02040503050406030204" pitchFamily="18" charset="0"/>
                                    </a:rPr>
                                    <m:t>−1</m:t>
                                  </m:r>
                                </m:e>
                              </m:d>
                            </m:e>
                            <m:sup>
                              <m:r>
                                <a:rPr lang="en-US" i="0">
                                  <a:solidFill>
                                    <a:srgbClr val="0070C0"/>
                                  </a:solidFill>
                                  <a:latin typeface="Cambria Math" panose="02040503050406030204" pitchFamily="18" charset="0"/>
                                </a:rPr>
                                <m:t>2</m:t>
                              </m:r>
                            </m:sup>
                          </m:sSup>
                        </m:e>
                      </m:d>
                    </m:oMath>
                  </m:oMathPara>
                </a14:m>
                <a:endParaRPr lang="en-US" dirty="0"/>
              </a:p>
            </p:txBody>
          </p:sp>
        </mc:Choice>
        <mc:Fallback xmlns="">
          <p:sp>
            <p:nvSpPr>
              <p:cNvPr id="32" name="TextBox 31">
                <a:extLst>
                  <a:ext uri="{FF2B5EF4-FFF2-40B4-BE49-F238E27FC236}">
                    <a16:creationId xmlns:a16="http://schemas.microsoft.com/office/drawing/2014/main" id="{D8AA311E-06CE-0C86-96F4-243C9CE5463C}"/>
                  </a:ext>
                </a:extLst>
              </p:cNvPr>
              <p:cNvSpPr txBox="1">
                <a:spLocks noRot="1" noChangeAspect="1" noMove="1" noResize="1" noEditPoints="1" noAdjustHandles="1" noChangeArrowheads="1" noChangeShapeType="1" noTextEdit="1"/>
              </p:cNvSpPr>
              <p:nvPr/>
            </p:nvSpPr>
            <p:spPr>
              <a:xfrm>
                <a:off x="5711012" y="5720197"/>
                <a:ext cx="6096000" cy="428451"/>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B7814BA-AB2C-6CFB-362E-F28E25CCDEF3}"/>
                  </a:ext>
                </a:extLst>
              </p:cNvPr>
              <p:cNvSpPr txBox="1"/>
              <p:nvPr/>
            </p:nvSpPr>
            <p:spPr>
              <a:xfrm>
                <a:off x="1095375" y="5705785"/>
                <a:ext cx="3095625" cy="42293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r>
                            <a:rPr lang="en-US">
                              <a:latin typeface="Cambria Math" panose="02040503050406030204" pitchFamily="18" charset="0"/>
                            </a:rPr>
                            <m:t> </m:t>
                          </m:r>
                          <m:r>
                            <a:rPr lang="en-US" i="1">
                              <a:latin typeface="Cambria Math" panose="02040503050406030204" pitchFamily="18" charset="0"/>
                            </a:rPr>
                            <m:t>𝐿</m:t>
                          </m:r>
                        </m:e>
                        <m:sub>
                          <m:r>
                            <a:rPr lang="en-US" i="1">
                              <a:latin typeface="Cambria Math" panose="02040503050406030204" pitchFamily="18" charset="0"/>
                            </a:rPr>
                            <m:t>𝑔</m:t>
                          </m:r>
                        </m:sub>
                      </m:sSub>
                      <m:r>
                        <a:rPr lang="en-US" i="0">
                          <a:latin typeface="Cambria Math" panose="02040503050406030204" pitchFamily="18" charset="0"/>
                        </a:rPr>
                        <m:t> =−</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𝐸</m:t>
                          </m:r>
                        </m:e>
                        <m:sub>
                          <m:acc>
                            <m:accPr>
                              <m:chr m:val="̃"/>
                              <m:ctrlPr>
                                <a:rPr lang="en-US" i="1">
                                  <a:solidFill>
                                    <a:srgbClr val="836967"/>
                                  </a:solidFill>
                                  <a:latin typeface="Cambria Math" panose="02040503050406030204" pitchFamily="18" charset="0"/>
                                </a:rPr>
                              </m:ctrlPr>
                            </m:accPr>
                            <m:e>
                              <m:r>
                                <a:rPr lang="en-US" i="1">
                                  <a:latin typeface="Cambria Math" panose="02040503050406030204" pitchFamily="18" charset="0"/>
                                </a:rPr>
                                <m:t>𝑥</m:t>
                              </m:r>
                            </m:e>
                          </m:acc>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𝑔</m:t>
                              </m:r>
                            </m:sub>
                          </m:sSub>
                        </m:sub>
                      </m:sSub>
                      <m:d>
                        <m:dPr>
                          <m:begChr m:val="["/>
                          <m:endChr m:val="]"/>
                          <m:ctrlPr>
                            <a:rPr lang="en-US" i="1">
                              <a:solidFill>
                                <a:srgbClr val="836967"/>
                              </a:solidFill>
                              <a:latin typeface="Cambria Math" panose="02040503050406030204" pitchFamily="18" charset="0"/>
                            </a:rPr>
                          </m:ctrlPr>
                        </m:dPr>
                        <m:e>
                          <m:r>
                            <a:rPr lang="en-US" i="1">
                              <a:latin typeface="Cambria Math" panose="02040503050406030204" pitchFamily="18" charset="0"/>
                            </a:rPr>
                            <m:t>𝐷</m:t>
                          </m:r>
                          <m:d>
                            <m:dPr>
                              <m:ctrlPr>
                                <a:rPr lang="en-US" i="1">
                                  <a:solidFill>
                                    <a:srgbClr val="836967"/>
                                  </a:solidFill>
                                  <a:latin typeface="Cambria Math" panose="02040503050406030204" pitchFamily="18" charset="0"/>
                                </a:rPr>
                              </m:ctrlPr>
                            </m:dPr>
                            <m:e>
                              <m:acc>
                                <m:accPr>
                                  <m:chr m:val="̃"/>
                                  <m:ctrlPr>
                                    <a:rPr lang="en-US" i="1">
                                      <a:solidFill>
                                        <a:srgbClr val="836967"/>
                                      </a:solidFill>
                                      <a:latin typeface="Cambria Math" panose="02040503050406030204" pitchFamily="18" charset="0"/>
                                    </a:rPr>
                                  </m:ctrlPr>
                                </m:accPr>
                                <m:e>
                                  <m:r>
                                    <a:rPr lang="en-US" i="1">
                                      <a:latin typeface="Cambria Math" panose="02040503050406030204" pitchFamily="18" charset="0"/>
                                    </a:rPr>
                                    <m:t>𝑥</m:t>
                                  </m:r>
                                </m:e>
                              </m:acc>
                            </m:e>
                          </m:d>
                        </m:e>
                      </m:d>
                    </m:oMath>
                  </m:oMathPara>
                </a14:m>
                <a:endParaRPr lang="en-US" dirty="0"/>
              </a:p>
            </p:txBody>
          </p:sp>
        </mc:Choice>
        <mc:Fallback xmlns="">
          <p:sp>
            <p:nvSpPr>
              <p:cNvPr id="34" name="TextBox 33">
                <a:extLst>
                  <a:ext uri="{FF2B5EF4-FFF2-40B4-BE49-F238E27FC236}">
                    <a16:creationId xmlns:a16="http://schemas.microsoft.com/office/drawing/2014/main" id="{FB7814BA-AB2C-6CFB-362E-F28E25CCDEF3}"/>
                  </a:ext>
                </a:extLst>
              </p:cNvPr>
              <p:cNvSpPr txBox="1">
                <a:spLocks noRot="1" noChangeAspect="1" noMove="1" noResize="1" noEditPoints="1" noAdjustHandles="1" noChangeArrowheads="1" noChangeShapeType="1" noTextEdit="1"/>
              </p:cNvSpPr>
              <p:nvPr/>
            </p:nvSpPr>
            <p:spPr>
              <a:xfrm>
                <a:off x="1095375" y="5705785"/>
                <a:ext cx="3095625" cy="422936"/>
              </a:xfrm>
              <a:prstGeom prst="rect">
                <a:avLst/>
              </a:prstGeom>
              <a:blipFill>
                <a:blip r:embed="rId9"/>
                <a:stretch>
                  <a:fillRect/>
                </a:stretch>
              </a:blipFill>
            </p:spPr>
            <p:txBody>
              <a:bodyPr/>
              <a:lstStyle/>
              <a:p>
                <a:r>
                  <a:rPr lang="en-US">
                    <a:noFill/>
                  </a:rPr>
                  <a:t> </a:t>
                </a:r>
              </a:p>
            </p:txBody>
          </p:sp>
        </mc:Fallback>
      </mc:AlternateContent>
      <p:sp>
        <p:nvSpPr>
          <p:cNvPr id="35" name="Arrow: Right 34">
            <a:extLst>
              <a:ext uri="{FF2B5EF4-FFF2-40B4-BE49-F238E27FC236}">
                <a16:creationId xmlns:a16="http://schemas.microsoft.com/office/drawing/2014/main" id="{9C958CA9-BA05-DF19-31F8-9141E1FB504D}"/>
              </a:ext>
            </a:extLst>
          </p:cNvPr>
          <p:cNvSpPr/>
          <p:nvPr/>
        </p:nvSpPr>
        <p:spPr>
          <a:xfrm rot="7167887">
            <a:off x="3561291" y="5358117"/>
            <a:ext cx="497022" cy="14662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Arrow: Right 35">
            <a:extLst>
              <a:ext uri="{FF2B5EF4-FFF2-40B4-BE49-F238E27FC236}">
                <a16:creationId xmlns:a16="http://schemas.microsoft.com/office/drawing/2014/main" id="{09DDF6EC-C124-0C16-18C2-DE84B21E4483}"/>
              </a:ext>
            </a:extLst>
          </p:cNvPr>
          <p:cNvSpPr/>
          <p:nvPr/>
        </p:nvSpPr>
        <p:spPr>
          <a:xfrm rot="3176457">
            <a:off x="5646949" y="5331122"/>
            <a:ext cx="544642" cy="15098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C5DF00B3-5A2F-1564-CE7C-C62CE3B83715}"/>
              </a:ext>
            </a:extLst>
          </p:cNvPr>
          <p:cNvSpPr txBox="1"/>
          <p:nvPr/>
        </p:nvSpPr>
        <p:spPr>
          <a:xfrm>
            <a:off x="1908505" y="5399136"/>
            <a:ext cx="1933575" cy="338554"/>
          </a:xfrm>
          <a:prstGeom prst="rect">
            <a:avLst/>
          </a:prstGeom>
          <a:noFill/>
        </p:spPr>
        <p:txBody>
          <a:bodyPr wrap="square" rtlCol="0">
            <a:spAutoFit/>
          </a:bodyPr>
          <a:lstStyle/>
          <a:p>
            <a:r>
              <a:rPr lang="en-US" sz="1600" dirty="0"/>
              <a:t>Generator loss:</a:t>
            </a:r>
          </a:p>
        </p:txBody>
      </p:sp>
      <p:sp>
        <p:nvSpPr>
          <p:cNvPr id="38" name="TextBox 37">
            <a:extLst>
              <a:ext uri="{FF2B5EF4-FFF2-40B4-BE49-F238E27FC236}">
                <a16:creationId xmlns:a16="http://schemas.microsoft.com/office/drawing/2014/main" id="{BA513D56-DDE9-FA8C-446E-C19AFCB6D9FC}"/>
              </a:ext>
            </a:extLst>
          </p:cNvPr>
          <p:cNvSpPr txBox="1"/>
          <p:nvPr/>
        </p:nvSpPr>
        <p:spPr>
          <a:xfrm>
            <a:off x="7953376" y="5420388"/>
            <a:ext cx="1933575" cy="338554"/>
          </a:xfrm>
          <a:prstGeom prst="rect">
            <a:avLst/>
          </a:prstGeom>
          <a:noFill/>
        </p:spPr>
        <p:txBody>
          <a:bodyPr wrap="square" rtlCol="0">
            <a:spAutoFit/>
          </a:bodyPr>
          <a:lstStyle/>
          <a:p>
            <a:r>
              <a:rPr lang="en-US" sz="1600" dirty="0"/>
              <a:t>Critic loss:</a:t>
            </a:r>
          </a:p>
        </p:txBody>
      </p:sp>
      <p:sp>
        <p:nvSpPr>
          <p:cNvPr id="2" name="TextBox 1">
            <a:extLst>
              <a:ext uri="{FF2B5EF4-FFF2-40B4-BE49-F238E27FC236}">
                <a16:creationId xmlns:a16="http://schemas.microsoft.com/office/drawing/2014/main" id="{ED36E155-93A6-DB97-AD50-8CD7A3439E82}"/>
              </a:ext>
            </a:extLst>
          </p:cNvPr>
          <p:cNvSpPr txBox="1"/>
          <p:nvPr/>
        </p:nvSpPr>
        <p:spPr>
          <a:xfrm>
            <a:off x="604361" y="2113631"/>
            <a:ext cx="491014" cy="276999"/>
          </a:xfrm>
          <a:prstGeom prst="rect">
            <a:avLst/>
          </a:prstGeom>
          <a:noFill/>
        </p:spPr>
        <p:txBody>
          <a:bodyPr wrap="square" rtlCol="0">
            <a:spAutoFit/>
          </a:bodyPr>
          <a:lstStyle/>
          <a:p>
            <a:r>
              <a:rPr lang="en-US" sz="1200" b="1" i="1" dirty="0">
                <a:solidFill>
                  <a:srgbClr val="44546A"/>
                </a:solidFill>
                <a:latin typeface="Calibri" panose="020F0502020204030204" pitchFamily="34" charset="0"/>
                <a:cs typeface="Cordia New" panose="020B0304020202020204" pitchFamily="34" charset="-34"/>
              </a:rPr>
              <a:t>Eq. 2</a:t>
            </a:r>
          </a:p>
        </p:txBody>
      </p:sp>
      <p:sp>
        <p:nvSpPr>
          <p:cNvPr id="8" name="TextBox 7">
            <a:extLst>
              <a:ext uri="{FF2B5EF4-FFF2-40B4-BE49-F238E27FC236}">
                <a16:creationId xmlns:a16="http://schemas.microsoft.com/office/drawing/2014/main" id="{7C1A4241-0AE9-FDBD-9093-36B6E7B3DE99}"/>
              </a:ext>
            </a:extLst>
          </p:cNvPr>
          <p:cNvSpPr txBox="1"/>
          <p:nvPr/>
        </p:nvSpPr>
        <p:spPr>
          <a:xfrm>
            <a:off x="575734" y="3391216"/>
            <a:ext cx="491014" cy="276999"/>
          </a:xfrm>
          <a:prstGeom prst="rect">
            <a:avLst/>
          </a:prstGeom>
          <a:noFill/>
        </p:spPr>
        <p:txBody>
          <a:bodyPr wrap="square" rtlCol="0">
            <a:spAutoFit/>
          </a:bodyPr>
          <a:lstStyle/>
          <a:p>
            <a:r>
              <a:rPr lang="en-US" sz="1200" b="1" i="1" dirty="0">
                <a:solidFill>
                  <a:srgbClr val="44546A"/>
                </a:solidFill>
                <a:latin typeface="Calibri" panose="020F0502020204030204" pitchFamily="34" charset="0"/>
                <a:cs typeface="Cordia New" panose="020B0304020202020204" pitchFamily="34" charset="-34"/>
              </a:rPr>
              <a:t>Eq. 3</a:t>
            </a:r>
          </a:p>
        </p:txBody>
      </p:sp>
      <p:sp>
        <p:nvSpPr>
          <p:cNvPr id="10" name="TextBox 9">
            <a:extLst>
              <a:ext uri="{FF2B5EF4-FFF2-40B4-BE49-F238E27FC236}">
                <a16:creationId xmlns:a16="http://schemas.microsoft.com/office/drawing/2014/main" id="{3974F467-E5D6-1493-C805-AD1FCC886230}"/>
              </a:ext>
            </a:extLst>
          </p:cNvPr>
          <p:cNvSpPr txBox="1"/>
          <p:nvPr/>
        </p:nvSpPr>
        <p:spPr>
          <a:xfrm>
            <a:off x="604361" y="4706204"/>
            <a:ext cx="491014" cy="276999"/>
          </a:xfrm>
          <a:prstGeom prst="rect">
            <a:avLst/>
          </a:prstGeom>
          <a:noFill/>
        </p:spPr>
        <p:txBody>
          <a:bodyPr wrap="square" rtlCol="0">
            <a:spAutoFit/>
          </a:bodyPr>
          <a:lstStyle/>
          <a:p>
            <a:r>
              <a:rPr lang="en-US" sz="1200" b="1" i="1" dirty="0">
                <a:solidFill>
                  <a:srgbClr val="44546A"/>
                </a:solidFill>
                <a:latin typeface="Calibri" panose="020F0502020204030204" pitchFamily="34" charset="0"/>
                <a:cs typeface="Cordia New" panose="020B0304020202020204" pitchFamily="34" charset="-34"/>
              </a:rPr>
              <a:t>Eq. 4</a:t>
            </a:r>
          </a:p>
        </p:txBody>
      </p:sp>
      <p:sp>
        <p:nvSpPr>
          <p:cNvPr id="13" name="TextBox 12">
            <a:extLst>
              <a:ext uri="{FF2B5EF4-FFF2-40B4-BE49-F238E27FC236}">
                <a16:creationId xmlns:a16="http://schemas.microsoft.com/office/drawing/2014/main" id="{1158E696-2DF5-FA0E-1F45-F8AB053969F8}"/>
              </a:ext>
            </a:extLst>
          </p:cNvPr>
          <p:cNvSpPr txBox="1"/>
          <p:nvPr/>
        </p:nvSpPr>
        <p:spPr>
          <a:xfrm>
            <a:off x="541816" y="5720197"/>
            <a:ext cx="491014" cy="276999"/>
          </a:xfrm>
          <a:prstGeom prst="rect">
            <a:avLst/>
          </a:prstGeom>
          <a:noFill/>
        </p:spPr>
        <p:txBody>
          <a:bodyPr wrap="square" rtlCol="0">
            <a:spAutoFit/>
          </a:bodyPr>
          <a:lstStyle/>
          <a:p>
            <a:r>
              <a:rPr lang="en-US" sz="1200" b="1" i="1" dirty="0">
                <a:solidFill>
                  <a:srgbClr val="44546A"/>
                </a:solidFill>
                <a:latin typeface="Calibri" panose="020F0502020204030204" pitchFamily="34" charset="0"/>
                <a:cs typeface="Cordia New" panose="020B0304020202020204" pitchFamily="34" charset="-34"/>
              </a:rPr>
              <a:t>Eq. 5</a:t>
            </a:r>
          </a:p>
        </p:txBody>
      </p:sp>
      <p:sp>
        <p:nvSpPr>
          <p:cNvPr id="16" name="TextBox 15">
            <a:extLst>
              <a:ext uri="{FF2B5EF4-FFF2-40B4-BE49-F238E27FC236}">
                <a16:creationId xmlns:a16="http://schemas.microsoft.com/office/drawing/2014/main" id="{0DEE825C-99B1-84DF-4F95-5E702B8FAE69}"/>
              </a:ext>
            </a:extLst>
          </p:cNvPr>
          <p:cNvSpPr txBox="1"/>
          <p:nvPr/>
        </p:nvSpPr>
        <p:spPr>
          <a:xfrm>
            <a:off x="5196827" y="5795922"/>
            <a:ext cx="491014" cy="276999"/>
          </a:xfrm>
          <a:prstGeom prst="rect">
            <a:avLst/>
          </a:prstGeom>
          <a:noFill/>
        </p:spPr>
        <p:txBody>
          <a:bodyPr wrap="square" rtlCol="0">
            <a:spAutoFit/>
          </a:bodyPr>
          <a:lstStyle/>
          <a:p>
            <a:r>
              <a:rPr lang="en-US" sz="1200" b="1" i="1" dirty="0">
                <a:solidFill>
                  <a:srgbClr val="44546A"/>
                </a:solidFill>
                <a:latin typeface="Calibri" panose="020F0502020204030204" pitchFamily="34" charset="0"/>
                <a:cs typeface="Cordia New" panose="020B0304020202020204" pitchFamily="34" charset="-34"/>
              </a:rPr>
              <a:t>Eq. 6</a:t>
            </a:r>
          </a:p>
        </p:txBody>
      </p:sp>
    </p:spTree>
    <p:custDataLst>
      <p:tags r:id="rId1"/>
    </p:custDataLst>
    <p:extLst>
      <p:ext uri="{BB962C8B-B14F-4D97-AF65-F5344CB8AC3E}">
        <p14:creationId xmlns:p14="http://schemas.microsoft.com/office/powerpoint/2010/main" val="3462726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500"/>
                                        <p:tgtEl>
                                          <p:spTgt spid="30"/>
                                        </p:tgtEl>
                                      </p:cBhvr>
                                    </p:animEffect>
                                  </p:childTnLst>
                                </p:cTn>
                              </p:par>
                            </p:childTnLst>
                          </p:cTn>
                        </p:par>
                        <p:par>
                          <p:cTn id="34" fill="hold">
                            <p:stCondLst>
                              <p:cond delay="500"/>
                            </p:stCondLst>
                            <p:childTnLst>
                              <p:par>
                                <p:cTn id="35" presetID="10" presetClass="entr" presetSubtype="0"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par>
                          <p:cTn id="38" fill="hold">
                            <p:stCondLst>
                              <p:cond delay="1000"/>
                            </p:stCondLst>
                            <p:childTnLst>
                              <p:par>
                                <p:cTn id="39" presetID="10" presetClass="entr" presetSubtype="0" fill="hold" grpId="0" nodeType="after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00"/>
                                        <p:tgtEl>
                                          <p:spTgt spid="2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500"/>
                                        <p:tgtEl>
                                          <p:spTgt spid="3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500"/>
                                        <p:tgtEl>
                                          <p:spTgt spid="35"/>
                                        </p:tgtEl>
                                      </p:cBhvr>
                                    </p:animEffect>
                                  </p:childTnLst>
                                </p:cTn>
                              </p:par>
                            </p:childTnLst>
                          </p:cTn>
                        </p:par>
                        <p:par>
                          <p:cTn id="50" fill="hold">
                            <p:stCondLst>
                              <p:cond delay="500"/>
                            </p:stCondLst>
                            <p:childTnLst>
                              <p:par>
                                <p:cTn id="51" presetID="10" presetClass="entr" presetSubtype="0" fill="hold" grpId="0" nodeType="after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500"/>
                                        <p:tgtEl>
                                          <p:spTgt spid="1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fade">
                                      <p:cBhvr>
                                        <p:cTn id="56" dur="500"/>
                                        <p:tgtEl>
                                          <p:spTgt spid="34"/>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fade">
                                      <p:cBhvr>
                                        <p:cTn id="61" dur="500"/>
                                        <p:tgtEl>
                                          <p:spTgt spid="3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fade">
                                      <p:cBhvr>
                                        <p:cTn id="64" dur="500"/>
                                        <p:tgtEl>
                                          <p:spTgt spid="38"/>
                                        </p:tgtEl>
                                      </p:cBhvr>
                                    </p:animEffect>
                                  </p:childTnLst>
                                </p:cTn>
                              </p:par>
                            </p:childTnLst>
                          </p:cTn>
                        </p:par>
                        <p:par>
                          <p:cTn id="65" fill="hold">
                            <p:stCondLst>
                              <p:cond delay="500"/>
                            </p:stCondLst>
                            <p:childTnLst>
                              <p:par>
                                <p:cTn id="66" presetID="10" presetClass="entr" presetSubtype="0" fill="hold" grpId="0" nodeType="after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500"/>
                                        <p:tgtEl>
                                          <p:spTgt spid="1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1" grpId="0"/>
      <p:bldP spid="17" grpId="0"/>
      <p:bldP spid="19" grpId="0"/>
      <p:bldP spid="27" grpId="0"/>
      <p:bldP spid="28" grpId="0" animBg="1"/>
      <p:bldP spid="30" grpId="0"/>
      <p:bldP spid="32" grpId="0" animBg="1"/>
      <p:bldP spid="34" grpId="0" animBg="1"/>
      <p:bldP spid="35" grpId="0" animBg="1"/>
      <p:bldP spid="36" grpId="0" animBg="1"/>
      <p:bldP spid="37" grpId="0"/>
      <p:bldP spid="38" grpId="0"/>
      <p:bldP spid="8" grpId="0"/>
      <p:bldP spid="10" grpId="0"/>
      <p:bldP spid="13" grpId="0"/>
      <p:bldP spid="16" grpId="0"/>
    </p:bldLst>
  </p:timing>
  <p:extLst>
    <p:ext uri="{3A86A75C-4F4B-4683-9AE1-C65F6400EC91}">
      <p14:laserTraceLst xmlns:p14="http://schemas.microsoft.com/office/powerpoint/2010/main">
        <p14:tracePtLst>
          <p14:tracePt t="8650" x="2882900" y="6203950"/>
          <p14:tracePt t="9182" x="4587875" y="6791325"/>
          <p14:tracePt t="9190" x="5334000" y="6678613"/>
          <p14:tracePt t="9198" x="6261100" y="6554788"/>
          <p14:tracePt t="9204" x="6743700" y="6461125"/>
          <p14:tracePt t="9205" x="7226300" y="6365875"/>
          <p14:tracePt t="9215" x="8153400" y="6243638"/>
          <p14:tracePt t="9222" x="8947150" y="6157913"/>
          <p14:tracePt t="9231" x="9761538" y="6035675"/>
          <p14:tracePt t="9237" x="10517188" y="5921375"/>
          <p14:tracePt t="9241" x="10848975" y="5902325"/>
          <p14:tracePt t="9248" x="11152188" y="5873750"/>
          <p14:tracePt t="9253" x="11425238" y="5845175"/>
          <p14:tracePt t="9254" x="11671300" y="5827713"/>
          <p14:tracePt t="11208" x="12087225" y="5041900"/>
          <p14:tracePt t="11219" x="12012613" y="5041900"/>
          <p14:tracePt t="11233" x="11283950" y="4956175"/>
          <p14:tracePt t="11248" x="10717213" y="4891088"/>
          <p14:tracePt t="11265" x="10215563" y="4946650"/>
          <p14:tracePt t="11271" x="9921875" y="5013325"/>
          <p14:tracePt t="11283" x="9666288" y="5099050"/>
          <p14:tracePt t="11288" x="9317038" y="5211763"/>
          <p14:tracePt t="11298" x="8994775" y="5278438"/>
          <p14:tracePt t="11304" x="8701088" y="5372100"/>
          <p14:tracePt t="11307" x="8597900" y="5438775"/>
          <p14:tracePt t="11318" x="8342313" y="5524500"/>
          <p14:tracePt t="11322" x="8239125" y="5562600"/>
          <p14:tracePt t="11323" x="8162925" y="5600700"/>
          <p14:tracePt t="11333" x="8012113" y="5694363"/>
          <p14:tracePt t="11337" x="7983538" y="5694363"/>
          <p14:tracePt t="11339" x="7945438" y="5732463"/>
          <p14:tracePt t="11349" x="7859713" y="5799138"/>
          <p14:tracePt t="11365" x="7718425" y="5940425"/>
          <p14:tracePt t="11371" x="7689850" y="5969000"/>
          <p14:tracePt t="11381" x="7632700" y="6026150"/>
          <p14:tracePt t="11387" x="7585075" y="6072188"/>
          <p14:tracePt t="11398" x="7575550" y="6081713"/>
          <p14:tracePt t="11691" x="7594600" y="6081713"/>
          <p14:tracePt t="11696" x="7623175" y="6062663"/>
          <p14:tracePt t="11706" x="7651750" y="6035675"/>
          <p14:tracePt t="11714" x="7680325" y="5978525"/>
          <p14:tracePt t="11720" x="7708900" y="5949950"/>
          <p14:tracePt t="11722" x="7727950" y="5940425"/>
          <p14:tracePt t="11733" x="7766050" y="5892800"/>
          <p14:tracePt t="11737" x="7793038" y="5854700"/>
          <p14:tracePt t="11741" x="7812088" y="5818188"/>
          <p14:tracePt t="11748" x="7812088" y="5808663"/>
          <p14:tracePt t="11766" x="7850188" y="5770563"/>
          <p14:tracePt t="11771" x="7869238" y="5751513"/>
          <p14:tracePt t="11773" x="7897813" y="5722938"/>
          <p14:tracePt t="11785" x="7926388" y="5665788"/>
          <p14:tracePt t="11798" x="8020050" y="5505450"/>
          <p14:tracePt t="11815" x="8096250" y="5326063"/>
          <p14:tracePt t="11822" x="8153400" y="5240338"/>
          <p14:tracePt t="11825" x="8153400" y="5211763"/>
          <p14:tracePt t="11830" x="8153400" y="5183188"/>
          <p14:tracePt t="11848" x="8181975" y="5080000"/>
          <p14:tracePt t="11853" x="8181975" y="5070475"/>
          <p14:tracePt t="11929" x="8181975" y="5051425"/>
          <p14:tracePt t="11937" x="8181975" y="5013325"/>
          <p14:tracePt t="11944" x="8181975" y="5003800"/>
          <p14:tracePt t="11962" x="8181975" y="4946650"/>
          <p14:tracePt t="11973" x="8181975" y="4891088"/>
          <p14:tracePt t="11981" x="8181975" y="4862513"/>
          <p14:tracePt t="11987" x="8181975" y="4843463"/>
          <p14:tracePt t="11990" x="8181975" y="4814888"/>
          <p14:tracePt t="11998" x="8181975" y="4776788"/>
          <p14:tracePt t="12027" x="8134350" y="4683125"/>
          <p14:tracePt t="12036" x="8134350" y="4664075"/>
          <p14:tracePt t="12040" x="8124825" y="4654550"/>
          <p14:tracePt t="12045" x="8105775" y="4645025"/>
          <p14:tracePt t="12170" x="8191500" y="4568825"/>
          <p14:tracePt t="12189" x="8380413" y="4473575"/>
          <p14:tracePt t="12198" x="8502650" y="4437063"/>
          <p14:tracePt t="12203" x="8607425" y="4418013"/>
          <p14:tracePt t="12214" x="8796338" y="4370388"/>
          <p14:tracePt t="12221" x="8937625" y="4332288"/>
          <p14:tracePt t="12227" x="9013825" y="4294188"/>
          <p14:tracePt t="12230" x="9061450" y="4256088"/>
          <p14:tracePt t="12239" x="9202738" y="4246563"/>
          <p14:tracePt t="12251" x="9317038" y="4229100"/>
          <p14:tracePt t="12254" x="9467850" y="4152900"/>
          <p14:tracePt t="12266" x="9912350" y="4124325"/>
          <p14:tracePt t="12271" x="10036175" y="4124325"/>
          <p14:tracePt t="12285" x="10139363" y="4124325"/>
          <p14:tracePt t="12308" x="10290175" y="4124325"/>
          <p14:tracePt t="12312" x="10318750" y="4124325"/>
          <p14:tracePt t="12322" x="10356850" y="4124325"/>
          <p14:tracePt t="12336" x="10394950" y="4124325"/>
          <p14:tracePt t="12360" x="10442575" y="4143375"/>
          <p14:tracePt t="12367" x="10498138" y="4171950"/>
          <p14:tracePt t="12375" x="10536238" y="4219575"/>
          <p14:tracePt t="12379" x="10545763" y="4229100"/>
          <p14:tracePt t="12385" x="10593388" y="4265613"/>
          <p14:tracePt t="12406" x="10602913" y="4284663"/>
          <p14:tracePt t="12806" x="10631488" y="4284663"/>
          <p14:tracePt t="12811" x="10641013" y="4284663"/>
          <p14:tracePt t="12895" x="10669588" y="4284663"/>
          <p14:tracePt t="12900" x="10688638" y="4284663"/>
          <p14:tracePt t="12901" x="10698163" y="4294188"/>
          <p14:tracePt t="12926" x="10707688" y="4313238"/>
          <p14:tracePt t="12942" x="10725150" y="4313238"/>
          <p14:tracePt t="12950" x="10753725" y="4322763"/>
          <p14:tracePt t="12967" x="10763250" y="4332288"/>
          <p14:tracePt t="12973" x="10772775" y="4332288"/>
          <p14:tracePt t="12982" x="10791825" y="4332288"/>
          <p14:tracePt t="12986" x="10801350" y="4351338"/>
          <p14:tracePt t="12998" x="10810875" y="4360863"/>
          <p14:tracePt t="13015" x="10848975" y="4389438"/>
          <p14:tracePt t="13033" x="10896600" y="4418013"/>
          <p14:tracePt t="13048" x="10906125" y="4427538"/>
          <p14:tracePt t="13432" x="10906125" y="4408488"/>
          <p14:tracePt t="13441" x="10906125" y="4379913"/>
          <p14:tracePt t="13450" x="10906125" y="4370388"/>
          <p14:tracePt t="13465" x="10848975" y="4294188"/>
          <p14:tracePt t="13484" x="10763250" y="4256088"/>
          <p14:tracePt t="13488" x="10725150" y="4237038"/>
          <p14:tracePt t="13491" x="10669588" y="4210050"/>
          <p14:tracePt t="13501" x="10602913" y="4171950"/>
          <p14:tracePt t="13505" x="10564813" y="4171950"/>
          <p14:tracePt t="13518" x="10394950" y="4105275"/>
          <p14:tracePt t="13521" x="10318750" y="4086225"/>
          <p14:tracePt t="13523" x="10244138" y="4029075"/>
          <p14:tracePt t="13535" x="10120313" y="3954463"/>
          <p14:tracePt t="13551" x="9836150" y="3746500"/>
          <p14:tracePt t="13564" x="8729663" y="3575050"/>
          <p14:tracePt t="13580" x="8039100" y="3386138"/>
          <p14:tracePt t="13586" x="7878763" y="3338513"/>
          <p14:tracePt t="13588" x="7718425" y="3273425"/>
          <p14:tracePt t="13597" x="7453313" y="3159125"/>
          <p14:tracePt t="13603" x="7104063" y="3046413"/>
          <p14:tracePt t="13616" x="6602413" y="2932113"/>
          <p14:tracePt t="13621" x="6413500" y="2903538"/>
          <p14:tracePt t="13623" x="6261100" y="2884488"/>
          <p14:tracePt t="13632" x="5940425" y="2838450"/>
          <p14:tracePt t="13649" x="5410200" y="2771775"/>
          <p14:tracePt t="13653" x="5287963" y="2771775"/>
          <p14:tracePt t="13655" x="5164138" y="2771775"/>
          <p14:tracePt t="13664" x="4937125" y="2733675"/>
          <p14:tracePt t="13687" x="4435475" y="2686050"/>
          <p14:tracePt t="13692" x="4189413" y="2686050"/>
          <p14:tracePt t="13696" x="4095750" y="2686050"/>
          <p14:tracePt t="13702" x="4000500" y="2686050"/>
          <p14:tracePt t="13704" x="3906838" y="2686050"/>
          <p14:tracePt t="13707" x="3840163" y="2686050"/>
          <p14:tracePt t="13713" x="3773488" y="2686050"/>
          <p14:tracePt t="13716" x="3679825" y="2686050"/>
          <p14:tracePt t="13721" x="3613150" y="2686050"/>
          <p14:tracePt t="13722" x="3546475" y="2686050"/>
          <p14:tracePt t="13727" x="3452813" y="2686050"/>
          <p14:tracePt t="13732" x="3386138" y="2686050"/>
          <p14:tracePt t="13747" x="3017838" y="2686050"/>
          <p14:tracePt t="13782" x="2155825" y="2592388"/>
          <p14:tracePt t="13788" x="1928813" y="2544763"/>
          <p14:tracePt t="13792" x="1825625" y="2525713"/>
          <p14:tracePt t="13798" x="1701800" y="2525713"/>
          <p14:tracePt t="13800" x="1608138" y="2525713"/>
          <p14:tracePt t="13804" x="1541463" y="2506663"/>
          <p14:tracePt t="13817" x="1304925" y="2468563"/>
          <p14:tracePt t="13820" x="1276350" y="2468563"/>
          <p14:tracePt t="13842" x="1116013" y="2439988"/>
          <p14:tracePt t="13845" x="1058863" y="2401888"/>
          <p14:tracePt t="13856" x="993775" y="2374900"/>
          <p14:tracePt t="13860" x="955675" y="2374900"/>
          <p14:tracePt t="13870" x="898525" y="2346325"/>
          <p14:tracePt t="13892" x="803275" y="2346325"/>
          <p14:tracePt t="13904" x="785813" y="2346325"/>
          <p14:tracePt t="13920" x="766763" y="2346325"/>
          <p14:tracePt t="15598" x="812800" y="2346325"/>
          <p14:tracePt t="15604" x="822325" y="2346325"/>
          <p14:tracePt t="15876" x="908050" y="2346325"/>
          <p14:tracePt t="15885" x="917575" y="2355850"/>
          <p14:tracePt t="16095" x="955675" y="2365375"/>
          <p14:tracePt t="16106" x="1012825" y="2365375"/>
          <p14:tracePt t="16126" x="1049338" y="2365375"/>
          <p14:tracePt t="16136" x="1077913" y="2365375"/>
          <p14:tracePt t="16154" x="1135063" y="2365375"/>
          <p14:tracePt t="16164" x="1144588" y="2365375"/>
          <p14:tracePt t="16180" x="1154113" y="2365375"/>
          <p14:tracePt t="16204" x="1201738" y="2365375"/>
          <p14:tracePt t="16220" x="1211263" y="2365375"/>
          <p14:tracePt t="16237" x="1211263" y="2317750"/>
          <p14:tracePt t="16850" x="1220788" y="2308225"/>
          <p14:tracePt t="16857" x="1295400" y="2308225"/>
          <p14:tracePt t="16865" x="1314450" y="2308225"/>
          <p14:tracePt t="16873" x="1333500" y="2327275"/>
          <p14:tracePt t="16902" x="1362075" y="2327275"/>
          <p14:tracePt t="16907" x="1371600" y="2327275"/>
          <p14:tracePt t="16950" x="1381125" y="2317750"/>
          <p14:tracePt t="17455" x="1381125" y="2308225"/>
          <p14:tracePt t="17473" x="1371600" y="2308225"/>
          <p14:tracePt t="17484" x="1352550" y="2308225"/>
          <p14:tracePt t="17626" x="1371600" y="2308225"/>
          <p14:tracePt t="17645" x="1522413" y="2336800"/>
          <p14:tracePt t="17650" x="1531938" y="2336800"/>
          <p14:tracePt t="17654" x="1608138" y="2365375"/>
          <p14:tracePt t="17657" x="1646238" y="2365375"/>
          <p14:tracePt t="17662" x="1674813" y="2365375"/>
          <p14:tracePt t="17665" x="1701800" y="2365375"/>
          <p14:tracePt t="17670" x="1730375" y="2365375"/>
          <p14:tracePt t="17683" x="1787525" y="2393950"/>
          <p14:tracePt t="17685" x="1816100" y="2393950"/>
          <p14:tracePt t="17700" x="1863725" y="2393950"/>
          <p14:tracePt t="17715" x="1947863" y="2393950"/>
          <p14:tracePt t="17740" x="2043113" y="2393950"/>
          <p14:tracePt t="17744" x="2071688" y="2393950"/>
          <p14:tracePt t="17882" x="2081213" y="2374900"/>
          <p14:tracePt t="17897" x="2203450" y="2374900"/>
          <p14:tracePt t="17910" x="2382838" y="2478088"/>
          <p14:tracePt t="17923" x="2609850" y="2628900"/>
          <p14:tracePt t="17927" x="2686050" y="2667000"/>
          <p14:tracePt t="17935" x="3140075" y="2752725"/>
          <p14:tracePt t="17962" x="4956175" y="2903538"/>
          <p14:tracePt t="17970" x="5362575" y="2951163"/>
          <p14:tracePt t="17973" x="5541963" y="2970213"/>
          <p14:tracePt t="17980" x="5703888" y="2998788"/>
          <p14:tracePt t="17985" x="5826125" y="3017838"/>
          <p14:tracePt t="17987" x="5959475" y="3036888"/>
          <p14:tracePt t="17992" x="6015038" y="3036888"/>
          <p14:tracePt t="18001" x="6081713" y="3036888"/>
          <p14:tracePt t="18003" x="6110288" y="3036888"/>
          <p14:tracePt t="18054" x="6129338" y="3036888"/>
          <p14:tracePt t="18065" x="6138863" y="3036888"/>
          <p14:tracePt t="18081" x="6270625" y="3074988"/>
          <p14:tracePt t="18094" x="6403975" y="3074988"/>
          <p14:tracePt t="18102" x="6611938" y="3101975"/>
          <p14:tracePt t="18106" x="6659563" y="3140075"/>
          <p14:tracePt t="18109" x="6724650" y="3140075"/>
          <p14:tracePt t="18117" x="6791325" y="3140075"/>
          <p14:tracePt t="18120" x="6848475" y="3178175"/>
          <p14:tracePt t="18122" x="6913563" y="3178175"/>
          <p14:tracePt t="18130" x="7065963" y="3244850"/>
          <p14:tracePt t="18135" x="7112000" y="3263900"/>
          <p14:tracePt t="18137" x="7178675" y="3282950"/>
          <p14:tracePt t="18158" x="7539038" y="3490913"/>
          <p14:tracePt t="18162" x="7613650" y="3546475"/>
          <p14:tracePt t="18168" x="7661275" y="3546475"/>
          <p14:tracePt t="18172" x="7812088" y="3622675"/>
          <p14:tracePt t="18179" x="7888288" y="3660775"/>
          <p14:tracePt t="18183" x="7935913" y="3679825"/>
          <p14:tracePt t="18186" x="8002588" y="3698875"/>
          <p14:tracePt t="18190" x="8077200" y="3736975"/>
          <p14:tracePt t="18198" x="8201025" y="3773488"/>
          <p14:tracePt t="18203" x="8220075" y="3783013"/>
          <p14:tracePt t="18220" x="8229600" y="3792538"/>
          <p14:tracePt t="18237" x="8239125" y="3811588"/>
          <p14:tracePt t="18248" x="8256588" y="3859213"/>
          <p14:tracePt t="18253" x="8266113" y="3878263"/>
          <p14:tracePt t="18264" x="8275638" y="3887788"/>
          <p14:tracePt t="18287" x="8323263" y="3897313"/>
          <p14:tracePt t="18436" x="8332788" y="3868738"/>
          <p14:tracePt t="18452" x="8408988" y="3783013"/>
          <p14:tracePt t="18469" x="8447088" y="3773488"/>
          <p14:tracePt t="18477" x="8483600" y="3746500"/>
          <p14:tracePt t="18484" x="8540750" y="3727450"/>
          <p14:tracePt t="18492" x="8578850" y="3717925"/>
          <p14:tracePt t="18495" x="8616950" y="3679825"/>
          <p14:tracePt t="18503" x="8655050" y="3670300"/>
          <p14:tracePt t="18513" x="8739188" y="3651250"/>
          <p14:tracePt t="18518" x="8786813" y="3622675"/>
          <p14:tracePt t="18521" x="8834438" y="3584575"/>
          <p14:tracePt t="18530" x="8937625" y="3584575"/>
          <p14:tracePt t="18535" x="9004300" y="3584575"/>
          <p14:tracePt t="18536" x="9051925" y="3546475"/>
          <p14:tracePt t="18558" x="9307513" y="3519488"/>
          <p14:tracePt t="18562" x="9448800" y="3481388"/>
          <p14:tracePt t="18568" x="9515475" y="3481388"/>
          <p14:tracePt t="18572" x="9637713" y="3481388"/>
          <p14:tracePt t="18575" x="9704388" y="3481388"/>
          <p14:tracePt t="18583" x="9818688" y="3481388"/>
          <p14:tracePt t="18608" x="10887075" y="3529013"/>
          <p14:tracePt t="18614" x="10980738" y="3546475"/>
          <p14:tracePt t="18619" x="11009313" y="3546475"/>
          <p14:tracePt t="18622" x="11056938" y="3565525"/>
          <p14:tracePt t="18624" x="11114088" y="3584575"/>
          <p14:tracePt t="18632" x="11171238" y="3613150"/>
          <p14:tracePt t="18634" x="11188700" y="3613150"/>
          <p14:tracePt t="18656" x="11255375" y="3660775"/>
          <p14:tracePt t="18815" x="11217275" y="3622675"/>
          <p14:tracePt t="18823" x="11217275" y="3584575"/>
          <p14:tracePt t="18829" x="11217275" y="3546475"/>
          <p14:tracePt t="18834" x="11217275" y="3519488"/>
          <p14:tracePt t="18837" x="11217275" y="3509963"/>
          <p14:tracePt t="18842" x="11226800" y="3490913"/>
          <p14:tracePt t="18843" x="11255375" y="3490913"/>
          <p14:tracePt t="18853" x="11293475" y="3443288"/>
          <p14:tracePt t="18871" x="11388725" y="3414713"/>
          <p14:tracePt t="18875" x="11501438" y="3414713"/>
          <p14:tracePt t="18877" x="11549063" y="3395663"/>
          <p14:tracePt t="18887" x="11737975" y="3386138"/>
          <p14:tracePt t="18901" x="11869738" y="3386138"/>
          <p14:tracePt t="18903" x="11993563" y="3386138"/>
          <p14:tracePt t="21662" x="11993563" y="5287963"/>
          <p14:tracePt t="21667" x="11718925" y="5287963"/>
          <p14:tracePt t="21671" x="11568113" y="5287963"/>
          <p14:tracePt t="21679" x="11444288" y="5287963"/>
          <p14:tracePt t="21682" x="11322050" y="5287963"/>
          <p14:tracePt t="21692" x="10961688" y="5230813"/>
          <p14:tracePt t="21700" x="10839450" y="5211763"/>
          <p14:tracePt t="21710" x="10394950" y="5173663"/>
          <p14:tracePt t="21720" x="10139363" y="5127625"/>
          <p14:tracePt t="21730" x="9902825" y="5041900"/>
          <p14:tracePt t="21735" x="9809163" y="5003800"/>
          <p14:tracePt t="21737" x="9704388" y="4984750"/>
          <p14:tracePt t="21748" x="9372600" y="4852988"/>
          <p14:tracePt t="21752" x="9297988" y="4814888"/>
          <p14:tracePt t="21754" x="9240838" y="4805363"/>
          <p14:tracePt t="21765" x="9164638" y="4767263"/>
          <p14:tracePt t="21780" x="9004300" y="4691063"/>
          <p14:tracePt t="21798" x="8901113" y="4645025"/>
          <p14:tracePt t="21803" x="8863013" y="4635500"/>
          <p14:tracePt t="21829" x="8748713" y="4578350"/>
          <p14:tracePt t="21838" x="8710613" y="4578350"/>
          <p14:tracePt t="21840" x="8655050" y="4540250"/>
          <p14:tracePt t="21848" x="8597900" y="4511675"/>
          <p14:tracePt t="21864" x="8399463" y="4437063"/>
          <p14:tracePt t="21880" x="8239125" y="4437063"/>
          <p14:tracePt t="21909" x="8124825" y="4389438"/>
          <p14:tracePt t="21925" x="8124825" y="4341813"/>
          <p14:tracePt t="21928" x="8124825" y="4322763"/>
          <p14:tracePt t="21934" x="8124825" y="4313238"/>
          <p14:tracePt t="21962" x="8143875" y="4303713"/>
          <p14:tracePt t="22006" x="8153400" y="4284663"/>
          <p14:tracePt t="22026" x="8162925" y="4275138"/>
          <p14:tracePt t="22040" x="8191500" y="4219575"/>
          <p14:tracePt t="22046" x="8191500" y="4210050"/>
          <p14:tracePt t="22136" x="8201025" y="4200525"/>
          <p14:tracePt t="22168" x="8256588" y="4256088"/>
          <p14:tracePt t="22180" x="8294688" y="4332288"/>
          <p14:tracePt t="22186" x="8294688" y="4370388"/>
          <p14:tracePt t="22192" x="8313738" y="4398963"/>
          <p14:tracePt t="22203" x="8342313" y="4427538"/>
          <p14:tracePt t="22238" x="8351838" y="4437063"/>
          <p14:tracePt t="22257" x="8399463" y="4437063"/>
          <p14:tracePt t="22273" x="8521700" y="4389438"/>
          <p14:tracePt t="22276" x="8550275" y="4360863"/>
          <p14:tracePt t="22287" x="8626475" y="4284663"/>
          <p14:tracePt t="22296" x="8693150" y="4219575"/>
          <p14:tracePt t="22301" x="8739188" y="4171950"/>
          <p14:tracePt t="22302" x="8748713" y="4162425"/>
          <p14:tracePt t="22314" x="8824913" y="4086225"/>
          <p14:tracePt t="22319" x="8872538" y="4038600"/>
          <p14:tracePt t="22333" x="8937625" y="3916363"/>
          <p14:tracePt t="22336" x="8937625" y="3897313"/>
          <p14:tracePt t="22358" x="9013825" y="3783013"/>
          <p14:tracePt t="22366" x="9061450" y="3651250"/>
          <p14:tracePt t="22372" x="9070975" y="3613150"/>
          <p14:tracePt t="22380" x="9109075" y="3529013"/>
          <p14:tracePt t="22389" x="9137650" y="3471863"/>
          <p14:tracePt t="22398" x="9155113" y="3386138"/>
          <p14:tracePt t="22402" x="9164638" y="3376613"/>
          <p14:tracePt t="22414" x="9212263" y="3311525"/>
          <p14:tracePt t="22449" x="9288463" y="3101975"/>
          <p14:tracePt t="22458" x="9317038" y="2960688"/>
          <p14:tracePt t="22462" x="9345613" y="2903538"/>
          <p14:tracePt t="22465" x="9345613" y="2874963"/>
          <p14:tracePt t="22471" x="9345613" y="2828925"/>
          <p14:tracePt t="22473" x="9382125" y="2781300"/>
          <p14:tracePt t="22479" x="9382125" y="2733675"/>
          <p14:tracePt t="22484" x="9382125" y="2705100"/>
          <p14:tracePt t="22498" x="9410700" y="2563813"/>
          <p14:tracePt t="22502" x="9410700" y="2554288"/>
          <p14:tracePt t="22529" x="9410700" y="2487613"/>
          <p14:tracePt t="22542" x="9410700" y="2459038"/>
          <p14:tracePt t="22544" x="9410700" y="2439988"/>
          <p14:tracePt t="22555" x="9410700" y="2411413"/>
          <p14:tracePt t="22563" x="9410700" y="2374900"/>
          <p14:tracePt t="22589" x="9391650" y="2270125"/>
          <p14:tracePt t="22592" x="9364663" y="2222500"/>
          <p14:tracePt t="22603" x="9336088" y="2157413"/>
          <p14:tracePt t="22621" x="9336088" y="2100263"/>
          <p14:tracePt t="22626" x="9307513" y="2043113"/>
          <p14:tracePt t="22629" x="9307513" y="1966913"/>
          <p14:tracePt t="22634" x="9307513" y="1957388"/>
          <p14:tracePt t="22638" x="9307513" y="1930400"/>
          <p14:tracePt t="22639" x="9307513" y="1920875"/>
          <p14:tracePt t="22644" x="9307513" y="1892300"/>
          <p14:tracePt t="22652" x="9307513" y="1835150"/>
          <p14:tracePt t="22668" x="9278938" y="1778000"/>
          <p14:tracePt t="22676" x="9278938" y="1693863"/>
          <p14:tracePt t="22688" x="9278938" y="1627188"/>
          <p14:tracePt t="22708" x="9231313" y="1522413"/>
          <p14:tracePt t="22712" x="9231313" y="1512888"/>
          <p14:tracePt t="22723" x="9231313" y="1485900"/>
          <p14:tracePt t="22729" x="9231313" y="1476375"/>
          <p14:tracePt t="22857" x="9231313" y="1512888"/>
          <p14:tracePt t="22869" x="9231313" y="1570038"/>
          <p14:tracePt t="22878" x="9231313" y="1627188"/>
          <p14:tracePt t="22889" x="9288463" y="1693863"/>
          <p14:tracePt t="22898" x="9326563" y="1739900"/>
          <p14:tracePt t="22904" x="9326563" y="1835150"/>
          <p14:tracePt t="22909" x="9355138" y="1892300"/>
          <p14:tracePt t="22912" x="9355138" y="1901825"/>
          <p14:tracePt t="22914" x="9355138" y="1930400"/>
          <p14:tracePt t="22919" x="9355138" y="1976438"/>
          <p14:tracePt t="22921" x="9372600" y="2005013"/>
          <p14:tracePt t="22931" x="9391650" y="2071688"/>
          <p14:tracePt t="22961" x="9420225" y="2308225"/>
          <p14:tracePt t="22968" x="9420225" y="2374900"/>
          <p14:tracePt t="22972" x="9420225" y="2401888"/>
          <p14:tracePt t="22974" x="9420225" y="2430463"/>
          <p14:tracePt t="22982" x="9420225" y="2497138"/>
          <p14:tracePt t="22985" x="9420225" y="2554288"/>
          <p14:tracePt t="22989" x="9420225" y="2582863"/>
          <p14:tracePt t="22996" x="9420225" y="2611438"/>
          <p14:tracePt t="23002" x="9420225" y="2686050"/>
          <p14:tracePt t="23004" x="9420225" y="2724150"/>
          <p14:tracePt t="23024" x="9420225" y="2932113"/>
          <p14:tracePt t="23027" x="9420225" y="2998788"/>
          <p14:tracePt t="23037" x="9401175" y="3130550"/>
          <p14:tracePt t="23048" x="9401175" y="3187700"/>
          <p14:tracePt t="23072" x="9364663" y="3433763"/>
          <p14:tracePt t="23075" x="9364663" y="3509963"/>
          <p14:tracePt t="23087" x="9364663" y="3594100"/>
          <p14:tracePt t="23099" x="9364663" y="3670300"/>
          <p14:tracePt t="23103" x="9364663" y="3698875"/>
          <p14:tracePt t="23105" x="9364663" y="3708400"/>
          <p14:tracePt t="23121" x="9364663" y="3773488"/>
          <p14:tracePt t="23131" x="9364663" y="3792538"/>
          <p14:tracePt t="23194" x="9382125" y="3830638"/>
          <p14:tracePt t="23200" x="9382125" y="3840163"/>
          <p14:tracePt t="23219" x="9382125" y="3868738"/>
          <p14:tracePt t="23224" x="9391650" y="3897313"/>
          <p14:tracePt t="23236" x="9410700" y="3906838"/>
          <p14:tracePt t="23282" x="9420225" y="3925888"/>
          <p14:tracePt t="23316" x="9609138" y="3925888"/>
          <p14:tracePt t="23318" x="9618663" y="3925888"/>
          <p14:tracePt t="23323" x="9647238" y="3906838"/>
          <p14:tracePt t="23336" x="9780588" y="3868738"/>
          <p14:tracePt t="23338" x="9790113" y="3859213"/>
          <p14:tracePt t="23342" x="9818688" y="3859213"/>
          <p14:tracePt t="23352" x="9893300" y="3859213"/>
          <p14:tracePt t="23374" x="9969500" y="3859213"/>
          <p14:tracePt t="23378" x="10026650" y="3859213"/>
          <p14:tracePt t="23384" x="10053638" y="3859213"/>
          <p14:tracePt t="23387" x="10082213" y="3859213"/>
          <p14:tracePt t="23393" x="10110788" y="3859213"/>
          <p14:tracePt t="23400" x="10139363" y="3859213"/>
          <p14:tracePt t="23414" x="10253663" y="3859213"/>
          <p14:tracePt t="23445" x="10480675" y="3859213"/>
          <p14:tracePt t="23449" x="10507663" y="3859213"/>
          <p14:tracePt t="23457" x="10602913" y="3859213"/>
          <p14:tracePt t="23464" x="10641013" y="3859213"/>
          <p14:tracePt t="23488" x="10734675" y="3859213"/>
          <p14:tracePt t="23492" x="10782300" y="3859213"/>
          <p14:tracePt t="23494" x="10801350" y="3859213"/>
          <p14:tracePt t="23503" x="10848975" y="3859213"/>
          <p14:tracePt t="23519" x="10887075" y="3859213"/>
          <p14:tracePt t="23526" x="10934700" y="3859213"/>
          <p14:tracePt t="23533" x="10952163" y="3859213"/>
          <p14:tracePt t="23541" x="10961688" y="3859213"/>
          <p14:tracePt t="23548" x="10980738" y="3859213"/>
          <p14:tracePt t="23568" x="10999788" y="3830638"/>
          <p14:tracePt t="23587" x="11085513" y="3830638"/>
          <p14:tracePt t="23590" x="11114088" y="3830638"/>
          <p14:tracePt t="23599" x="11152188" y="3830638"/>
          <p14:tracePt t="23602" x="11161713" y="3830638"/>
          <p14:tracePt t="23615" x="11188700" y="3830638"/>
          <p14:tracePt t="23618" x="11207750" y="3830638"/>
          <p14:tracePt t="23639" x="11245850" y="3830638"/>
          <p14:tracePt t="23676" x="11283950" y="3830638"/>
          <p14:tracePt t="23695" x="11312525" y="3830638"/>
          <p14:tracePt t="23707" x="11322050" y="3830638"/>
          <p14:tracePt t="24703" x="11293475" y="3830638"/>
          <p14:tracePt t="24810" x="11264900" y="3830638"/>
          <p14:tracePt t="24816" x="11245850" y="3830638"/>
          <p14:tracePt t="24820" x="11207750" y="3849688"/>
          <p14:tracePt t="24840" x="11179175" y="3878263"/>
          <p14:tracePt t="24847" x="11171238" y="3897313"/>
          <p14:tracePt t="24866" x="11123613" y="3897313"/>
          <p14:tracePt t="24881" x="11047413" y="3897313"/>
          <p14:tracePt t="24897" x="10961688" y="3897313"/>
          <p14:tracePt t="24913" x="10868025" y="3897313"/>
          <p14:tracePt t="24930" x="10753725" y="3897313"/>
          <p14:tracePt t="24934" x="10725150" y="3897313"/>
          <p14:tracePt t="24936" x="10698163" y="3897313"/>
          <p14:tracePt t="24948" x="10641013" y="3897313"/>
          <p14:tracePt t="24955" x="10583863" y="3897313"/>
          <p14:tracePt t="24964" x="10574338" y="3897313"/>
          <p14:tracePt t="24970" x="10526713" y="3897313"/>
          <p14:tracePt t="24981" x="10507663" y="3916363"/>
          <p14:tracePt t="24996" x="10461625" y="3916363"/>
          <p14:tracePt t="25013" x="10385425" y="3916363"/>
          <p14:tracePt t="25031" x="10328275" y="3963988"/>
          <p14:tracePt t="25035" x="10309225" y="3963988"/>
          <p14:tracePt t="25390" x="10318750" y="3963988"/>
          <p14:tracePt t="25412" x="10394950" y="3963988"/>
          <p14:tracePt t="25419" x="10423525" y="3963988"/>
          <p14:tracePt t="25422" x="10433050" y="3963988"/>
          <p14:tracePt t="25424" x="10452100" y="3963988"/>
          <p14:tracePt t="25428" x="10461625" y="3963988"/>
          <p14:tracePt t="25436" x="10517188" y="3963988"/>
          <p14:tracePt t="25448" x="10574338" y="3963988"/>
          <p14:tracePt t="25455" x="10631488" y="3944938"/>
          <p14:tracePt t="25465" x="10641013" y="3944938"/>
          <p14:tracePt t="25480" x="10660063" y="3944938"/>
          <p14:tracePt t="25541" x="10679113" y="3944938"/>
          <p14:tracePt t="25787" x="10734675" y="3944938"/>
          <p14:tracePt t="25809" x="10858500" y="3935413"/>
          <p14:tracePt t="25814" x="10887075" y="3935413"/>
          <p14:tracePt t="25818" x="10906125" y="3935413"/>
          <p14:tracePt t="25822" x="10925175" y="3935413"/>
          <p14:tracePt t="25850" x="10952163" y="3935413"/>
          <p14:tracePt t="25855" x="10971213" y="3935413"/>
          <p14:tracePt t="25884" x="10990263" y="3935413"/>
          <p14:tracePt t="25885" x="11009313" y="3935413"/>
          <p14:tracePt t="25903" x="11047413" y="3935413"/>
          <p14:tracePt t="25954" x="11075988" y="3935413"/>
          <p14:tracePt t="25960" x="11085513" y="3935413"/>
          <p14:tracePt t="26131" x="11133138" y="3935413"/>
          <p14:tracePt t="26147" x="11179175" y="3935413"/>
          <p14:tracePt t="26154" x="11207750" y="3935413"/>
          <p14:tracePt t="26162" x="11217275" y="3935413"/>
          <p14:tracePt t="26185" x="11245850" y="3935413"/>
          <p14:tracePt t="26189" x="11264900" y="3935413"/>
          <p14:tracePt t="26699" x="11331575" y="3935413"/>
          <p14:tracePt t="26705" x="11341100" y="3935413"/>
          <p14:tracePt t="26778" x="11350625" y="3935413"/>
          <p14:tracePt t="26784" x="11369675" y="3935413"/>
          <p14:tracePt t="29256" x="11350625" y="3935413"/>
          <p14:tracePt t="29265" x="11293475" y="3935413"/>
          <p14:tracePt t="29282" x="11188700" y="3954463"/>
          <p14:tracePt t="29295" x="11075988" y="3983038"/>
          <p14:tracePt t="29302" x="10971213" y="3983038"/>
          <p14:tracePt t="29312" x="10877550" y="3983038"/>
          <p14:tracePt t="29334" x="10641013" y="3983038"/>
          <p14:tracePt t="29335" x="10583863" y="3983038"/>
          <p14:tracePt t="29346" x="10490200" y="3983038"/>
          <p14:tracePt t="29351" x="10442575" y="3983038"/>
          <p14:tracePt t="29352" x="10394950" y="3983038"/>
          <p14:tracePt t="29368" x="10309225" y="3983038"/>
          <p14:tracePt t="29373" x="10206038" y="3983038"/>
          <p14:tracePt t="29376" x="10196513" y="3983038"/>
          <p14:tracePt t="29386" x="10091738" y="3983038"/>
          <p14:tracePt t="29407" x="9979025" y="3983038"/>
          <p14:tracePt t="29419" x="9893300" y="4010025"/>
          <p14:tracePt t="29435" x="9826625" y="4038600"/>
          <p14:tracePt t="29440" x="9761538" y="4038600"/>
          <p14:tracePt t="29443" x="9732963" y="4038600"/>
          <p14:tracePt t="29454" x="9628188" y="4038600"/>
          <p14:tracePt t="29463" x="9534525" y="4048125"/>
          <p14:tracePt t="29468" x="9477375" y="4067175"/>
          <p14:tracePt t="29484" x="9355138" y="4067175"/>
          <p14:tracePt t="29491" x="9221788" y="4105275"/>
          <p14:tracePt t="29503" x="9137650" y="4133850"/>
          <p14:tracePt t="29512" x="9109075" y="4162425"/>
          <p14:tracePt t="29517" x="9090025" y="4171950"/>
          <p14:tracePt t="29528" x="9061450" y="4171950"/>
          <p14:tracePt t="29534" x="9051925" y="4181475"/>
          <p14:tracePt t="29535" x="9042400" y="4200525"/>
          <p14:tracePt t="29545" x="9013825" y="4229100"/>
          <p14:tracePt t="29551" x="8966200" y="4265613"/>
          <p14:tracePt t="29565" x="8937625" y="4294188"/>
          <p14:tracePt t="29568" x="8928100" y="4303713"/>
          <p14:tracePt t="29583" x="8918575" y="4360863"/>
          <p14:tracePt t="29584" x="8918575" y="4389438"/>
          <p14:tracePt t="29586" x="8918575" y="4398963"/>
          <p14:tracePt t="29595" x="8872538" y="4446588"/>
          <p14:tracePt t="29619" x="8843963" y="4502150"/>
          <p14:tracePt t="29627" x="8834438" y="4540250"/>
          <p14:tracePt t="29634" x="8834438" y="4549775"/>
          <p14:tracePt t="29644" x="8815388" y="4597400"/>
          <p14:tracePt t="29654" x="8767763" y="4635500"/>
          <p14:tracePt t="29668" x="8739188" y="4664075"/>
          <p14:tracePt t="29675" x="8655050" y="4700588"/>
          <p14:tracePt t="29687" x="8502650" y="4738688"/>
          <p14:tracePt t="29704" x="8351838" y="4767263"/>
          <p14:tracePt t="29711" x="8256588" y="4805363"/>
          <p14:tracePt t="29716" x="8229600" y="4805363"/>
          <p14:tracePt t="29720" x="8124825" y="4833938"/>
          <p14:tracePt t="29725" x="8048625" y="4872038"/>
          <p14:tracePt t="29728" x="8020050" y="4872038"/>
          <p14:tracePt t="29737" x="7945438" y="4891088"/>
          <p14:tracePt t="29745" x="7916863" y="4900613"/>
          <p14:tracePt t="29751" x="7878763" y="4937125"/>
          <p14:tracePt t="29766" x="7831138" y="4946650"/>
          <p14:tracePt t="29860" x="7802563" y="4927600"/>
          <p14:tracePt t="29867" x="7785100" y="4910138"/>
          <p14:tracePt t="29888" x="7785100" y="4891088"/>
          <p14:tracePt t="29899" x="7775575" y="4872038"/>
          <p14:tracePt t="29903" x="7756525" y="4862513"/>
          <p14:tracePt t="29957" x="7756525" y="4833938"/>
          <p14:tracePt t="29966" x="7756525" y="4824413"/>
          <p14:tracePt t="29977" x="7756525" y="4776788"/>
          <p14:tracePt t="29988" x="7793038" y="4767263"/>
          <p14:tracePt t="29997" x="7831138" y="4738688"/>
          <p14:tracePt t="30003" x="7878763" y="4710113"/>
          <p14:tracePt t="30006" x="7888288" y="4691063"/>
          <p14:tracePt t="30017" x="7954963" y="4691063"/>
          <p14:tracePt t="30033" x="8012113" y="4683125"/>
          <p14:tracePt t="30035" x="8020050" y="4673600"/>
          <p14:tracePt t="30055" x="8048625" y="4673600"/>
          <p14:tracePt t="30058" x="8058150" y="4654550"/>
          <p14:tracePt t="30062" x="8077200" y="4645025"/>
          <p14:tracePt t="30073" x="8105775" y="4645025"/>
          <p14:tracePt t="30079" x="8115300" y="4645025"/>
          <p14:tracePt t="30085" x="8143875" y="4616450"/>
          <p14:tracePt t="30105" x="8229600" y="4578350"/>
          <p14:tracePt t="30108" x="8247063" y="4578350"/>
          <p14:tracePt t="30115" x="8275638" y="4578350"/>
          <p14:tracePt t="30120" x="8304213" y="4549775"/>
          <p14:tracePt t="30121" x="8332788" y="4549775"/>
          <p14:tracePt t="30127" x="8351838" y="4530725"/>
          <p14:tracePt t="30132" x="8361363" y="4521200"/>
          <p14:tracePt t="30137" x="8437563" y="4502150"/>
          <p14:tracePt t="30145" x="8493125" y="4464050"/>
          <p14:tracePt t="30162" x="8550275" y="4437063"/>
          <p14:tracePt t="30178" x="8607425" y="4389438"/>
          <p14:tracePt t="30183" x="8616950" y="4379913"/>
          <p14:tracePt t="30185" x="8645525" y="4379913"/>
          <p14:tracePt t="30206" x="8674100" y="4370388"/>
          <p14:tracePt t="30224" x="8683625" y="4351338"/>
          <p14:tracePt t="30235" x="8701088" y="4351338"/>
          <p14:tracePt t="30255" x="8739188" y="4322763"/>
          <p14:tracePt t="30260" x="8796338" y="4322763"/>
          <p14:tracePt t="30265" x="8815388" y="4322763"/>
          <p14:tracePt t="30273" x="8901113" y="4294188"/>
          <p14:tracePt t="30280" x="8947150" y="4275138"/>
          <p14:tracePt t="30282" x="8975725" y="4265613"/>
          <p14:tracePt t="30308" x="9317038" y="4162425"/>
          <p14:tracePt t="30312" x="9326563" y="4162425"/>
          <p14:tracePt t="30318" x="9355138" y="4133850"/>
          <p14:tracePt t="30322" x="9420225" y="4095750"/>
          <p14:tracePt t="30328" x="9429750" y="4095750"/>
          <p14:tracePt t="30334" x="9477375" y="4057650"/>
          <p14:tracePt t="30336" x="9505950" y="4057650"/>
          <p14:tracePt t="30341" x="9515475" y="4057650"/>
          <p14:tracePt t="30345" x="9544050" y="4057650"/>
          <p14:tracePt t="30370" x="9591675" y="4048125"/>
          <p14:tracePt t="30381" x="9609138" y="4029075"/>
          <p14:tracePt t="30386" x="9637713" y="4000500"/>
          <p14:tracePt t="30403" x="9647238" y="3992563"/>
          <p14:tracePt t="30408" x="9685338" y="3973513"/>
          <p14:tracePt t="30413" x="9704388" y="3963988"/>
          <p14:tracePt t="30420" x="9713913" y="3954463"/>
          <p14:tracePt t="30421" x="9732963" y="3935413"/>
          <p14:tracePt t="30427" x="9752013" y="3935413"/>
          <p14:tracePt t="30432" x="9771063" y="3935413"/>
          <p14:tracePt t="30434" x="9780588" y="3925888"/>
          <p14:tracePt t="30500" x="9809163" y="3897313"/>
          <p14:tracePt t="30506" x="9826625" y="3887788"/>
          <p14:tracePt t="30518" x="9836150" y="3830638"/>
          <p14:tracePt t="30538" x="9874250" y="3792538"/>
          <p14:tracePt t="30543" x="9874250" y="3765550"/>
          <p14:tracePt t="30547" x="9902825" y="3736975"/>
          <p14:tracePt t="30555" x="9921875" y="3727450"/>
          <p14:tracePt t="30849" x="9959975" y="3679825"/>
          <p14:tracePt t="31162" x="10045700" y="3670300"/>
          <p14:tracePt t="31171" x="10110788" y="3641725"/>
          <p14:tracePt t="31183" x="10129838" y="3641725"/>
          <p14:tracePt t="31195" x="10177463" y="3641725"/>
          <p14:tracePt t="31212" x="10186988" y="3632200"/>
          <p14:tracePt t="31231" x="10196513" y="3613150"/>
          <p14:tracePt t="31234" x="10225088" y="3613150"/>
          <p14:tracePt t="31238" x="10244138" y="3613150"/>
          <p14:tracePt t="31252" x="10253663" y="3613150"/>
          <p14:tracePt t="31262" x="10263188" y="3613150"/>
          <p14:tracePt t="31271" x="10309225" y="3575050"/>
          <p14:tracePt t="31273" x="10337800" y="3575050"/>
          <p14:tracePt t="31278" x="10347325" y="3575050"/>
          <p14:tracePt t="31295" x="10385425" y="3575050"/>
          <p14:tracePt t="31300" x="10404475" y="3575050"/>
          <p14:tracePt t="31302" x="10414000" y="3575050"/>
          <p14:tracePt t="31315" x="10423525" y="3565525"/>
          <p14:tracePt t="31318" x="10442575" y="3546475"/>
          <p14:tracePt t="31337" x="10471150" y="3546475"/>
          <p14:tracePt t="31345" x="10480675" y="3546475"/>
          <p14:tracePt t="31364" x="10507663" y="3519488"/>
          <p14:tracePt t="31385" x="10536238" y="3519488"/>
          <p14:tracePt t="31395" x="10545763" y="3519488"/>
          <p14:tracePt t="31415" x="10602913" y="3500438"/>
          <p14:tracePt t="31428" x="10641013" y="3500438"/>
          <p14:tracePt t="31435" x="10698163" y="3481388"/>
          <p14:tracePt t="31445" x="10725150" y="3471863"/>
          <p14:tracePt t="31462" x="10753725" y="3443288"/>
          <p14:tracePt t="31467" x="10763250" y="3424238"/>
          <p14:tracePt t="31470" x="10801350" y="3424238"/>
          <p14:tracePt t="31491" x="10829925" y="3424238"/>
          <p14:tracePt t="31498" x="10848975" y="3424238"/>
          <p14:tracePt t="31512" x="10887075" y="3386138"/>
          <p14:tracePt t="31520" x="10925175" y="3386138"/>
          <p14:tracePt t="31523" x="10944225" y="3367088"/>
          <p14:tracePt t="31535" x="10952163" y="3357563"/>
          <p14:tracePt t="31545" x="10980738" y="3357563"/>
          <p14:tracePt t="31552" x="11018838" y="3319463"/>
          <p14:tracePt t="31555" x="11047413" y="3319463"/>
          <p14:tracePt t="31565" x="11095038" y="3292475"/>
          <p14:tracePt t="31569" x="11104563" y="3273425"/>
          <p14:tracePt t="31571" x="11114088" y="3273425"/>
          <p14:tracePt t="31580" x="11171238" y="3244850"/>
          <p14:tracePt t="31596" x="11245850" y="3206750"/>
          <p14:tracePt t="31612" x="11283950" y="3178175"/>
          <p14:tracePt t="31628" x="11350625" y="3178175"/>
          <p14:tracePt t="31634" x="11360150" y="3178175"/>
          <p14:tracePt t="31645" x="11388725" y="3178175"/>
          <p14:tracePt t="31652" x="11425238" y="3178175"/>
          <p14:tracePt t="31654" x="11444288" y="3159125"/>
          <p14:tracePt t="31675" x="11453813" y="3149600"/>
          <p14:tracePt t="31691" x="11482388" y="3121025"/>
          <p14:tracePt t="31698" x="11501438" y="3111500"/>
          <p14:tracePt t="31712" x="11510963" y="3092450"/>
          <p14:tracePt t="31718" x="11520488" y="3084513"/>
          <p14:tracePt t="31719" x="11549063" y="3084513"/>
          <p14:tracePt t="31735" x="11577638" y="3084513"/>
          <p14:tracePt t="31745" x="11615738" y="3084513"/>
          <p14:tracePt t="31752" x="11661775" y="3084513"/>
          <p14:tracePt t="31754" x="11671300" y="3074988"/>
          <p14:tracePt t="31762" x="11680825" y="3055938"/>
          <p14:tracePt t="31782" x="11709400" y="3055938"/>
          <p14:tracePt t="31785" x="11728450" y="3055938"/>
          <p14:tracePt t="31797" x="11747500" y="3055938"/>
          <p14:tracePt t="31831" x="11823700" y="3017838"/>
          <p14:tracePt t="31845" x="11860213" y="3017838"/>
          <p14:tracePt t="31852" x="11888788" y="3017838"/>
          <p14:tracePt t="31870" x="11936413" y="2970213"/>
          <p14:tracePt t="31883" x="11984038" y="2970213"/>
          <p14:tracePt t="31900" x="12022138" y="2970213"/>
          <p14:tracePt t="31929" x="12031663" y="2970213"/>
          <p14:tracePt t="31936" x="12050713" y="2970213"/>
          <p14:tracePt t="32037" x="12060238" y="2960688"/>
          <p14:tracePt t="32410" x="12060238" y="2979738"/>
          <p14:tracePt t="32492" x="12060238" y="2989263"/>
          <p14:tracePt t="32500" x="12012613" y="3008313"/>
          <p14:tracePt t="32505" x="12003088" y="3008313"/>
          <p14:tracePt t="32525" x="11993563" y="3017838"/>
          <p14:tracePt t="32595" x="11974513" y="3017838"/>
          <p14:tracePt t="32600" x="11964988" y="3017838"/>
          <p14:tracePt t="32612" x="11936413" y="3017838"/>
          <p14:tracePt t="32630" x="11879263" y="3055938"/>
          <p14:tracePt t="32645" x="11814175" y="3055938"/>
          <p14:tracePt t="32651" x="11804650" y="3055938"/>
          <p14:tracePt t="32667" x="11785600" y="3055938"/>
          <p14:tracePt t="32680" x="11776075" y="3055938"/>
          <p14:tracePt t="32701" x="11747500" y="3055938"/>
          <p14:tracePt t="32703" x="11737975" y="3055938"/>
          <p14:tracePt t="32723" x="11709400" y="3055938"/>
          <p14:tracePt t="32729" x="11690350" y="3055938"/>
          <p14:tracePt t="32878" x="11661775" y="3084513"/>
          <p14:tracePt t="32885" x="11625263" y="3101975"/>
          <p14:tracePt t="32895" x="11615738" y="3101975"/>
          <p14:tracePt t="32904" x="11587163" y="3130550"/>
          <p14:tracePt t="32906" x="11568113" y="3140075"/>
          <p14:tracePt t="32916" x="11530013" y="3187700"/>
          <p14:tracePt t="32934" x="11501438" y="3187700"/>
          <p14:tracePt t="32945" x="11482388" y="3187700"/>
          <p14:tracePt t="33013" x="11472863" y="3197225"/>
          <p14:tracePt t="33021" x="11463338" y="3206750"/>
          <p14:tracePt t="33031" x="11434763" y="3206750"/>
          <p14:tracePt t="33035" x="11415713" y="3206750"/>
          <p14:tracePt t="33276" x="11379200" y="3206750"/>
          <p14:tracePt t="33286" x="11350625" y="3206750"/>
          <p14:tracePt t="33297" x="11341100" y="3206750"/>
          <p14:tracePt t="33315" x="11303000" y="3206750"/>
          <p14:tracePt t="33318" x="11274425" y="3206750"/>
          <p14:tracePt t="33321" x="11255375" y="3206750"/>
          <p14:tracePt t="33373" x="11226800" y="3206750"/>
          <p14:tracePt t="33378" x="11217275" y="3206750"/>
          <p14:tracePt t="33402" x="11179175" y="3206750"/>
          <p14:tracePt t="33422" x="11152188" y="3206750"/>
          <p14:tracePt t="33426" x="11142663" y="3206750"/>
          <p14:tracePt t="33437" x="11123613" y="3225800"/>
          <p14:tracePt t="33453" x="11114088" y="3235325"/>
          <p14:tracePt t="33478" x="11085513" y="3235325"/>
          <p14:tracePt t="33486" x="11075988" y="3235325"/>
          <p14:tracePt t="33502" x="11047413" y="3235325"/>
          <p14:tracePt t="33512" x="11028363" y="3235325"/>
          <p14:tracePt t="33529" x="10990263" y="3235325"/>
          <p14:tracePt t="33535" x="10961688" y="3263900"/>
          <p14:tracePt t="33537" x="10952163" y="3282950"/>
          <p14:tracePt t="33557" x="10925175" y="3282950"/>
          <p14:tracePt t="33567" x="10906125" y="3282950"/>
          <p14:tracePt t="33582" x="10868025" y="3282950"/>
          <p14:tracePt t="33595" x="10829925" y="3282950"/>
          <p14:tracePt t="33601" x="10791825" y="3282950"/>
          <p14:tracePt t="33612" x="10772775" y="3292475"/>
          <p14:tracePt t="33631" x="10707688" y="3338513"/>
          <p14:tracePt t="33647" x="10641013" y="3348038"/>
          <p14:tracePt t="33662" x="10555288" y="3395663"/>
          <p14:tracePt t="33669" x="10536238" y="3395663"/>
          <p14:tracePt t="33680" x="10526713" y="3395663"/>
          <p14:tracePt t="33695" x="10471150" y="3395663"/>
          <p14:tracePt t="33702" x="10433050" y="3424238"/>
          <p14:tracePt t="33704" x="10414000" y="3433763"/>
          <p14:tracePt t="33712" x="10385425" y="3462338"/>
          <p14:tracePt t="33716" x="10375900" y="3481388"/>
          <p14:tracePt t="33733" x="10347325" y="3481388"/>
          <p14:tracePt t="33745" x="10328275" y="3481388"/>
          <p14:tracePt t="33762" x="10253663" y="3481388"/>
          <p14:tracePt t="33771" x="10225088" y="3481388"/>
          <p14:tracePt t="33780" x="10167938" y="3490913"/>
          <p14:tracePt t="33786" x="10129838" y="3538538"/>
          <p14:tracePt t="33796" x="10110788" y="3546475"/>
          <p14:tracePt t="33802" x="10053638" y="3575050"/>
          <p14:tracePt t="33805" x="10026650" y="3603625"/>
          <p14:tracePt t="33817" x="9979025" y="3632200"/>
          <p14:tracePt t="33833" x="9950450" y="3641725"/>
          <p14:tracePt t="33834" x="9921875" y="3670300"/>
          <p14:tracePt t="33853" x="9902825" y="3670300"/>
          <p14:tracePt t="33898" x="9893300" y="3679825"/>
          <p14:tracePt t="33938" x="9883775" y="3698875"/>
          <p14:tracePt t="33944" x="9864725" y="3708400"/>
          <p14:tracePt t="33961" x="9864725" y="3746500"/>
          <p14:tracePt t="33978" x="9836150" y="3802063"/>
          <p14:tracePt t="33984" x="9809163" y="3849688"/>
          <p14:tracePt t="33988" x="9799638" y="3859213"/>
          <p14:tracePt t="34002" x="9799638" y="3878263"/>
          <p14:tracePt t="34007" x="9799638" y="3887788"/>
          <p14:tracePt t="34016" x="9799638" y="3897313"/>
          <p14:tracePt t="34036" x="9771063" y="3925888"/>
          <p14:tracePt t="34044" x="9771063" y="3954463"/>
          <p14:tracePt t="34051" x="9742488" y="3983038"/>
          <p14:tracePt t="34053" x="9732963" y="3992563"/>
          <p14:tracePt t="34105" x="9713913" y="4048125"/>
          <p14:tracePt t="34127" x="9685338" y="4076700"/>
          <p14:tracePt t="34139" x="9675813" y="4086225"/>
          <p14:tracePt t="34295" x="9647238" y="4086225"/>
          <p14:tracePt t="34327" x="9599613" y="4086225"/>
          <p14:tracePt t="34334" x="9553575" y="4086225"/>
          <p14:tracePt t="34338" x="9544050" y="4086225"/>
          <p14:tracePt t="34343" x="9515475" y="4086225"/>
          <p14:tracePt t="34346" x="9505950" y="4086225"/>
          <p14:tracePt t="34351" x="9477375" y="4086225"/>
          <p14:tracePt t="34353" x="9458325" y="4086225"/>
          <p14:tracePt t="34357" x="9448800" y="4086225"/>
          <p14:tracePt t="34361" x="9420225" y="4086225"/>
          <p14:tracePt t="34386" x="9345613" y="4114800"/>
          <p14:tracePt t="34397" x="9307513" y="4114800"/>
          <p14:tracePt t="34403" x="9240838" y="4162425"/>
          <p14:tracePt t="34421" x="9193213" y="4200525"/>
          <p14:tracePt t="34426" x="9137650" y="4200525"/>
          <p14:tracePt t="34430" x="9118600" y="4200525"/>
          <p14:tracePt t="34435" x="9080500" y="4229100"/>
          <p14:tracePt t="34443" x="9023350" y="4275138"/>
          <p14:tracePt t="34453" x="8975725" y="4275138"/>
          <p14:tracePt t="34469" x="8891588" y="4303713"/>
          <p14:tracePt t="34483" x="8786813" y="4341813"/>
          <p14:tracePt t="34496" x="8645525" y="4370388"/>
          <p14:tracePt t="34526" x="8332788" y="4473575"/>
          <p14:tracePt t="34531" x="8323263" y="4473575"/>
          <p14:tracePt t="34537" x="8266113" y="4511675"/>
          <p14:tracePt t="34540" x="8247063" y="4511675"/>
          <p14:tracePt t="34547" x="8191500" y="4511675"/>
          <p14:tracePt t="34572" x="8086725" y="4549775"/>
          <p14:tracePt t="34576" x="8067675" y="4559300"/>
          <p14:tracePt t="34585" x="8048625" y="4559300"/>
          <p14:tracePt t="34587" x="8029575" y="4559300"/>
          <p14:tracePt t="34592" x="8020050" y="4559300"/>
          <p14:tracePt t="34600" x="7964488" y="4587875"/>
          <p14:tracePt t="34618" x="7907338" y="4587875"/>
          <p14:tracePt t="34636" x="7869238" y="4587875"/>
          <p14:tracePt t="34655" x="7840663" y="4587875"/>
          <p14:tracePt t="34662" x="7821613" y="4587875"/>
          <p14:tracePt t="34667" x="7812088" y="4606925"/>
          <p14:tracePt t="34682" x="7802563" y="4616450"/>
          <p14:tracePt t="34707" x="7747000" y="4616450"/>
          <p14:tracePt t="34712" x="7718425" y="4625975"/>
          <p14:tracePt t="34735" x="7708900" y="4645025"/>
          <p14:tracePt t="35081" x="7708900" y="4635500"/>
          <p14:tracePt t="35098" x="7747000" y="4597400"/>
          <p14:tracePt t="35115" x="7766050" y="4587875"/>
          <p14:tracePt t="35118" x="7775575" y="4578350"/>
          <p14:tracePt t="35134" x="7802563" y="4578350"/>
          <p14:tracePt t="35135" x="7812088" y="4578350"/>
          <p14:tracePt t="35144" x="7831138" y="4559300"/>
          <p14:tracePt t="35152" x="7859713" y="4549775"/>
          <p14:tracePt t="35160" x="7869238" y="4549775"/>
          <p14:tracePt t="35171" x="7935913" y="4549775"/>
          <p14:tracePt t="35181" x="7954963" y="4549775"/>
          <p14:tracePt t="35184" x="7964488" y="4549775"/>
          <p14:tracePt t="35196" x="8020050" y="4521200"/>
          <p14:tracePt t="35201" x="8048625" y="4521200"/>
          <p14:tracePt t="35203" x="8058150" y="4521200"/>
          <p14:tracePt t="35212" x="8096250" y="4521200"/>
          <p14:tracePt t="35228" x="8162925" y="4521200"/>
          <p14:tracePt t="35245" x="8247063" y="4483100"/>
          <p14:tracePt t="35251" x="8304213" y="4446588"/>
          <p14:tracePt t="35261" x="8370888" y="4446588"/>
          <p14:tracePt t="35270" x="8408988" y="4446588"/>
          <p14:tracePt t="35278" x="8437563" y="4418013"/>
          <p14:tracePt t="35284" x="8466138" y="4418013"/>
          <p14:tracePt t="35286" x="8493125" y="4389438"/>
          <p14:tracePt t="35296" x="8531225" y="4370388"/>
          <p14:tracePt t="35328" x="8720138" y="4275138"/>
          <p14:tracePt t="35342" x="8872538" y="4171950"/>
          <p14:tracePt t="35346" x="8882063" y="4171950"/>
          <p14:tracePt t="35349" x="8928100" y="4143375"/>
          <p14:tracePt t="35351" x="8937625" y="4143375"/>
          <p14:tracePt t="35357" x="8966200" y="4143375"/>
          <p14:tracePt t="35367" x="9051925" y="4114800"/>
          <p14:tracePt t="35389" x="9137650" y="4086225"/>
          <p14:tracePt t="35394" x="9164638" y="4086225"/>
          <p14:tracePt t="35398" x="9183688" y="4086225"/>
          <p14:tracePt t="35405" x="9221788" y="4038600"/>
          <p14:tracePt t="35412" x="9259888" y="4038600"/>
          <p14:tracePt t="35443" x="9401175" y="3973513"/>
          <p14:tracePt t="35449" x="9410700" y="3973513"/>
          <p14:tracePt t="35452" x="9420225" y="3963988"/>
          <p14:tracePt t="35459" x="9439275" y="3954463"/>
          <p14:tracePt t="44391" x="9448800" y="3954463"/>
          <p14:tracePt t="44395" x="9458325" y="3954463"/>
          <p14:tracePt t="44411" x="9544050" y="3983038"/>
          <p14:tracePt t="44428" x="9609138" y="4067175"/>
          <p14:tracePt t="44434" x="9637713" y="4105275"/>
          <p14:tracePt t="44446" x="9723438" y="4219575"/>
          <p14:tracePt t="44451" x="9732963" y="4237038"/>
          <p14:tracePt t="44453" x="9761538" y="4265613"/>
          <p14:tracePt t="44465" x="9818688" y="4351338"/>
          <p14:tracePt t="44467" x="9845675" y="4398963"/>
          <p14:tracePt t="44470" x="9874250" y="4446588"/>
          <p14:tracePt t="44479" x="9921875" y="4483100"/>
          <p14:tracePt t="44494" x="10053638" y="4691063"/>
          <p14:tracePt t="44501" x="10186988" y="4824413"/>
          <p14:tracePt t="44510" x="10280650" y="4927600"/>
          <p14:tracePt t="44517" x="10404475" y="5041900"/>
          <p14:tracePt t="44528" x="10507663" y="5127625"/>
          <p14:tracePt t="44544" x="10679113" y="5240338"/>
          <p14:tracePt t="44549" x="10707688" y="5278438"/>
          <p14:tracePt t="44551" x="10744200" y="5278438"/>
          <p14:tracePt t="44560" x="10763250" y="5307013"/>
          <p14:tracePt t="44613" x="10782300" y="5316538"/>
          <p14:tracePt t="44617" x="10791825" y="5326063"/>
          <p14:tracePt t="44637" x="10820400" y="5326063"/>
          <p14:tracePt t="44645" x="10848975" y="5326063"/>
          <p14:tracePt t="44650" x="10887075" y="5354638"/>
          <p14:tracePt t="44669" x="10961688" y="5354638"/>
          <p14:tracePt t="44674" x="11009313" y="5354638"/>
          <p14:tracePt t="44682" x="11037888" y="5354638"/>
          <p14:tracePt t="44686" x="11133138" y="5354638"/>
          <p14:tracePt t="44691" x="11161713" y="5354638"/>
          <p14:tracePt t="44701" x="11293475" y="5354638"/>
          <p14:tracePt t="44722" x="11472863" y="5354638"/>
          <p14:tracePt t="44726" x="11520488" y="5354638"/>
          <p14:tracePt t="44733" x="11577638" y="5372100"/>
          <p14:tracePt t="44735" x="11625263" y="5391150"/>
          <p14:tracePt t="44741" x="11680825" y="5419725"/>
          <p14:tracePt t="44750" x="11785600" y="5457825"/>
          <p14:tracePt t="44754" x="11860213" y="5486400"/>
          <p14:tracePt t="44760" x="11936413" y="5524500"/>
          <p14:tracePt t="44766" x="12060238" y="5600700"/>
          <p14:tracePt t="44769" x="12134850" y="5637213"/>
          <p14:tracePt t="48545" x="2638425" y="6762750"/>
          <p14:tracePt t="48547" x="2657475" y="6707188"/>
          <p14:tracePt t="48588" x="2743200" y="6100763"/>
          <p14:tracePt t="48598" x="2743200" y="6035675"/>
          <p14:tracePt t="48601" x="2743200" y="5988050"/>
          <p14:tracePt t="48612" x="2743200" y="5921375"/>
          <p14:tracePt t="48617" x="2743200" y="5892800"/>
          <p14:tracePt t="48620" x="2743200" y="5883275"/>
          <p14:tracePt t="48628" x="2743200" y="5854700"/>
          <p14:tracePt t="48634" x="2714625" y="5827713"/>
          <p14:tracePt t="48643" x="2705100" y="5818188"/>
          <p14:tracePt t="48666" x="2695575" y="5799138"/>
          <p14:tracePt t="48682" x="2667000" y="5799138"/>
          <p14:tracePt t="48693" x="2619375" y="5799138"/>
          <p14:tracePt t="48698" x="2592388" y="5799138"/>
          <p14:tracePt t="48700" x="2544763" y="5799138"/>
          <p14:tracePt t="48714" x="2487613" y="5770563"/>
          <p14:tracePt t="48716" x="2459038" y="5770563"/>
          <p14:tracePt t="48728" x="2308225" y="5703888"/>
          <p14:tracePt t="48733" x="2260600" y="5703888"/>
          <p14:tracePt t="48743" x="2052638" y="5675313"/>
          <p14:tracePt t="48752" x="1938338" y="5675313"/>
          <p14:tracePt t="48759" x="1797050" y="5637213"/>
          <p14:tracePt t="48765" x="1749425" y="5637213"/>
          <p14:tracePt t="48767" x="1684338" y="5618163"/>
          <p14:tracePt t="48776" x="1541463" y="5581650"/>
          <p14:tracePt t="48793" x="1285875" y="5534025"/>
          <p14:tracePt t="48798" x="1230313" y="5534025"/>
          <p14:tracePt t="48800" x="1163638" y="5495925"/>
          <p14:tracePt t="48809" x="671513" y="5467350"/>
          <p14:tracePt t="48812" x="549275" y="5448300"/>
          <p14:tracePt t="48816" x="444500" y="5410200"/>
          <p14:tracePt t="48828" x="227013" y="5316538"/>
          <p14:tracePt t="48833" x="150813" y="5278438"/>
          <p14:tracePt t="48835" x="122238" y="5249863"/>
          <p14:tracePt t="48845" x="19050" y="5211763"/>
          <p14:tracePt t="49380" x="28575" y="3708400"/>
          <p14:tracePt t="49386" x="38100" y="3708400"/>
          <p14:tracePt t="49387" x="66675" y="3708400"/>
          <p14:tracePt t="49393" x="76200" y="3708400"/>
          <p14:tracePt t="49399" x="122238" y="3708400"/>
          <p14:tracePt t="49420" x="141288" y="3708400"/>
          <p14:tracePt t="49424" x="188913" y="3708400"/>
          <p14:tracePt t="49430" x="217488" y="3708400"/>
          <p14:tracePt t="49434" x="227013" y="3708400"/>
          <p14:tracePt t="49435" x="255588" y="3708400"/>
          <p14:tracePt t="49444" x="284163" y="3708400"/>
          <p14:tracePt t="49448" x="293688" y="3708400"/>
          <p14:tracePt t="49455" x="322263" y="3708400"/>
          <p14:tracePt t="49465" x="358775" y="3708400"/>
          <p14:tracePt t="49467" x="368300" y="3708400"/>
          <p14:tracePt t="49477" x="425450" y="3708400"/>
          <p14:tracePt t="49496" x="501650" y="3708400"/>
          <p14:tracePt t="49534" x="520700" y="3708400"/>
          <p14:tracePt t="49537" x="539750" y="3708400"/>
          <p14:tracePt t="49556" x="549275" y="3708400"/>
          <p14:tracePt t="49584" x="549275" y="3756025"/>
          <p14:tracePt t="49596" x="549275" y="3783013"/>
          <p14:tracePt t="49622" x="549275" y="3878263"/>
          <p14:tracePt t="49636" x="549275" y="3925888"/>
          <p14:tracePt t="49645" x="549275" y="3963988"/>
          <p14:tracePt t="49649" x="549275" y="3983038"/>
          <p14:tracePt t="49651" x="576263" y="4029075"/>
          <p14:tracePt t="49659" x="595313" y="4048125"/>
          <p14:tracePt t="49676" x="633413" y="4124325"/>
          <p14:tracePt t="49692" x="661988" y="4162425"/>
          <p14:tracePt t="49709" x="719138" y="4200525"/>
          <p14:tracePt t="49714" x="719138" y="4219575"/>
          <p14:tracePt t="49716" x="728663" y="4229100"/>
          <p14:tracePt t="49861" x="757238" y="4210050"/>
          <p14:tracePt t="49870" x="776288" y="4200525"/>
          <p14:tracePt t="49882" x="803275" y="4162425"/>
          <p14:tracePt t="49897" x="812800" y="4152900"/>
          <p14:tracePt t="49910" x="850900" y="4114800"/>
          <p14:tracePt t="49926" x="898525" y="4076700"/>
          <p14:tracePt t="49946" x="984250" y="4038600"/>
          <p14:tracePt t="49949" x="1039813" y="4010025"/>
          <p14:tracePt t="49960" x="1058863" y="4010025"/>
          <p14:tracePt t="49966" x="1116013" y="4010025"/>
          <p14:tracePt t="49979" x="1173163" y="3983038"/>
          <p14:tracePt t="49983" x="1201738" y="3983038"/>
          <p14:tracePt t="49995" x="1239838" y="3983038"/>
          <p14:tracePt t="50000" x="1257300" y="3983038"/>
          <p14:tracePt t="50001" x="1276350" y="3983038"/>
          <p14:tracePt t="50010" x="1295400" y="3983038"/>
          <p14:tracePt t="50017" x="1333500" y="3983038"/>
          <p14:tracePt t="50021" x="1343025" y="3983038"/>
          <p14:tracePt t="50034" x="1362075" y="3983038"/>
          <p14:tracePt t="50043" x="1400175" y="3983038"/>
          <p14:tracePt t="50050" x="1438275" y="3983038"/>
          <p14:tracePt t="50064" x="1466850" y="3983038"/>
          <p14:tracePt t="50066" x="1484313" y="3983038"/>
          <p14:tracePt t="50087" x="1512888" y="3983038"/>
          <p14:tracePt t="50097" x="1522413" y="3983038"/>
          <p14:tracePt t="50424" x="1503363" y="3983038"/>
          <p14:tracePt t="50439" x="1438275" y="3983038"/>
          <p14:tracePt t="50445" x="1409700" y="3983038"/>
          <p14:tracePt t="50453" x="1381125" y="3983038"/>
          <p14:tracePt t="50459" x="1352550" y="3983038"/>
          <p14:tracePt t="50468" x="1285875" y="3983038"/>
          <p14:tracePt t="50473" x="1230313" y="3983038"/>
          <p14:tracePt t="50478" x="1201738" y="3983038"/>
          <p14:tracePt t="50481" x="1182688" y="3983038"/>
          <p14:tracePt t="50489" x="1125538" y="3983038"/>
          <p14:tracePt t="50501" x="1003300" y="3954463"/>
          <p14:tracePt t="50510" x="965200" y="3954463"/>
          <p14:tracePt t="50529" x="860425" y="3954463"/>
          <p14:tracePt t="50533" x="803275" y="3954463"/>
          <p14:tracePt t="50543" x="766763" y="3954463"/>
          <p14:tracePt t="50549" x="747713" y="3954463"/>
          <p14:tracePt t="50551" x="738188" y="3954463"/>
          <p14:tracePt t="50561" x="719138" y="3954463"/>
          <p14:tracePt t="51242" x="728663" y="3954463"/>
          <p14:tracePt t="51264" x="766763" y="3954463"/>
          <p14:tracePt t="51276" x="822325" y="3954463"/>
          <p14:tracePt t="51280" x="831850" y="3963988"/>
          <p14:tracePt t="51301" x="841375" y="3983038"/>
          <p14:tracePt t="51544" x="860425" y="3992563"/>
          <p14:tracePt t="51623" x="889000" y="3992563"/>
          <p14:tracePt t="51631" x="898525" y="3992563"/>
          <p14:tracePt t="51649" x="927100" y="3992563"/>
          <p14:tracePt t="51660" x="936625" y="3992563"/>
          <p14:tracePt t="51664" x="955675" y="3992563"/>
          <p14:tracePt t="51666" x="965200" y="3992563"/>
          <p14:tracePt t="51686" x="1012825" y="4010025"/>
          <p14:tracePt t="51688" x="1020763" y="4010025"/>
          <p14:tracePt t="51700" x="1049338" y="4029075"/>
          <p14:tracePt t="51722" x="1058863" y="4048125"/>
          <p14:tracePt t="51927" x="1030288" y="4000500"/>
          <p14:tracePt t="51953" x="1030288" y="3887788"/>
          <p14:tracePt t="51959" x="1030288" y="3868738"/>
          <p14:tracePt t="52158" x="1068388" y="3859213"/>
          <p14:tracePt t="52187" x="1314450" y="3821113"/>
          <p14:tracePt t="52197" x="1466850" y="3821113"/>
          <p14:tracePt t="52203" x="1541463" y="3821113"/>
          <p14:tracePt t="52213" x="1579563" y="3821113"/>
          <p14:tracePt t="52233" x="1665288" y="3821113"/>
          <p14:tracePt t="52300" x="1693863" y="3821113"/>
          <p14:tracePt t="52306" x="1701800" y="3821113"/>
          <p14:tracePt t="52342" x="1739900" y="3897313"/>
          <p14:tracePt t="52344" x="1739900" y="3925888"/>
          <p14:tracePt t="52352" x="1749425" y="3944938"/>
          <p14:tracePt t="52362" x="1768475" y="3963988"/>
          <p14:tracePt t="52384" x="1768475" y="4000500"/>
          <p14:tracePt t="52388" x="1778000" y="4010025"/>
          <p14:tracePt t="52401" x="1797050" y="4038600"/>
          <p14:tracePt t="52403" x="1797050" y="4057650"/>
          <p14:tracePt t="52442" x="1797050" y="4095750"/>
          <p14:tracePt t="52451" x="1797050" y="4133850"/>
          <p14:tracePt t="52462" x="1797050" y="4171950"/>
          <p14:tracePt t="52464" x="1797050" y="4200525"/>
          <p14:tracePt t="52478" x="1787525" y="4275138"/>
          <p14:tracePt t="52492" x="1730375" y="4294188"/>
          <p14:tracePt t="52499" x="1674813" y="4322763"/>
          <p14:tracePt t="52510" x="1598613" y="4360863"/>
          <p14:tracePt t="52515" x="1531938" y="4389438"/>
          <p14:tracePt t="52526" x="1493838" y="4389438"/>
          <p14:tracePt t="52529" x="1447800" y="4408488"/>
          <p14:tracePt t="52533" x="1438275" y="4418013"/>
          <p14:tracePt t="52535" x="1390650" y="4427538"/>
          <p14:tracePt t="52544" x="1333500" y="4446588"/>
          <p14:tracePt t="52548" x="1323975" y="4446588"/>
          <p14:tracePt t="52550" x="1295400" y="4446588"/>
          <p14:tracePt t="52561" x="1247775" y="4446588"/>
          <p14:tracePt t="52585" x="1154113" y="4446588"/>
          <p14:tracePt t="52629" x="1135063" y="4446588"/>
          <p14:tracePt t="52634" x="1116013" y="4446588"/>
          <p14:tracePt t="52654" x="1077913" y="4446588"/>
          <p14:tracePt t="52667" x="1049338" y="4446588"/>
          <p14:tracePt t="52681" x="1020763" y="4446588"/>
          <p14:tracePt t="52683" x="1012825" y="4437063"/>
          <p14:tracePt t="53229" x="1116013" y="4418013"/>
          <p14:tracePt t="53244" x="1239838" y="4398963"/>
          <p14:tracePt t="53248" x="1257300" y="4398963"/>
          <p14:tracePt t="53252" x="1276350" y="4398963"/>
          <p14:tracePt t="53254" x="1295400" y="4398963"/>
          <p14:tracePt t="53263" x="1304925" y="4398963"/>
          <p14:tracePt t="53269" x="1352550" y="4389438"/>
          <p14:tracePt t="53275" x="1362075" y="4379913"/>
          <p14:tracePt t="53294" x="1428750" y="4379913"/>
          <p14:tracePt t="53310" x="1466850" y="4341813"/>
          <p14:tracePt t="53325" x="1484313" y="4341813"/>
          <p14:tracePt t="53350" x="1522413" y="4332288"/>
          <p14:tracePt t="53365" x="1531938" y="4322763"/>
          <p14:tracePt t="53662" x="1560513" y="4322763"/>
          <p14:tracePt t="53678" x="1627188" y="4294188"/>
          <p14:tracePt t="53695" x="1693863" y="4294188"/>
          <p14:tracePt t="53698" x="1711325" y="4294188"/>
          <p14:tracePt t="53838" x="1739900" y="4294188"/>
          <p14:tracePt t="53849" x="1778000" y="4294188"/>
          <p14:tracePt t="53866" x="1806575" y="4294188"/>
          <p14:tracePt t="53871" x="1816100" y="4294188"/>
          <p14:tracePt t="53938" x="1844675" y="4294188"/>
          <p14:tracePt t="53947" x="1873250" y="4294188"/>
          <p14:tracePt t="53964" x="2005013" y="4294188"/>
          <p14:tracePt t="53967" x="2033588" y="4294188"/>
          <p14:tracePt t="53971" x="2081213" y="4256088"/>
          <p14:tracePt t="53982" x="2184400" y="4246563"/>
          <p14:tracePt t="53993" x="2279650" y="4229100"/>
          <p14:tracePt t="54009" x="2355850" y="4229100"/>
          <p14:tracePt t="54026" x="2392363" y="4219575"/>
          <p14:tracePt t="54073" x="2401888" y="4200525"/>
          <p14:tracePt t="54085" x="2449513" y="4210050"/>
          <p14:tracePt t="54093" x="2459038" y="4219575"/>
          <p14:tracePt t="54099" x="2487613" y="4219575"/>
          <p14:tracePt t="54101" x="2497138" y="4219575"/>
          <p14:tracePt t="54114" x="2544763" y="4219575"/>
          <p14:tracePt t="54117" x="2554288" y="4219575"/>
          <p14:tracePt t="54126" x="2609850" y="4219575"/>
          <p14:tracePt t="54144" x="2657475" y="4219575"/>
          <p14:tracePt t="54149" x="2705100" y="4219575"/>
          <p14:tracePt t="54159" x="2724150" y="4219575"/>
          <p14:tracePt t="54176" x="2771775" y="4219575"/>
          <p14:tracePt t="54182" x="2781300" y="4219575"/>
          <p14:tracePt t="54192" x="2819400" y="4219575"/>
          <p14:tracePt t="54255" x="2836863" y="4219575"/>
          <p14:tracePt t="54284" x="2855913" y="4219575"/>
          <p14:tracePt t="54295" x="2874963" y="4219575"/>
          <p14:tracePt t="54316" x="2913063" y="4219575"/>
          <p14:tracePt t="54326" x="2941638" y="4219575"/>
          <p14:tracePt t="54335" x="2951163" y="4219575"/>
          <p14:tracePt t="54751" x="2970213" y="4237038"/>
          <p14:tracePt t="54766" x="2951163" y="4284663"/>
          <p14:tracePt t="54790" x="2951163" y="4322763"/>
          <p14:tracePt t="54876" x="2932113" y="4341813"/>
          <p14:tracePt t="55207" x="2951163" y="4341813"/>
          <p14:tracePt t="55219" x="2979738" y="4341813"/>
          <p14:tracePt t="55369" x="2989263" y="4341813"/>
          <p14:tracePt t="55399" x="3046413" y="4322763"/>
          <p14:tracePt t="55431" x="3082925" y="4322763"/>
          <p14:tracePt t="55451" x="3101975" y="4322763"/>
          <p14:tracePt t="55460" x="3130550" y="4303713"/>
          <p14:tracePt t="55464" x="3140075" y="4303713"/>
          <p14:tracePt t="55475" x="3149600" y="4294188"/>
          <p14:tracePt t="55507" x="3168650" y="4284663"/>
          <p14:tracePt t="55512" x="3178175" y="4265613"/>
          <p14:tracePt t="55943" x="3036888" y="4265613"/>
          <p14:tracePt t="55952" x="2922588" y="4265613"/>
          <p14:tracePt t="55955" x="2894013" y="4265613"/>
          <p14:tracePt t="55965" x="2836863" y="4265613"/>
          <p14:tracePt t="55976" x="2800350" y="4265613"/>
          <p14:tracePt t="55982" x="2762250" y="4265613"/>
          <p14:tracePt t="55985" x="2743200" y="4265613"/>
          <p14:tracePt t="56062" x="2733675" y="4265613"/>
          <p14:tracePt t="56071" x="2724150" y="4265613"/>
          <p14:tracePt t="56086" x="2676525" y="4265613"/>
          <p14:tracePt t="56100" x="2638425" y="4265613"/>
          <p14:tracePt t="56103" x="2609850" y="4237038"/>
          <p14:tracePt t="56116" x="2554288" y="4229100"/>
          <p14:tracePt t="56117" x="2544763" y="4229100"/>
          <p14:tracePt t="56126" x="2487613" y="4229100"/>
          <p14:tracePt t="56147" x="2365375" y="4229100"/>
          <p14:tracePt t="56150" x="2327275" y="4229100"/>
          <p14:tracePt t="56162" x="2270125" y="4229100"/>
          <p14:tracePt t="56164" x="2212975" y="4229100"/>
          <p14:tracePt t="56176" x="2174875" y="4229100"/>
          <p14:tracePt t="56182" x="2128838" y="4229100"/>
          <p14:tracePt t="56184" x="2100263" y="4229100"/>
          <p14:tracePt t="56193" x="2071688" y="4229100"/>
          <p14:tracePt t="56197" x="2062163" y="4229100"/>
          <p14:tracePt t="56213" x="2024063" y="4229100"/>
          <p14:tracePt t="56577" x="2052638" y="4229100"/>
          <p14:tracePt t="57848" x="2062163" y="4229100"/>
          <p14:tracePt t="57946" x="2081213" y="4229100"/>
          <p14:tracePt t="57965" x="2081213" y="4256088"/>
          <p14:tracePt t="57972" x="2081213" y="4284663"/>
          <p14:tracePt t="57980" x="2081213" y="4322763"/>
          <p14:tracePt t="57992" x="2081213" y="4379913"/>
          <p14:tracePt t="58010" x="2081213" y="4492625"/>
          <p14:tracePt t="58025" x="2081213" y="4578350"/>
          <p14:tracePt t="58032" x="2081213" y="4635500"/>
          <p14:tracePt t="58035" x="2081213" y="4645025"/>
          <p14:tracePt t="58045" x="2081213" y="4683125"/>
          <p14:tracePt t="58048" x="2081213" y="4710113"/>
          <p14:tracePt t="58060" x="2081213" y="4729163"/>
          <p14:tracePt t="58064" x="2081213" y="4748213"/>
          <p14:tracePt t="58067" x="2081213" y="4767263"/>
          <p14:tracePt t="58077" x="2081213" y="4776788"/>
          <p14:tracePt t="58083" x="2081213" y="4795838"/>
          <p14:tracePt t="58093" x="2081213" y="4833938"/>
          <p14:tracePt t="58098" x="2081213" y="4872038"/>
          <p14:tracePt t="58112" x="2081213" y="4910138"/>
          <p14:tracePt t="58114" x="2071688" y="4956175"/>
          <p14:tracePt t="58137" x="2024063" y="5137150"/>
          <p14:tracePt t="58145" x="2024063" y="5211763"/>
          <p14:tracePt t="58150" x="2024063" y="5249863"/>
          <p14:tracePt t="58151" x="2024063" y="5316538"/>
          <p14:tracePt t="58161" x="1995488" y="5391150"/>
          <p14:tracePt t="58164" x="1957388" y="5467350"/>
          <p14:tracePt t="58166" x="1957388" y="5476875"/>
          <p14:tracePt t="58173" x="1957388" y="5524500"/>
          <p14:tracePt t="58183" x="1911350" y="5591175"/>
          <p14:tracePt t="58185" x="1882775" y="5627688"/>
          <p14:tracePt t="58193" x="1882775" y="5646738"/>
          <p14:tracePt t="58197" x="1854200" y="5665788"/>
          <p14:tracePt t="58208" x="1825625" y="5694363"/>
          <p14:tracePt t="58235" x="1816100" y="5751513"/>
          <p14:tracePt t="58251" x="1758950" y="5770563"/>
          <p14:tracePt t="58466" x="1739900" y="5780088"/>
          <p14:tracePt t="58567" x="1701800" y="5780088"/>
          <p14:tracePt t="58576" x="1693863" y="5799138"/>
          <p14:tracePt t="58586" x="1665288" y="5845175"/>
          <p14:tracePt t="58591" x="1665288" y="5864225"/>
          <p14:tracePt t="58594" x="1655763" y="5873750"/>
          <p14:tracePt t="58617" x="1636713" y="5883275"/>
          <p14:tracePt t="58881" x="1627188" y="5902325"/>
          <p14:tracePt t="58897" x="1598613" y="5902325"/>
          <p14:tracePt t="58902" x="1589088" y="5902325"/>
          <p14:tracePt t="58915" x="1560513" y="5902325"/>
          <p14:tracePt t="58925" x="1541463" y="5902325"/>
          <p14:tracePt t="58942" x="1503363" y="5902325"/>
          <p14:tracePt t="58961" x="1466850" y="5902325"/>
          <p14:tracePt t="58975" x="1428750" y="5902325"/>
          <p14:tracePt t="58981" x="1409700" y="5892800"/>
          <p14:tracePt t="58992" x="1400175" y="5883275"/>
          <p14:tracePt t="58996" x="1390650" y="5873750"/>
          <p14:tracePt t="59011" x="1362075" y="5845175"/>
          <p14:tracePt t="59026" x="1343025" y="5827713"/>
          <p14:tracePt t="59042" x="1314450" y="5799138"/>
          <p14:tracePt t="59061" x="1295400" y="5789613"/>
          <p14:tracePt t="59075" x="1239838" y="5751513"/>
          <p14:tracePt t="59082" x="1220788" y="5732463"/>
          <p14:tracePt t="59092" x="1211263" y="5722938"/>
          <p14:tracePt t="59113" x="1201738" y="5703888"/>
          <p14:tracePt t="59115" x="1182688" y="5694363"/>
          <p14:tracePt t="59152" x="1163638" y="5665788"/>
          <p14:tracePt t="59168" x="1144588" y="5656263"/>
          <p14:tracePt t="59185" x="1144588" y="5627688"/>
          <p14:tracePt t="59192" x="1144588" y="5618163"/>
          <p14:tracePt t="59197" x="1135063" y="5572125"/>
          <p14:tracePt t="59220" x="1116013" y="5553075"/>
          <p14:tracePt t="59224" x="1116013" y="5534025"/>
          <p14:tracePt t="59256" x="1116013" y="5495925"/>
          <p14:tracePt t="59318" x="1116013" y="5467350"/>
          <p14:tracePt t="59332" x="1116013" y="5410200"/>
          <p14:tracePt t="59358" x="1116013" y="5400675"/>
          <p14:tracePt t="59368" x="1125538" y="5391150"/>
          <p14:tracePt t="59374" x="1163638" y="5391150"/>
          <p14:tracePt t="59379" x="1192213" y="5391150"/>
          <p14:tracePt t="59382" x="1201738" y="5391150"/>
          <p14:tracePt t="59389" x="1257300" y="5391150"/>
          <p14:tracePt t="59399" x="1304925" y="5391150"/>
          <p14:tracePt t="59411" x="1371600" y="5391150"/>
          <p14:tracePt t="59414" x="1400175" y="5391150"/>
          <p14:tracePt t="59434" x="1466850" y="5391150"/>
          <p14:tracePt t="59438" x="1493838" y="5391150"/>
          <p14:tracePt t="59442" x="1503363" y="5391150"/>
          <p14:tracePt t="59448" x="1522413" y="5391150"/>
          <p14:tracePt t="59449" x="1531938" y="5391150"/>
          <p14:tracePt t="59666" x="1550988" y="5400675"/>
          <p14:tracePt t="59671" x="1550988" y="5419725"/>
          <p14:tracePt t="59697" x="1550988" y="5467350"/>
          <p14:tracePt t="59704" x="1493838" y="5495925"/>
          <p14:tracePt t="59713" x="1457325" y="5495925"/>
          <p14:tracePt t="59725" x="1428750" y="5495925"/>
          <p14:tracePt t="59731" x="1352550" y="5534025"/>
          <p14:tracePt t="59735" x="1343025" y="5543550"/>
          <p14:tracePt t="59748" x="1314450" y="5543550"/>
          <p14:tracePt t="59761" x="1276350" y="5543550"/>
          <p14:tracePt t="59765" x="1247775" y="5543550"/>
          <p14:tracePt t="59767" x="1220788" y="5543550"/>
          <p14:tracePt t="59776" x="1163638" y="5543550"/>
          <p14:tracePt t="59792" x="1058863" y="5608638"/>
          <p14:tracePt t="59809" x="1003300" y="5608638"/>
          <p14:tracePt t="59835" x="993775" y="5608638"/>
          <p14:tracePt t="59846" x="984250" y="5608638"/>
          <p14:tracePt t="60213" x="993775" y="5608638"/>
          <p14:tracePt t="60226" x="1039813" y="5608638"/>
          <p14:tracePt t="60233" x="1077913" y="5608638"/>
          <p14:tracePt t="60236" x="1087438" y="5618163"/>
          <p14:tracePt t="60242" x="1106488" y="5627688"/>
          <p14:tracePt t="60261" x="1173163" y="5627688"/>
          <p14:tracePt t="60264" x="1182688" y="5627688"/>
          <p14:tracePt t="60267" x="1211263" y="5627688"/>
          <p14:tracePt t="60271" x="1220788" y="5627688"/>
          <p14:tracePt t="60281" x="1239838" y="5627688"/>
          <p14:tracePt t="60283" x="1247775" y="5627688"/>
          <p14:tracePt t="60556" x="1276350" y="5656263"/>
          <p14:tracePt t="60564" x="1323975" y="5656263"/>
          <p14:tracePt t="60568" x="1352550" y="5656263"/>
          <p14:tracePt t="60572" x="1371600" y="5656263"/>
          <p14:tracePt t="60576" x="1409700" y="5656263"/>
          <p14:tracePt t="60583" x="1457325" y="5656263"/>
          <p14:tracePt t="60592" x="1512888" y="5656263"/>
          <p14:tracePt t="60609" x="1646238" y="5656263"/>
          <p14:tracePt t="60615" x="1720850" y="5656263"/>
          <p14:tracePt t="60625" x="1797050" y="5656263"/>
          <p14:tracePt t="60631" x="1873250" y="5656263"/>
          <p14:tracePt t="60642" x="1957388" y="5656263"/>
          <p14:tracePt t="60646" x="1966913" y="5656263"/>
          <p14:tracePt t="60649" x="1976438" y="5656263"/>
          <p14:tracePt t="60651" x="2005013" y="5656263"/>
          <p14:tracePt t="60660" x="2033588" y="5656263"/>
          <p14:tracePt t="60675" x="2062163" y="5656263"/>
          <p14:tracePt t="60817" x="2100263" y="5656263"/>
          <p14:tracePt t="60891" x="2119313" y="5656263"/>
          <p14:tracePt t="60900" x="2128838" y="5656263"/>
          <p14:tracePt t="60915" x="2155825" y="5656263"/>
          <p14:tracePt t="60925" x="2193925" y="5656263"/>
          <p14:tracePt t="60932" x="2241550" y="5656263"/>
          <p14:tracePt t="60942" x="2251075" y="5656263"/>
          <p14:tracePt t="60961" x="2327275" y="5656263"/>
          <p14:tracePt t="60964" x="2355850" y="5656263"/>
          <p14:tracePt t="60967" x="2373313" y="5656263"/>
          <p14:tracePt t="60981" x="2401888" y="5656263"/>
          <p14:tracePt t="60991" x="2411413" y="5656263"/>
          <p14:tracePt t="61425" x="2392363" y="5656263"/>
          <p14:tracePt t="61438" x="2365375" y="5656263"/>
          <p14:tracePt t="61447" x="2355850" y="5656263"/>
          <p14:tracePt t="61465" x="2317750" y="5656263"/>
          <p14:tracePt t="61894" x="2251075" y="5656263"/>
          <p14:tracePt t="61901" x="2212975" y="5656263"/>
          <p14:tracePt t="61910" x="2138363" y="5646738"/>
          <p14:tracePt t="61915" x="2100263" y="5637213"/>
          <p14:tracePt t="61917" x="2052638" y="5637213"/>
          <p14:tracePt t="61927" x="1995488" y="5637213"/>
          <p14:tracePt t="61932" x="1901825" y="5637213"/>
          <p14:tracePt t="61942" x="1844675" y="5637213"/>
          <p14:tracePt t="61947" x="1816100" y="5637213"/>
          <p14:tracePt t="61950" x="1787525" y="5637213"/>
          <p14:tracePt t="61959" x="1739900" y="5637213"/>
          <p14:tracePt t="61976" x="1674813" y="5637213"/>
          <p14:tracePt t="61981" x="1636713" y="5656263"/>
          <p14:tracePt t="61991" x="1617663" y="5665788"/>
          <p14:tracePt t="62010" x="1589088" y="5722938"/>
          <p14:tracePt t="62061" x="1570038" y="5722938"/>
          <p14:tracePt t="62066" x="1550988" y="5722938"/>
          <p14:tracePt t="62082" x="1541463" y="5722938"/>
          <p14:tracePt t="62287" x="1522413" y="5713413"/>
          <p14:tracePt t="62296" x="1503363" y="5713413"/>
          <p14:tracePt t="62297" x="1474788" y="5713413"/>
          <p14:tracePt t="62312" x="1381125" y="5713413"/>
          <p14:tracePt t="62327" x="1304925" y="5713413"/>
          <p14:tracePt t="62333" x="1257300" y="5713413"/>
          <p14:tracePt t="62341" x="1247775" y="5722938"/>
          <p14:tracePt t="62361" x="1211263" y="5722938"/>
          <p14:tracePt t="62446" x="1182688" y="5722938"/>
          <p14:tracePt t="62455" x="1163638" y="5722938"/>
          <p14:tracePt t="62536" x="1154113" y="5741988"/>
          <p14:tracePt t="62632" x="1154113" y="5751513"/>
          <p14:tracePt t="62648" x="1173163" y="5789613"/>
          <p14:tracePt t="62655" x="1182688" y="5808663"/>
          <p14:tracePt t="62666" x="1201738" y="5818188"/>
          <p14:tracePt t="62703" x="1211263" y="5835650"/>
          <p14:tracePt t="62720" x="1220788" y="5845175"/>
          <p14:tracePt t="62745" x="1239838" y="5854700"/>
          <p14:tracePt t="62840" x="1247775" y="5873750"/>
          <p14:tracePt t="62848" x="1247775" y="5902325"/>
          <p14:tracePt t="62865" x="1276350" y="5949950"/>
          <p14:tracePt t="62867" x="1276350" y="5959475"/>
          <p14:tracePt t="62871" x="1285875" y="5978525"/>
          <p14:tracePt t="62884" x="1314450" y="5997575"/>
          <p14:tracePt t="62894" x="1323975" y="6016625"/>
          <p14:tracePt t="63974" x="1474788" y="6016625"/>
          <p14:tracePt t="63978" x="1503363" y="6016625"/>
          <p14:tracePt t="63987" x="1560513" y="6016625"/>
          <p14:tracePt t="64001" x="1617663" y="6016625"/>
          <p14:tracePt t="64013" x="1655763" y="6016625"/>
          <p14:tracePt t="64024" x="1693863" y="6016625"/>
          <p14:tracePt t="64544" x="1768475" y="6026150"/>
          <p14:tracePt t="64552" x="1835150" y="6045200"/>
          <p14:tracePt t="64555" x="1863725" y="6072188"/>
          <p14:tracePt t="64565" x="1919288" y="6072188"/>
          <p14:tracePt t="64576" x="1957388" y="6072188"/>
          <p14:tracePt t="64582" x="1976438" y="6072188"/>
          <p14:tracePt t="64584" x="1985963" y="6072188"/>
          <p14:tracePt t="64597" x="2024063" y="6072188"/>
          <p14:tracePt t="64608" x="2071688" y="6072188"/>
          <p14:tracePt t="64613" x="2100263" y="6072188"/>
          <p14:tracePt t="64615" x="2109788" y="6072188"/>
          <p14:tracePt t="64627" x="2146300" y="6072188"/>
          <p14:tracePt t="64630" x="2155825" y="6072188"/>
          <p14:tracePt t="64633" x="2184400" y="6072188"/>
          <p14:tracePt t="64644" x="2232025" y="6072188"/>
          <p14:tracePt t="64665" x="2279650" y="6072188"/>
          <p14:tracePt t="64681" x="2317750" y="6072188"/>
          <p14:tracePt t="64687" x="2346325" y="6072188"/>
          <p14:tracePt t="64696" x="2382838" y="6072188"/>
          <p14:tracePt t="64705" x="2411413" y="6072188"/>
          <p14:tracePt t="64714" x="2430463" y="6072188"/>
          <p14:tracePt t="64812" x="2468563" y="6072188"/>
          <p14:tracePt t="64826" x="2478088" y="6110288"/>
          <p14:tracePt t="64835" x="2478088" y="6138863"/>
          <p14:tracePt t="64837" x="2478088" y="6157913"/>
          <p14:tracePt t="64847" x="2478088" y="6196013"/>
          <p14:tracePt t="64857" x="2478088" y="6299200"/>
          <p14:tracePt t="64864" x="2478088" y="6318250"/>
          <p14:tracePt t="64865" x="2478088" y="6327775"/>
          <p14:tracePt t="64874" x="2478088" y="6384925"/>
          <p14:tracePt t="64903" x="2459038" y="6640513"/>
          <p14:tracePt t="64907" x="2420938" y="6726238"/>
          <p14:tracePt t="64915" x="2392363" y="6810375"/>
          <p14:tracePt t="65183" x="3679825" y="6829425"/>
          <p14:tracePt t="65186" x="3689350" y="6819900"/>
          <p14:tracePt t="65197" x="3708400" y="6800850"/>
          <p14:tracePt t="65233" x="3717925" y="6791325"/>
          <p14:tracePt t="65260" x="3925888" y="6365875"/>
          <p14:tracePt t="65264" x="3962400" y="6100763"/>
          <p14:tracePt t="65267" x="4019550" y="5827713"/>
          <p14:tracePt t="65281" x="4189413" y="4786313"/>
          <p14:tracePt t="65291" x="4237038" y="4237038"/>
          <p14:tracePt t="65297" x="4341813" y="3689350"/>
          <p14:tracePt t="65307" x="4416425" y="3140075"/>
          <p14:tracePt t="65313" x="4435475" y="2865438"/>
          <p14:tracePt t="65315" x="4511675" y="2592388"/>
          <p14:tracePt t="65325" x="4633913" y="2128838"/>
          <p14:tracePt t="65341" x="4927600" y="1220788"/>
          <p14:tracePt t="65346" x="5003800" y="1003300"/>
          <p14:tracePt t="65347" x="5080000" y="776288"/>
          <p14:tracePt t="65358" x="5240338" y="425450"/>
          <p14:tracePt t="65364" x="5400675" y="122238"/>
          <p14:tracePt t="65932" x="9809163" y="76200"/>
          <p14:tracePt t="65941" x="10290175" y="396875"/>
          <p14:tracePt t="65948" x="10545763" y="576263"/>
          <p14:tracePt t="65951" x="11056938" y="936625"/>
          <p14:tracePt t="65961" x="11661775" y="1352550"/>
          <p14:tracePt t="71175" x="11955463" y="2251075"/>
          <p14:tracePt t="71179" x="11785600" y="1911350"/>
          <p14:tracePt t="71184" x="11568113" y="1541463"/>
          <p14:tracePt t="71187" x="11322050" y="1173163"/>
          <p14:tracePt t="71198" x="10650538" y="169863"/>
        </p14:tracePtLst>
      </p14:laserTraceLst>
    </p:ext>
  </p:extLs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F604DEC4-8A16-0A70-A359-5404EA271407}"/>
              </a:ext>
            </a:extLst>
          </p:cNvPr>
          <p:cNvSpPr>
            <a:spLocks noGrp="1"/>
          </p:cNvSpPr>
          <p:nvPr>
            <p:ph type="title"/>
          </p:nvPr>
        </p:nvSpPr>
        <p:spPr>
          <a:xfrm>
            <a:off x="480000" y="960000"/>
            <a:ext cx="11280000" cy="840000"/>
          </a:xfrm>
        </p:spPr>
        <p:txBody>
          <a:bodyPr/>
          <a:lstStyle/>
          <a:p>
            <a:r>
              <a:rPr lang="en-US" dirty="0"/>
              <a:t>WGAN Benefits</a:t>
            </a:r>
            <a:br>
              <a:rPr lang="en-US" dirty="0"/>
            </a:br>
            <a:endParaRPr lang="en-US" dirty="0"/>
          </a:p>
        </p:txBody>
      </p:sp>
      <p:sp>
        <p:nvSpPr>
          <p:cNvPr id="7" name="TextBox 6">
            <a:extLst>
              <a:ext uri="{FF2B5EF4-FFF2-40B4-BE49-F238E27FC236}">
                <a16:creationId xmlns:a16="http://schemas.microsoft.com/office/drawing/2014/main" id="{511BEFAF-F815-F46A-E93A-799ABFAE0AF5}"/>
              </a:ext>
            </a:extLst>
          </p:cNvPr>
          <p:cNvSpPr txBox="1"/>
          <p:nvPr/>
        </p:nvSpPr>
        <p:spPr>
          <a:xfrm>
            <a:off x="576000" y="1948294"/>
            <a:ext cx="5520000" cy="4080000"/>
          </a:xfrm>
          <a:prstGeom prst="rect">
            <a:avLst/>
          </a:prstGeom>
        </p:spPr>
        <p:txBody>
          <a:bodyPr vert="horz" lIns="0" tIns="0" rIns="0" bIns="0" rtlCol="0">
            <a:normAutofit/>
          </a:bodyPr>
          <a:lstStyle/>
          <a:p>
            <a:pPr marL="734393" indent="-457200" defTabSz="457189" fontAlgn="base">
              <a:lnSpc>
                <a:spcPct val="120000"/>
              </a:lnSpc>
              <a:spcBef>
                <a:spcPts val="600"/>
              </a:spcBef>
              <a:spcAft>
                <a:spcPct val="0"/>
              </a:spcAft>
              <a:buClr>
                <a:srgbClr val="D40009"/>
              </a:buClr>
              <a:buFont typeface="Wingdings" panose="05000000000000000000" pitchFamily="2" charset="2"/>
              <a:buChar char="ü"/>
            </a:pPr>
            <a:r>
              <a:rPr lang="de-DE" sz="2000" dirty="0">
                <a:latin typeface="Source Sans Pro" charset="0"/>
                <a:ea typeface="Source Sans Pro" charset="0"/>
              </a:rPr>
              <a:t>A meaningful loss metric </a:t>
            </a:r>
          </a:p>
          <a:p>
            <a:pPr marL="734393" indent="-457200" defTabSz="457189" fontAlgn="base">
              <a:lnSpc>
                <a:spcPct val="120000"/>
              </a:lnSpc>
              <a:spcBef>
                <a:spcPts val="600"/>
              </a:spcBef>
              <a:spcAft>
                <a:spcPct val="0"/>
              </a:spcAft>
              <a:buClr>
                <a:srgbClr val="D40009"/>
              </a:buClr>
              <a:buFont typeface="Wingdings" panose="05000000000000000000" pitchFamily="2" charset="2"/>
              <a:buChar char="ü"/>
            </a:pPr>
            <a:r>
              <a:rPr lang="de-DE" sz="2000" dirty="0">
                <a:latin typeface="Source Sans Pro" charset="0"/>
                <a:ea typeface="Source Sans Pro" charset="0"/>
              </a:rPr>
              <a:t>Improved stability of the optimization process </a:t>
            </a:r>
          </a:p>
          <a:p>
            <a:pPr marL="457189" indent="-179996" defTabSz="457189" fontAlgn="base">
              <a:lnSpc>
                <a:spcPct val="120000"/>
              </a:lnSpc>
              <a:spcBef>
                <a:spcPts val="600"/>
              </a:spcBef>
              <a:spcAft>
                <a:spcPct val="0"/>
              </a:spcAft>
              <a:buClr>
                <a:srgbClr val="D40009"/>
              </a:buClr>
              <a:buFont typeface="Arial" charset="0"/>
              <a:buChar char="•"/>
            </a:pPr>
            <a:endParaRPr lang="de-DE" sz="2000" dirty="0">
              <a:latin typeface="Source Sans Pro" charset="0"/>
              <a:ea typeface="Source Sans Pro" charset="0"/>
            </a:endParaRPr>
          </a:p>
        </p:txBody>
      </p:sp>
      <p:sp>
        <p:nvSpPr>
          <p:cNvPr id="4" name="Date Placeholder 3">
            <a:extLst>
              <a:ext uri="{FF2B5EF4-FFF2-40B4-BE49-F238E27FC236}">
                <a16:creationId xmlns:a16="http://schemas.microsoft.com/office/drawing/2014/main" id="{BB39154E-7336-8FED-99AC-B22E45FCFAC5}"/>
              </a:ext>
            </a:extLst>
          </p:cNvPr>
          <p:cNvSpPr>
            <a:spLocks noGrp="1"/>
          </p:cNvSpPr>
          <p:nvPr>
            <p:ph type="dt" sz="half" idx="14"/>
          </p:nvPr>
        </p:nvSpPr>
        <p:spPr>
          <a:xfrm>
            <a:off x="480484" y="6479117"/>
            <a:ext cx="1439333" cy="378883"/>
          </a:xfrm>
        </p:spPr>
        <p:txBody>
          <a:bodyPr vert="horz" wrap="none" lIns="0" tIns="0" rIns="0" bIns="0" rtlCol="0" anchor="ctr" anchorCtr="0">
            <a:normAutofit/>
          </a:bodyPr>
          <a:lstStyle/>
          <a:p>
            <a:pPr>
              <a:spcAft>
                <a:spcPts val="600"/>
              </a:spcAft>
              <a:defRPr/>
            </a:pPr>
            <a:fld id="{9D9849F5-EA01-4D1A-8C60-B0D9FCA33834}" type="datetime1">
              <a:rPr lang="en-US" smtClean="0"/>
              <a:t>2/28/2024</a:t>
            </a:fld>
            <a:endParaRPr lang="de-DE"/>
          </a:p>
        </p:txBody>
      </p:sp>
      <p:sp>
        <p:nvSpPr>
          <p:cNvPr id="5" name="Footer Placeholder 4">
            <a:extLst>
              <a:ext uri="{FF2B5EF4-FFF2-40B4-BE49-F238E27FC236}">
                <a16:creationId xmlns:a16="http://schemas.microsoft.com/office/drawing/2014/main" id="{6C9ADBAF-76FC-BEC3-30D5-F17D1874729D}"/>
              </a:ext>
            </a:extLst>
          </p:cNvPr>
          <p:cNvSpPr>
            <a:spLocks noGrp="1"/>
          </p:cNvSpPr>
          <p:nvPr>
            <p:ph type="ftr" sz="quarter" idx="15"/>
          </p:nvPr>
        </p:nvSpPr>
        <p:spPr>
          <a:xfrm>
            <a:off x="2400300" y="6479117"/>
            <a:ext cx="7486651" cy="378883"/>
          </a:xfrm>
        </p:spPr>
        <p:txBody>
          <a:bodyPr vert="horz" wrap="none" lIns="0" tIns="0" rIns="0" bIns="0" rtlCol="0" anchor="ctr">
            <a:normAutofit/>
          </a:bodyPr>
          <a:lstStyle/>
          <a:p>
            <a:pPr>
              <a:spcAft>
                <a:spcPts val="600"/>
              </a:spcAft>
              <a:defRPr/>
            </a:pPr>
            <a:r>
              <a:rPr lang="de-DE" b="0" i="0" kern="1200">
                <a:latin typeface="Source Sans Pro" charset="0"/>
                <a:ea typeface="Source Sans Pro" charset="0"/>
                <a:cs typeface="Source Sans Pro" charset="0"/>
              </a:rPr>
              <a:t>Pichaya Tappayuthpijarn</a:t>
            </a:r>
          </a:p>
        </p:txBody>
      </p:sp>
      <p:sp>
        <p:nvSpPr>
          <p:cNvPr id="6" name="Slide Number Placeholder 5">
            <a:extLst>
              <a:ext uri="{FF2B5EF4-FFF2-40B4-BE49-F238E27FC236}">
                <a16:creationId xmlns:a16="http://schemas.microsoft.com/office/drawing/2014/main" id="{B065A52D-561D-7177-8AFF-9A442762CBF2}"/>
              </a:ext>
            </a:extLst>
          </p:cNvPr>
          <p:cNvSpPr>
            <a:spLocks noGrp="1"/>
          </p:cNvSpPr>
          <p:nvPr>
            <p:ph type="sldNum" sz="quarter" idx="16"/>
          </p:nvPr>
        </p:nvSpPr>
        <p:spPr>
          <a:xfrm>
            <a:off x="10318752" y="6479117"/>
            <a:ext cx="1441449" cy="378883"/>
          </a:xfrm>
        </p:spPr>
        <p:txBody>
          <a:bodyPr vert="horz" lIns="0" tIns="0" rIns="0" bIns="0" rtlCol="0" anchor="ctr" anchorCtr="0">
            <a:normAutofit/>
          </a:bodyPr>
          <a:lstStyle/>
          <a:p>
            <a:pPr>
              <a:spcAft>
                <a:spcPts val="600"/>
              </a:spcAft>
              <a:defRPr/>
            </a:pPr>
            <a:r>
              <a:rPr lang="de-DE"/>
              <a:t>SEITE</a:t>
            </a:r>
            <a:r>
              <a:rPr lang="de-DE" spc="0"/>
              <a:t> </a:t>
            </a:r>
            <a:fld id="{37ED3A82-C5FC-FE4D-9EDE-EA1B3EA06354}" type="slidenum">
              <a:rPr lang="de-DE" spc="0" smtClean="0"/>
              <a:pPr>
                <a:spcAft>
                  <a:spcPts val="600"/>
                </a:spcAft>
                <a:defRPr/>
              </a:pPr>
              <a:t>12</a:t>
            </a:fld>
            <a:endParaRPr lang="de-DE" spc="0"/>
          </a:p>
        </p:txBody>
      </p:sp>
      <p:pic>
        <p:nvPicPr>
          <p:cNvPr id="11" name="Content Placeholder 6" descr="A graph of a graph of a graph&#10;&#10;Description automatically generated with medium confidence">
            <a:extLst>
              <a:ext uri="{FF2B5EF4-FFF2-40B4-BE49-F238E27FC236}">
                <a16:creationId xmlns:a16="http://schemas.microsoft.com/office/drawing/2014/main" id="{9DAE20FF-2270-C3C6-766F-726438B08AFF}"/>
              </a:ext>
            </a:extLst>
          </p:cNvPr>
          <p:cNvPicPr>
            <a:picLocks noChangeAspect="1"/>
          </p:cNvPicPr>
          <p:nvPr/>
        </p:nvPicPr>
        <p:blipFill>
          <a:blip r:embed="rId3"/>
          <a:stretch>
            <a:fillRect/>
          </a:stretch>
        </p:blipFill>
        <p:spPr>
          <a:xfrm>
            <a:off x="5950492" y="1745378"/>
            <a:ext cx="4635810" cy="3615932"/>
          </a:xfrm>
          <a:prstGeom prst="rect">
            <a:avLst/>
          </a:prstGeom>
          <a:noFill/>
        </p:spPr>
      </p:pic>
      <p:sp>
        <p:nvSpPr>
          <p:cNvPr id="13" name="TextBox 12">
            <a:extLst>
              <a:ext uri="{FF2B5EF4-FFF2-40B4-BE49-F238E27FC236}">
                <a16:creationId xmlns:a16="http://schemas.microsoft.com/office/drawing/2014/main" id="{79A11769-75E8-7F58-733C-1E3C004649AA}"/>
              </a:ext>
            </a:extLst>
          </p:cNvPr>
          <p:cNvSpPr txBox="1"/>
          <p:nvPr/>
        </p:nvSpPr>
        <p:spPr>
          <a:xfrm>
            <a:off x="5950492" y="5389725"/>
            <a:ext cx="4557571" cy="646331"/>
          </a:xfrm>
          <a:prstGeom prst="rect">
            <a:avLst/>
          </a:prstGeom>
          <a:noFill/>
        </p:spPr>
        <p:txBody>
          <a:bodyPr wrap="square">
            <a:spAutoFit/>
          </a:bodyPr>
          <a:lstStyle/>
          <a:p>
            <a:pPr marL="277193" defTabSz="609585" eaLnBrk="0" fontAlgn="base" hangingPunct="0">
              <a:spcBef>
                <a:spcPct val="0"/>
              </a:spcBef>
              <a:spcAft>
                <a:spcPct val="0"/>
              </a:spcAft>
            </a:pPr>
            <a:r>
              <a:rPr lang="en-US" sz="1200" i="1" dirty="0">
                <a:solidFill>
                  <a:srgbClr val="44546A"/>
                </a:solidFill>
                <a:latin typeface="Calibri" panose="020F0502020204030204" pitchFamily="34" charset="0"/>
                <a:cs typeface="Cordia New" panose="020B0304020202020204" pitchFamily="34" charset="-34"/>
              </a:rPr>
              <a:t>Figure 10 Output of GAN discriminator compared with WGAN critic (</a:t>
            </a:r>
            <a:r>
              <a:rPr lang="en-US" sz="1200" i="1" dirty="0" err="1">
                <a:solidFill>
                  <a:srgbClr val="44546A"/>
                </a:solidFill>
                <a:latin typeface="Calibri" panose="020F0502020204030204" pitchFamily="34" charset="0"/>
                <a:cs typeface="Cordia New" panose="020B0304020202020204" pitchFamily="34" charset="-34"/>
              </a:rPr>
              <a:t>Arjovsky</a:t>
            </a:r>
            <a:r>
              <a:rPr lang="en-US" sz="1200" i="1" dirty="0">
                <a:solidFill>
                  <a:srgbClr val="44546A"/>
                </a:solidFill>
                <a:latin typeface="Calibri" panose="020F0502020204030204" pitchFamily="34" charset="0"/>
                <a:cs typeface="Cordia New" panose="020B0304020202020204" pitchFamily="34" charset="-34"/>
              </a:rPr>
              <a:t> &amp; </a:t>
            </a:r>
            <a:r>
              <a:rPr lang="en-US" sz="1200" i="1" dirty="0" err="1">
                <a:solidFill>
                  <a:srgbClr val="44546A"/>
                </a:solidFill>
                <a:latin typeface="Calibri" panose="020F0502020204030204" pitchFamily="34" charset="0"/>
                <a:cs typeface="Cordia New" panose="020B0304020202020204" pitchFamily="34" charset="-34"/>
              </a:rPr>
              <a:t>Bottou</a:t>
            </a:r>
            <a:r>
              <a:rPr lang="en-US" sz="1200" i="1" dirty="0">
                <a:solidFill>
                  <a:srgbClr val="44546A"/>
                </a:solidFill>
                <a:latin typeface="Calibri" panose="020F0502020204030204" pitchFamily="34" charset="0"/>
                <a:cs typeface="Cordia New" panose="020B0304020202020204" pitchFamily="34" charset="-34"/>
              </a:rPr>
              <a:t>, 2017)</a:t>
            </a:r>
          </a:p>
          <a:p>
            <a:pPr marL="277193" defTabSz="609585" eaLnBrk="0" fontAlgn="base" hangingPunct="0">
              <a:spcBef>
                <a:spcPct val="0"/>
              </a:spcBef>
              <a:spcAft>
                <a:spcPct val="0"/>
              </a:spcAft>
            </a:pPr>
            <a:endParaRPr lang="en-US" sz="1200" i="1" dirty="0">
              <a:solidFill>
                <a:srgbClr val="44546A"/>
              </a:solidFill>
              <a:latin typeface="Calibri" panose="020F0502020204030204" pitchFamily="34" charset="0"/>
              <a:cs typeface="Cordia New" panose="020B0304020202020204" pitchFamily="34" charset="-34"/>
            </a:endParaRPr>
          </a:p>
        </p:txBody>
      </p:sp>
      <p:sp>
        <p:nvSpPr>
          <p:cNvPr id="12" name="TextBox 11">
            <a:extLst>
              <a:ext uri="{FF2B5EF4-FFF2-40B4-BE49-F238E27FC236}">
                <a16:creationId xmlns:a16="http://schemas.microsoft.com/office/drawing/2014/main" id="{F467E704-A42A-1FD8-39B5-0D48397082A7}"/>
              </a:ext>
            </a:extLst>
          </p:cNvPr>
          <p:cNvSpPr txBox="1"/>
          <p:nvPr/>
        </p:nvSpPr>
        <p:spPr>
          <a:xfrm>
            <a:off x="493218" y="1984472"/>
            <a:ext cx="5891398" cy="4080000"/>
          </a:xfrm>
          <a:prstGeom prst="rect">
            <a:avLst/>
          </a:prstGeom>
        </p:spPr>
        <p:txBody>
          <a:bodyPr vert="horz" lIns="0" tIns="0" rIns="0" bIns="0" rtlCol="0">
            <a:normAutofit/>
          </a:bodyPr>
          <a:lstStyle/>
          <a:p>
            <a:pPr marL="380990" indent="-179996" defTabSz="457189" fontAlgn="base">
              <a:lnSpc>
                <a:spcPct val="120000"/>
              </a:lnSpc>
              <a:spcBef>
                <a:spcPct val="0"/>
              </a:spcBef>
              <a:spcAft>
                <a:spcPts val="800"/>
              </a:spcAft>
              <a:buClr>
                <a:srgbClr val="D40009"/>
              </a:buClr>
              <a:buFont typeface="Arial" charset="0"/>
              <a:buChar char="•"/>
            </a:pPr>
            <a:endParaRPr lang="de-DE" sz="2000" dirty="0">
              <a:solidFill>
                <a:prstClr val="black"/>
              </a:solidFill>
              <a:latin typeface="Source Sans Pro" charset="0"/>
              <a:ea typeface="Source Sans Pro" charset="0"/>
            </a:endParaRPr>
          </a:p>
        </p:txBody>
      </p:sp>
      <p:sp>
        <p:nvSpPr>
          <p:cNvPr id="2" name="Rectangle 1">
            <a:extLst>
              <a:ext uri="{FF2B5EF4-FFF2-40B4-BE49-F238E27FC236}">
                <a16:creationId xmlns:a16="http://schemas.microsoft.com/office/drawing/2014/main" id="{952C3B39-BB3E-B54F-2770-2ABD6D5CA396}"/>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spTree>
    <p:extLst>
      <p:ext uri="{BB962C8B-B14F-4D97-AF65-F5344CB8AC3E}">
        <p14:creationId xmlns:p14="http://schemas.microsoft.com/office/powerpoint/2010/main" val="3105646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F1C04C-6C63-FA76-0E77-79DD2924125A}"/>
              </a:ext>
            </a:extLst>
          </p:cNvPr>
          <p:cNvSpPr>
            <a:spLocks noGrp="1"/>
          </p:cNvSpPr>
          <p:nvPr>
            <p:ph idx="1"/>
          </p:nvPr>
        </p:nvSpPr>
        <p:spPr>
          <a:xfrm>
            <a:off x="480485" y="2040468"/>
            <a:ext cx="8784539" cy="4078817"/>
          </a:xfrm>
        </p:spPr>
        <p:txBody>
          <a:bodyPr>
            <a:normAutofit/>
          </a:bodyPr>
          <a:lstStyle/>
          <a:p>
            <a:pPr fontAlgn="ctr">
              <a:spcBef>
                <a:spcPts val="0"/>
              </a:spcBef>
              <a:spcAft>
                <a:spcPts val="0"/>
              </a:spcAft>
              <a:buFont typeface="Arial" panose="020B0604020202020204" pitchFamily="34" charset="0"/>
              <a:buChar char="•"/>
            </a:pPr>
            <a:r>
              <a:rPr lang="en-US" sz="2000" dirty="0">
                <a:latin typeface="Calibri" panose="020F0502020204030204" pitchFamily="34" charset="0"/>
              </a:rPr>
              <a:t>Condition the network with additional information during training.</a:t>
            </a:r>
          </a:p>
          <a:p>
            <a:pPr fontAlgn="ctr">
              <a:spcBef>
                <a:spcPts val="0"/>
              </a:spcBef>
              <a:spcAft>
                <a:spcPts val="0"/>
              </a:spcAft>
              <a:buFont typeface="Arial" panose="020B0604020202020204" pitchFamily="34" charset="0"/>
              <a:buChar char="•"/>
            </a:pPr>
            <a:r>
              <a:rPr lang="en-US" sz="2000" dirty="0">
                <a:latin typeface="Calibri" panose="020F0502020204030204" pitchFamily="34" charset="0"/>
              </a:rPr>
              <a:t>Generate images of specific input. </a:t>
            </a:r>
          </a:p>
          <a:p>
            <a:pPr marL="277193" indent="0">
              <a:spcBef>
                <a:spcPts val="0"/>
              </a:spcBef>
              <a:spcAft>
                <a:spcPts val="0"/>
              </a:spcAft>
              <a:buNone/>
            </a:pPr>
            <a:endParaRPr lang="en-US" sz="2000" dirty="0">
              <a:latin typeface="Calibri" panose="020F0502020204030204" pitchFamily="34" charset="0"/>
            </a:endParaRPr>
          </a:p>
          <a:p>
            <a:pPr marL="277193" indent="0">
              <a:spcBef>
                <a:spcPts val="0"/>
              </a:spcBef>
              <a:spcAft>
                <a:spcPts val="0"/>
              </a:spcAft>
              <a:buNone/>
            </a:pPr>
            <a:r>
              <a:rPr lang="en-US" sz="2000" b="1" dirty="0">
                <a:solidFill>
                  <a:srgbClr val="7030A0"/>
                </a:solidFill>
                <a:latin typeface="Calibri" panose="020F0502020204030204" pitchFamily="34" charset="0"/>
              </a:rPr>
              <a:t> Beam characteristic as conditional input</a:t>
            </a:r>
          </a:p>
          <a:p>
            <a:pPr fontAlgn="ctr">
              <a:spcBef>
                <a:spcPts val="0"/>
              </a:spcBef>
              <a:spcAft>
                <a:spcPts val="0"/>
              </a:spcAft>
              <a:buFont typeface="Arial" panose="020B0604020202020204" pitchFamily="34" charset="0"/>
              <a:buChar char="•"/>
            </a:pPr>
            <a:r>
              <a:rPr lang="en-US" sz="2000" dirty="0">
                <a:latin typeface="Calibri" panose="020F0502020204030204" pitchFamily="34" charset="0"/>
              </a:rPr>
              <a:t> material density matrix of phantom  </a:t>
            </a:r>
          </a:p>
          <a:p>
            <a:pPr fontAlgn="ctr">
              <a:spcBef>
                <a:spcPts val="0"/>
              </a:spcBef>
              <a:spcAft>
                <a:spcPts val="0"/>
              </a:spcAft>
              <a:buFont typeface="Arial" panose="020B0604020202020204" pitchFamily="34" charset="0"/>
              <a:buChar char="•"/>
            </a:pPr>
            <a:r>
              <a:rPr lang="en-US" sz="2000" dirty="0">
                <a:latin typeface="Calibri" panose="020F0502020204030204" pitchFamily="34" charset="0"/>
              </a:rPr>
              <a:t> 3D energy deposition of the carbon ion beam</a:t>
            </a:r>
          </a:p>
          <a:p>
            <a:pPr marL="277193" indent="0" fontAlgn="ctr">
              <a:spcBef>
                <a:spcPts val="0"/>
              </a:spcBef>
              <a:spcAft>
                <a:spcPts val="0"/>
              </a:spcAft>
              <a:buNone/>
            </a:pPr>
            <a:r>
              <a:rPr lang="en-US" sz="2000" dirty="0">
                <a:latin typeface="Calibri" panose="020F0502020204030204" pitchFamily="34" charset="0"/>
              </a:rPr>
              <a:t> in a water phantom </a:t>
            </a:r>
            <a:r>
              <a:rPr lang="en-US" sz="2000" dirty="0">
                <a:latin typeface="Calibri" panose="020F0502020204030204" pitchFamily="34" charset="0"/>
                <a:sym typeface="Wingdings" panose="05000000000000000000" pitchFamily="2" charset="2"/>
              </a:rPr>
              <a:t> beam energy</a:t>
            </a:r>
            <a:endParaRPr lang="en-US" sz="2000" dirty="0">
              <a:latin typeface="Calibri" panose="020F0502020204030204" pitchFamily="34" charset="0"/>
            </a:endParaRPr>
          </a:p>
          <a:p>
            <a:endParaRPr lang="en-US" sz="2000" dirty="0"/>
          </a:p>
        </p:txBody>
      </p:sp>
      <p:sp>
        <p:nvSpPr>
          <p:cNvPr id="3" name="Title 2">
            <a:extLst>
              <a:ext uri="{FF2B5EF4-FFF2-40B4-BE49-F238E27FC236}">
                <a16:creationId xmlns:a16="http://schemas.microsoft.com/office/drawing/2014/main" id="{7A5B4EFD-6818-9725-7687-00CBC70BBDC9}"/>
              </a:ext>
            </a:extLst>
          </p:cNvPr>
          <p:cNvSpPr>
            <a:spLocks noGrp="1"/>
          </p:cNvSpPr>
          <p:nvPr>
            <p:ph type="title"/>
          </p:nvPr>
        </p:nvSpPr>
        <p:spPr/>
        <p:txBody>
          <a:bodyPr/>
          <a:lstStyle/>
          <a:p>
            <a:r>
              <a:rPr lang="en-US" dirty="0"/>
              <a:t>Conditional GAN</a:t>
            </a:r>
          </a:p>
        </p:txBody>
      </p:sp>
      <p:sp>
        <p:nvSpPr>
          <p:cNvPr id="4" name="Date Placeholder 3">
            <a:extLst>
              <a:ext uri="{FF2B5EF4-FFF2-40B4-BE49-F238E27FC236}">
                <a16:creationId xmlns:a16="http://schemas.microsoft.com/office/drawing/2014/main" id="{960DFCE6-C90C-6C31-E362-F7A41B635229}"/>
              </a:ext>
            </a:extLst>
          </p:cNvPr>
          <p:cNvSpPr>
            <a:spLocks noGrp="1"/>
          </p:cNvSpPr>
          <p:nvPr>
            <p:ph type="dt" sz="half" idx="10"/>
          </p:nvPr>
        </p:nvSpPr>
        <p:spPr/>
        <p:txBody>
          <a:bodyPr/>
          <a:lstStyle/>
          <a:p>
            <a:pPr>
              <a:defRPr/>
            </a:pPr>
            <a:fld id="{032255B2-AC00-40D2-BCA1-3CE09215E9A1}" type="datetime1">
              <a:rPr lang="en-US" smtClean="0"/>
              <a:t>2/28/2024</a:t>
            </a:fld>
            <a:endParaRPr lang="de-DE" dirty="0"/>
          </a:p>
        </p:txBody>
      </p:sp>
      <p:sp>
        <p:nvSpPr>
          <p:cNvPr id="5" name="Footer Placeholder 4">
            <a:extLst>
              <a:ext uri="{FF2B5EF4-FFF2-40B4-BE49-F238E27FC236}">
                <a16:creationId xmlns:a16="http://schemas.microsoft.com/office/drawing/2014/main" id="{0E1FAB2F-6E11-432C-5163-2406F81631E3}"/>
              </a:ext>
            </a:extLst>
          </p:cNvPr>
          <p:cNvSpPr>
            <a:spLocks noGrp="1"/>
          </p:cNvSpPr>
          <p:nvPr>
            <p:ph type="ftr" sz="quarter" idx="11"/>
          </p:nvPr>
        </p:nvSpPr>
        <p:spPr/>
        <p:txBody>
          <a:bodyPr/>
          <a:lstStyle/>
          <a:p>
            <a:pPr>
              <a:defRPr/>
            </a:pPr>
            <a:r>
              <a:rPr lang="de-DE"/>
              <a:t>Pichaya Tappayuthpijarn</a:t>
            </a:r>
            <a:endParaRPr lang="de-DE" dirty="0"/>
          </a:p>
        </p:txBody>
      </p:sp>
      <p:sp>
        <p:nvSpPr>
          <p:cNvPr id="6" name="Slide Number Placeholder 5">
            <a:extLst>
              <a:ext uri="{FF2B5EF4-FFF2-40B4-BE49-F238E27FC236}">
                <a16:creationId xmlns:a16="http://schemas.microsoft.com/office/drawing/2014/main" id="{3090CD51-A31F-924D-B102-9F4271F9713D}"/>
              </a:ext>
            </a:extLst>
          </p:cNvPr>
          <p:cNvSpPr>
            <a:spLocks noGrp="1"/>
          </p:cNvSpPr>
          <p:nvPr>
            <p:ph type="sldNum" sz="quarter" idx="12"/>
          </p:nvPr>
        </p:nvSpPr>
        <p:spPr/>
        <p:txBody>
          <a:bodyPr/>
          <a:lstStyle/>
          <a:p>
            <a:pPr>
              <a:defRPr/>
            </a:pPr>
            <a:r>
              <a:rPr lang="de-DE"/>
              <a:t>SEITE</a:t>
            </a:r>
            <a:r>
              <a:rPr lang="de-DE" spc="0"/>
              <a:t> </a:t>
            </a:r>
            <a:fld id="{37ED3A82-C5FC-FE4D-9EDE-EA1B3EA06354}" type="slidenum">
              <a:rPr lang="de-DE" spc="0"/>
              <a:pPr>
                <a:defRPr/>
              </a:pPr>
              <a:t>13</a:t>
            </a:fld>
            <a:endParaRPr lang="de-DE" spc="0"/>
          </a:p>
        </p:txBody>
      </p:sp>
      <p:sp>
        <p:nvSpPr>
          <p:cNvPr id="7" name="Rectangle 6">
            <a:extLst>
              <a:ext uri="{FF2B5EF4-FFF2-40B4-BE49-F238E27FC236}">
                <a16:creationId xmlns:a16="http://schemas.microsoft.com/office/drawing/2014/main" id="{E8C9B607-FD6C-B1AC-DB5E-C88C5EB5537E}"/>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sz="2400"/>
          </a:p>
        </p:txBody>
      </p:sp>
      <p:pic>
        <p:nvPicPr>
          <p:cNvPr id="9" name="Picture 8">
            <a:extLst>
              <a:ext uri="{FF2B5EF4-FFF2-40B4-BE49-F238E27FC236}">
                <a16:creationId xmlns:a16="http://schemas.microsoft.com/office/drawing/2014/main" id="{A8388D3E-1037-F212-5DBB-C42B964B9425}"/>
              </a:ext>
            </a:extLst>
          </p:cNvPr>
          <p:cNvPicPr>
            <a:picLocks noChangeAspect="1"/>
          </p:cNvPicPr>
          <p:nvPr/>
        </p:nvPicPr>
        <p:blipFill>
          <a:blip r:embed="rId3"/>
          <a:stretch>
            <a:fillRect/>
          </a:stretch>
        </p:blipFill>
        <p:spPr>
          <a:xfrm>
            <a:off x="6712225" y="2570629"/>
            <a:ext cx="1586753" cy="1542472"/>
          </a:xfrm>
          <a:prstGeom prst="rect">
            <a:avLst/>
          </a:prstGeom>
        </p:spPr>
      </p:pic>
      <p:cxnSp>
        <p:nvCxnSpPr>
          <p:cNvPr id="12" name="Straight Arrow Connector 11">
            <a:extLst>
              <a:ext uri="{FF2B5EF4-FFF2-40B4-BE49-F238E27FC236}">
                <a16:creationId xmlns:a16="http://schemas.microsoft.com/office/drawing/2014/main" id="{40982AA1-210F-C093-0510-B411B35E67E2}"/>
              </a:ext>
            </a:extLst>
          </p:cNvPr>
          <p:cNvCxnSpPr>
            <a:cxnSpLocks/>
          </p:cNvCxnSpPr>
          <p:nvPr/>
        </p:nvCxnSpPr>
        <p:spPr>
          <a:xfrm flipV="1">
            <a:off x="4953099" y="3493902"/>
            <a:ext cx="1759126" cy="2689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E70D0267-077C-AD11-F54B-80E0B5A87772}"/>
              </a:ext>
            </a:extLst>
          </p:cNvPr>
          <p:cNvCxnSpPr>
            <a:cxnSpLocks/>
          </p:cNvCxnSpPr>
          <p:nvPr/>
        </p:nvCxnSpPr>
        <p:spPr>
          <a:xfrm>
            <a:off x="4953099" y="4510854"/>
            <a:ext cx="1592220" cy="6654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1" name="Picture 10" descr="A graph of carbon ion&#10;&#10;Description automatically generated">
            <a:extLst>
              <a:ext uri="{FF2B5EF4-FFF2-40B4-BE49-F238E27FC236}">
                <a16:creationId xmlns:a16="http://schemas.microsoft.com/office/drawing/2014/main" id="{99031FF5-25CD-9CEE-EDEF-527D74852FF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64817" y="4233335"/>
            <a:ext cx="5238750" cy="1885950"/>
          </a:xfrm>
          <a:prstGeom prst="rect">
            <a:avLst/>
          </a:prstGeom>
          <a:noFill/>
          <a:ln>
            <a:noFill/>
          </a:ln>
        </p:spPr>
      </p:pic>
      <p:sp>
        <p:nvSpPr>
          <p:cNvPr id="10" name="TextBox 9">
            <a:extLst>
              <a:ext uri="{FF2B5EF4-FFF2-40B4-BE49-F238E27FC236}">
                <a16:creationId xmlns:a16="http://schemas.microsoft.com/office/drawing/2014/main" id="{26C65DC0-F79E-C024-D782-3AF5BAE89712}"/>
              </a:ext>
            </a:extLst>
          </p:cNvPr>
          <p:cNvSpPr txBox="1"/>
          <p:nvPr/>
        </p:nvSpPr>
        <p:spPr>
          <a:xfrm>
            <a:off x="3400425" y="1010668"/>
            <a:ext cx="6094268" cy="369332"/>
          </a:xfrm>
          <a:prstGeom prst="rect">
            <a:avLst/>
          </a:prstGeom>
          <a:noFill/>
        </p:spPr>
        <p:txBody>
          <a:bodyPr wrap="square">
            <a:spAutoFit/>
          </a:bodyPr>
          <a:lstStyle/>
          <a:p>
            <a:r>
              <a:rPr lang="en-US" sz="1800" dirty="0">
                <a:effectLst/>
                <a:latin typeface="Calibri" panose="020F0502020204030204" pitchFamily="34" charset="0"/>
                <a:ea typeface="Calibri" panose="020F0502020204030204" pitchFamily="34" charset="0"/>
              </a:rPr>
              <a:t>(Mirza &amp; </a:t>
            </a:r>
            <a:r>
              <a:rPr lang="en-US" sz="1800" dirty="0" err="1">
                <a:effectLst/>
                <a:latin typeface="Calibri" panose="020F0502020204030204" pitchFamily="34" charset="0"/>
                <a:ea typeface="Calibri" panose="020F0502020204030204" pitchFamily="34" charset="0"/>
              </a:rPr>
              <a:t>Osindero</a:t>
            </a:r>
            <a:r>
              <a:rPr lang="en-US" sz="1800" dirty="0">
                <a:effectLst/>
                <a:latin typeface="Calibri" panose="020F0502020204030204" pitchFamily="34" charset="0"/>
                <a:ea typeface="Calibri" panose="020F0502020204030204" pitchFamily="34" charset="0"/>
              </a:rPr>
              <a:t>, 2014)</a:t>
            </a:r>
            <a:endParaRPr lang="en-US" dirty="0"/>
          </a:p>
        </p:txBody>
      </p:sp>
      <p:sp>
        <p:nvSpPr>
          <p:cNvPr id="15" name="TextBox 14">
            <a:extLst>
              <a:ext uri="{FF2B5EF4-FFF2-40B4-BE49-F238E27FC236}">
                <a16:creationId xmlns:a16="http://schemas.microsoft.com/office/drawing/2014/main" id="{831C3353-C29B-CAEB-A3EC-713EF7816A12}"/>
              </a:ext>
            </a:extLst>
          </p:cNvPr>
          <p:cNvSpPr txBox="1"/>
          <p:nvPr/>
        </p:nvSpPr>
        <p:spPr>
          <a:xfrm>
            <a:off x="5242815" y="6019019"/>
            <a:ext cx="7486651" cy="340734"/>
          </a:xfrm>
          <a:prstGeom prst="rect">
            <a:avLst/>
          </a:prstGeom>
          <a:noFill/>
        </p:spPr>
        <p:txBody>
          <a:bodyPr wrap="square">
            <a:spAutoFit/>
          </a:bodyPr>
          <a:lstStyle/>
          <a:p>
            <a:pPr marL="0" marR="0" algn="ctr">
              <a:lnSpc>
                <a:spcPct val="150000"/>
              </a:lnSpc>
              <a:spcBef>
                <a:spcPts val="0"/>
              </a:spcBef>
              <a:spcAft>
                <a:spcPts val="1000"/>
              </a:spcAft>
            </a:pPr>
            <a:r>
              <a:rPr lang="en-US" sz="1200" i="1" dirty="0">
                <a:solidFill>
                  <a:srgbClr val="44546A"/>
                </a:solidFill>
                <a:latin typeface="Calibri" panose="020F0502020204030204" pitchFamily="34" charset="0"/>
                <a:cs typeface="Cordia New" panose="020B0304020202020204" pitchFamily="34" charset="-34"/>
              </a:rPr>
              <a:t>Figure 11 Profiles of the calculated dose distribution of carbon ion in water along three directions.</a:t>
            </a:r>
          </a:p>
        </p:txBody>
      </p:sp>
    </p:spTree>
    <p:extLst>
      <p:ext uri="{BB962C8B-B14F-4D97-AF65-F5344CB8AC3E}">
        <p14:creationId xmlns:p14="http://schemas.microsoft.com/office/powerpoint/2010/main" val="2373772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fade">
                                      <p:cBhvr>
                                        <p:cTn id="15" dur="500"/>
                                        <p:tgtEl>
                                          <p:spTgt spid="2">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fade">
                                      <p:cBhvr>
                                        <p:cTn id="18" dur="500"/>
                                        <p:tgtEl>
                                          <p:spTgt spid="2">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fade">
                                      <p:cBhvr>
                                        <p:cTn id="21" dur="500"/>
                                        <p:tgtEl>
                                          <p:spTgt spid="2">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
                                            <p:txEl>
                                              <p:pRg st="6" end="6"/>
                                            </p:txEl>
                                          </p:spTgt>
                                        </p:tgtEl>
                                        <p:attrNameLst>
                                          <p:attrName>style.visibility</p:attrName>
                                        </p:attrNameLst>
                                      </p:cBhvr>
                                      <p:to>
                                        <p:strVal val="visible"/>
                                      </p:to>
                                    </p:set>
                                    <p:animEffect transition="in" filter="fade">
                                      <p:cBhvr>
                                        <p:cTn id="24" dur="500"/>
                                        <p:tgtEl>
                                          <p:spTgt spid="2">
                                            <p:txEl>
                                              <p:pRg st="6" end="6"/>
                                            </p:txEl>
                                          </p:spTgt>
                                        </p:tgtEl>
                                      </p:cBhvr>
                                    </p:animEffect>
                                  </p:childTnLst>
                                </p:cTn>
                              </p:par>
                            </p:childTnLst>
                          </p:cTn>
                        </p:par>
                        <p:par>
                          <p:cTn id="25" fill="hold">
                            <p:stCondLst>
                              <p:cond delay="500"/>
                            </p:stCondLst>
                            <p:childTnLst>
                              <p:par>
                                <p:cTn id="26" presetID="10" presetClass="entr" presetSubtype="0" fill="hold" nodeType="afterEffect">
                                  <p:stCondLst>
                                    <p:cond delay="1000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par>
                          <p:cTn id="29" fill="hold">
                            <p:stCondLst>
                              <p:cond delay="11000"/>
                            </p:stCondLst>
                            <p:childTnLst>
                              <p:par>
                                <p:cTn id="30" presetID="10" presetClass="entr" presetSubtype="0" fill="hold"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par>
                          <p:cTn id="33" fill="hold">
                            <p:stCondLst>
                              <p:cond delay="11500"/>
                            </p:stCondLst>
                            <p:childTnLst>
                              <p:par>
                                <p:cTn id="34" presetID="10" presetClass="entr" presetSubtype="0" fill="hold"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8A9646-8A7A-D3F5-267E-6BC4E5253F39}"/>
              </a:ext>
            </a:extLst>
          </p:cNvPr>
          <p:cNvSpPr>
            <a:spLocks noGrp="1"/>
          </p:cNvSpPr>
          <p:nvPr>
            <p:ph idx="1"/>
          </p:nvPr>
        </p:nvSpPr>
        <p:spPr>
          <a:xfrm>
            <a:off x="699560" y="2478619"/>
            <a:ext cx="8025340" cy="1238968"/>
          </a:xfrm>
        </p:spPr>
        <p:txBody>
          <a:bodyPr>
            <a:normAutofit/>
          </a:bodyPr>
          <a:lstStyle/>
          <a:p>
            <a:pPr marL="0" indent="0">
              <a:spcBef>
                <a:spcPts val="0"/>
              </a:spcBef>
              <a:spcAft>
                <a:spcPts val="0"/>
              </a:spcAft>
              <a:buNone/>
            </a:pPr>
            <a:r>
              <a:rPr lang="en-US" sz="2000" b="1" dirty="0">
                <a:latin typeface="Calibri" panose="020F0502020204030204" pitchFamily="34" charset="0"/>
              </a:rPr>
              <a:t>1 ) Delta index</a:t>
            </a:r>
          </a:p>
          <a:p>
            <a:pPr marL="0" indent="0">
              <a:spcBef>
                <a:spcPts val="0"/>
              </a:spcBef>
              <a:spcAft>
                <a:spcPts val="0"/>
              </a:spcAft>
              <a:buNone/>
            </a:pPr>
            <a:endParaRPr lang="en-US" sz="2000" dirty="0">
              <a:latin typeface="Calibri" panose="020F0502020204030204" pitchFamily="34" charset="0"/>
            </a:endParaRPr>
          </a:p>
          <a:p>
            <a:pPr marL="0">
              <a:spcBef>
                <a:spcPts val="0"/>
              </a:spcBef>
              <a:spcAft>
                <a:spcPts val="0"/>
              </a:spcAft>
            </a:pPr>
            <a:endParaRPr lang="en-US" sz="2000" dirty="0">
              <a:latin typeface="Calibri" panose="020F0502020204030204" pitchFamily="34" charset="0"/>
            </a:endParaRPr>
          </a:p>
          <a:p>
            <a:pPr marL="0">
              <a:spcBef>
                <a:spcPts val="0"/>
              </a:spcBef>
              <a:spcAft>
                <a:spcPts val="0"/>
              </a:spcAft>
            </a:pPr>
            <a:endParaRPr lang="en-US" sz="2000" dirty="0">
              <a:latin typeface="Calibri" panose="020F0502020204030204" pitchFamily="34" charset="0"/>
            </a:endParaRPr>
          </a:p>
          <a:p>
            <a:endParaRPr lang="en-US" dirty="0"/>
          </a:p>
        </p:txBody>
      </p:sp>
      <p:sp>
        <p:nvSpPr>
          <p:cNvPr id="3" name="Title 2">
            <a:extLst>
              <a:ext uri="{FF2B5EF4-FFF2-40B4-BE49-F238E27FC236}">
                <a16:creationId xmlns:a16="http://schemas.microsoft.com/office/drawing/2014/main" id="{278D555E-EEC7-01BF-7CF0-317934F7CDA1}"/>
              </a:ext>
            </a:extLst>
          </p:cNvPr>
          <p:cNvSpPr>
            <a:spLocks noGrp="1"/>
          </p:cNvSpPr>
          <p:nvPr>
            <p:ph type="title"/>
          </p:nvPr>
        </p:nvSpPr>
        <p:spPr/>
        <p:txBody>
          <a:bodyPr>
            <a:normAutofit/>
          </a:bodyPr>
          <a:lstStyle/>
          <a:p>
            <a:r>
              <a:rPr lang="en-US" dirty="0"/>
              <a:t>Performance measurement of the generator</a:t>
            </a:r>
            <a:br>
              <a:rPr lang="en-US" dirty="0">
                <a:solidFill>
                  <a:srgbClr val="2E75B5"/>
                </a:solidFill>
                <a:latin typeface="Calibri" panose="020F0502020204030204" pitchFamily="34" charset="0"/>
              </a:rPr>
            </a:br>
            <a:endParaRPr lang="en-US" dirty="0"/>
          </a:p>
        </p:txBody>
      </p:sp>
      <p:sp>
        <p:nvSpPr>
          <p:cNvPr id="4" name="Date Placeholder 3">
            <a:extLst>
              <a:ext uri="{FF2B5EF4-FFF2-40B4-BE49-F238E27FC236}">
                <a16:creationId xmlns:a16="http://schemas.microsoft.com/office/drawing/2014/main" id="{43295646-37F1-5020-6B30-2F107949FAEB}"/>
              </a:ext>
            </a:extLst>
          </p:cNvPr>
          <p:cNvSpPr>
            <a:spLocks noGrp="1"/>
          </p:cNvSpPr>
          <p:nvPr>
            <p:ph type="dt" sz="half" idx="10"/>
          </p:nvPr>
        </p:nvSpPr>
        <p:spPr/>
        <p:txBody>
          <a:bodyPr/>
          <a:lstStyle/>
          <a:p>
            <a:pPr defTabSz="609585">
              <a:defRPr/>
            </a:pPr>
            <a:fld id="{E4A776A5-5638-4940-A380-40EF6AE91480}" type="datetime1">
              <a:rPr lang="en-US" smtClean="0">
                <a:solidFill>
                  <a:prstClr val="white"/>
                </a:solidFill>
              </a:rPr>
              <a:t>2/28/2024</a:t>
            </a:fld>
            <a:endParaRPr lang="de-DE" dirty="0">
              <a:solidFill>
                <a:prstClr val="white"/>
              </a:solidFill>
            </a:endParaRPr>
          </a:p>
        </p:txBody>
      </p:sp>
      <p:sp>
        <p:nvSpPr>
          <p:cNvPr id="5" name="Footer Placeholder 4">
            <a:extLst>
              <a:ext uri="{FF2B5EF4-FFF2-40B4-BE49-F238E27FC236}">
                <a16:creationId xmlns:a16="http://schemas.microsoft.com/office/drawing/2014/main" id="{4BAAA08E-B00D-4784-FE1D-185D12FD16E8}"/>
              </a:ext>
            </a:extLst>
          </p:cNvPr>
          <p:cNvSpPr>
            <a:spLocks noGrp="1"/>
          </p:cNvSpPr>
          <p:nvPr>
            <p:ph type="ftr" sz="quarter" idx="11"/>
          </p:nvPr>
        </p:nvSpPr>
        <p:spPr/>
        <p:txBody>
          <a:bodyPr/>
          <a:lstStyle/>
          <a:p>
            <a:pPr defTabSz="609585">
              <a:defRPr/>
            </a:pPr>
            <a:r>
              <a:rPr lang="de-DE">
                <a:solidFill>
                  <a:prstClr val="white"/>
                </a:solidFill>
              </a:rPr>
              <a:t>Pichaya Tappayuthpijarn</a:t>
            </a:r>
            <a:endParaRPr lang="de-DE" dirty="0">
              <a:solidFill>
                <a:prstClr val="white"/>
              </a:solidFill>
            </a:endParaRPr>
          </a:p>
        </p:txBody>
      </p:sp>
      <p:sp>
        <p:nvSpPr>
          <p:cNvPr id="6" name="Slide Number Placeholder 5">
            <a:extLst>
              <a:ext uri="{FF2B5EF4-FFF2-40B4-BE49-F238E27FC236}">
                <a16:creationId xmlns:a16="http://schemas.microsoft.com/office/drawing/2014/main" id="{C154A0A8-461B-E37E-7D4D-A51009DB3B13}"/>
              </a:ext>
            </a:extLst>
          </p:cNvPr>
          <p:cNvSpPr>
            <a:spLocks noGrp="1"/>
          </p:cNvSpPr>
          <p:nvPr>
            <p:ph type="sldNum" sz="quarter" idx="12"/>
          </p:nvPr>
        </p:nvSpPr>
        <p:spPr/>
        <p:txBody>
          <a:bodyPr/>
          <a:lstStyle/>
          <a:p>
            <a:pPr defTabSz="609585">
              <a:defRPr/>
            </a:pPr>
            <a:r>
              <a:rPr lang="de-DE">
                <a:solidFill>
                  <a:prstClr val="white"/>
                </a:solidFill>
              </a:rPr>
              <a:t>SEITE</a:t>
            </a:r>
            <a:r>
              <a:rPr lang="de-DE" spc="0">
                <a:solidFill>
                  <a:prstClr val="white"/>
                </a:solidFill>
              </a:rPr>
              <a:t> </a:t>
            </a:r>
            <a:fld id="{37ED3A82-C5FC-FE4D-9EDE-EA1B3EA06354}" type="slidenum">
              <a:rPr lang="de-DE" spc="0">
                <a:solidFill>
                  <a:prstClr val="white"/>
                </a:solidFill>
              </a:rPr>
              <a:pPr defTabSz="609585">
                <a:defRPr/>
              </a:pPr>
              <a:t>14</a:t>
            </a:fld>
            <a:endParaRPr lang="de-DE" spc="0">
              <a:solidFill>
                <a:prstClr val="white"/>
              </a:solidFill>
            </a:endParaRPr>
          </a:p>
        </p:txBody>
      </p:sp>
      <p:sp>
        <p:nvSpPr>
          <p:cNvPr id="7" name="Rectangle 6">
            <a:extLst>
              <a:ext uri="{FF2B5EF4-FFF2-40B4-BE49-F238E27FC236}">
                <a16:creationId xmlns:a16="http://schemas.microsoft.com/office/drawing/2014/main" id="{68877F12-9E71-E191-0695-7B04D1DA7E94}"/>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pic>
        <p:nvPicPr>
          <p:cNvPr id="17" name="Picture 16">
            <a:extLst>
              <a:ext uri="{FF2B5EF4-FFF2-40B4-BE49-F238E27FC236}">
                <a16:creationId xmlns:a16="http://schemas.microsoft.com/office/drawing/2014/main" id="{C5479275-7A89-FD30-70EC-6328C3097020}"/>
              </a:ext>
            </a:extLst>
          </p:cNvPr>
          <p:cNvPicPr>
            <a:picLocks noChangeAspect="1"/>
          </p:cNvPicPr>
          <p:nvPr/>
        </p:nvPicPr>
        <p:blipFill>
          <a:blip r:embed="rId3"/>
          <a:stretch>
            <a:fillRect/>
          </a:stretch>
        </p:blipFill>
        <p:spPr>
          <a:xfrm>
            <a:off x="1279922" y="4769752"/>
            <a:ext cx="2952750" cy="1066800"/>
          </a:xfrm>
          <a:prstGeom prst="rect">
            <a:avLst/>
          </a:prstGeom>
        </p:spPr>
      </p:pic>
      <p:pic>
        <p:nvPicPr>
          <p:cNvPr id="19" name="Picture 18">
            <a:extLst>
              <a:ext uri="{FF2B5EF4-FFF2-40B4-BE49-F238E27FC236}">
                <a16:creationId xmlns:a16="http://schemas.microsoft.com/office/drawing/2014/main" id="{DA0AAD0E-EF31-F805-3955-551BDD300C3B}"/>
              </a:ext>
            </a:extLst>
          </p:cNvPr>
          <p:cNvPicPr>
            <a:picLocks noChangeAspect="1"/>
          </p:cNvPicPr>
          <p:nvPr/>
        </p:nvPicPr>
        <p:blipFill>
          <a:blip r:embed="rId4"/>
          <a:stretch>
            <a:fillRect/>
          </a:stretch>
        </p:blipFill>
        <p:spPr>
          <a:xfrm>
            <a:off x="1419225" y="2949763"/>
            <a:ext cx="2419350" cy="895350"/>
          </a:xfrm>
          <a:prstGeom prst="rect">
            <a:avLst/>
          </a:prstGeom>
        </p:spPr>
      </p:pic>
      <p:sp>
        <p:nvSpPr>
          <p:cNvPr id="21" name="TextBox 20">
            <a:extLst>
              <a:ext uri="{FF2B5EF4-FFF2-40B4-BE49-F238E27FC236}">
                <a16:creationId xmlns:a16="http://schemas.microsoft.com/office/drawing/2014/main" id="{C33A0444-1492-CCE5-BD91-26D053C94453}"/>
              </a:ext>
            </a:extLst>
          </p:cNvPr>
          <p:cNvSpPr txBox="1"/>
          <p:nvPr/>
        </p:nvSpPr>
        <p:spPr>
          <a:xfrm>
            <a:off x="4489651" y="3038101"/>
            <a:ext cx="7921424" cy="792781"/>
          </a:xfrm>
          <a:prstGeom prst="rect">
            <a:avLst/>
          </a:prstGeom>
          <a:noFill/>
        </p:spPr>
        <p:txBody>
          <a:bodyPr wrap="square">
            <a:spAutoFit/>
          </a:bodyPr>
          <a:lstStyle/>
          <a:p>
            <a:pPr marL="742938" lvl="1" indent="-285750">
              <a:lnSpc>
                <a:spcPct val="150000"/>
              </a:lnSpc>
              <a:spcBef>
                <a:spcPts val="0"/>
              </a:spcBef>
              <a:spcAft>
                <a:spcPts val="0"/>
              </a:spcAft>
              <a:buFont typeface="Arial" panose="020B0604020202020204" pitchFamily="34" charset="0"/>
              <a:buChar char="•"/>
            </a:pPr>
            <a:r>
              <a:rPr lang="en-US" sz="1600" dirty="0">
                <a:latin typeface="Calibri" panose="020F0502020204030204" pitchFamily="34" charset="0"/>
              </a:rPr>
              <a:t>Passing rate =  fraction of the voxels with a delta index smaller than 1% or 3%  </a:t>
            </a:r>
          </a:p>
          <a:p>
            <a:pPr marL="742938" lvl="1" indent="-285750">
              <a:lnSpc>
                <a:spcPct val="150000"/>
              </a:lnSpc>
              <a:spcBef>
                <a:spcPts val="0"/>
              </a:spcBef>
              <a:spcAft>
                <a:spcPts val="0"/>
              </a:spcAft>
              <a:buFont typeface="Arial" panose="020B0604020202020204" pitchFamily="34" charset="0"/>
              <a:buChar char="•"/>
            </a:pPr>
            <a:r>
              <a:rPr lang="en-US" sz="1600" dirty="0">
                <a:latin typeface="Calibri" panose="020F0502020204030204" pitchFamily="34" charset="0"/>
              </a:rPr>
              <a:t>Choose the model that maximizes the 1%, 3% passing rate </a:t>
            </a:r>
          </a:p>
        </p:txBody>
      </p:sp>
      <p:sp>
        <p:nvSpPr>
          <p:cNvPr id="23" name="TextBox 22">
            <a:extLst>
              <a:ext uri="{FF2B5EF4-FFF2-40B4-BE49-F238E27FC236}">
                <a16:creationId xmlns:a16="http://schemas.microsoft.com/office/drawing/2014/main" id="{5C89CDE2-128F-E8D0-AD0F-95A1D43CBDD1}"/>
              </a:ext>
            </a:extLst>
          </p:cNvPr>
          <p:cNvSpPr txBox="1"/>
          <p:nvPr/>
        </p:nvSpPr>
        <p:spPr>
          <a:xfrm>
            <a:off x="4911330" y="4924183"/>
            <a:ext cx="6096000" cy="792781"/>
          </a:xfrm>
          <a:prstGeom prst="rect">
            <a:avLst/>
          </a:prstGeom>
          <a:noFill/>
        </p:spPr>
        <p:txBody>
          <a:bodyPr wrap="square">
            <a:spAutoFit/>
          </a:bodyPr>
          <a:lstStyle/>
          <a:p>
            <a:pPr marL="285750" indent="-285750">
              <a:lnSpc>
                <a:spcPct val="150000"/>
              </a:lnSpc>
              <a:spcBef>
                <a:spcPts val="0"/>
              </a:spcBef>
              <a:spcAft>
                <a:spcPts val="0"/>
              </a:spcAft>
              <a:buFont typeface="Arial" panose="020B0604020202020204" pitchFamily="34" charset="0"/>
              <a:buChar char="•"/>
            </a:pPr>
            <a:r>
              <a:rPr lang="en-US" sz="1600" dirty="0">
                <a:effectLst/>
                <a:latin typeface="Calibri" panose="020F0502020204030204" pitchFamily="34" charset="0"/>
                <a:ea typeface="Calibri" panose="020F0502020204030204" pitchFamily="34" charset="0"/>
                <a:cs typeface="Cordia New" panose="020B0304020202020204" pitchFamily="34" charset="-34"/>
              </a:rPr>
              <a:t>Measure the difference in every voxel</a:t>
            </a:r>
            <a:endParaRPr lang="en-US" sz="1600" dirty="0">
              <a:latin typeface="Calibri" panose="020F0502020204030204" pitchFamily="34" charset="0"/>
            </a:endParaRPr>
          </a:p>
          <a:p>
            <a:pPr marL="285750" indent="-285750">
              <a:lnSpc>
                <a:spcPct val="150000"/>
              </a:lnSpc>
              <a:spcBef>
                <a:spcPts val="0"/>
              </a:spcBef>
              <a:spcAft>
                <a:spcPts val="0"/>
              </a:spcAft>
              <a:buFont typeface="Arial" panose="020B0604020202020204" pitchFamily="34" charset="0"/>
              <a:buChar char="•"/>
            </a:pPr>
            <a:r>
              <a:rPr lang="en-US" sz="1600" dirty="0">
                <a:latin typeface="Calibri" panose="020F0502020204030204" pitchFamily="34" charset="0"/>
              </a:rPr>
              <a:t>Choose the model that minimize MSE</a:t>
            </a:r>
          </a:p>
        </p:txBody>
      </p:sp>
      <p:sp>
        <p:nvSpPr>
          <p:cNvPr id="25" name="TextBox 24">
            <a:extLst>
              <a:ext uri="{FF2B5EF4-FFF2-40B4-BE49-F238E27FC236}">
                <a16:creationId xmlns:a16="http://schemas.microsoft.com/office/drawing/2014/main" id="{4811499D-64CB-469F-18C3-E8F606238610}"/>
              </a:ext>
            </a:extLst>
          </p:cNvPr>
          <p:cNvSpPr txBox="1"/>
          <p:nvPr/>
        </p:nvSpPr>
        <p:spPr>
          <a:xfrm>
            <a:off x="432000" y="1786256"/>
            <a:ext cx="10391775" cy="369332"/>
          </a:xfrm>
          <a:prstGeom prst="rect">
            <a:avLst/>
          </a:prstGeom>
          <a:noFill/>
        </p:spPr>
        <p:txBody>
          <a:bodyPr wrap="square">
            <a:spAutoFit/>
          </a:bodyPr>
          <a:lstStyle/>
          <a:p>
            <a:pPr>
              <a:spcBef>
                <a:spcPts val="0"/>
              </a:spcBef>
              <a:spcAft>
                <a:spcPts val="0"/>
              </a:spcAft>
            </a:pPr>
            <a:r>
              <a:rPr lang="en-US" sz="1800" dirty="0">
                <a:latin typeface="Calibri" panose="020F0502020204030204" pitchFamily="34" charset="0"/>
              </a:rPr>
              <a:t>Voxel-wise similarity or accuracy of dose predictions is a primary concern.</a:t>
            </a:r>
          </a:p>
        </p:txBody>
      </p:sp>
      <p:sp>
        <p:nvSpPr>
          <p:cNvPr id="27" name="TextBox 26">
            <a:extLst>
              <a:ext uri="{FF2B5EF4-FFF2-40B4-BE49-F238E27FC236}">
                <a16:creationId xmlns:a16="http://schemas.microsoft.com/office/drawing/2014/main" id="{C7A9C12C-CBEA-3295-50B6-4CEBC29510F6}"/>
              </a:ext>
            </a:extLst>
          </p:cNvPr>
          <p:cNvSpPr txBox="1"/>
          <p:nvPr/>
        </p:nvSpPr>
        <p:spPr>
          <a:xfrm>
            <a:off x="2244827" y="2473414"/>
            <a:ext cx="6205536" cy="369332"/>
          </a:xfrm>
          <a:prstGeom prst="rect">
            <a:avLst/>
          </a:prstGeom>
          <a:noFill/>
        </p:spPr>
        <p:txBody>
          <a:bodyPr wrap="square">
            <a:spAutoFit/>
          </a:bodyPr>
          <a:lstStyle/>
          <a:p>
            <a:r>
              <a:rPr lang="de-DE" sz="1800" dirty="0">
                <a:effectLst/>
                <a:latin typeface="Calibri" panose="020F0502020204030204" pitchFamily="34" charset="0"/>
                <a:ea typeface="Calibri" panose="020F0502020204030204" pitchFamily="34" charset="0"/>
              </a:rPr>
              <a:t>(Mentzel et al., 2022)</a:t>
            </a:r>
            <a:endParaRPr lang="en-US" dirty="0"/>
          </a:p>
        </p:txBody>
      </p:sp>
      <p:sp>
        <p:nvSpPr>
          <p:cNvPr id="29" name="TextBox 28">
            <a:extLst>
              <a:ext uri="{FF2B5EF4-FFF2-40B4-BE49-F238E27FC236}">
                <a16:creationId xmlns:a16="http://schemas.microsoft.com/office/drawing/2014/main" id="{8ADB6492-DE72-9DF5-7640-0813ADFEBE6A}"/>
              </a:ext>
            </a:extLst>
          </p:cNvPr>
          <p:cNvSpPr txBox="1"/>
          <p:nvPr/>
        </p:nvSpPr>
        <p:spPr>
          <a:xfrm>
            <a:off x="588169" y="4107912"/>
            <a:ext cx="6205536" cy="1015663"/>
          </a:xfrm>
          <a:prstGeom prst="rect">
            <a:avLst/>
          </a:prstGeom>
          <a:noFill/>
        </p:spPr>
        <p:txBody>
          <a:bodyPr wrap="square">
            <a:spAutoFit/>
          </a:bodyPr>
          <a:lstStyle/>
          <a:p>
            <a:pPr marL="0" indent="0">
              <a:spcBef>
                <a:spcPts val="0"/>
              </a:spcBef>
              <a:spcAft>
                <a:spcPts val="0"/>
              </a:spcAft>
              <a:buNone/>
            </a:pPr>
            <a:r>
              <a:rPr lang="en-US" sz="2000" b="1" dirty="0">
                <a:latin typeface="Calibri" panose="020F0502020204030204" pitchFamily="34" charset="0"/>
              </a:rPr>
              <a:t>2) </a:t>
            </a:r>
            <a:r>
              <a:rPr lang="en-US" sz="2000" b="1" dirty="0">
                <a:effectLst/>
                <a:latin typeface="Calibri" panose="020F0502020204030204" pitchFamily="34" charset="0"/>
                <a:ea typeface="Calibri" panose="020F0502020204030204" pitchFamily="34" charset="0"/>
                <a:cs typeface="Cordia New" panose="020B0304020202020204" pitchFamily="34" charset="-34"/>
              </a:rPr>
              <a:t>Mean Squared Error (MSE) </a:t>
            </a:r>
          </a:p>
          <a:p>
            <a:pPr marL="0" indent="0">
              <a:spcBef>
                <a:spcPts val="0"/>
              </a:spcBef>
              <a:spcAft>
                <a:spcPts val="0"/>
              </a:spcAft>
              <a:buNone/>
            </a:pPr>
            <a:endParaRPr lang="en-US" sz="2000" dirty="0">
              <a:latin typeface="Calibri" panose="020F0502020204030204" pitchFamily="34" charset="0"/>
            </a:endParaRPr>
          </a:p>
          <a:p>
            <a:pPr marL="0" indent="0">
              <a:spcBef>
                <a:spcPts val="0"/>
              </a:spcBef>
              <a:spcAft>
                <a:spcPts val="0"/>
              </a:spcAft>
              <a:buNone/>
            </a:pPr>
            <a:endParaRPr lang="en-US" sz="2000" dirty="0">
              <a:latin typeface="Calibri" panose="020F0502020204030204" pitchFamily="34" charset="0"/>
            </a:endParaRPr>
          </a:p>
        </p:txBody>
      </p:sp>
    </p:spTree>
    <p:extLst>
      <p:ext uri="{BB962C8B-B14F-4D97-AF65-F5344CB8AC3E}">
        <p14:creationId xmlns:p14="http://schemas.microsoft.com/office/powerpoint/2010/main" val="3393312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21" grpId="0"/>
      <p:bldP spid="23" grpId="0"/>
      <p:bldP spid="27" grpId="0"/>
      <p:bldP spid="2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3A8C01-D9F8-0E87-7FDC-4C607F16630A}"/>
              </a:ext>
            </a:extLst>
          </p:cNvPr>
          <p:cNvSpPr>
            <a:spLocks noGrp="1"/>
          </p:cNvSpPr>
          <p:nvPr>
            <p:ph idx="1"/>
          </p:nvPr>
        </p:nvSpPr>
        <p:spPr/>
        <p:txBody>
          <a:bodyPr>
            <a:normAutofit/>
          </a:bodyPr>
          <a:lstStyle/>
          <a:p>
            <a:r>
              <a:rPr lang="en-US" sz="1800" dirty="0">
                <a:effectLst/>
                <a:latin typeface="Calibri" panose="020F0502020204030204" pitchFamily="34" charset="0"/>
                <a:ea typeface="Calibri" panose="020F0502020204030204" pitchFamily="34" charset="0"/>
                <a:cs typeface="Cordia New" panose="020B0304020202020204" pitchFamily="34" charset="-34"/>
              </a:rPr>
              <a:t>Wasserstein loss function </a:t>
            </a:r>
          </a:p>
          <a:p>
            <a:r>
              <a:rPr lang="en-US" sz="1800" dirty="0">
                <a:latin typeface="Calibri" panose="020F0502020204030204" pitchFamily="34" charset="0"/>
                <a:cs typeface="Cordia New" panose="020B0304020202020204" pitchFamily="34" charset="-34"/>
              </a:rPr>
              <a:t>Mean Squared Error (MSE), delta index as the evaluation metric</a:t>
            </a:r>
          </a:p>
          <a:p>
            <a:r>
              <a:rPr lang="en-US" sz="1800" dirty="0">
                <a:effectLst/>
                <a:latin typeface="Calibri" panose="020F0502020204030204" pitchFamily="34" charset="0"/>
                <a:ea typeface="Calibri" panose="020F0502020204030204" pitchFamily="34" charset="0"/>
                <a:cs typeface="Cordia New" panose="020B0304020202020204" pitchFamily="34" charset="-34"/>
              </a:rPr>
              <a:t>GPU Acceleration</a:t>
            </a:r>
          </a:p>
          <a:p>
            <a:r>
              <a:rPr lang="en-US" sz="1800" dirty="0">
                <a:effectLst/>
                <a:latin typeface="Calibri" panose="020F0502020204030204" pitchFamily="34" charset="0"/>
                <a:ea typeface="Calibri" panose="020F0502020204030204" pitchFamily="34" charset="0"/>
                <a:cs typeface="Cordia New" panose="020B0304020202020204" pitchFamily="34" charset="-34"/>
              </a:rPr>
              <a:t>"train-validation-test split" method </a:t>
            </a:r>
          </a:p>
          <a:p>
            <a:r>
              <a:rPr lang="en-US" sz="1800" dirty="0">
                <a:latin typeface="Calibri" panose="020F0502020204030204" pitchFamily="34" charset="0"/>
                <a:ea typeface="Calibri" panose="020F0502020204030204" pitchFamily="34" charset="0"/>
                <a:cs typeface="Cordia New" panose="020B0304020202020204" pitchFamily="34" charset="-34"/>
              </a:rPr>
              <a:t>H</a:t>
            </a:r>
            <a:r>
              <a:rPr lang="en-US" sz="1800" dirty="0">
                <a:effectLst/>
                <a:latin typeface="Calibri" panose="020F0502020204030204" pitchFamily="34" charset="0"/>
                <a:ea typeface="Calibri" panose="020F0502020204030204" pitchFamily="34" charset="0"/>
                <a:cs typeface="Cordia New" panose="020B0304020202020204" pitchFamily="34" charset="-34"/>
              </a:rPr>
              <a:t>yperparameters : </a:t>
            </a:r>
          </a:p>
          <a:p>
            <a:pPr lvl="1"/>
            <a:r>
              <a:rPr lang="en-US" sz="1533" dirty="0">
                <a:effectLst/>
                <a:latin typeface="Calibri" panose="020F0502020204030204" pitchFamily="34" charset="0"/>
                <a:ea typeface="Calibri" panose="020F0502020204030204" pitchFamily="34" charset="0"/>
                <a:cs typeface="Cordia New" panose="020B0304020202020204" pitchFamily="34" charset="-34"/>
              </a:rPr>
              <a:t>Generator learning </a:t>
            </a:r>
            <a:r>
              <a:rPr lang="en-US" sz="1533" dirty="0">
                <a:latin typeface="Calibri" panose="020F0502020204030204" pitchFamily="34" charset="0"/>
                <a:ea typeface="Calibri" panose="020F0502020204030204" pitchFamily="34" charset="0"/>
                <a:cs typeface="Cordia New" panose="020B0304020202020204" pitchFamily="34" charset="-34"/>
              </a:rPr>
              <a:t>r</a:t>
            </a:r>
            <a:r>
              <a:rPr lang="en-US" sz="1533" dirty="0">
                <a:effectLst/>
                <a:latin typeface="Calibri" panose="020F0502020204030204" pitchFamily="34" charset="0"/>
                <a:ea typeface="Calibri" panose="020F0502020204030204" pitchFamily="34" charset="0"/>
                <a:cs typeface="Cordia New" panose="020B0304020202020204" pitchFamily="34" charset="-34"/>
              </a:rPr>
              <a:t>ate</a:t>
            </a:r>
          </a:p>
          <a:p>
            <a:pPr lvl="1"/>
            <a:r>
              <a:rPr lang="en-US" sz="1533" dirty="0">
                <a:effectLst/>
                <a:latin typeface="Calibri" panose="020F0502020204030204" pitchFamily="34" charset="0"/>
                <a:ea typeface="Calibri" panose="020F0502020204030204" pitchFamily="34" charset="0"/>
                <a:cs typeface="Cordia New" panose="020B0304020202020204" pitchFamily="34" charset="-34"/>
              </a:rPr>
              <a:t>critic </a:t>
            </a:r>
            <a:r>
              <a:rPr lang="en-US" sz="1533" dirty="0">
                <a:latin typeface="Calibri" panose="020F0502020204030204" pitchFamily="34" charset="0"/>
                <a:ea typeface="Calibri" panose="020F0502020204030204" pitchFamily="34" charset="0"/>
                <a:cs typeface="Cordia New" panose="020B0304020202020204" pitchFamily="34" charset="-34"/>
              </a:rPr>
              <a:t>l</a:t>
            </a:r>
            <a:r>
              <a:rPr lang="en-US" sz="1533" dirty="0">
                <a:effectLst/>
                <a:latin typeface="Calibri" panose="020F0502020204030204" pitchFamily="34" charset="0"/>
                <a:ea typeface="Calibri" panose="020F0502020204030204" pitchFamily="34" charset="0"/>
                <a:cs typeface="Cordia New" panose="020B0304020202020204" pitchFamily="34" charset="-34"/>
              </a:rPr>
              <a:t>earning </a:t>
            </a:r>
            <a:r>
              <a:rPr lang="en-US" sz="1533" dirty="0">
                <a:latin typeface="Calibri" panose="020F0502020204030204" pitchFamily="34" charset="0"/>
                <a:ea typeface="Calibri" panose="020F0502020204030204" pitchFamily="34" charset="0"/>
                <a:cs typeface="Cordia New" panose="020B0304020202020204" pitchFamily="34" charset="-34"/>
              </a:rPr>
              <a:t>r</a:t>
            </a:r>
            <a:r>
              <a:rPr lang="en-US" sz="1533" dirty="0">
                <a:effectLst/>
                <a:latin typeface="Calibri" panose="020F0502020204030204" pitchFamily="34" charset="0"/>
                <a:ea typeface="Calibri" panose="020F0502020204030204" pitchFamily="34" charset="0"/>
                <a:cs typeface="Cordia New" panose="020B0304020202020204" pitchFamily="34" charset="-34"/>
              </a:rPr>
              <a:t>ate</a:t>
            </a:r>
          </a:p>
          <a:p>
            <a:pPr lvl="1"/>
            <a:r>
              <a:rPr lang="en-US" sz="1533" dirty="0">
                <a:effectLst/>
                <a:latin typeface="Calibri" panose="020F0502020204030204" pitchFamily="34" charset="0"/>
                <a:ea typeface="Calibri" panose="020F0502020204030204" pitchFamily="34" charset="0"/>
                <a:cs typeface="Cordia New" panose="020B0304020202020204" pitchFamily="34" charset="-34"/>
              </a:rPr>
              <a:t>(lambda) </a:t>
            </a:r>
            <a:r>
              <a:rPr lang="en-US" sz="1533" dirty="0">
                <a:latin typeface="Calibri" panose="020F0502020204030204" pitchFamily="34" charset="0"/>
                <a:ea typeface="Calibri" panose="020F0502020204030204" pitchFamily="34" charset="0"/>
                <a:cs typeface="Cordia New" panose="020B0304020202020204" pitchFamily="34" charset="-34"/>
              </a:rPr>
              <a:t>g</a:t>
            </a:r>
            <a:r>
              <a:rPr lang="en-US" sz="1533" dirty="0">
                <a:effectLst/>
                <a:latin typeface="Calibri" panose="020F0502020204030204" pitchFamily="34" charset="0"/>
                <a:ea typeface="Calibri" panose="020F0502020204030204" pitchFamily="34" charset="0"/>
                <a:cs typeface="Cordia New" panose="020B0304020202020204" pitchFamily="34" charset="-34"/>
              </a:rPr>
              <a:t>radient penalty of Wasserstein loss</a:t>
            </a:r>
          </a:p>
          <a:p>
            <a:pPr lvl="1"/>
            <a:r>
              <a:rPr lang="en-US" sz="1533" dirty="0">
                <a:latin typeface="Calibri" panose="020F0502020204030204" pitchFamily="34" charset="0"/>
                <a:ea typeface="Calibri" panose="020F0502020204030204" pitchFamily="34" charset="0"/>
                <a:cs typeface="Cordia New" panose="020B0304020202020204" pitchFamily="34" charset="-34"/>
              </a:rPr>
              <a:t>c</a:t>
            </a:r>
            <a:r>
              <a:rPr lang="en-US" sz="1533" dirty="0">
                <a:effectLst/>
                <a:latin typeface="Calibri" panose="020F0502020204030204" pitchFamily="34" charset="0"/>
                <a:ea typeface="Calibri" panose="020F0502020204030204" pitchFamily="34" charset="0"/>
                <a:cs typeface="Cordia New" panose="020B0304020202020204" pitchFamily="34" charset="-34"/>
              </a:rPr>
              <a:t>ritic iteration</a:t>
            </a:r>
          </a:p>
          <a:p>
            <a:pPr lvl="1"/>
            <a:r>
              <a:rPr lang="en-US" sz="1533" dirty="0">
                <a:effectLst/>
                <a:latin typeface="Calibri" panose="020F0502020204030204" pitchFamily="34" charset="0"/>
                <a:ea typeface="Calibri" panose="020F0502020204030204" pitchFamily="34" charset="0"/>
                <a:cs typeface="Cordia New" panose="020B0304020202020204" pitchFamily="34" charset="-34"/>
              </a:rPr>
              <a:t>optimizer</a:t>
            </a:r>
            <a:endParaRPr lang="en-US" sz="1533" dirty="0">
              <a:latin typeface="Calibri" panose="020F0502020204030204" pitchFamily="34" charset="0"/>
              <a:cs typeface="Cordia New" panose="020B0304020202020204" pitchFamily="34" charset="-34"/>
            </a:endParaRPr>
          </a:p>
        </p:txBody>
      </p:sp>
      <p:sp>
        <p:nvSpPr>
          <p:cNvPr id="3" name="Title 2">
            <a:extLst>
              <a:ext uri="{FF2B5EF4-FFF2-40B4-BE49-F238E27FC236}">
                <a16:creationId xmlns:a16="http://schemas.microsoft.com/office/drawing/2014/main" id="{D22F8B57-426C-6E4D-FE14-FAAAA469AFFC}"/>
              </a:ext>
            </a:extLst>
          </p:cNvPr>
          <p:cNvSpPr>
            <a:spLocks noGrp="1"/>
          </p:cNvSpPr>
          <p:nvPr>
            <p:ph type="title"/>
          </p:nvPr>
        </p:nvSpPr>
        <p:spPr/>
        <p:txBody>
          <a:bodyPr/>
          <a:lstStyle/>
          <a:p>
            <a:r>
              <a:rPr lang="en-US" dirty="0"/>
              <a:t>Model Training</a:t>
            </a:r>
          </a:p>
        </p:txBody>
      </p:sp>
      <p:sp>
        <p:nvSpPr>
          <p:cNvPr id="4" name="Date Placeholder 3">
            <a:extLst>
              <a:ext uri="{FF2B5EF4-FFF2-40B4-BE49-F238E27FC236}">
                <a16:creationId xmlns:a16="http://schemas.microsoft.com/office/drawing/2014/main" id="{FCB98288-F0BC-F325-7370-6EE0E30EF8CE}"/>
              </a:ext>
            </a:extLst>
          </p:cNvPr>
          <p:cNvSpPr>
            <a:spLocks noGrp="1"/>
          </p:cNvSpPr>
          <p:nvPr>
            <p:ph type="dt" sz="half" idx="10"/>
          </p:nvPr>
        </p:nvSpPr>
        <p:spPr/>
        <p:txBody>
          <a:bodyPr/>
          <a:lstStyle/>
          <a:p>
            <a:pPr>
              <a:defRPr/>
            </a:pPr>
            <a:fld id="{395900D5-82D9-4D55-9CF0-7700C590AA42}" type="datetime1">
              <a:rPr lang="en-US" smtClean="0"/>
              <a:t>2/28/2024</a:t>
            </a:fld>
            <a:endParaRPr lang="de-DE" dirty="0"/>
          </a:p>
        </p:txBody>
      </p:sp>
      <p:sp>
        <p:nvSpPr>
          <p:cNvPr id="5" name="Footer Placeholder 4">
            <a:extLst>
              <a:ext uri="{FF2B5EF4-FFF2-40B4-BE49-F238E27FC236}">
                <a16:creationId xmlns:a16="http://schemas.microsoft.com/office/drawing/2014/main" id="{C1F70F17-2F76-CE75-DEE8-DF0B2467EC68}"/>
              </a:ext>
            </a:extLst>
          </p:cNvPr>
          <p:cNvSpPr>
            <a:spLocks noGrp="1"/>
          </p:cNvSpPr>
          <p:nvPr>
            <p:ph type="ftr" sz="quarter" idx="11"/>
          </p:nvPr>
        </p:nvSpPr>
        <p:spPr>
          <a:xfrm>
            <a:off x="2352674" y="6479117"/>
            <a:ext cx="7486651" cy="378883"/>
          </a:xfrm>
        </p:spPr>
        <p:txBody>
          <a:bodyPr/>
          <a:lstStyle/>
          <a:p>
            <a:pPr>
              <a:defRPr/>
            </a:pPr>
            <a:r>
              <a:rPr lang="de-DE"/>
              <a:t>Pichaya Tappayuthpijarn</a:t>
            </a:r>
            <a:endParaRPr lang="de-DE" dirty="0"/>
          </a:p>
        </p:txBody>
      </p:sp>
      <p:sp>
        <p:nvSpPr>
          <p:cNvPr id="6" name="Slide Number Placeholder 5">
            <a:extLst>
              <a:ext uri="{FF2B5EF4-FFF2-40B4-BE49-F238E27FC236}">
                <a16:creationId xmlns:a16="http://schemas.microsoft.com/office/drawing/2014/main" id="{F66CF0E3-A254-1CBC-0DB0-F0CC19308320}"/>
              </a:ext>
            </a:extLst>
          </p:cNvPr>
          <p:cNvSpPr>
            <a:spLocks noGrp="1"/>
          </p:cNvSpPr>
          <p:nvPr>
            <p:ph type="sldNum" sz="quarter" idx="12"/>
          </p:nvPr>
        </p:nvSpPr>
        <p:spPr/>
        <p:txBody>
          <a:bodyPr/>
          <a:lstStyle/>
          <a:p>
            <a:pPr>
              <a:defRPr/>
            </a:pPr>
            <a:r>
              <a:rPr lang="de-DE"/>
              <a:t>SEITE</a:t>
            </a:r>
            <a:r>
              <a:rPr lang="de-DE" spc="0"/>
              <a:t> </a:t>
            </a:r>
            <a:fld id="{37ED3A82-C5FC-FE4D-9EDE-EA1B3EA06354}" type="slidenum">
              <a:rPr lang="de-DE" spc="0" smtClean="0"/>
              <a:pPr>
                <a:defRPr/>
              </a:pPr>
              <a:t>15</a:t>
            </a:fld>
            <a:endParaRPr lang="de-DE" spc="0"/>
          </a:p>
        </p:txBody>
      </p:sp>
      <p:sp>
        <p:nvSpPr>
          <p:cNvPr id="7" name="Rectangle 6">
            <a:extLst>
              <a:ext uri="{FF2B5EF4-FFF2-40B4-BE49-F238E27FC236}">
                <a16:creationId xmlns:a16="http://schemas.microsoft.com/office/drawing/2014/main" id="{F7240053-77F7-21EC-D3FA-0571B7840AB9}"/>
              </a:ext>
            </a:extLst>
          </p:cNvPr>
          <p:cNvSpPr/>
          <p:nvPr/>
        </p:nvSpPr>
        <p:spPr>
          <a:xfrm>
            <a:off x="121920" y="98992"/>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spTree>
    <p:extLst>
      <p:ext uri="{BB962C8B-B14F-4D97-AF65-F5344CB8AC3E}">
        <p14:creationId xmlns:p14="http://schemas.microsoft.com/office/powerpoint/2010/main" val="1585993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90193-85AE-B82A-3DA4-D5BB8138B2F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0D6F4DC-927D-F1DD-21A3-AF6C3FBCFBDA}"/>
              </a:ext>
            </a:extLst>
          </p:cNvPr>
          <p:cNvSpPr>
            <a:spLocks noGrp="1"/>
          </p:cNvSpPr>
          <p:nvPr>
            <p:ph type="title"/>
          </p:nvPr>
        </p:nvSpPr>
        <p:spPr>
          <a:xfrm>
            <a:off x="4898125" y="3278346"/>
            <a:ext cx="2395749" cy="1200000"/>
          </a:xfrm>
        </p:spPr>
        <p:txBody>
          <a:bodyPr>
            <a:normAutofit/>
          </a:bodyPr>
          <a:lstStyle/>
          <a:p>
            <a:r>
              <a:rPr lang="de-DE" i="1" dirty="0"/>
              <a:t>Results</a:t>
            </a:r>
          </a:p>
        </p:txBody>
      </p:sp>
      <p:sp>
        <p:nvSpPr>
          <p:cNvPr id="6" name="Rectangle 5">
            <a:extLst>
              <a:ext uri="{FF2B5EF4-FFF2-40B4-BE49-F238E27FC236}">
                <a16:creationId xmlns:a16="http://schemas.microsoft.com/office/drawing/2014/main" id="{DD5CC8D7-4FAB-EF56-7629-97D8C7E5B949}"/>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sz="2400"/>
          </a:p>
        </p:txBody>
      </p:sp>
    </p:spTree>
    <p:extLst>
      <p:ext uri="{BB962C8B-B14F-4D97-AF65-F5344CB8AC3E}">
        <p14:creationId xmlns:p14="http://schemas.microsoft.com/office/powerpoint/2010/main" val="3225673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graph showing a number of error&#10;&#10;Description automatically generated">
            <a:extLst>
              <a:ext uri="{FF2B5EF4-FFF2-40B4-BE49-F238E27FC236}">
                <a16:creationId xmlns:a16="http://schemas.microsoft.com/office/drawing/2014/main" id="{2B0A5865-B075-3B48-8F86-BBB6D45CFC3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64093" y="3091717"/>
            <a:ext cx="4281190" cy="2738214"/>
          </a:xfrm>
          <a:prstGeom prst="rect">
            <a:avLst/>
          </a:prstGeom>
          <a:noFill/>
          <a:ln>
            <a:noFill/>
          </a:ln>
        </p:spPr>
      </p:pic>
      <p:sp>
        <p:nvSpPr>
          <p:cNvPr id="3" name="Title 2">
            <a:extLst>
              <a:ext uri="{FF2B5EF4-FFF2-40B4-BE49-F238E27FC236}">
                <a16:creationId xmlns:a16="http://schemas.microsoft.com/office/drawing/2014/main" id="{A6B5B554-E793-CCAE-8673-4A64996A0A04}"/>
              </a:ext>
            </a:extLst>
          </p:cNvPr>
          <p:cNvSpPr>
            <a:spLocks noGrp="1"/>
          </p:cNvSpPr>
          <p:nvPr>
            <p:ph type="title"/>
          </p:nvPr>
        </p:nvSpPr>
        <p:spPr>
          <a:xfrm>
            <a:off x="480000" y="960000"/>
            <a:ext cx="11280000" cy="840000"/>
          </a:xfrm>
        </p:spPr>
        <p:txBody>
          <a:bodyPr wrap="square" anchor="t">
            <a:normAutofit/>
          </a:bodyPr>
          <a:lstStyle/>
          <a:p>
            <a:r>
              <a:rPr lang="en-US" dirty="0"/>
              <a:t>Hyperparameter Tuning</a:t>
            </a:r>
          </a:p>
        </p:txBody>
      </p:sp>
      <p:sp>
        <p:nvSpPr>
          <p:cNvPr id="4" name="Date Placeholder 3">
            <a:extLst>
              <a:ext uri="{FF2B5EF4-FFF2-40B4-BE49-F238E27FC236}">
                <a16:creationId xmlns:a16="http://schemas.microsoft.com/office/drawing/2014/main" id="{61B749CE-6256-F8BF-CEBE-AEA6A4DB3D57}"/>
              </a:ext>
            </a:extLst>
          </p:cNvPr>
          <p:cNvSpPr>
            <a:spLocks noGrp="1"/>
          </p:cNvSpPr>
          <p:nvPr>
            <p:ph type="dt" sz="half" idx="14"/>
          </p:nvPr>
        </p:nvSpPr>
        <p:spPr>
          <a:xfrm>
            <a:off x="480484" y="6479117"/>
            <a:ext cx="1439333" cy="378883"/>
          </a:xfrm>
        </p:spPr>
        <p:txBody>
          <a:bodyPr wrap="none" anchor="ctr">
            <a:normAutofit/>
          </a:bodyPr>
          <a:lstStyle/>
          <a:p>
            <a:pPr>
              <a:spcAft>
                <a:spcPts val="600"/>
              </a:spcAft>
              <a:defRPr/>
            </a:pPr>
            <a:fld id="{BF77396A-3121-411E-B5CA-8D1B1709A758}" type="datetime1">
              <a:rPr lang="en-US" smtClean="0"/>
              <a:t>2/28/2024</a:t>
            </a:fld>
            <a:endParaRPr lang="de-DE"/>
          </a:p>
        </p:txBody>
      </p:sp>
      <p:sp>
        <p:nvSpPr>
          <p:cNvPr id="5" name="Footer Placeholder 4">
            <a:extLst>
              <a:ext uri="{FF2B5EF4-FFF2-40B4-BE49-F238E27FC236}">
                <a16:creationId xmlns:a16="http://schemas.microsoft.com/office/drawing/2014/main" id="{C75A72B6-29E6-7569-94BD-CD59B591A851}"/>
              </a:ext>
            </a:extLst>
          </p:cNvPr>
          <p:cNvSpPr>
            <a:spLocks noGrp="1"/>
          </p:cNvSpPr>
          <p:nvPr>
            <p:ph type="ftr" sz="quarter" idx="15"/>
          </p:nvPr>
        </p:nvSpPr>
        <p:spPr>
          <a:xfrm>
            <a:off x="2400300" y="6479117"/>
            <a:ext cx="7486651" cy="378883"/>
          </a:xfrm>
        </p:spPr>
        <p:txBody>
          <a:bodyPr wrap="none" anchor="ctr">
            <a:normAutofit/>
          </a:bodyPr>
          <a:lstStyle/>
          <a:p>
            <a:pPr>
              <a:spcAft>
                <a:spcPts val="600"/>
              </a:spcAft>
              <a:defRPr/>
            </a:pPr>
            <a:r>
              <a:rPr lang="de-DE"/>
              <a:t>Pichaya Tappayuthpijarn</a:t>
            </a:r>
          </a:p>
        </p:txBody>
      </p:sp>
      <p:sp>
        <p:nvSpPr>
          <p:cNvPr id="6" name="Slide Number Placeholder 5">
            <a:extLst>
              <a:ext uri="{FF2B5EF4-FFF2-40B4-BE49-F238E27FC236}">
                <a16:creationId xmlns:a16="http://schemas.microsoft.com/office/drawing/2014/main" id="{89F63185-3A79-081F-A030-C51201CED549}"/>
              </a:ext>
            </a:extLst>
          </p:cNvPr>
          <p:cNvSpPr>
            <a:spLocks noGrp="1"/>
          </p:cNvSpPr>
          <p:nvPr>
            <p:ph type="sldNum" sz="quarter" idx="16"/>
          </p:nvPr>
        </p:nvSpPr>
        <p:spPr>
          <a:xfrm>
            <a:off x="10318752" y="6479117"/>
            <a:ext cx="1441449" cy="378883"/>
          </a:xfrm>
        </p:spPr>
        <p:txBody>
          <a:bodyPr anchor="ctr">
            <a:normAutofit/>
          </a:bodyPr>
          <a:lstStyle/>
          <a:p>
            <a:pPr>
              <a:spcAft>
                <a:spcPts val="600"/>
              </a:spcAft>
              <a:defRPr/>
            </a:pPr>
            <a:r>
              <a:rPr lang="de-DE"/>
              <a:t>SEITE</a:t>
            </a:r>
            <a:r>
              <a:rPr lang="de-DE" spc="0"/>
              <a:t> </a:t>
            </a:r>
            <a:fld id="{37ED3A82-C5FC-FE4D-9EDE-EA1B3EA06354}" type="slidenum">
              <a:rPr lang="de-DE" spc="0" smtClean="0"/>
              <a:pPr>
                <a:spcAft>
                  <a:spcPts val="600"/>
                </a:spcAft>
                <a:defRPr/>
              </a:pPr>
              <a:t>17</a:t>
            </a:fld>
            <a:endParaRPr lang="de-DE" spc="0"/>
          </a:p>
        </p:txBody>
      </p:sp>
      <p:sp>
        <p:nvSpPr>
          <p:cNvPr id="10" name="TextBox 9">
            <a:extLst>
              <a:ext uri="{FF2B5EF4-FFF2-40B4-BE49-F238E27FC236}">
                <a16:creationId xmlns:a16="http://schemas.microsoft.com/office/drawing/2014/main" id="{26E62866-80B6-EB41-9C74-822008E41D91}"/>
              </a:ext>
            </a:extLst>
          </p:cNvPr>
          <p:cNvSpPr txBox="1"/>
          <p:nvPr/>
        </p:nvSpPr>
        <p:spPr>
          <a:xfrm>
            <a:off x="240000" y="5778663"/>
            <a:ext cx="7345544" cy="461665"/>
          </a:xfrm>
          <a:prstGeom prst="rect">
            <a:avLst/>
          </a:prstGeom>
          <a:noFill/>
        </p:spPr>
        <p:txBody>
          <a:bodyPr wrap="square">
            <a:spAutoFit/>
          </a:bodyPr>
          <a:lstStyle/>
          <a:p>
            <a:pPr marL="0" marR="0">
              <a:spcBef>
                <a:spcPts val="0"/>
              </a:spcBef>
              <a:spcAft>
                <a:spcPts val="1000"/>
              </a:spcAft>
            </a:pPr>
            <a:r>
              <a:rPr lang="en-US" sz="1200" i="1" dirty="0">
                <a:solidFill>
                  <a:srgbClr val="44546A"/>
                </a:solidFill>
                <a:latin typeface="Calibri" panose="020F0502020204030204" pitchFamily="34" charset="0"/>
                <a:ea typeface="Calibri" panose="020F0502020204030204" pitchFamily="34" charset="0"/>
                <a:cs typeface="Cordia New" panose="020B0304020202020204" pitchFamily="34" charset="-34"/>
              </a:rPr>
              <a:t>Figure 12 </a:t>
            </a:r>
            <a:r>
              <a:rPr lang="en-US" sz="1200" i="1" dirty="0">
                <a:solidFill>
                  <a:srgbClr val="44546A"/>
                </a:solidFill>
                <a:effectLst/>
                <a:latin typeface="Calibri" panose="020F0502020204030204" pitchFamily="34" charset="0"/>
                <a:ea typeface="Calibri" panose="020F0502020204030204" pitchFamily="34" charset="0"/>
                <a:cs typeface="Cordia New" panose="020B0304020202020204" pitchFamily="34" charset="-34"/>
              </a:rPr>
              <a:t>Performance comparison between different learning rates: varying generator learning rates (left) and varying critic learning rates (right)</a:t>
            </a:r>
          </a:p>
        </p:txBody>
      </p:sp>
      <p:sp>
        <p:nvSpPr>
          <p:cNvPr id="11" name="Rectangle 10">
            <a:extLst>
              <a:ext uri="{FF2B5EF4-FFF2-40B4-BE49-F238E27FC236}">
                <a16:creationId xmlns:a16="http://schemas.microsoft.com/office/drawing/2014/main" id="{1DBF5D72-062E-F3A7-0C6A-6A7D3C303773}"/>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pic>
        <p:nvPicPr>
          <p:cNvPr id="2" name="Picture 1" descr="A graph with blue and orange lines&#10;&#10;Description automatically generated">
            <a:extLst>
              <a:ext uri="{FF2B5EF4-FFF2-40B4-BE49-F238E27FC236}">
                <a16:creationId xmlns:a16="http://schemas.microsoft.com/office/drawing/2014/main" id="{124F373F-428B-AE10-B6EC-49C4999697A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285514" y="3283094"/>
            <a:ext cx="3830125" cy="2381882"/>
          </a:xfrm>
          <a:prstGeom prst="rect">
            <a:avLst/>
          </a:prstGeom>
          <a:noFill/>
          <a:ln>
            <a:noFill/>
          </a:ln>
        </p:spPr>
      </p:pic>
      <p:sp>
        <p:nvSpPr>
          <p:cNvPr id="9" name="TextBox 8">
            <a:extLst>
              <a:ext uri="{FF2B5EF4-FFF2-40B4-BE49-F238E27FC236}">
                <a16:creationId xmlns:a16="http://schemas.microsoft.com/office/drawing/2014/main" id="{023AB895-31AF-FF8B-7D24-E775E09304ED}"/>
              </a:ext>
            </a:extLst>
          </p:cNvPr>
          <p:cNvSpPr txBox="1"/>
          <p:nvPr/>
        </p:nvSpPr>
        <p:spPr>
          <a:xfrm>
            <a:off x="8120247" y="5778663"/>
            <a:ext cx="4281190" cy="276999"/>
          </a:xfrm>
          <a:prstGeom prst="rect">
            <a:avLst/>
          </a:prstGeom>
          <a:noFill/>
        </p:spPr>
        <p:txBody>
          <a:bodyPr wrap="square">
            <a:spAutoFit/>
          </a:bodyPr>
          <a:lstStyle/>
          <a:p>
            <a:pPr marL="0" marR="0">
              <a:spcBef>
                <a:spcPts val="0"/>
              </a:spcBef>
              <a:spcAft>
                <a:spcPts val="1000"/>
              </a:spcAft>
            </a:pPr>
            <a:r>
              <a:rPr lang="en-US" sz="1200" i="1" dirty="0">
                <a:solidFill>
                  <a:srgbClr val="44546A"/>
                </a:solidFill>
                <a:latin typeface="Calibri" panose="020F0502020204030204" pitchFamily="34" charset="0"/>
                <a:ea typeface="Calibri" panose="020F0502020204030204" pitchFamily="34" charset="0"/>
                <a:cs typeface="Cordia New" panose="020B0304020202020204" pitchFamily="34" charset="-34"/>
              </a:rPr>
              <a:t>Figure 13 </a:t>
            </a:r>
            <a:r>
              <a:rPr lang="en-US" sz="1200" i="1" dirty="0">
                <a:solidFill>
                  <a:srgbClr val="44546A"/>
                </a:solidFill>
                <a:effectLst/>
                <a:latin typeface="Calibri" panose="020F0502020204030204" pitchFamily="34" charset="0"/>
                <a:ea typeface="Calibri" panose="020F0502020204030204" pitchFamily="34" charset="0"/>
                <a:cs typeface="Cordia New" panose="020B0304020202020204" pitchFamily="34" charset="-34"/>
              </a:rPr>
              <a:t>Comparison between Adam and RMSprop optimizers.</a:t>
            </a:r>
          </a:p>
        </p:txBody>
      </p:sp>
      <p:pic>
        <p:nvPicPr>
          <p:cNvPr id="12" name="Picture 11" descr="A graph of a graph showing a number of error&#10;&#10;Description automatically generated with medium confidence">
            <a:extLst>
              <a:ext uri="{FF2B5EF4-FFF2-40B4-BE49-F238E27FC236}">
                <a16:creationId xmlns:a16="http://schemas.microsoft.com/office/drawing/2014/main" id="{3DDE17EA-42A1-DF80-3B69-5F2B121CBC0B}"/>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661" y="3097504"/>
            <a:ext cx="4255978" cy="2722088"/>
          </a:xfrm>
          <a:prstGeom prst="rect">
            <a:avLst/>
          </a:prstGeom>
          <a:noFill/>
          <a:ln>
            <a:noFill/>
          </a:ln>
        </p:spPr>
      </p:pic>
      <p:sp>
        <p:nvSpPr>
          <p:cNvPr id="8" name="TextBox 7">
            <a:extLst>
              <a:ext uri="{FF2B5EF4-FFF2-40B4-BE49-F238E27FC236}">
                <a16:creationId xmlns:a16="http://schemas.microsoft.com/office/drawing/2014/main" id="{F25371BC-075A-DA63-4AA9-016878E4E27A}"/>
              </a:ext>
            </a:extLst>
          </p:cNvPr>
          <p:cNvSpPr txBox="1"/>
          <p:nvPr/>
        </p:nvSpPr>
        <p:spPr>
          <a:xfrm>
            <a:off x="480000" y="1734963"/>
            <a:ext cx="10899044" cy="880369"/>
          </a:xfrm>
          <a:prstGeom prst="rect">
            <a:avLst/>
          </a:prstGeom>
          <a:noFill/>
        </p:spPr>
        <p:txBody>
          <a:bodyPr wrap="square">
            <a:spAutoFit/>
          </a:bodyPr>
          <a:lstStyle/>
          <a:p>
            <a:pPr marL="0" marR="0" algn="just">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Cordia New" panose="020B0304020202020204" pitchFamily="34" charset="-34"/>
              </a:rPr>
              <a:t>The optimizer RMSprop, generator learning rate </a:t>
            </a:r>
            <a:r>
              <a:rPr lang="en-US" dirty="0">
                <a:latin typeface="Calibri" panose="020F0502020204030204" pitchFamily="34" charset="0"/>
                <a:ea typeface="Calibri" panose="020F0502020204030204" pitchFamily="34" charset="0"/>
                <a:cs typeface="Cordia New" panose="020B0304020202020204" pitchFamily="34" charset="-34"/>
              </a:rPr>
              <a:t>=</a:t>
            </a:r>
            <a:r>
              <a:rPr lang="en-US" sz="1800" dirty="0">
                <a:effectLst/>
                <a:latin typeface="Calibri" panose="020F0502020204030204" pitchFamily="34" charset="0"/>
                <a:ea typeface="Calibri" panose="020F0502020204030204" pitchFamily="34" charset="0"/>
                <a:cs typeface="Cordia New" panose="020B0304020202020204" pitchFamily="34" charset="-34"/>
              </a:rPr>
              <a:t> 0.003, critic learning rate </a:t>
            </a:r>
            <a:r>
              <a:rPr lang="en-US" dirty="0">
                <a:latin typeface="Calibri" panose="020F0502020204030204" pitchFamily="34" charset="0"/>
                <a:ea typeface="Calibri" panose="020F0502020204030204" pitchFamily="34" charset="0"/>
                <a:cs typeface="Cordia New" panose="020B0304020202020204" pitchFamily="34" charset="-34"/>
              </a:rPr>
              <a:t>= </a:t>
            </a:r>
            <a:r>
              <a:rPr lang="en-US" sz="1800" dirty="0">
                <a:effectLst/>
                <a:latin typeface="Calibri" panose="020F0502020204030204" pitchFamily="34" charset="0"/>
                <a:ea typeface="Calibri" panose="020F0502020204030204" pitchFamily="34" charset="0"/>
                <a:cs typeface="Cordia New" panose="020B0304020202020204" pitchFamily="34" charset="-34"/>
              </a:rPr>
              <a:t>8E-06,  Lambda = 10, and 5 critic iterations showed the best performance for convergence on the validation set. </a:t>
            </a:r>
            <a:endParaRPr lang="en-US" sz="1600" dirty="0">
              <a:effectLst/>
              <a:latin typeface="Calibri" panose="020F0502020204030204" pitchFamily="34" charset="0"/>
              <a:ea typeface="Calibri" panose="020F0502020204030204" pitchFamily="34" charset="0"/>
              <a:cs typeface="Cordia New" panose="020B0304020202020204" pitchFamily="34" charset="-34"/>
            </a:endParaRPr>
          </a:p>
        </p:txBody>
      </p:sp>
    </p:spTree>
    <p:extLst>
      <p:ext uri="{BB962C8B-B14F-4D97-AF65-F5344CB8AC3E}">
        <p14:creationId xmlns:p14="http://schemas.microsoft.com/office/powerpoint/2010/main" val="14026930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8660947-0BB4-759C-B15A-F12CF6ABF12C}"/>
              </a:ext>
            </a:extLst>
          </p:cNvPr>
          <p:cNvSpPr>
            <a:spLocks noGrp="1"/>
          </p:cNvSpPr>
          <p:nvPr>
            <p:ph type="title"/>
          </p:nvPr>
        </p:nvSpPr>
        <p:spPr>
          <a:xfrm>
            <a:off x="503625" y="960051"/>
            <a:ext cx="11280000" cy="840000"/>
          </a:xfrm>
        </p:spPr>
        <p:txBody>
          <a:bodyPr/>
          <a:lstStyle/>
          <a:p>
            <a:r>
              <a:rPr lang="en-US" dirty="0"/>
              <a:t> Model’s learning capability</a:t>
            </a:r>
          </a:p>
        </p:txBody>
      </p:sp>
      <p:sp>
        <p:nvSpPr>
          <p:cNvPr id="4" name="Date Placeholder 3">
            <a:extLst>
              <a:ext uri="{FF2B5EF4-FFF2-40B4-BE49-F238E27FC236}">
                <a16:creationId xmlns:a16="http://schemas.microsoft.com/office/drawing/2014/main" id="{CC019DC0-6FC9-3BBF-AD9F-5B505B75C39E}"/>
              </a:ext>
            </a:extLst>
          </p:cNvPr>
          <p:cNvSpPr>
            <a:spLocks noGrp="1"/>
          </p:cNvSpPr>
          <p:nvPr>
            <p:ph type="dt" sz="half" idx="10"/>
          </p:nvPr>
        </p:nvSpPr>
        <p:spPr/>
        <p:txBody>
          <a:bodyPr/>
          <a:lstStyle/>
          <a:p>
            <a:pPr>
              <a:defRPr/>
            </a:pPr>
            <a:fld id="{39045249-3CD8-4892-B6B9-9AEBB9086870}" type="datetime1">
              <a:rPr lang="en-US" smtClean="0"/>
              <a:t>2/28/2024</a:t>
            </a:fld>
            <a:endParaRPr lang="de-DE" dirty="0"/>
          </a:p>
        </p:txBody>
      </p:sp>
      <p:sp>
        <p:nvSpPr>
          <p:cNvPr id="5" name="Footer Placeholder 4">
            <a:extLst>
              <a:ext uri="{FF2B5EF4-FFF2-40B4-BE49-F238E27FC236}">
                <a16:creationId xmlns:a16="http://schemas.microsoft.com/office/drawing/2014/main" id="{47508146-04BF-305F-E4F9-AFDC98222252}"/>
              </a:ext>
            </a:extLst>
          </p:cNvPr>
          <p:cNvSpPr>
            <a:spLocks noGrp="1"/>
          </p:cNvSpPr>
          <p:nvPr>
            <p:ph type="ftr" sz="quarter" idx="11"/>
          </p:nvPr>
        </p:nvSpPr>
        <p:spPr/>
        <p:txBody>
          <a:bodyPr/>
          <a:lstStyle/>
          <a:p>
            <a:pPr>
              <a:defRPr/>
            </a:pPr>
            <a:r>
              <a:rPr lang="de-DE"/>
              <a:t>Pichaya Tappayuthpijarn</a:t>
            </a:r>
            <a:endParaRPr lang="de-DE" dirty="0"/>
          </a:p>
        </p:txBody>
      </p:sp>
      <p:sp>
        <p:nvSpPr>
          <p:cNvPr id="6" name="Slide Number Placeholder 5">
            <a:extLst>
              <a:ext uri="{FF2B5EF4-FFF2-40B4-BE49-F238E27FC236}">
                <a16:creationId xmlns:a16="http://schemas.microsoft.com/office/drawing/2014/main" id="{56D629FF-52EB-1437-4AD3-8D69E8544F4E}"/>
              </a:ext>
            </a:extLst>
          </p:cNvPr>
          <p:cNvSpPr>
            <a:spLocks noGrp="1"/>
          </p:cNvSpPr>
          <p:nvPr>
            <p:ph type="sldNum" sz="quarter" idx="12"/>
          </p:nvPr>
        </p:nvSpPr>
        <p:spPr/>
        <p:txBody>
          <a:bodyPr/>
          <a:lstStyle/>
          <a:p>
            <a:pPr>
              <a:defRPr/>
            </a:pPr>
            <a:r>
              <a:rPr lang="de-DE"/>
              <a:t>SEITE</a:t>
            </a:r>
            <a:r>
              <a:rPr lang="de-DE" spc="0"/>
              <a:t> </a:t>
            </a:r>
            <a:fld id="{37ED3A82-C5FC-FE4D-9EDE-EA1B3EA06354}" type="slidenum">
              <a:rPr lang="de-DE" spc="0" smtClean="0"/>
              <a:pPr>
                <a:defRPr/>
              </a:pPr>
              <a:t>18</a:t>
            </a:fld>
            <a:endParaRPr lang="de-DE" spc="0"/>
          </a:p>
        </p:txBody>
      </p:sp>
      <p:pic>
        <p:nvPicPr>
          <p:cNvPr id="7" name="Picture 6" descr="A group of rectangular shapes&#10;&#10;Description automatically generated with medium confidence">
            <a:extLst>
              <a:ext uri="{FF2B5EF4-FFF2-40B4-BE49-F238E27FC236}">
                <a16:creationId xmlns:a16="http://schemas.microsoft.com/office/drawing/2014/main" id="{0C242DD8-FF47-96AD-807D-FB3767FA260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80" y="2358975"/>
            <a:ext cx="5760720" cy="1728470"/>
          </a:xfrm>
          <a:prstGeom prst="rect">
            <a:avLst/>
          </a:prstGeom>
          <a:noFill/>
          <a:ln>
            <a:noFill/>
          </a:ln>
        </p:spPr>
      </p:pic>
      <p:pic>
        <p:nvPicPr>
          <p:cNvPr id="8" name="Picture 7" descr="A group of black rectangular shapes&#10;&#10;Description automatically generated">
            <a:extLst>
              <a:ext uri="{FF2B5EF4-FFF2-40B4-BE49-F238E27FC236}">
                <a16:creationId xmlns:a16="http://schemas.microsoft.com/office/drawing/2014/main" id="{456411C1-A011-4BC7-7AAB-F80F064A945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28350" y="2387603"/>
            <a:ext cx="5760720" cy="1728470"/>
          </a:xfrm>
          <a:prstGeom prst="rect">
            <a:avLst/>
          </a:prstGeom>
        </p:spPr>
      </p:pic>
      <p:pic>
        <p:nvPicPr>
          <p:cNvPr id="9" name="Picture 8" descr="A group of black rectangular shapes&#10;&#10;Description automatically generated">
            <a:extLst>
              <a:ext uri="{FF2B5EF4-FFF2-40B4-BE49-F238E27FC236}">
                <a16:creationId xmlns:a16="http://schemas.microsoft.com/office/drawing/2014/main" id="{7158CCB6-B8EA-BCDA-69F8-BEB7200C7E8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5280" y="4588309"/>
            <a:ext cx="5760720" cy="1728470"/>
          </a:xfrm>
          <a:prstGeom prst="rect">
            <a:avLst/>
          </a:prstGeom>
        </p:spPr>
      </p:pic>
      <p:pic>
        <p:nvPicPr>
          <p:cNvPr id="10" name="Picture 9" descr="A group of black rectangular objects&#10;&#10;Description automatically generated with medium confidence">
            <a:extLst>
              <a:ext uri="{FF2B5EF4-FFF2-40B4-BE49-F238E27FC236}">
                <a16:creationId xmlns:a16="http://schemas.microsoft.com/office/drawing/2014/main" id="{7576ED1F-CE98-74E2-57C5-A372ABB65ED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328350" y="4554634"/>
            <a:ext cx="5760720" cy="1728470"/>
          </a:xfrm>
          <a:prstGeom prst="rect">
            <a:avLst/>
          </a:prstGeom>
        </p:spPr>
      </p:pic>
      <p:sp>
        <p:nvSpPr>
          <p:cNvPr id="12" name="TextBox 11">
            <a:extLst>
              <a:ext uri="{FF2B5EF4-FFF2-40B4-BE49-F238E27FC236}">
                <a16:creationId xmlns:a16="http://schemas.microsoft.com/office/drawing/2014/main" id="{B9124621-DD42-A495-C2E6-D7F2E755B369}"/>
              </a:ext>
            </a:extLst>
          </p:cNvPr>
          <p:cNvSpPr txBox="1"/>
          <p:nvPr/>
        </p:nvSpPr>
        <p:spPr>
          <a:xfrm>
            <a:off x="474127" y="2069762"/>
            <a:ext cx="6096000" cy="312650"/>
          </a:xfrm>
          <a:prstGeom prst="rect">
            <a:avLst/>
          </a:prstGeom>
          <a:noFill/>
        </p:spPr>
        <p:txBody>
          <a:bodyPr wrap="square">
            <a:spAutoFit/>
          </a:bodyPr>
          <a:lstStyle/>
          <a:p>
            <a:pPr marL="0" marR="0">
              <a:lnSpc>
                <a:spcPct val="107000"/>
              </a:lnSpc>
              <a:spcBef>
                <a:spcPts val="0"/>
              </a:spcBef>
              <a:spcAft>
                <a:spcPts val="800"/>
              </a:spcAft>
            </a:pPr>
            <a:r>
              <a:rPr lang="en-US" sz="1400" i="1" u="sng" dirty="0">
                <a:effectLst/>
                <a:latin typeface="Calibri" panose="020F0502020204030204" pitchFamily="34" charset="0"/>
                <a:ea typeface="Calibri" panose="020F0502020204030204" pitchFamily="34" charset="0"/>
                <a:cs typeface="Cordia New" panose="020B0304020202020204" pitchFamily="34" charset="-34"/>
              </a:rPr>
              <a:t>a) Training epoch = 1</a:t>
            </a:r>
            <a:endParaRPr lang="en-US" sz="1400" dirty="0">
              <a:effectLst/>
              <a:latin typeface="Calibri" panose="020F0502020204030204" pitchFamily="34" charset="0"/>
              <a:ea typeface="Calibri" panose="020F0502020204030204" pitchFamily="34" charset="0"/>
              <a:cs typeface="Cordia New" panose="020B0304020202020204" pitchFamily="34" charset="-34"/>
            </a:endParaRPr>
          </a:p>
        </p:txBody>
      </p:sp>
      <p:sp>
        <p:nvSpPr>
          <p:cNvPr id="14" name="TextBox 13">
            <a:extLst>
              <a:ext uri="{FF2B5EF4-FFF2-40B4-BE49-F238E27FC236}">
                <a16:creationId xmlns:a16="http://schemas.microsoft.com/office/drawing/2014/main" id="{82672074-F240-B4B0-E24D-7757AA90A81C}"/>
              </a:ext>
            </a:extLst>
          </p:cNvPr>
          <p:cNvSpPr txBox="1"/>
          <p:nvPr/>
        </p:nvSpPr>
        <p:spPr>
          <a:xfrm>
            <a:off x="6430296" y="2069762"/>
            <a:ext cx="6096000" cy="312650"/>
          </a:xfrm>
          <a:prstGeom prst="rect">
            <a:avLst/>
          </a:prstGeom>
          <a:noFill/>
        </p:spPr>
        <p:txBody>
          <a:bodyPr wrap="square">
            <a:spAutoFit/>
          </a:bodyPr>
          <a:lstStyle/>
          <a:p>
            <a:pPr marL="0" marR="0">
              <a:lnSpc>
                <a:spcPct val="107000"/>
              </a:lnSpc>
              <a:spcBef>
                <a:spcPts val="0"/>
              </a:spcBef>
              <a:spcAft>
                <a:spcPts val="800"/>
              </a:spcAft>
            </a:pPr>
            <a:r>
              <a:rPr lang="en-US" sz="1400" i="1" u="sng" dirty="0">
                <a:latin typeface="Calibri" panose="020F0502020204030204" pitchFamily="34" charset="0"/>
                <a:ea typeface="Calibri" panose="020F0502020204030204" pitchFamily="34" charset="0"/>
                <a:cs typeface="Cordia New" panose="020B0304020202020204" pitchFamily="34" charset="-34"/>
              </a:rPr>
              <a:t>b</a:t>
            </a:r>
            <a:r>
              <a:rPr lang="en-US" sz="1400" i="1" u="sng" dirty="0">
                <a:effectLst/>
                <a:latin typeface="Calibri" panose="020F0502020204030204" pitchFamily="34" charset="0"/>
                <a:ea typeface="Calibri" panose="020F0502020204030204" pitchFamily="34" charset="0"/>
                <a:cs typeface="Cordia New" panose="020B0304020202020204" pitchFamily="34" charset="-34"/>
              </a:rPr>
              <a:t>) Training epoch = 50</a:t>
            </a:r>
            <a:endParaRPr lang="en-US" sz="1400" dirty="0">
              <a:effectLst/>
              <a:latin typeface="Calibri" panose="020F0502020204030204" pitchFamily="34" charset="0"/>
              <a:ea typeface="Calibri" panose="020F0502020204030204" pitchFamily="34" charset="0"/>
              <a:cs typeface="Cordia New" panose="020B0304020202020204" pitchFamily="34" charset="-34"/>
            </a:endParaRPr>
          </a:p>
        </p:txBody>
      </p:sp>
      <p:sp>
        <p:nvSpPr>
          <p:cNvPr id="16" name="TextBox 15">
            <a:extLst>
              <a:ext uri="{FF2B5EF4-FFF2-40B4-BE49-F238E27FC236}">
                <a16:creationId xmlns:a16="http://schemas.microsoft.com/office/drawing/2014/main" id="{BB8A7CCB-7459-4852-DF64-272EAA3E3FA1}"/>
              </a:ext>
            </a:extLst>
          </p:cNvPr>
          <p:cNvSpPr txBox="1"/>
          <p:nvPr/>
        </p:nvSpPr>
        <p:spPr>
          <a:xfrm>
            <a:off x="474127" y="4231838"/>
            <a:ext cx="6263148" cy="312650"/>
          </a:xfrm>
          <a:prstGeom prst="rect">
            <a:avLst/>
          </a:prstGeom>
          <a:noFill/>
        </p:spPr>
        <p:txBody>
          <a:bodyPr wrap="square">
            <a:spAutoFit/>
          </a:bodyPr>
          <a:lstStyle/>
          <a:p>
            <a:pPr marL="0" marR="0">
              <a:lnSpc>
                <a:spcPct val="107000"/>
              </a:lnSpc>
              <a:spcBef>
                <a:spcPts val="0"/>
              </a:spcBef>
              <a:spcAft>
                <a:spcPts val="800"/>
              </a:spcAft>
            </a:pPr>
            <a:r>
              <a:rPr lang="en-US" sz="1400" i="1" u="sng" dirty="0">
                <a:latin typeface="Calibri" panose="020F0502020204030204" pitchFamily="34" charset="0"/>
                <a:ea typeface="Calibri" panose="020F0502020204030204" pitchFamily="34" charset="0"/>
                <a:cs typeface="Cordia New" panose="020B0304020202020204" pitchFamily="34" charset="-34"/>
              </a:rPr>
              <a:t>c</a:t>
            </a:r>
            <a:r>
              <a:rPr lang="en-US" sz="1400" i="1" u="sng" dirty="0">
                <a:effectLst/>
                <a:latin typeface="Calibri" panose="020F0502020204030204" pitchFamily="34" charset="0"/>
                <a:ea typeface="Calibri" panose="020F0502020204030204" pitchFamily="34" charset="0"/>
                <a:cs typeface="Cordia New" panose="020B0304020202020204" pitchFamily="34" charset="-34"/>
              </a:rPr>
              <a:t>) Training epoch = 100</a:t>
            </a:r>
            <a:endParaRPr lang="en-US" sz="1400" dirty="0">
              <a:effectLst/>
              <a:latin typeface="Calibri" panose="020F0502020204030204" pitchFamily="34" charset="0"/>
              <a:ea typeface="Calibri" panose="020F0502020204030204" pitchFamily="34" charset="0"/>
              <a:cs typeface="Cordia New" panose="020B0304020202020204" pitchFamily="34" charset="-34"/>
            </a:endParaRPr>
          </a:p>
        </p:txBody>
      </p:sp>
      <p:sp>
        <p:nvSpPr>
          <p:cNvPr id="18" name="TextBox 17">
            <a:extLst>
              <a:ext uri="{FF2B5EF4-FFF2-40B4-BE49-F238E27FC236}">
                <a16:creationId xmlns:a16="http://schemas.microsoft.com/office/drawing/2014/main" id="{1F3B8D60-5933-0572-3D1B-C38F06C87933}"/>
              </a:ext>
            </a:extLst>
          </p:cNvPr>
          <p:cNvSpPr txBox="1"/>
          <p:nvPr/>
        </p:nvSpPr>
        <p:spPr>
          <a:xfrm>
            <a:off x="6346722" y="4231838"/>
            <a:ext cx="6263148" cy="312650"/>
          </a:xfrm>
          <a:prstGeom prst="rect">
            <a:avLst/>
          </a:prstGeom>
          <a:noFill/>
        </p:spPr>
        <p:txBody>
          <a:bodyPr wrap="square">
            <a:spAutoFit/>
          </a:bodyPr>
          <a:lstStyle/>
          <a:p>
            <a:pPr marL="0" marR="0">
              <a:lnSpc>
                <a:spcPct val="107000"/>
              </a:lnSpc>
              <a:spcBef>
                <a:spcPts val="0"/>
              </a:spcBef>
              <a:spcAft>
                <a:spcPts val="800"/>
              </a:spcAft>
            </a:pPr>
            <a:r>
              <a:rPr lang="en-US" sz="1400" i="1" u="sng" dirty="0">
                <a:latin typeface="Calibri" panose="020F0502020204030204" pitchFamily="34" charset="0"/>
                <a:ea typeface="Calibri" panose="020F0502020204030204" pitchFamily="34" charset="0"/>
                <a:cs typeface="Cordia New" panose="020B0304020202020204" pitchFamily="34" charset="-34"/>
              </a:rPr>
              <a:t>d</a:t>
            </a:r>
            <a:r>
              <a:rPr lang="en-US" sz="1400" i="1" u="sng" dirty="0">
                <a:effectLst/>
                <a:latin typeface="Calibri" panose="020F0502020204030204" pitchFamily="34" charset="0"/>
                <a:ea typeface="Calibri" panose="020F0502020204030204" pitchFamily="34" charset="0"/>
                <a:cs typeface="Cordia New" panose="020B0304020202020204" pitchFamily="34" charset="-34"/>
              </a:rPr>
              <a:t>) Training epoch = 150</a:t>
            </a:r>
            <a:endParaRPr lang="en-US" sz="1400" dirty="0">
              <a:effectLst/>
              <a:latin typeface="Calibri" panose="020F0502020204030204" pitchFamily="34" charset="0"/>
              <a:ea typeface="Calibri" panose="020F0502020204030204" pitchFamily="34" charset="0"/>
              <a:cs typeface="Cordia New" panose="020B0304020202020204" pitchFamily="34" charset="-34"/>
            </a:endParaRPr>
          </a:p>
        </p:txBody>
      </p:sp>
      <p:sp>
        <p:nvSpPr>
          <p:cNvPr id="19" name="Rectangle 18">
            <a:extLst>
              <a:ext uri="{FF2B5EF4-FFF2-40B4-BE49-F238E27FC236}">
                <a16:creationId xmlns:a16="http://schemas.microsoft.com/office/drawing/2014/main" id="{28BADD49-FBBB-FA46-7E98-8F930564C9BC}"/>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sp>
        <p:nvSpPr>
          <p:cNvPr id="11" name="TextBox 10">
            <a:extLst>
              <a:ext uri="{FF2B5EF4-FFF2-40B4-BE49-F238E27FC236}">
                <a16:creationId xmlns:a16="http://schemas.microsoft.com/office/drawing/2014/main" id="{629A85E1-A74B-9FD3-00B2-1DF0E67B2930}"/>
              </a:ext>
            </a:extLst>
          </p:cNvPr>
          <p:cNvSpPr txBox="1"/>
          <p:nvPr/>
        </p:nvSpPr>
        <p:spPr>
          <a:xfrm>
            <a:off x="460574" y="1555705"/>
            <a:ext cx="11004562" cy="276999"/>
          </a:xfrm>
          <a:prstGeom prst="rect">
            <a:avLst/>
          </a:prstGeom>
          <a:noFill/>
        </p:spPr>
        <p:txBody>
          <a:bodyPr wrap="square">
            <a:spAutoFit/>
          </a:bodyPr>
          <a:lstStyle/>
          <a:p>
            <a:pPr marL="0" marR="0" algn="just">
              <a:spcBef>
                <a:spcPts val="0"/>
              </a:spcBef>
              <a:spcAft>
                <a:spcPts val="1000"/>
              </a:spcAft>
            </a:pPr>
            <a:r>
              <a:rPr lang="en-US" sz="1200" i="1" dirty="0">
                <a:solidFill>
                  <a:srgbClr val="44546A"/>
                </a:solidFill>
                <a:effectLst/>
                <a:latin typeface="Calibri" panose="020F0502020204030204" pitchFamily="34" charset="0"/>
                <a:ea typeface="Calibri" panose="020F0502020204030204" pitchFamily="34" charset="0"/>
                <a:cs typeface="Cordia New" panose="020B0304020202020204" pitchFamily="34" charset="-34"/>
              </a:rPr>
              <a:t>Figure 14</a:t>
            </a:r>
            <a:r>
              <a:rPr lang="de-DE" sz="1200" i="1" dirty="0">
                <a:solidFill>
                  <a:srgbClr val="44546A"/>
                </a:solidFill>
                <a:effectLst/>
                <a:latin typeface="Calibri" panose="020F0502020204030204" pitchFamily="34" charset="0"/>
                <a:ea typeface="Calibri" panose="020F0502020204030204" pitchFamily="34" charset="0"/>
                <a:cs typeface="Cordia New" panose="020B0304020202020204" pitchFamily="34" charset="-34"/>
              </a:rPr>
              <a:t> </a:t>
            </a:r>
            <a:r>
              <a:rPr lang="en-US" sz="1200" i="1" dirty="0">
                <a:solidFill>
                  <a:srgbClr val="44546A"/>
                </a:solidFill>
                <a:effectLst/>
                <a:latin typeface="Calibri" panose="020F0502020204030204" pitchFamily="34" charset="0"/>
                <a:ea typeface="Calibri" panose="020F0502020204030204" pitchFamily="34" charset="0"/>
                <a:cs typeface="Cordia New" panose="020B0304020202020204" pitchFamily="34" charset="-34"/>
              </a:rPr>
              <a:t> Heat maps representing sample simulated dose distribution (top), generated dose distribution (middle), and their delta (bottom) in three orthogonal planes</a:t>
            </a:r>
          </a:p>
        </p:txBody>
      </p:sp>
    </p:spTree>
    <p:extLst>
      <p:ext uri="{BB962C8B-B14F-4D97-AF65-F5344CB8AC3E}">
        <p14:creationId xmlns:p14="http://schemas.microsoft.com/office/powerpoint/2010/main" val="30204892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A graph of a graph&#10;&#10;Description automatically generated with medium confidence">
            <a:extLst>
              <a:ext uri="{FF2B5EF4-FFF2-40B4-BE49-F238E27FC236}">
                <a16:creationId xmlns:a16="http://schemas.microsoft.com/office/drawing/2014/main" id="{F2BB76A3-DA43-CB24-E816-8FE4FF32291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6384" y="3670903"/>
            <a:ext cx="3927391" cy="2314475"/>
          </a:xfrm>
          <a:prstGeom prst="rect">
            <a:avLst/>
          </a:prstGeom>
        </p:spPr>
      </p:pic>
      <p:pic>
        <p:nvPicPr>
          <p:cNvPr id="10" name="Picture 9" descr="A graph of a normalized beam direction&#10;&#10;Description automatically generated with medium confidence">
            <a:extLst>
              <a:ext uri="{FF2B5EF4-FFF2-40B4-BE49-F238E27FC236}">
                <a16:creationId xmlns:a16="http://schemas.microsoft.com/office/drawing/2014/main" id="{1150E8D2-5714-5FC9-FE41-12579ACBB87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34866" y="1442120"/>
            <a:ext cx="3925134" cy="2314476"/>
          </a:xfrm>
          <a:prstGeom prst="rect">
            <a:avLst/>
          </a:prstGeom>
        </p:spPr>
      </p:pic>
      <p:sp>
        <p:nvSpPr>
          <p:cNvPr id="3" name="Title 2">
            <a:extLst>
              <a:ext uri="{FF2B5EF4-FFF2-40B4-BE49-F238E27FC236}">
                <a16:creationId xmlns:a16="http://schemas.microsoft.com/office/drawing/2014/main" id="{F806DDD5-1EE1-71B5-3001-2CDEF39C9C1C}"/>
              </a:ext>
            </a:extLst>
          </p:cNvPr>
          <p:cNvSpPr>
            <a:spLocks noGrp="1"/>
          </p:cNvSpPr>
          <p:nvPr>
            <p:ph type="title"/>
          </p:nvPr>
        </p:nvSpPr>
        <p:spPr>
          <a:xfrm>
            <a:off x="608337" y="621149"/>
            <a:ext cx="11280000" cy="840000"/>
          </a:xfrm>
        </p:spPr>
        <p:txBody>
          <a:bodyPr wrap="square" anchor="t">
            <a:normAutofit/>
          </a:bodyPr>
          <a:lstStyle/>
          <a:p>
            <a:r>
              <a:rPr lang="en-US" dirty="0"/>
              <a:t>Generated dose distribution</a:t>
            </a:r>
          </a:p>
        </p:txBody>
      </p:sp>
      <p:sp>
        <p:nvSpPr>
          <p:cNvPr id="4" name="Date Placeholder 3">
            <a:extLst>
              <a:ext uri="{FF2B5EF4-FFF2-40B4-BE49-F238E27FC236}">
                <a16:creationId xmlns:a16="http://schemas.microsoft.com/office/drawing/2014/main" id="{7CA8DCEE-B4B9-79A9-36FF-B8048B961D82}"/>
              </a:ext>
            </a:extLst>
          </p:cNvPr>
          <p:cNvSpPr>
            <a:spLocks noGrp="1"/>
          </p:cNvSpPr>
          <p:nvPr>
            <p:ph type="dt" sz="half" idx="10"/>
          </p:nvPr>
        </p:nvSpPr>
        <p:spPr>
          <a:xfrm>
            <a:off x="258718" y="6431849"/>
            <a:ext cx="1661099" cy="426151"/>
          </a:xfrm>
        </p:spPr>
        <p:txBody>
          <a:bodyPr wrap="none" anchor="ctr">
            <a:normAutofit/>
          </a:bodyPr>
          <a:lstStyle/>
          <a:p>
            <a:pPr>
              <a:spcAft>
                <a:spcPts val="600"/>
              </a:spcAft>
              <a:defRPr/>
            </a:pPr>
            <a:fld id="{E10D33DD-BC9F-4672-917C-1B7EBD250E8D}" type="datetime1">
              <a:rPr lang="en-US" smtClean="0"/>
              <a:t>2/28/2024</a:t>
            </a:fld>
            <a:endParaRPr lang="de-DE"/>
          </a:p>
        </p:txBody>
      </p:sp>
      <p:sp>
        <p:nvSpPr>
          <p:cNvPr id="5" name="Footer Placeholder 4">
            <a:extLst>
              <a:ext uri="{FF2B5EF4-FFF2-40B4-BE49-F238E27FC236}">
                <a16:creationId xmlns:a16="http://schemas.microsoft.com/office/drawing/2014/main" id="{D40E59A3-CA1D-0F09-6265-74FE641E89AF}"/>
              </a:ext>
            </a:extLst>
          </p:cNvPr>
          <p:cNvSpPr>
            <a:spLocks noGrp="1"/>
          </p:cNvSpPr>
          <p:nvPr>
            <p:ph type="ftr" sz="quarter" idx="11"/>
          </p:nvPr>
        </p:nvSpPr>
        <p:spPr>
          <a:xfrm>
            <a:off x="1246788" y="6431849"/>
            <a:ext cx="8640163" cy="426151"/>
          </a:xfrm>
        </p:spPr>
        <p:txBody>
          <a:bodyPr wrap="none" anchor="ctr">
            <a:normAutofit/>
          </a:bodyPr>
          <a:lstStyle/>
          <a:p>
            <a:pPr>
              <a:spcAft>
                <a:spcPts val="600"/>
              </a:spcAft>
              <a:defRPr/>
            </a:pPr>
            <a:r>
              <a:rPr lang="de-DE"/>
              <a:t>Pichaya Tappayuthpijarn</a:t>
            </a:r>
          </a:p>
        </p:txBody>
      </p:sp>
      <p:sp>
        <p:nvSpPr>
          <p:cNvPr id="6" name="Slide Number Placeholder 5">
            <a:extLst>
              <a:ext uri="{FF2B5EF4-FFF2-40B4-BE49-F238E27FC236}">
                <a16:creationId xmlns:a16="http://schemas.microsoft.com/office/drawing/2014/main" id="{B230D50E-3806-4451-19BD-DA576CA88940}"/>
              </a:ext>
            </a:extLst>
          </p:cNvPr>
          <p:cNvSpPr>
            <a:spLocks noGrp="1"/>
          </p:cNvSpPr>
          <p:nvPr>
            <p:ph type="sldNum" sz="quarter" idx="12"/>
          </p:nvPr>
        </p:nvSpPr>
        <p:spPr>
          <a:xfrm>
            <a:off x="10096660" y="6431849"/>
            <a:ext cx="1663541" cy="426151"/>
          </a:xfrm>
        </p:spPr>
        <p:txBody>
          <a:bodyPr anchor="ctr">
            <a:normAutofit/>
          </a:bodyPr>
          <a:lstStyle/>
          <a:p>
            <a:pPr>
              <a:spcAft>
                <a:spcPts val="600"/>
              </a:spcAft>
              <a:defRPr/>
            </a:pPr>
            <a:r>
              <a:rPr lang="de-DE"/>
              <a:t>SEITE</a:t>
            </a:r>
            <a:r>
              <a:rPr lang="de-DE" spc="0"/>
              <a:t> </a:t>
            </a:r>
            <a:fld id="{37ED3A82-C5FC-FE4D-9EDE-EA1B3EA06354}" type="slidenum">
              <a:rPr lang="de-DE" spc="0" smtClean="0"/>
              <a:pPr>
                <a:spcAft>
                  <a:spcPts val="600"/>
                </a:spcAft>
                <a:defRPr/>
              </a:pPr>
              <a:t>19</a:t>
            </a:fld>
            <a:endParaRPr lang="de-DE" spc="0"/>
          </a:p>
        </p:txBody>
      </p:sp>
      <p:pic>
        <p:nvPicPr>
          <p:cNvPr id="8" name="Picture 7" descr="A graph of a graph&#10;&#10;Description automatically generated with medium confidence">
            <a:extLst>
              <a:ext uri="{FF2B5EF4-FFF2-40B4-BE49-F238E27FC236}">
                <a16:creationId xmlns:a16="http://schemas.microsoft.com/office/drawing/2014/main" id="{255F35EA-5EE4-B0EC-40E9-C94A10D602F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00564" y="1457262"/>
            <a:ext cx="3925134" cy="2314476"/>
          </a:xfrm>
          <a:prstGeom prst="rect">
            <a:avLst/>
          </a:prstGeom>
        </p:spPr>
      </p:pic>
      <p:pic>
        <p:nvPicPr>
          <p:cNvPr id="12" name="Picture 11" descr="A graph of a graph&#10;&#10;Description automatically generated with medium confidence">
            <a:extLst>
              <a:ext uri="{FF2B5EF4-FFF2-40B4-BE49-F238E27FC236}">
                <a16:creationId xmlns:a16="http://schemas.microsoft.com/office/drawing/2014/main" id="{B79F0D6A-ACC3-C1A0-65FE-F6B6361BCD79}"/>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822161" y="3705930"/>
            <a:ext cx="3925134" cy="2314476"/>
          </a:xfrm>
          <a:prstGeom prst="rect">
            <a:avLst/>
          </a:prstGeom>
        </p:spPr>
      </p:pic>
      <p:pic>
        <p:nvPicPr>
          <p:cNvPr id="11" name="Picture 10" descr="A graph of a line graph&#10;&#10;Description automatically generated with medium confidence">
            <a:extLst>
              <a:ext uri="{FF2B5EF4-FFF2-40B4-BE49-F238E27FC236}">
                <a16:creationId xmlns:a16="http://schemas.microsoft.com/office/drawing/2014/main" id="{EB55F352-8367-2B69-8891-8CAD8977918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086915" y="3721320"/>
            <a:ext cx="3922879" cy="2314476"/>
          </a:xfrm>
          <a:prstGeom prst="rect">
            <a:avLst/>
          </a:prstGeom>
        </p:spPr>
      </p:pic>
      <p:pic>
        <p:nvPicPr>
          <p:cNvPr id="7" name="Picture 6" descr="A graph of a line&#10;&#10;Description automatically generated with medium confidence">
            <a:extLst>
              <a:ext uri="{FF2B5EF4-FFF2-40B4-BE49-F238E27FC236}">
                <a16:creationId xmlns:a16="http://schemas.microsoft.com/office/drawing/2014/main" id="{582413A7-61CC-1457-6F4D-F95F5834163E}"/>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03663" y="1457262"/>
            <a:ext cx="3929646" cy="2314476"/>
          </a:xfrm>
          <a:prstGeom prst="rect">
            <a:avLst/>
          </a:prstGeom>
        </p:spPr>
      </p:pic>
      <p:sp>
        <p:nvSpPr>
          <p:cNvPr id="18" name="Rectangle 17">
            <a:extLst>
              <a:ext uri="{FF2B5EF4-FFF2-40B4-BE49-F238E27FC236}">
                <a16:creationId xmlns:a16="http://schemas.microsoft.com/office/drawing/2014/main" id="{6B62C6B0-64FF-640B-2F70-016DBFC3CF96}"/>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sp>
        <p:nvSpPr>
          <p:cNvPr id="9" name="TextBox 8">
            <a:extLst>
              <a:ext uri="{FF2B5EF4-FFF2-40B4-BE49-F238E27FC236}">
                <a16:creationId xmlns:a16="http://schemas.microsoft.com/office/drawing/2014/main" id="{0C2AAEAD-E05D-8EC1-9091-D9142AD6CCEB}"/>
              </a:ext>
            </a:extLst>
          </p:cNvPr>
          <p:cNvSpPr txBox="1"/>
          <p:nvPr/>
        </p:nvSpPr>
        <p:spPr>
          <a:xfrm>
            <a:off x="480000" y="5966350"/>
            <a:ext cx="11196861" cy="461665"/>
          </a:xfrm>
          <a:prstGeom prst="rect">
            <a:avLst/>
          </a:prstGeom>
          <a:noFill/>
        </p:spPr>
        <p:txBody>
          <a:bodyPr wrap="square">
            <a:spAutoFit/>
          </a:bodyPr>
          <a:lstStyle/>
          <a:p>
            <a:pPr marL="0" marR="0" algn="just">
              <a:spcBef>
                <a:spcPts val="0"/>
              </a:spcBef>
              <a:spcAft>
                <a:spcPts val="1000"/>
              </a:spcAft>
            </a:pPr>
            <a:r>
              <a:rPr lang="en-US" sz="1200" i="1" dirty="0">
                <a:solidFill>
                  <a:srgbClr val="44546A"/>
                </a:solidFill>
                <a:effectLst/>
                <a:latin typeface="Calibri" panose="020F0502020204030204" pitchFamily="34" charset="0"/>
                <a:ea typeface="Calibri" panose="020F0502020204030204" pitchFamily="34" charset="0"/>
                <a:cs typeface="Cordia New" panose="020B0304020202020204" pitchFamily="34" charset="-34"/>
              </a:rPr>
              <a:t>Figure 15  Samples of prediction outcomes from the best model using the test dataset</a:t>
            </a:r>
            <a:r>
              <a:rPr lang="en-US" sz="1200" i="1" dirty="0">
                <a:solidFill>
                  <a:srgbClr val="44546A"/>
                </a:solidFill>
                <a:effectLst/>
                <a:latin typeface="Calibri" panose="020F0502020204030204" pitchFamily="34" charset="0"/>
                <a:ea typeface="Calibri" panose="020F0502020204030204" pitchFamily="34" charset="0"/>
                <a:cs typeface="Calibri" panose="020F0502020204030204" pitchFamily="34" charset="0"/>
              </a:rPr>
              <a:t>. </a:t>
            </a:r>
            <a:r>
              <a:rPr lang="en-US" sz="1200" i="1"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Comparison between the MC simulated dose (blue) and the generated dose from GAN model (orange) is shown for different beam energies.</a:t>
            </a:r>
            <a:endParaRPr lang="en-US" sz="1200" i="1" dirty="0">
              <a:solidFill>
                <a:srgbClr val="44546A"/>
              </a:solidFill>
              <a:effectLst/>
              <a:latin typeface="Calibri" panose="020F0502020204030204" pitchFamily="34" charset="0"/>
              <a:ea typeface="Calibri" panose="020F0502020204030204" pitchFamily="34" charset="0"/>
              <a:cs typeface="Cordia New" panose="020B0304020202020204" pitchFamily="34" charset="-34"/>
            </a:endParaRPr>
          </a:p>
        </p:txBody>
      </p:sp>
    </p:spTree>
    <p:extLst>
      <p:ext uri="{BB962C8B-B14F-4D97-AF65-F5344CB8AC3E}">
        <p14:creationId xmlns:p14="http://schemas.microsoft.com/office/powerpoint/2010/main" val="1568361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5E7D99-BFA1-014A-25D0-3F145DECF601}"/>
              </a:ext>
            </a:extLst>
          </p:cNvPr>
          <p:cNvSpPr>
            <a:spLocks noGrp="1"/>
          </p:cNvSpPr>
          <p:nvPr>
            <p:ph type="title"/>
          </p:nvPr>
        </p:nvSpPr>
        <p:spPr>
          <a:xfrm>
            <a:off x="543809" y="627799"/>
            <a:ext cx="11280000" cy="840000"/>
          </a:xfrm>
        </p:spPr>
        <p:txBody>
          <a:bodyPr/>
          <a:lstStyle/>
          <a:p>
            <a:r>
              <a:rPr lang="en-US" dirty="0"/>
              <a:t>Generated dose distribution (2)</a:t>
            </a:r>
          </a:p>
        </p:txBody>
      </p:sp>
      <p:sp>
        <p:nvSpPr>
          <p:cNvPr id="4" name="Date Placeholder 3">
            <a:extLst>
              <a:ext uri="{FF2B5EF4-FFF2-40B4-BE49-F238E27FC236}">
                <a16:creationId xmlns:a16="http://schemas.microsoft.com/office/drawing/2014/main" id="{87883953-ECEA-E653-E62D-70A8AFEFEFB6}"/>
              </a:ext>
            </a:extLst>
          </p:cNvPr>
          <p:cNvSpPr>
            <a:spLocks noGrp="1"/>
          </p:cNvSpPr>
          <p:nvPr>
            <p:ph type="dt" sz="half" idx="10"/>
          </p:nvPr>
        </p:nvSpPr>
        <p:spPr/>
        <p:txBody>
          <a:bodyPr/>
          <a:lstStyle/>
          <a:p>
            <a:pPr>
              <a:defRPr/>
            </a:pPr>
            <a:fld id="{38B79734-6E16-4960-884A-B3CB1ACDA1A5}" type="datetime1">
              <a:rPr lang="en-US" smtClean="0"/>
              <a:t>2/28/2024</a:t>
            </a:fld>
            <a:endParaRPr lang="de-DE" dirty="0"/>
          </a:p>
        </p:txBody>
      </p:sp>
      <p:sp>
        <p:nvSpPr>
          <p:cNvPr id="5" name="Footer Placeholder 4">
            <a:extLst>
              <a:ext uri="{FF2B5EF4-FFF2-40B4-BE49-F238E27FC236}">
                <a16:creationId xmlns:a16="http://schemas.microsoft.com/office/drawing/2014/main" id="{CA0E75B1-2C9C-8B81-7154-DA04CC7B55EB}"/>
              </a:ext>
            </a:extLst>
          </p:cNvPr>
          <p:cNvSpPr>
            <a:spLocks noGrp="1"/>
          </p:cNvSpPr>
          <p:nvPr>
            <p:ph type="ftr" sz="quarter" idx="11"/>
          </p:nvPr>
        </p:nvSpPr>
        <p:spPr/>
        <p:txBody>
          <a:bodyPr/>
          <a:lstStyle/>
          <a:p>
            <a:pPr>
              <a:defRPr/>
            </a:pPr>
            <a:r>
              <a:rPr lang="de-DE"/>
              <a:t>Pichaya Tappayuthpijarn</a:t>
            </a:r>
            <a:endParaRPr lang="de-DE" dirty="0"/>
          </a:p>
        </p:txBody>
      </p:sp>
      <p:sp>
        <p:nvSpPr>
          <p:cNvPr id="6" name="Slide Number Placeholder 5">
            <a:extLst>
              <a:ext uri="{FF2B5EF4-FFF2-40B4-BE49-F238E27FC236}">
                <a16:creationId xmlns:a16="http://schemas.microsoft.com/office/drawing/2014/main" id="{BA7525B7-0A72-68F6-8828-05C8B03B256C}"/>
              </a:ext>
            </a:extLst>
          </p:cNvPr>
          <p:cNvSpPr>
            <a:spLocks noGrp="1"/>
          </p:cNvSpPr>
          <p:nvPr>
            <p:ph type="sldNum" sz="quarter" idx="12"/>
          </p:nvPr>
        </p:nvSpPr>
        <p:spPr/>
        <p:txBody>
          <a:bodyPr/>
          <a:lstStyle/>
          <a:p>
            <a:pPr>
              <a:defRPr/>
            </a:pPr>
            <a:r>
              <a:rPr lang="de-DE"/>
              <a:t>SEITE</a:t>
            </a:r>
            <a:r>
              <a:rPr lang="de-DE" spc="0"/>
              <a:t> </a:t>
            </a:r>
            <a:fld id="{37ED3A82-C5FC-FE4D-9EDE-EA1B3EA06354}" type="slidenum">
              <a:rPr lang="de-DE" spc="0" smtClean="0"/>
              <a:pPr>
                <a:defRPr/>
              </a:pPr>
              <a:t>20</a:t>
            </a:fld>
            <a:endParaRPr lang="de-DE" spc="0"/>
          </a:p>
        </p:txBody>
      </p:sp>
      <p:pic>
        <p:nvPicPr>
          <p:cNvPr id="7" name="Picture 6">
            <a:extLst>
              <a:ext uri="{FF2B5EF4-FFF2-40B4-BE49-F238E27FC236}">
                <a16:creationId xmlns:a16="http://schemas.microsoft.com/office/drawing/2014/main" id="{1010EE14-5483-1788-5F95-E98E88578CD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00319" y="3795450"/>
            <a:ext cx="3752985" cy="2253606"/>
          </a:xfrm>
          <a:prstGeom prst="rect">
            <a:avLst/>
          </a:prstGeom>
          <a:noFill/>
          <a:ln>
            <a:noFill/>
          </a:ln>
        </p:spPr>
      </p:pic>
      <p:pic>
        <p:nvPicPr>
          <p:cNvPr id="8" name="Picture 7">
            <a:extLst>
              <a:ext uri="{FF2B5EF4-FFF2-40B4-BE49-F238E27FC236}">
                <a16:creationId xmlns:a16="http://schemas.microsoft.com/office/drawing/2014/main" id="{9203DA98-E210-D492-276B-281E745B3F7F}"/>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71021" y="3802189"/>
            <a:ext cx="3747209" cy="2251130"/>
          </a:xfrm>
          <a:prstGeom prst="rect">
            <a:avLst/>
          </a:prstGeom>
          <a:noFill/>
          <a:ln>
            <a:noFill/>
          </a:ln>
        </p:spPr>
      </p:pic>
      <p:pic>
        <p:nvPicPr>
          <p:cNvPr id="14" name="Picture 13">
            <a:extLst>
              <a:ext uri="{FF2B5EF4-FFF2-40B4-BE49-F238E27FC236}">
                <a16:creationId xmlns:a16="http://schemas.microsoft.com/office/drawing/2014/main" id="{51EF6664-FDD2-B278-DF08-55D9B27E734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71984" y="1442119"/>
            <a:ext cx="3746246" cy="2251130"/>
          </a:xfrm>
          <a:prstGeom prst="rect">
            <a:avLst/>
          </a:prstGeom>
          <a:noFill/>
          <a:ln>
            <a:noFill/>
          </a:ln>
        </p:spPr>
      </p:pic>
      <p:sp>
        <p:nvSpPr>
          <p:cNvPr id="10" name="Rectangle 9">
            <a:extLst>
              <a:ext uri="{FF2B5EF4-FFF2-40B4-BE49-F238E27FC236}">
                <a16:creationId xmlns:a16="http://schemas.microsoft.com/office/drawing/2014/main" id="{2C1A5BBF-CC5C-9EA6-F965-09E4B4FE61DD}"/>
              </a:ext>
            </a:extLst>
          </p:cNvPr>
          <p:cNvSpPr/>
          <p:nvPr/>
        </p:nvSpPr>
        <p:spPr>
          <a:xfrm>
            <a:off x="320040" y="1514991"/>
            <a:ext cx="5473740" cy="563787"/>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pic>
        <p:nvPicPr>
          <p:cNvPr id="16" name="Picture 15" descr="A graph of a line graph&#10;&#10;Description automatically generated with medium confidence">
            <a:extLst>
              <a:ext uri="{FF2B5EF4-FFF2-40B4-BE49-F238E27FC236}">
                <a16:creationId xmlns:a16="http://schemas.microsoft.com/office/drawing/2014/main" id="{79B69BB5-A3E8-2B3B-CCDF-27C67F219DF8}"/>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981081" y="1385690"/>
            <a:ext cx="3902025" cy="2299527"/>
          </a:xfrm>
          <a:prstGeom prst="rect">
            <a:avLst/>
          </a:prstGeom>
        </p:spPr>
      </p:pic>
      <p:pic>
        <p:nvPicPr>
          <p:cNvPr id="13" name="Picture 12" descr="A graph of a line&#10;&#10;Description automatically generated with medium confidence">
            <a:extLst>
              <a:ext uri="{FF2B5EF4-FFF2-40B4-BE49-F238E27FC236}">
                <a16:creationId xmlns:a16="http://schemas.microsoft.com/office/drawing/2014/main" id="{C4A742DA-770C-C07D-FC1B-EDF8D3671AF6}"/>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05395" y="1446389"/>
            <a:ext cx="3899784" cy="2299528"/>
          </a:xfrm>
          <a:prstGeom prst="rect">
            <a:avLst/>
          </a:prstGeom>
        </p:spPr>
      </p:pic>
      <p:pic>
        <p:nvPicPr>
          <p:cNvPr id="15" name="Picture 14">
            <a:extLst>
              <a:ext uri="{FF2B5EF4-FFF2-40B4-BE49-F238E27FC236}">
                <a16:creationId xmlns:a16="http://schemas.microsoft.com/office/drawing/2014/main" id="{09BB20BB-6CCE-7169-B0D9-A957E642944F}"/>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35393" y="3733270"/>
            <a:ext cx="3869786" cy="2323737"/>
          </a:xfrm>
          <a:prstGeom prst="rect">
            <a:avLst/>
          </a:prstGeom>
          <a:noFill/>
          <a:ln>
            <a:noFill/>
          </a:ln>
        </p:spPr>
      </p:pic>
      <p:sp>
        <p:nvSpPr>
          <p:cNvPr id="2" name="TextBox 1">
            <a:extLst>
              <a:ext uri="{FF2B5EF4-FFF2-40B4-BE49-F238E27FC236}">
                <a16:creationId xmlns:a16="http://schemas.microsoft.com/office/drawing/2014/main" id="{D7A8395F-A5B7-26BB-5F7E-EE784535CB11}"/>
              </a:ext>
            </a:extLst>
          </p:cNvPr>
          <p:cNvSpPr txBox="1"/>
          <p:nvPr/>
        </p:nvSpPr>
        <p:spPr>
          <a:xfrm>
            <a:off x="480000" y="5966350"/>
            <a:ext cx="11196861" cy="461665"/>
          </a:xfrm>
          <a:prstGeom prst="rect">
            <a:avLst/>
          </a:prstGeom>
          <a:noFill/>
        </p:spPr>
        <p:txBody>
          <a:bodyPr wrap="square">
            <a:spAutoFit/>
          </a:bodyPr>
          <a:lstStyle/>
          <a:p>
            <a:pPr marL="0" marR="0" algn="just">
              <a:spcBef>
                <a:spcPts val="0"/>
              </a:spcBef>
              <a:spcAft>
                <a:spcPts val="1000"/>
              </a:spcAft>
            </a:pPr>
            <a:r>
              <a:rPr lang="en-US" sz="1200" i="1" dirty="0">
                <a:solidFill>
                  <a:srgbClr val="44546A"/>
                </a:solidFill>
                <a:effectLst/>
                <a:latin typeface="Calibri" panose="020F0502020204030204" pitchFamily="34" charset="0"/>
                <a:ea typeface="Calibri" panose="020F0502020204030204" pitchFamily="34" charset="0"/>
                <a:cs typeface="Cordia New" panose="020B0304020202020204" pitchFamily="34" charset="-34"/>
              </a:rPr>
              <a:t>Figure 15 Samples of prediction outcomes from the best model using the test dataset</a:t>
            </a:r>
            <a:r>
              <a:rPr lang="en-US" sz="1200" i="1" dirty="0">
                <a:solidFill>
                  <a:srgbClr val="44546A"/>
                </a:solidFill>
                <a:effectLst/>
                <a:latin typeface="Calibri" panose="020F0502020204030204" pitchFamily="34" charset="0"/>
                <a:ea typeface="Calibri" panose="020F0502020204030204" pitchFamily="34" charset="0"/>
                <a:cs typeface="Calibri" panose="020F0502020204030204" pitchFamily="34" charset="0"/>
              </a:rPr>
              <a:t>. </a:t>
            </a:r>
            <a:r>
              <a:rPr lang="en-US" sz="1200" i="1" dirty="0">
                <a:solidFill>
                  <a:srgbClr val="374151"/>
                </a:solidFill>
                <a:effectLst/>
                <a:latin typeface="Calibri" panose="020F0502020204030204" pitchFamily="34" charset="0"/>
                <a:ea typeface="Calibri" panose="020F0502020204030204" pitchFamily="34" charset="0"/>
                <a:cs typeface="Calibri" panose="020F0502020204030204" pitchFamily="34" charset="0"/>
              </a:rPr>
              <a:t>Comparison between the MC simulated dose (blue) and the generated dose from GAN model (orange) is shown for different beam energies.</a:t>
            </a:r>
            <a:endParaRPr lang="en-US" sz="1200" i="1" dirty="0">
              <a:solidFill>
                <a:srgbClr val="44546A"/>
              </a:solidFill>
              <a:effectLst/>
              <a:latin typeface="Calibri" panose="020F0502020204030204" pitchFamily="34" charset="0"/>
              <a:ea typeface="Calibri" panose="020F0502020204030204" pitchFamily="34" charset="0"/>
              <a:cs typeface="Cordia New" panose="020B0304020202020204" pitchFamily="34" charset="-34"/>
            </a:endParaRPr>
          </a:p>
        </p:txBody>
      </p:sp>
      <p:sp>
        <p:nvSpPr>
          <p:cNvPr id="11" name="Rectangle 10">
            <a:extLst>
              <a:ext uri="{FF2B5EF4-FFF2-40B4-BE49-F238E27FC236}">
                <a16:creationId xmlns:a16="http://schemas.microsoft.com/office/drawing/2014/main" id="{80F56854-DDAA-7ED3-E3E3-7EAA9BA4EB35}"/>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spTree>
    <p:extLst>
      <p:ext uri="{BB962C8B-B14F-4D97-AF65-F5344CB8AC3E}">
        <p14:creationId xmlns:p14="http://schemas.microsoft.com/office/powerpoint/2010/main" val="25700403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39FD7D-FEFF-D2E1-213F-5A9525C5AE8E}"/>
              </a:ext>
            </a:extLst>
          </p:cNvPr>
          <p:cNvSpPr>
            <a:spLocks noGrp="1"/>
          </p:cNvSpPr>
          <p:nvPr>
            <p:ph idx="1"/>
          </p:nvPr>
        </p:nvSpPr>
        <p:spPr>
          <a:xfrm>
            <a:off x="480485" y="2040468"/>
            <a:ext cx="3596565" cy="4078817"/>
          </a:xfrm>
        </p:spPr>
        <p:txBody>
          <a:bodyPr>
            <a:normAutofit/>
          </a:bodyPr>
          <a:lstStyle/>
          <a:p>
            <a:r>
              <a:rPr lang="en-US" sz="2000" dirty="0">
                <a:effectLst/>
                <a:latin typeface="Calibri" panose="020F0502020204030204" pitchFamily="34" charset="0"/>
                <a:ea typeface="Calibri" panose="020F0502020204030204" pitchFamily="34" charset="0"/>
                <a:cs typeface="Cordia New" panose="020B0304020202020204" pitchFamily="34" charset="-34"/>
              </a:rPr>
              <a:t>Achievement in MSE and passing rates</a:t>
            </a:r>
          </a:p>
          <a:p>
            <a:r>
              <a:rPr lang="en-US" sz="2000" dirty="0">
                <a:latin typeface="Calibri" panose="020F0502020204030204" pitchFamily="34" charset="0"/>
                <a:ea typeface="Calibri" panose="020F0502020204030204" pitchFamily="34" charset="0"/>
                <a:cs typeface="Cordia New" panose="020B0304020202020204" pitchFamily="34" charset="-34"/>
              </a:rPr>
              <a:t>E</a:t>
            </a:r>
            <a:r>
              <a:rPr lang="en-US" sz="2000" dirty="0">
                <a:effectLst/>
                <a:latin typeface="Calibri" panose="020F0502020204030204" pitchFamily="34" charset="0"/>
                <a:ea typeface="Calibri" panose="020F0502020204030204" pitchFamily="34" charset="0"/>
                <a:cs typeface="Cordia New" panose="020B0304020202020204" pitchFamily="34" charset="-34"/>
              </a:rPr>
              <a:t>ffectiveness in capturing and generalizing patterns from the data</a:t>
            </a:r>
          </a:p>
          <a:p>
            <a:r>
              <a:rPr lang="en-US" sz="2000" dirty="0">
                <a:latin typeface="Calibri" panose="020F0502020204030204" pitchFamily="34" charset="0"/>
                <a:ea typeface="Calibri" panose="020F0502020204030204" pitchFamily="34" charset="0"/>
                <a:cs typeface="Cordia New" panose="020B0304020202020204" pitchFamily="34" charset="-34"/>
              </a:rPr>
              <a:t>C</a:t>
            </a:r>
            <a:r>
              <a:rPr lang="en-US" sz="2000" dirty="0">
                <a:effectLst/>
                <a:latin typeface="Calibri" panose="020F0502020204030204" pitchFamily="34" charset="0"/>
                <a:ea typeface="Calibri" panose="020F0502020204030204" pitchFamily="34" charset="0"/>
                <a:cs typeface="Cordia New" panose="020B0304020202020204" pitchFamily="34" charset="-34"/>
              </a:rPr>
              <a:t>hallenges with the unseen geometry </a:t>
            </a:r>
            <a:endParaRPr lang="en-US" sz="2000" dirty="0"/>
          </a:p>
        </p:txBody>
      </p:sp>
      <p:sp>
        <p:nvSpPr>
          <p:cNvPr id="3" name="Title 2">
            <a:extLst>
              <a:ext uri="{FF2B5EF4-FFF2-40B4-BE49-F238E27FC236}">
                <a16:creationId xmlns:a16="http://schemas.microsoft.com/office/drawing/2014/main" id="{37634A34-6907-9651-7172-D90343EB5FBE}"/>
              </a:ext>
            </a:extLst>
          </p:cNvPr>
          <p:cNvSpPr>
            <a:spLocks noGrp="1"/>
          </p:cNvSpPr>
          <p:nvPr>
            <p:ph type="title"/>
          </p:nvPr>
        </p:nvSpPr>
        <p:spPr/>
        <p:txBody>
          <a:bodyPr/>
          <a:lstStyle/>
          <a:p>
            <a:r>
              <a:rPr lang="en-US" dirty="0"/>
              <a:t>Performance</a:t>
            </a:r>
          </a:p>
        </p:txBody>
      </p:sp>
      <p:sp>
        <p:nvSpPr>
          <p:cNvPr id="4" name="Date Placeholder 3">
            <a:extLst>
              <a:ext uri="{FF2B5EF4-FFF2-40B4-BE49-F238E27FC236}">
                <a16:creationId xmlns:a16="http://schemas.microsoft.com/office/drawing/2014/main" id="{23CB2E05-B697-DD36-E6BC-005452413C7E}"/>
              </a:ext>
            </a:extLst>
          </p:cNvPr>
          <p:cNvSpPr>
            <a:spLocks noGrp="1"/>
          </p:cNvSpPr>
          <p:nvPr>
            <p:ph type="dt" sz="half" idx="10"/>
          </p:nvPr>
        </p:nvSpPr>
        <p:spPr/>
        <p:txBody>
          <a:bodyPr/>
          <a:lstStyle/>
          <a:p>
            <a:pPr>
              <a:defRPr/>
            </a:pPr>
            <a:fld id="{605195B2-0A50-487B-88F6-8AA8AD6600C9}" type="datetime1">
              <a:rPr lang="en-US" smtClean="0"/>
              <a:t>2/28/2024</a:t>
            </a:fld>
            <a:endParaRPr lang="de-DE" dirty="0"/>
          </a:p>
        </p:txBody>
      </p:sp>
      <p:sp>
        <p:nvSpPr>
          <p:cNvPr id="5" name="Footer Placeholder 4">
            <a:extLst>
              <a:ext uri="{FF2B5EF4-FFF2-40B4-BE49-F238E27FC236}">
                <a16:creationId xmlns:a16="http://schemas.microsoft.com/office/drawing/2014/main" id="{C9D121D7-9B9B-96F2-93C5-4E433F54F786}"/>
              </a:ext>
            </a:extLst>
          </p:cNvPr>
          <p:cNvSpPr>
            <a:spLocks noGrp="1"/>
          </p:cNvSpPr>
          <p:nvPr>
            <p:ph type="ftr" sz="quarter" idx="11"/>
          </p:nvPr>
        </p:nvSpPr>
        <p:spPr/>
        <p:txBody>
          <a:bodyPr/>
          <a:lstStyle/>
          <a:p>
            <a:pPr>
              <a:defRPr/>
            </a:pPr>
            <a:r>
              <a:rPr lang="de-DE"/>
              <a:t>Pichaya Tappayuthpijarn</a:t>
            </a:r>
            <a:endParaRPr lang="de-DE" dirty="0"/>
          </a:p>
        </p:txBody>
      </p:sp>
      <p:sp>
        <p:nvSpPr>
          <p:cNvPr id="6" name="Slide Number Placeholder 5">
            <a:extLst>
              <a:ext uri="{FF2B5EF4-FFF2-40B4-BE49-F238E27FC236}">
                <a16:creationId xmlns:a16="http://schemas.microsoft.com/office/drawing/2014/main" id="{8CB1B25D-4978-48DA-76FD-EE383E3EEAFE}"/>
              </a:ext>
            </a:extLst>
          </p:cNvPr>
          <p:cNvSpPr>
            <a:spLocks noGrp="1"/>
          </p:cNvSpPr>
          <p:nvPr>
            <p:ph type="sldNum" sz="quarter" idx="12"/>
          </p:nvPr>
        </p:nvSpPr>
        <p:spPr/>
        <p:txBody>
          <a:bodyPr/>
          <a:lstStyle/>
          <a:p>
            <a:pPr>
              <a:defRPr/>
            </a:pPr>
            <a:r>
              <a:rPr lang="de-DE"/>
              <a:t>SEITE</a:t>
            </a:r>
            <a:r>
              <a:rPr lang="de-DE" spc="0"/>
              <a:t> </a:t>
            </a:r>
            <a:fld id="{37ED3A82-C5FC-FE4D-9EDE-EA1B3EA06354}" type="slidenum">
              <a:rPr lang="de-DE" spc="0" smtClean="0"/>
              <a:pPr>
                <a:defRPr/>
              </a:pPr>
              <a:t>21</a:t>
            </a:fld>
            <a:endParaRPr lang="de-DE" spc="0"/>
          </a:p>
        </p:txBody>
      </p:sp>
      <p:pic>
        <p:nvPicPr>
          <p:cNvPr id="7" name="Content Placeholder 6">
            <a:extLst>
              <a:ext uri="{FF2B5EF4-FFF2-40B4-BE49-F238E27FC236}">
                <a16:creationId xmlns:a16="http://schemas.microsoft.com/office/drawing/2014/main" id="{AF200FE2-5342-4F80-5808-8B46798D7A4E}"/>
              </a:ext>
            </a:extLst>
          </p:cNvPr>
          <p:cNvPicPr>
            <a:picLocks noChangeAspect="1"/>
          </p:cNvPicPr>
          <p:nvPr/>
        </p:nvPicPr>
        <p:blipFill>
          <a:blip r:embed="rId3">
            <a:extLst>
              <a:ext uri="{28A0092B-C50C-407E-A947-70E740481C1C}">
                <a14:useLocalDpi xmlns:a14="http://schemas.microsoft.com/office/drawing/2010/main" val="0"/>
              </a:ext>
            </a:extLst>
          </a:blip>
          <a:stretch/>
        </p:blipFill>
        <p:spPr bwMode="auto">
          <a:xfrm>
            <a:off x="4543425" y="2264771"/>
            <a:ext cx="7053090" cy="1325324"/>
          </a:xfrm>
          <a:prstGeom prst="rect">
            <a:avLst/>
          </a:prstGeom>
          <a:noFill/>
          <a:ln>
            <a:noFill/>
          </a:ln>
        </p:spPr>
      </p:pic>
      <p:pic>
        <p:nvPicPr>
          <p:cNvPr id="12" name="Picture 11">
            <a:extLst>
              <a:ext uri="{FF2B5EF4-FFF2-40B4-BE49-F238E27FC236}">
                <a16:creationId xmlns:a16="http://schemas.microsoft.com/office/drawing/2014/main" id="{DB0B0E04-AE09-4AFC-1220-CE66C9D723B7}"/>
              </a:ext>
            </a:extLst>
          </p:cNvPr>
          <p:cNvPicPr>
            <a:picLocks noChangeAspect="1"/>
          </p:cNvPicPr>
          <p:nvPr/>
        </p:nvPicPr>
        <p:blipFill>
          <a:blip r:embed="rId4"/>
          <a:stretch>
            <a:fillRect/>
          </a:stretch>
        </p:blipFill>
        <p:spPr>
          <a:xfrm>
            <a:off x="4596765" y="4145280"/>
            <a:ext cx="5052060" cy="1539240"/>
          </a:xfrm>
          <a:prstGeom prst="rect">
            <a:avLst/>
          </a:prstGeom>
        </p:spPr>
      </p:pic>
      <p:sp>
        <p:nvSpPr>
          <p:cNvPr id="9" name="TextBox 8">
            <a:extLst>
              <a:ext uri="{FF2B5EF4-FFF2-40B4-BE49-F238E27FC236}">
                <a16:creationId xmlns:a16="http://schemas.microsoft.com/office/drawing/2014/main" id="{34504BCB-73D7-D793-02AB-F5B9F1C3FBCD}"/>
              </a:ext>
            </a:extLst>
          </p:cNvPr>
          <p:cNvSpPr txBox="1"/>
          <p:nvPr/>
        </p:nvSpPr>
        <p:spPr>
          <a:xfrm>
            <a:off x="4423096" y="1924037"/>
            <a:ext cx="6094602" cy="340734"/>
          </a:xfrm>
          <a:prstGeom prst="rect">
            <a:avLst/>
          </a:prstGeom>
          <a:noFill/>
        </p:spPr>
        <p:txBody>
          <a:bodyPr wrap="square">
            <a:spAutoFit/>
          </a:bodyPr>
          <a:lstStyle/>
          <a:p>
            <a:pPr marL="0" marR="0" algn="just">
              <a:lnSpc>
                <a:spcPct val="150000"/>
              </a:lnSpc>
              <a:spcBef>
                <a:spcPts val="0"/>
              </a:spcBef>
              <a:spcAft>
                <a:spcPts val="1000"/>
              </a:spcAft>
            </a:pPr>
            <a:r>
              <a:rPr lang="en-US" sz="1200" i="1" dirty="0">
                <a:solidFill>
                  <a:srgbClr val="44546A"/>
                </a:solidFill>
                <a:latin typeface="Calibri" panose="020F0502020204030204" pitchFamily="34" charset="0"/>
                <a:cs typeface="Cordia New" panose="020B0304020202020204" pitchFamily="34" charset="-34"/>
              </a:rPr>
              <a:t>Table 1 Assessing model performance on validation and test datasets.</a:t>
            </a:r>
          </a:p>
        </p:txBody>
      </p:sp>
      <p:sp>
        <p:nvSpPr>
          <p:cNvPr id="11" name="TextBox 10">
            <a:extLst>
              <a:ext uri="{FF2B5EF4-FFF2-40B4-BE49-F238E27FC236}">
                <a16:creationId xmlns:a16="http://schemas.microsoft.com/office/drawing/2014/main" id="{0E6C3339-CDDB-268B-0AE6-37EBCA4CA1DB}"/>
              </a:ext>
            </a:extLst>
          </p:cNvPr>
          <p:cNvSpPr txBox="1"/>
          <p:nvPr/>
        </p:nvSpPr>
        <p:spPr>
          <a:xfrm>
            <a:off x="4423096" y="3779560"/>
            <a:ext cx="6097656" cy="340734"/>
          </a:xfrm>
          <a:prstGeom prst="rect">
            <a:avLst/>
          </a:prstGeom>
          <a:noFill/>
        </p:spPr>
        <p:txBody>
          <a:bodyPr wrap="square">
            <a:spAutoFit/>
          </a:bodyPr>
          <a:lstStyle/>
          <a:p>
            <a:pPr marL="0" marR="0" algn="just">
              <a:lnSpc>
                <a:spcPct val="150000"/>
              </a:lnSpc>
              <a:spcBef>
                <a:spcPts val="0"/>
              </a:spcBef>
              <a:spcAft>
                <a:spcPts val="1000"/>
              </a:spcAft>
            </a:pPr>
            <a:r>
              <a:rPr lang="en-US" sz="1200" i="1" dirty="0">
                <a:solidFill>
                  <a:srgbClr val="44546A"/>
                </a:solidFill>
                <a:latin typeface="Calibri" panose="020F0502020204030204" pitchFamily="34" charset="0"/>
                <a:cs typeface="Cordia New" panose="020B0304020202020204" pitchFamily="34" charset="-34"/>
              </a:rPr>
              <a:t>Table 2 Time per prediction by GAN model </a:t>
            </a:r>
          </a:p>
        </p:txBody>
      </p:sp>
      <p:sp>
        <p:nvSpPr>
          <p:cNvPr id="8" name="Rectangle 7">
            <a:extLst>
              <a:ext uri="{FF2B5EF4-FFF2-40B4-BE49-F238E27FC236}">
                <a16:creationId xmlns:a16="http://schemas.microsoft.com/office/drawing/2014/main" id="{A4D2AE67-439D-3CC6-24FB-DD9E4F44C2AE}"/>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spTree>
    <p:extLst>
      <p:ext uri="{BB962C8B-B14F-4D97-AF65-F5344CB8AC3E}">
        <p14:creationId xmlns:p14="http://schemas.microsoft.com/office/powerpoint/2010/main" val="32195930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9D7C958-4128-F382-0566-8A9819A61DBC}"/>
              </a:ext>
            </a:extLst>
          </p:cNvPr>
          <p:cNvSpPr>
            <a:spLocks noGrp="1"/>
          </p:cNvSpPr>
          <p:nvPr>
            <p:ph type="title"/>
          </p:nvPr>
        </p:nvSpPr>
        <p:spPr/>
        <p:txBody>
          <a:bodyPr/>
          <a:lstStyle/>
          <a:p>
            <a:r>
              <a:rPr lang="en-US" dirty="0"/>
              <a:t>Generalization</a:t>
            </a:r>
          </a:p>
        </p:txBody>
      </p:sp>
      <p:sp>
        <p:nvSpPr>
          <p:cNvPr id="4" name="Date Placeholder 3">
            <a:extLst>
              <a:ext uri="{FF2B5EF4-FFF2-40B4-BE49-F238E27FC236}">
                <a16:creationId xmlns:a16="http://schemas.microsoft.com/office/drawing/2014/main" id="{E1EEC946-D37D-49F4-6AF8-059E9D3A30E8}"/>
              </a:ext>
            </a:extLst>
          </p:cNvPr>
          <p:cNvSpPr>
            <a:spLocks noGrp="1"/>
          </p:cNvSpPr>
          <p:nvPr>
            <p:ph type="dt" sz="half" idx="10"/>
          </p:nvPr>
        </p:nvSpPr>
        <p:spPr/>
        <p:txBody>
          <a:bodyPr/>
          <a:lstStyle/>
          <a:p>
            <a:pPr>
              <a:defRPr/>
            </a:pPr>
            <a:fld id="{C71CCD8B-EBC5-4634-90C8-8BB6447B4FED}" type="datetime1">
              <a:rPr lang="en-US" smtClean="0"/>
              <a:t>2/28/2024</a:t>
            </a:fld>
            <a:endParaRPr lang="de-DE" dirty="0"/>
          </a:p>
        </p:txBody>
      </p:sp>
      <p:sp>
        <p:nvSpPr>
          <p:cNvPr id="5" name="Footer Placeholder 4">
            <a:extLst>
              <a:ext uri="{FF2B5EF4-FFF2-40B4-BE49-F238E27FC236}">
                <a16:creationId xmlns:a16="http://schemas.microsoft.com/office/drawing/2014/main" id="{540DC5CC-F552-01B3-D09A-4BAA4D4A874C}"/>
              </a:ext>
            </a:extLst>
          </p:cNvPr>
          <p:cNvSpPr>
            <a:spLocks noGrp="1"/>
          </p:cNvSpPr>
          <p:nvPr>
            <p:ph type="ftr" sz="quarter" idx="11"/>
          </p:nvPr>
        </p:nvSpPr>
        <p:spPr/>
        <p:txBody>
          <a:bodyPr/>
          <a:lstStyle/>
          <a:p>
            <a:pPr>
              <a:defRPr/>
            </a:pPr>
            <a:r>
              <a:rPr lang="de-DE"/>
              <a:t>Pichaya Tappayuthpijarn</a:t>
            </a:r>
            <a:endParaRPr lang="de-DE" dirty="0"/>
          </a:p>
        </p:txBody>
      </p:sp>
      <p:sp>
        <p:nvSpPr>
          <p:cNvPr id="6" name="Slide Number Placeholder 5">
            <a:extLst>
              <a:ext uri="{FF2B5EF4-FFF2-40B4-BE49-F238E27FC236}">
                <a16:creationId xmlns:a16="http://schemas.microsoft.com/office/drawing/2014/main" id="{3C6A203F-B135-CF44-6567-EDCB3BF056B4}"/>
              </a:ext>
            </a:extLst>
          </p:cNvPr>
          <p:cNvSpPr>
            <a:spLocks noGrp="1"/>
          </p:cNvSpPr>
          <p:nvPr>
            <p:ph type="sldNum" sz="quarter" idx="12"/>
          </p:nvPr>
        </p:nvSpPr>
        <p:spPr/>
        <p:txBody>
          <a:bodyPr/>
          <a:lstStyle/>
          <a:p>
            <a:pPr>
              <a:defRPr/>
            </a:pPr>
            <a:r>
              <a:rPr lang="de-DE"/>
              <a:t>SEITE</a:t>
            </a:r>
            <a:r>
              <a:rPr lang="de-DE" spc="0"/>
              <a:t> </a:t>
            </a:r>
            <a:fld id="{37ED3A82-C5FC-FE4D-9EDE-EA1B3EA06354}" type="slidenum">
              <a:rPr lang="de-DE" spc="0" smtClean="0"/>
              <a:pPr>
                <a:defRPr/>
              </a:pPr>
              <a:t>22</a:t>
            </a:fld>
            <a:endParaRPr lang="de-DE" spc="0"/>
          </a:p>
        </p:txBody>
      </p:sp>
      <p:sp>
        <p:nvSpPr>
          <p:cNvPr id="10" name="Rectangle 9">
            <a:extLst>
              <a:ext uri="{FF2B5EF4-FFF2-40B4-BE49-F238E27FC236}">
                <a16:creationId xmlns:a16="http://schemas.microsoft.com/office/drawing/2014/main" id="{38009B7C-AA5C-D49C-AC74-91CACE46C7AD}"/>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grpSp>
        <p:nvGrpSpPr>
          <p:cNvPr id="9" name="Group 8">
            <a:extLst>
              <a:ext uri="{FF2B5EF4-FFF2-40B4-BE49-F238E27FC236}">
                <a16:creationId xmlns:a16="http://schemas.microsoft.com/office/drawing/2014/main" id="{CB2FCEBB-817C-2159-2961-8B682F9C1D84}"/>
              </a:ext>
            </a:extLst>
          </p:cNvPr>
          <p:cNvGrpSpPr/>
          <p:nvPr/>
        </p:nvGrpSpPr>
        <p:grpSpPr>
          <a:xfrm>
            <a:off x="5237176" y="1678249"/>
            <a:ext cx="6761343" cy="4652086"/>
            <a:chOff x="5237176" y="1678249"/>
            <a:chExt cx="6761343" cy="4652086"/>
          </a:xfrm>
        </p:grpSpPr>
        <p:pic>
          <p:nvPicPr>
            <p:cNvPr id="8" name="Picture 7" descr="A graph of different colored dots&#10;&#10;Description automatically generated">
              <a:extLst>
                <a:ext uri="{FF2B5EF4-FFF2-40B4-BE49-F238E27FC236}">
                  <a16:creationId xmlns:a16="http://schemas.microsoft.com/office/drawing/2014/main" id="{A834DC99-C1DC-BF0C-C8D2-51DBAC678A1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37176" y="1678249"/>
              <a:ext cx="6761343" cy="4105101"/>
            </a:xfrm>
            <a:prstGeom prst="rect">
              <a:avLst/>
            </a:prstGeom>
            <a:noFill/>
            <a:ln>
              <a:noFill/>
            </a:ln>
          </p:spPr>
        </p:pic>
        <p:sp>
          <p:nvSpPr>
            <p:cNvPr id="11" name="TextBox 10">
              <a:extLst>
                <a:ext uri="{FF2B5EF4-FFF2-40B4-BE49-F238E27FC236}">
                  <a16:creationId xmlns:a16="http://schemas.microsoft.com/office/drawing/2014/main" id="{2E24BA5C-DA30-987C-374A-A47178F7E4A0}"/>
                </a:ext>
              </a:extLst>
            </p:cNvPr>
            <p:cNvSpPr txBox="1"/>
            <p:nvPr/>
          </p:nvSpPr>
          <p:spPr>
            <a:xfrm>
              <a:off x="5738005" y="5868670"/>
              <a:ext cx="5253845" cy="461665"/>
            </a:xfrm>
            <a:prstGeom prst="rect">
              <a:avLst/>
            </a:prstGeom>
            <a:noFill/>
          </p:spPr>
          <p:txBody>
            <a:bodyPr wrap="square">
              <a:spAutoFit/>
            </a:bodyPr>
            <a:lstStyle/>
            <a:p>
              <a:pPr marL="0" marR="0" algn="just">
                <a:spcBef>
                  <a:spcPts val="0"/>
                </a:spcBef>
                <a:spcAft>
                  <a:spcPts val="1000"/>
                </a:spcAft>
              </a:pPr>
              <a:r>
                <a:rPr lang="en-US" sz="1200" i="1" dirty="0">
                  <a:solidFill>
                    <a:srgbClr val="44546A"/>
                  </a:solidFill>
                  <a:effectLst/>
                  <a:latin typeface="Calibri" panose="020F0502020204030204" pitchFamily="34" charset="0"/>
                  <a:ea typeface="Calibri" panose="020F0502020204030204" pitchFamily="34" charset="0"/>
                  <a:cs typeface="Cordia New" panose="020B0304020202020204" pitchFamily="34" charset="-34"/>
                </a:rPr>
                <a:t>Figure </a:t>
              </a:r>
              <a:r>
                <a:rPr lang="en-US" sz="1200" i="1" dirty="0">
                  <a:solidFill>
                    <a:srgbClr val="44546A"/>
                  </a:solidFill>
                  <a:latin typeface="Calibri" panose="020F0502020204030204" pitchFamily="34" charset="0"/>
                  <a:ea typeface="Calibri" panose="020F0502020204030204" pitchFamily="34" charset="0"/>
                  <a:cs typeface="Cordia New" panose="020B0304020202020204" pitchFamily="34" charset="-34"/>
                </a:rPr>
                <a:t>17</a:t>
              </a:r>
              <a:r>
                <a:rPr lang="en-US" sz="1200" i="1" dirty="0">
                  <a:solidFill>
                    <a:srgbClr val="44546A"/>
                  </a:solidFill>
                  <a:effectLst/>
                  <a:latin typeface="Calibri" panose="020F0502020204030204" pitchFamily="34" charset="0"/>
                  <a:ea typeface="Calibri" panose="020F0502020204030204" pitchFamily="34" charset="0"/>
                  <a:cs typeface="Cordia New" panose="020B0304020202020204" pitchFamily="34" charset="-34"/>
                </a:rPr>
                <a:t> Average MSE trends across energy levels and beam positions. Lateral positions are color-coded and vertical positions are symbol-coded.</a:t>
              </a:r>
            </a:p>
          </p:txBody>
        </p:sp>
      </p:grpSp>
      <p:grpSp>
        <p:nvGrpSpPr>
          <p:cNvPr id="2" name="Group 1">
            <a:extLst>
              <a:ext uri="{FF2B5EF4-FFF2-40B4-BE49-F238E27FC236}">
                <a16:creationId xmlns:a16="http://schemas.microsoft.com/office/drawing/2014/main" id="{741C2BD5-EEDA-A4D1-37E8-209E0453A5C7}"/>
              </a:ext>
            </a:extLst>
          </p:cNvPr>
          <p:cNvGrpSpPr/>
          <p:nvPr/>
        </p:nvGrpSpPr>
        <p:grpSpPr>
          <a:xfrm>
            <a:off x="864571" y="2793913"/>
            <a:ext cx="4221550" cy="3430969"/>
            <a:chOff x="864571" y="2793913"/>
            <a:chExt cx="4221550" cy="3430969"/>
          </a:xfrm>
        </p:grpSpPr>
        <p:pic>
          <p:nvPicPr>
            <p:cNvPr id="7" name="Picture 6" descr="A close-up of a brain x-ray&#10;&#10;Description automatically generated">
              <a:extLst>
                <a:ext uri="{FF2B5EF4-FFF2-40B4-BE49-F238E27FC236}">
                  <a16:creationId xmlns:a16="http://schemas.microsoft.com/office/drawing/2014/main" id="{B295438E-30B3-07E2-5B13-EEB57623952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64571" y="2793913"/>
              <a:ext cx="4221550" cy="2891270"/>
            </a:xfrm>
            <a:prstGeom prst="rect">
              <a:avLst/>
            </a:prstGeom>
            <a:noFill/>
            <a:ln>
              <a:noFill/>
            </a:ln>
          </p:spPr>
        </p:pic>
        <p:sp>
          <p:nvSpPr>
            <p:cNvPr id="13" name="TextBox 12">
              <a:extLst>
                <a:ext uri="{FF2B5EF4-FFF2-40B4-BE49-F238E27FC236}">
                  <a16:creationId xmlns:a16="http://schemas.microsoft.com/office/drawing/2014/main" id="{0FC5A246-2387-BB86-7375-A6C2CCF112D2}"/>
                </a:ext>
              </a:extLst>
            </p:cNvPr>
            <p:cNvSpPr txBox="1"/>
            <p:nvPr/>
          </p:nvSpPr>
          <p:spPr>
            <a:xfrm>
              <a:off x="962443" y="5763217"/>
              <a:ext cx="3522092" cy="461665"/>
            </a:xfrm>
            <a:prstGeom prst="rect">
              <a:avLst/>
            </a:prstGeom>
            <a:noFill/>
          </p:spPr>
          <p:txBody>
            <a:bodyPr wrap="square">
              <a:spAutoFit/>
            </a:bodyPr>
            <a:lstStyle/>
            <a:p>
              <a:pPr marL="0" marR="0" algn="ctr">
                <a:spcBef>
                  <a:spcPts val="0"/>
                </a:spcBef>
                <a:spcAft>
                  <a:spcPts val="1000"/>
                </a:spcAft>
              </a:pPr>
              <a:r>
                <a:rPr lang="en-US" sz="1200" i="1" dirty="0">
                  <a:solidFill>
                    <a:srgbClr val="44546A"/>
                  </a:solidFill>
                  <a:latin typeface="Calibri" panose="020F0502020204030204" pitchFamily="34" charset="0"/>
                  <a:cs typeface="Cordia New" panose="020B0304020202020204" pitchFamily="34" charset="-34"/>
                </a:rPr>
                <a:t>Figure 16 Average MSE at different source positions when tested with the test dataset.</a:t>
              </a:r>
            </a:p>
          </p:txBody>
        </p:sp>
      </p:grpSp>
    </p:spTree>
    <p:extLst>
      <p:ext uri="{BB962C8B-B14F-4D97-AF65-F5344CB8AC3E}">
        <p14:creationId xmlns:p14="http://schemas.microsoft.com/office/powerpoint/2010/main" val="4025631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15E175-DA9D-D0F1-8BC1-AF4612F55736}"/>
              </a:ext>
            </a:extLst>
          </p:cNvPr>
          <p:cNvSpPr>
            <a:spLocks noGrp="1"/>
          </p:cNvSpPr>
          <p:nvPr>
            <p:ph idx="1"/>
          </p:nvPr>
        </p:nvSpPr>
        <p:spPr/>
        <p:txBody>
          <a:bodyPr>
            <a:normAutofit/>
          </a:bodyPr>
          <a:lstStyle/>
          <a:p>
            <a:r>
              <a:rPr lang="en-US" sz="2000" kern="0" dirty="0">
                <a:solidFill>
                  <a:srgbClr val="0D0D0D"/>
                </a:solidFill>
                <a:effectLst/>
                <a:latin typeface="+mn-lt"/>
                <a:ea typeface="Times New Roman" panose="02020603050405020304" pitchFamily="18" charset="0"/>
                <a:cs typeface="Cordia New" panose="020B0304020202020204" pitchFamily="34" charset="-34"/>
              </a:rPr>
              <a:t>Potential for future </a:t>
            </a:r>
            <a:r>
              <a:rPr lang="en-US" sz="2000" kern="0" dirty="0">
                <a:solidFill>
                  <a:srgbClr val="0D0D0D"/>
                </a:solidFill>
                <a:latin typeface="+mn-lt"/>
                <a:ea typeface="Times New Roman" panose="02020603050405020304" pitchFamily="18" charset="0"/>
                <a:cs typeface="Cordia New" panose="020B0304020202020204" pitchFamily="34" charset="-34"/>
              </a:rPr>
              <a:t>i</a:t>
            </a:r>
            <a:r>
              <a:rPr lang="en-US" sz="2000" kern="0" dirty="0">
                <a:solidFill>
                  <a:srgbClr val="0D0D0D"/>
                </a:solidFill>
                <a:effectLst/>
                <a:latin typeface="+mn-lt"/>
                <a:ea typeface="Times New Roman" panose="02020603050405020304" pitchFamily="18" charset="0"/>
                <a:cs typeface="Cordia New" panose="020B0304020202020204" pitchFamily="34" charset="-34"/>
              </a:rPr>
              <a:t>mprovements</a:t>
            </a:r>
            <a:endParaRPr lang="en-US" sz="2000" kern="100" dirty="0">
              <a:effectLst/>
              <a:latin typeface="+mn-lt"/>
              <a:ea typeface="Aptos" panose="020B0004020202020204" pitchFamily="34" charset="0"/>
              <a:cs typeface="Cordia New" panose="020B0304020202020204" pitchFamily="34" charset="-34"/>
            </a:endParaRPr>
          </a:p>
          <a:p>
            <a:r>
              <a:rPr lang="en-US" sz="2000" dirty="0">
                <a:effectLst/>
                <a:latin typeface="Calibri" panose="020F0502020204030204" pitchFamily="34" charset="0"/>
                <a:ea typeface="Calibri" panose="020F0502020204030204" pitchFamily="34" charset="0"/>
                <a:cs typeface="Cordia New" panose="020B0304020202020204" pitchFamily="34" charset="-34"/>
              </a:rPr>
              <a:t>Considering additional performance metrics ex. Fréchet Inception Distance (FID) </a:t>
            </a:r>
            <a:r>
              <a:rPr lang="en-US" sz="2000" dirty="0">
                <a:effectLst/>
                <a:latin typeface="Calibri" panose="020F0502020204030204" pitchFamily="34" charset="0"/>
                <a:ea typeface="Calibri" panose="020F0502020204030204" pitchFamily="34" charset="0"/>
                <a:cs typeface="Cordia New" panose="020B0304020202020204" pitchFamily="34" charset="-34"/>
                <a:sym typeface="Wingdings" panose="05000000000000000000" pitchFamily="2" charset="2"/>
              </a:rPr>
              <a:t> </a:t>
            </a:r>
            <a:r>
              <a:rPr lang="en-US" sz="2000" dirty="0">
                <a:effectLst/>
                <a:latin typeface="Calibri" panose="020F0502020204030204" pitchFamily="34" charset="0"/>
                <a:ea typeface="Calibri" panose="020F0502020204030204" pitchFamily="34" charset="0"/>
                <a:cs typeface="Cordia New" panose="020B0304020202020204" pitchFamily="34" charset="-34"/>
              </a:rPr>
              <a:t>model's performance on the unseen geometry.</a:t>
            </a:r>
          </a:p>
          <a:p>
            <a:r>
              <a:rPr lang="en-US" sz="2000" dirty="0">
                <a:effectLst/>
                <a:latin typeface="Calibri" panose="020F0502020204030204" pitchFamily="34" charset="0"/>
                <a:ea typeface="Calibri" panose="020F0502020204030204" pitchFamily="34" charset="0"/>
                <a:cs typeface="Cordia New" panose="020B0304020202020204" pitchFamily="34" charset="-34"/>
              </a:rPr>
              <a:t>Dependencies of MSE on beam energies and source positions </a:t>
            </a:r>
            <a:r>
              <a:rPr lang="en-US" sz="2000" dirty="0">
                <a:effectLst/>
                <a:latin typeface="Calibri" panose="020F0502020204030204" pitchFamily="34" charset="0"/>
                <a:ea typeface="Calibri" panose="020F0502020204030204" pitchFamily="34" charset="0"/>
                <a:cs typeface="Cordia New" panose="020B0304020202020204" pitchFamily="34" charset="-34"/>
                <a:sym typeface="Wingdings" panose="05000000000000000000" pitchFamily="2" charset="2"/>
              </a:rPr>
              <a:t> </a:t>
            </a:r>
            <a:r>
              <a:rPr lang="en-US" sz="2000" dirty="0">
                <a:effectLst/>
                <a:latin typeface="Calibri" panose="020F0502020204030204" pitchFamily="34" charset="0"/>
                <a:ea typeface="Calibri" panose="020F0502020204030204" pitchFamily="34" charset="0"/>
                <a:cs typeface="Cordia New" panose="020B0304020202020204" pitchFamily="34" charset="-34"/>
              </a:rPr>
              <a:t>fine-tuning of the model and improve its accuracy</a:t>
            </a:r>
          </a:p>
          <a:p>
            <a:r>
              <a:rPr lang="en-US" sz="2000" dirty="0">
                <a:effectLst/>
                <a:latin typeface="Calibri" panose="020F0502020204030204" pitchFamily="34" charset="0"/>
                <a:ea typeface="Calibri" panose="020F0502020204030204" pitchFamily="34" charset="0"/>
                <a:cs typeface="Cordia New" panose="020B0304020202020204" pitchFamily="34" charset="-34"/>
              </a:rPr>
              <a:t>More datasets </a:t>
            </a:r>
            <a:r>
              <a:rPr lang="en-US" sz="2000" dirty="0">
                <a:effectLst/>
                <a:latin typeface="Calibri" panose="020F0502020204030204" pitchFamily="34" charset="0"/>
                <a:ea typeface="Calibri" panose="020F0502020204030204" pitchFamily="34" charset="0"/>
                <a:cs typeface="Cordia New" panose="020B0304020202020204" pitchFamily="34" charset="-34"/>
                <a:sym typeface="Wingdings" panose="05000000000000000000" pitchFamily="2" charset="2"/>
              </a:rPr>
              <a:t> </a:t>
            </a:r>
            <a:r>
              <a:rPr lang="en-US" sz="2000" dirty="0">
                <a:effectLst/>
                <a:latin typeface="Calibri" panose="020F0502020204030204" pitchFamily="34" charset="0"/>
                <a:ea typeface="Calibri" panose="020F0502020204030204" pitchFamily="34" charset="0"/>
                <a:cs typeface="Cordia New" panose="020B0304020202020204" pitchFamily="34" charset="-34"/>
              </a:rPr>
              <a:t>employing techniques such as leave-one-patient-out cross-validation </a:t>
            </a:r>
            <a:endParaRPr lang="en-US" sz="2000" dirty="0"/>
          </a:p>
        </p:txBody>
      </p:sp>
      <p:sp>
        <p:nvSpPr>
          <p:cNvPr id="3" name="Title 2">
            <a:extLst>
              <a:ext uri="{FF2B5EF4-FFF2-40B4-BE49-F238E27FC236}">
                <a16:creationId xmlns:a16="http://schemas.microsoft.com/office/drawing/2014/main" id="{DE6228A2-0385-F415-0FBE-480DEA5D9F49}"/>
              </a:ext>
            </a:extLst>
          </p:cNvPr>
          <p:cNvSpPr>
            <a:spLocks noGrp="1"/>
          </p:cNvSpPr>
          <p:nvPr>
            <p:ph type="title"/>
          </p:nvPr>
        </p:nvSpPr>
        <p:spPr/>
        <p:txBody>
          <a:bodyPr/>
          <a:lstStyle/>
          <a:p>
            <a:r>
              <a:rPr lang="en-US" dirty="0"/>
              <a:t>Outlook</a:t>
            </a:r>
          </a:p>
        </p:txBody>
      </p:sp>
      <p:sp>
        <p:nvSpPr>
          <p:cNvPr id="4" name="Date Placeholder 3">
            <a:extLst>
              <a:ext uri="{FF2B5EF4-FFF2-40B4-BE49-F238E27FC236}">
                <a16:creationId xmlns:a16="http://schemas.microsoft.com/office/drawing/2014/main" id="{313B716F-548A-B84D-C68A-1386D40DE614}"/>
              </a:ext>
            </a:extLst>
          </p:cNvPr>
          <p:cNvSpPr>
            <a:spLocks noGrp="1"/>
          </p:cNvSpPr>
          <p:nvPr>
            <p:ph type="dt" sz="half" idx="10"/>
          </p:nvPr>
        </p:nvSpPr>
        <p:spPr/>
        <p:txBody>
          <a:bodyPr/>
          <a:lstStyle/>
          <a:p>
            <a:pPr>
              <a:defRPr/>
            </a:pPr>
            <a:fld id="{75634742-5919-4B49-8811-856C549B7ACA}" type="datetime1">
              <a:rPr lang="en-US" smtClean="0"/>
              <a:t>2/28/2024</a:t>
            </a:fld>
            <a:endParaRPr lang="de-DE" dirty="0"/>
          </a:p>
        </p:txBody>
      </p:sp>
      <p:sp>
        <p:nvSpPr>
          <p:cNvPr id="5" name="Footer Placeholder 4">
            <a:extLst>
              <a:ext uri="{FF2B5EF4-FFF2-40B4-BE49-F238E27FC236}">
                <a16:creationId xmlns:a16="http://schemas.microsoft.com/office/drawing/2014/main" id="{2E6BA998-39E8-5AF9-F57B-601DCE1F031E}"/>
              </a:ext>
            </a:extLst>
          </p:cNvPr>
          <p:cNvSpPr>
            <a:spLocks noGrp="1"/>
          </p:cNvSpPr>
          <p:nvPr>
            <p:ph type="ftr" sz="quarter" idx="11"/>
          </p:nvPr>
        </p:nvSpPr>
        <p:spPr/>
        <p:txBody>
          <a:bodyPr/>
          <a:lstStyle/>
          <a:p>
            <a:pPr>
              <a:defRPr/>
            </a:pPr>
            <a:r>
              <a:rPr lang="de-DE"/>
              <a:t>Pichaya Tappayuthpijarn</a:t>
            </a:r>
            <a:endParaRPr lang="de-DE" dirty="0"/>
          </a:p>
        </p:txBody>
      </p:sp>
      <p:sp>
        <p:nvSpPr>
          <p:cNvPr id="6" name="Slide Number Placeholder 5">
            <a:extLst>
              <a:ext uri="{FF2B5EF4-FFF2-40B4-BE49-F238E27FC236}">
                <a16:creationId xmlns:a16="http://schemas.microsoft.com/office/drawing/2014/main" id="{7CC49842-1C4B-F5B9-B8B8-F9306438CFEA}"/>
              </a:ext>
            </a:extLst>
          </p:cNvPr>
          <p:cNvSpPr>
            <a:spLocks noGrp="1"/>
          </p:cNvSpPr>
          <p:nvPr>
            <p:ph type="sldNum" sz="quarter" idx="12"/>
          </p:nvPr>
        </p:nvSpPr>
        <p:spPr/>
        <p:txBody>
          <a:bodyPr/>
          <a:lstStyle/>
          <a:p>
            <a:pPr>
              <a:defRPr/>
            </a:pPr>
            <a:r>
              <a:rPr lang="de-DE"/>
              <a:t>SEITE</a:t>
            </a:r>
            <a:r>
              <a:rPr lang="de-DE" spc="0"/>
              <a:t> </a:t>
            </a:r>
            <a:fld id="{37ED3A82-C5FC-FE4D-9EDE-EA1B3EA06354}" type="slidenum">
              <a:rPr lang="de-DE" spc="0" smtClean="0"/>
              <a:pPr>
                <a:defRPr/>
              </a:pPr>
              <a:t>23</a:t>
            </a:fld>
            <a:endParaRPr lang="de-DE" spc="0"/>
          </a:p>
        </p:txBody>
      </p:sp>
      <p:sp>
        <p:nvSpPr>
          <p:cNvPr id="7" name="Rectangle 6">
            <a:extLst>
              <a:ext uri="{FF2B5EF4-FFF2-40B4-BE49-F238E27FC236}">
                <a16:creationId xmlns:a16="http://schemas.microsoft.com/office/drawing/2014/main" id="{2915708E-F449-1A68-62C5-D8335A377E36}"/>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spTree>
    <p:extLst>
      <p:ext uri="{BB962C8B-B14F-4D97-AF65-F5344CB8AC3E}">
        <p14:creationId xmlns:p14="http://schemas.microsoft.com/office/powerpoint/2010/main" val="556588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8EF2C-47FB-7CA9-9886-B91EBCDAB3B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2574C7D-474F-C6CB-F507-7554D87655CB}"/>
              </a:ext>
            </a:extLst>
          </p:cNvPr>
          <p:cNvSpPr>
            <a:spLocks noGrp="1"/>
          </p:cNvSpPr>
          <p:nvPr>
            <p:ph type="title"/>
          </p:nvPr>
        </p:nvSpPr>
        <p:spPr>
          <a:xfrm>
            <a:off x="4898125" y="3278346"/>
            <a:ext cx="2395749" cy="1200000"/>
          </a:xfrm>
        </p:spPr>
        <p:txBody>
          <a:bodyPr>
            <a:normAutofit/>
          </a:bodyPr>
          <a:lstStyle/>
          <a:p>
            <a:r>
              <a:rPr lang="de-DE" i="1" dirty="0"/>
              <a:t>Conclusion</a:t>
            </a:r>
          </a:p>
        </p:txBody>
      </p:sp>
      <p:sp>
        <p:nvSpPr>
          <p:cNvPr id="6" name="Rectangle 5">
            <a:extLst>
              <a:ext uri="{FF2B5EF4-FFF2-40B4-BE49-F238E27FC236}">
                <a16:creationId xmlns:a16="http://schemas.microsoft.com/office/drawing/2014/main" id="{5F56E817-25EF-1FD2-A12E-48AA30A6D79C}"/>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sz="2400"/>
          </a:p>
        </p:txBody>
      </p:sp>
    </p:spTree>
    <p:extLst>
      <p:ext uri="{BB962C8B-B14F-4D97-AF65-F5344CB8AC3E}">
        <p14:creationId xmlns:p14="http://schemas.microsoft.com/office/powerpoint/2010/main" val="30711181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1845F4-6ECF-FAFD-7F40-A842F004C9C8}"/>
              </a:ext>
            </a:extLst>
          </p:cNvPr>
          <p:cNvSpPr>
            <a:spLocks noGrp="1"/>
          </p:cNvSpPr>
          <p:nvPr>
            <p:ph idx="1"/>
          </p:nvPr>
        </p:nvSpPr>
        <p:spPr>
          <a:xfrm>
            <a:off x="503767" y="1906932"/>
            <a:ext cx="11279716" cy="4078817"/>
          </a:xfrm>
        </p:spPr>
        <p:txBody>
          <a:bodyPr>
            <a:normAutofit/>
          </a:bodyPr>
          <a:lstStyle/>
          <a:p>
            <a:r>
              <a:rPr lang="en-GB" sz="2000" dirty="0">
                <a:latin typeface="Calibri" panose="020F0502020204030204" pitchFamily="34" charset="0"/>
                <a:ea typeface="Calibri" panose="020F0502020204030204" pitchFamily="34" charset="0"/>
                <a:cs typeface="Cordia New" panose="020B0304020202020204" pitchFamily="34" charset="-34"/>
              </a:rPr>
              <a:t>P</a:t>
            </a:r>
            <a:r>
              <a:rPr lang="en-GB" sz="2000" dirty="0">
                <a:effectLst/>
                <a:latin typeface="Calibri" panose="020F0502020204030204" pitchFamily="34" charset="0"/>
                <a:ea typeface="Calibri" panose="020F0502020204030204" pitchFamily="34" charset="0"/>
                <a:cs typeface="Cordia New" panose="020B0304020202020204" pitchFamily="34" charset="-34"/>
              </a:rPr>
              <a:t>roof-of-concept exploration into accelerating dose distribution calculations in carbon ion radiation therapy through a WGAN. </a:t>
            </a:r>
          </a:p>
          <a:p>
            <a:r>
              <a:rPr lang="en-US" sz="2000" dirty="0">
                <a:latin typeface="Calibri" panose="020F0502020204030204" pitchFamily="34" charset="0"/>
                <a:ea typeface="Calibri" panose="020F0502020204030204" pitchFamily="34" charset="0"/>
                <a:cs typeface="Cordia New" panose="020B0304020202020204" pitchFamily="34" charset="-34"/>
              </a:rPr>
              <a:t>U</a:t>
            </a:r>
            <a:r>
              <a:rPr lang="en-US" sz="2000" dirty="0">
                <a:effectLst/>
                <a:latin typeface="Calibri" panose="020F0502020204030204" pitchFamily="34" charset="0"/>
                <a:ea typeface="Calibri" panose="020F0502020204030204" pitchFamily="34" charset="0"/>
                <a:cs typeface="Cordia New" panose="020B0304020202020204" pitchFamily="34" charset="-34"/>
              </a:rPr>
              <a:t>tilized simulated dose maps from Geant4 simulations of carbon ion beams in the human brain and in water.</a:t>
            </a:r>
            <a:r>
              <a:rPr lang="en-GB" sz="2000" dirty="0">
                <a:effectLst/>
                <a:latin typeface="Calibri" panose="020F0502020204030204" pitchFamily="34" charset="0"/>
                <a:ea typeface="Calibri" panose="020F0502020204030204" pitchFamily="34" charset="0"/>
                <a:cs typeface="Cordia New" panose="020B0304020202020204" pitchFamily="34" charset="-34"/>
              </a:rPr>
              <a:t> </a:t>
            </a:r>
          </a:p>
          <a:p>
            <a:r>
              <a:rPr lang="en-US" sz="2000" dirty="0">
                <a:effectLst/>
                <a:latin typeface="Calibri" panose="020F0502020204030204" pitchFamily="34" charset="0"/>
                <a:ea typeface="Calibri" panose="020F0502020204030204" pitchFamily="34" charset="0"/>
                <a:cs typeface="Cordia New" panose="020B0304020202020204" pitchFamily="34" charset="-34"/>
              </a:rPr>
              <a:t>"train-validation-test split" for hyperparameter tuning and model evaluation.</a:t>
            </a:r>
          </a:p>
          <a:p>
            <a:r>
              <a:rPr lang="en-US" sz="2000" dirty="0">
                <a:effectLst/>
                <a:latin typeface="Calibri" panose="020F0502020204030204" pitchFamily="34" charset="0"/>
                <a:ea typeface="Calibri" panose="020F0502020204030204" pitchFamily="34" charset="0"/>
                <a:cs typeface="Cordia New" panose="020B0304020202020204" pitchFamily="34" charset="-34"/>
              </a:rPr>
              <a:t>Millisecond per dose calculation. 				</a:t>
            </a:r>
            <a:endParaRPr lang="en-GB" sz="2000" dirty="0">
              <a:solidFill>
                <a:srgbClr val="00B050"/>
              </a:solidFill>
              <a:effectLst/>
              <a:latin typeface="Calibri" panose="020F0502020204030204" pitchFamily="34" charset="0"/>
              <a:ea typeface="Calibri" panose="020F0502020204030204" pitchFamily="34" charset="0"/>
              <a:cs typeface="Cordia New" panose="020B0304020202020204" pitchFamily="34" charset="-34"/>
            </a:endParaRPr>
          </a:p>
          <a:p>
            <a:r>
              <a:rPr lang="en-US" sz="2000" dirty="0">
                <a:effectLst/>
                <a:latin typeface="Calibri" panose="020F0502020204030204" pitchFamily="34" charset="0"/>
                <a:ea typeface="Calibri" panose="020F0502020204030204" pitchFamily="34" charset="0"/>
                <a:cs typeface="Cordia New" panose="020B0304020202020204" pitchFamily="34" charset="-34"/>
              </a:rPr>
              <a:t>It successfully predicted dose distributions with high accuracy: &gt; 99% passing rate in all cases. </a:t>
            </a:r>
          </a:p>
          <a:p>
            <a:endParaRPr lang="en-US" sz="2000" b="1" dirty="0"/>
          </a:p>
        </p:txBody>
      </p:sp>
      <p:sp>
        <p:nvSpPr>
          <p:cNvPr id="3" name="Title 2">
            <a:extLst>
              <a:ext uri="{FF2B5EF4-FFF2-40B4-BE49-F238E27FC236}">
                <a16:creationId xmlns:a16="http://schemas.microsoft.com/office/drawing/2014/main" id="{C2EDA09F-1095-6961-D2AE-C300E2331066}"/>
              </a:ext>
            </a:extLst>
          </p:cNvPr>
          <p:cNvSpPr>
            <a:spLocks noGrp="1"/>
          </p:cNvSpPr>
          <p:nvPr>
            <p:ph type="title"/>
          </p:nvPr>
        </p:nvSpPr>
        <p:spPr/>
        <p:txBody>
          <a:bodyPr/>
          <a:lstStyle/>
          <a:p>
            <a:r>
              <a:rPr lang="en-US" dirty="0"/>
              <a:t>Conclusion</a:t>
            </a:r>
          </a:p>
        </p:txBody>
      </p:sp>
      <p:sp>
        <p:nvSpPr>
          <p:cNvPr id="4" name="Date Placeholder 3">
            <a:extLst>
              <a:ext uri="{FF2B5EF4-FFF2-40B4-BE49-F238E27FC236}">
                <a16:creationId xmlns:a16="http://schemas.microsoft.com/office/drawing/2014/main" id="{6A008213-DDEB-C8A3-959B-97C39FA5C34A}"/>
              </a:ext>
            </a:extLst>
          </p:cNvPr>
          <p:cNvSpPr>
            <a:spLocks noGrp="1"/>
          </p:cNvSpPr>
          <p:nvPr>
            <p:ph type="dt" sz="half" idx="10"/>
          </p:nvPr>
        </p:nvSpPr>
        <p:spPr/>
        <p:txBody>
          <a:bodyPr/>
          <a:lstStyle/>
          <a:p>
            <a:pPr>
              <a:defRPr/>
            </a:pPr>
            <a:fld id="{1406F6EF-89A8-42E2-9C40-C8FB14DE83BC}" type="datetime1">
              <a:rPr lang="en-US" smtClean="0"/>
              <a:t>2/28/2024</a:t>
            </a:fld>
            <a:endParaRPr lang="de-DE" dirty="0"/>
          </a:p>
        </p:txBody>
      </p:sp>
      <p:sp>
        <p:nvSpPr>
          <p:cNvPr id="5" name="Footer Placeholder 4">
            <a:extLst>
              <a:ext uri="{FF2B5EF4-FFF2-40B4-BE49-F238E27FC236}">
                <a16:creationId xmlns:a16="http://schemas.microsoft.com/office/drawing/2014/main" id="{C7F7E152-A30C-FC2C-8605-EBDB14A1D808}"/>
              </a:ext>
            </a:extLst>
          </p:cNvPr>
          <p:cNvSpPr>
            <a:spLocks noGrp="1"/>
          </p:cNvSpPr>
          <p:nvPr>
            <p:ph type="ftr" sz="quarter" idx="11"/>
          </p:nvPr>
        </p:nvSpPr>
        <p:spPr/>
        <p:txBody>
          <a:bodyPr/>
          <a:lstStyle/>
          <a:p>
            <a:pPr>
              <a:defRPr/>
            </a:pPr>
            <a:r>
              <a:rPr lang="de-DE"/>
              <a:t>Pichaya Tappayuthpijarn</a:t>
            </a:r>
            <a:endParaRPr lang="de-DE" dirty="0"/>
          </a:p>
        </p:txBody>
      </p:sp>
      <p:sp>
        <p:nvSpPr>
          <p:cNvPr id="6" name="Slide Number Placeholder 5">
            <a:extLst>
              <a:ext uri="{FF2B5EF4-FFF2-40B4-BE49-F238E27FC236}">
                <a16:creationId xmlns:a16="http://schemas.microsoft.com/office/drawing/2014/main" id="{CBAF7B8F-9CCE-881F-6C29-11988DFBAE65}"/>
              </a:ext>
            </a:extLst>
          </p:cNvPr>
          <p:cNvSpPr>
            <a:spLocks noGrp="1"/>
          </p:cNvSpPr>
          <p:nvPr>
            <p:ph type="sldNum" sz="quarter" idx="12"/>
          </p:nvPr>
        </p:nvSpPr>
        <p:spPr/>
        <p:txBody>
          <a:bodyPr/>
          <a:lstStyle/>
          <a:p>
            <a:pPr>
              <a:defRPr/>
            </a:pPr>
            <a:r>
              <a:rPr lang="de-DE"/>
              <a:t>SEITE</a:t>
            </a:r>
            <a:r>
              <a:rPr lang="de-DE" spc="0"/>
              <a:t> </a:t>
            </a:r>
            <a:fld id="{37ED3A82-C5FC-FE4D-9EDE-EA1B3EA06354}" type="slidenum">
              <a:rPr lang="de-DE" spc="0" smtClean="0"/>
              <a:pPr>
                <a:defRPr/>
              </a:pPr>
              <a:t>25</a:t>
            </a:fld>
            <a:endParaRPr lang="de-DE" spc="0"/>
          </a:p>
        </p:txBody>
      </p:sp>
      <p:pic>
        <p:nvPicPr>
          <p:cNvPr id="11" name="Graphic 10" descr="Checkbox Checked with solid fill">
            <a:extLst>
              <a:ext uri="{FF2B5EF4-FFF2-40B4-BE49-F238E27FC236}">
                <a16:creationId xmlns:a16="http://schemas.microsoft.com/office/drawing/2014/main" id="{E95B5AE5-12F3-AD57-3800-FE14A3980C5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43625" y="5258667"/>
            <a:ext cx="457200" cy="457200"/>
          </a:xfrm>
          <a:prstGeom prst="rect">
            <a:avLst/>
          </a:prstGeom>
        </p:spPr>
      </p:pic>
      <p:sp>
        <p:nvSpPr>
          <p:cNvPr id="13" name="TextBox 12">
            <a:extLst>
              <a:ext uri="{FF2B5EF4-FFF2-40B4-BE49-F238E27FC236}">
                <a16:creationId xmlns:a16="http://schemas.microsoft.com/office/drawing/2014/main" id="{57861CC1-711A-8E9F-297E-82FCF4FBC084}"/>
              </a:ext>
            </a:extLst>
          </p:cNvPr>
          <p:cNvSpPr txBox="1"/>
          <p:nvPr/>
        </p:nvSpPr>
        <p:spPr>
          <a:xfrm>
            <a:off x="6258151" y="5287212"/>
            <a:ext cx="6094140" cy="400110"/>
          </a:xfrm>
          <a:prstGeom prst="rect">
            <a:avLst/>
          </a:prstGeom>
          <a:noFill/>
        </p:spPr>
        <p:txBody>
          <a:bodyPr wrap="square">
            <a:spAutoFit/>
          </a:bodyPr>
          <a:lstStyle/>
          <a:p>
            <a:pPr marL="277193" indent="0">
              <a:buNone/>
            </a:pPr>
            <a:r>
              <a:rPr lang="en-US" sz="2000" dirty="0">
                <a:solidFill>
                  <a:srgbClr val="00B050"/>
                </a:solidFill>
                <a:latin typeface="Calibri" panose="020F0502020204030204" pitchFamily="34" charset="0"/>
                <a:ea typeface="Calibri" panose="020F0502020204030204" pitchFamily="34" charset="0"/>
                <a:cs typeface="Cordia New" panose="020B0304020202020204" pitchFamily="34" charset="-34"/>
              </a:rPr>
              <a:t>A</a:t>
            </a:r>
            <a:r>
              <a:rPr lang="en-US" sz="1800" kern="0" dirty="0">
                <a:solidFill>
                  <a:srgbClr val="00B050"/>
                </a:solidFill>
                <a:latin typeface="Segoe UI" panose="020B0502040204020203" pitchFamily="34" charset="0"/>
              </a:rPr>
              <a:t>ccurate </a:t>
            </a:r>
            <a:r>
              <a:rPr lang="en-US" sz="1800" kern="0" dirty="0">
                <a:solidFill>
                  <a:srgbClr val="00B050"/>
                </a:solidFill>
                <a:effectLst/>
                <a:latin typeface="Segoe UI" panose="020B0502040204020203" pitchFamily="34" charset="0"/>
                <a:ea typeface="Times New Roman" panose="02020603050405020304" pitchFamily="18" charset="0"/>
              </a:rPr>
              <a:t>dose calculation </a:t>
            </a:r>
          </a:p>
        </p:txBody>
      </p:sp>
      <p:sp>
        <p:nvSpPr>
          <p:cNvPr id="15" name="TextBox 14">
            <a:extLst>
              <a:ext uri="{FF2B5EF4-FFF2-40B4-BE49-F238E27FC236}">
                <a16:creationId xmlns:a16="http://schemas.microsoft.com/office/drawing/2014/main" id="{BF0ACC87-B2D4-066D-D060-AC363B3F9624}"/>
              </a:ext>
            </a:extLst>
          </p:cNvPr>
          <p:cNvSpPr txBox="1"/>
          <p:nvPr/>
        </p:nvSpPr>
        <p:spPr>
          <a:xfrm>
            <a:off x="2228857" y="5287212"/>
            <a:ext cx="3309582" cy="400110"/>
          </a:xfrm>
          <a:prstGeom prst="rect">
            <a:avLst/>
          </a:prstGeom>
          <a:noFill/>
        </p:spPr>
        <p:txBody>
          <a:bodyPr wrap="square">
            <a:spAutoFit/>
          </a:bodyPr>
          <a:lstStyle/>
          <a:p>
            <a:r>
              <a:rPr lang="en-US" sz="2000" dirty="0">
                <a:solidFill>
                  <a:srgbClr val="00B050"/>
                </a:solidFill>
                <a:effectLst/>
                <a:latin typeface="Calibri" panose="020F0502020204030204" pitchFamily="34" charset="0"/>
                <a:ea typeface="Calibri" panose="020F0502020204030204" pitchFamily="34" charset="0"/>
                <a:cs typeface="Cordia New" panose="020B0304020202020204" pitchFamily="34" charset="-34"/>
              </a:rPr>
              <a:t>A</a:t>
            </a:r>
            <a:r>
              <a:rPr lang="en-US" sz="1800" kern="0" dirty="0">
                <a:solidFill>
                  <a:srgbClr val="00B050"/>
                </a:solidFill>
                <a:effectLst/>
                <a:latin typeface="Segoe UI" panose="020B0502040204020203" pitchFamily="34" charset="0"/>
                <a:ea typeface="Times New Roman" panose="02020603050405020304" pitchFamily="18" charset="0"/>
              </a:rPr>
              <a:t>ccelerated dose calculation</a:t>
            </a:r>
            <a:endParaRPr lang="en-US" dirty="0"/>
          </a:p>
        </p:txBody>
      </p:sp>
      <p:sp>
        <p:nvSpPr>
          <p:cNvPr id="7" name="Rectangle 6">
            <a:extLst>
              <a:ext uri="{FF2B5EF4-FFF2-40B4-BE49-F238E27FC236}">
                <a16:creationId xmlns:a16="http://schemas.microsoft.com/office/drawing/2014/main" id="{9BA80B05-EC08-6E44-88B7-13A6199FE077}"/>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pic>
        <p:nvPicPr>
          <p:cNvPr id="9" name="Graphic 8" descr="Checkbox Checked with solid fill">
            <a:extLst>
              <a:ext uri="{FF2B5EF4-FFF2-40B4-BE49-F238E27FC236}">
                <a16:creationId xmlns:a16="http://schemas.microsoft.com/office/drawing/2014/main" id="{C2078731-52EA-6A2C-E2F7-FC96383AEFE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71657" y="5256475"/>
            <a:ext cx="457200" cy="457200"/>
          </a:xfrm>
          <a:prstGeom prst="rect">
            <a:avLst/>
          </a:prstGeom>
        </p:spPr>
      </p:pic>
    </p:spTree>
    <p:extLst>
      <p:ext uri="{BB962C8B-B14F-4D97-AF65-F5344CB8AC3E}">
        <p14:creationId xmlns:p14="http://schemas.microsoft.com/office/powerpoint/2010/main" val="215354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5A0142-78E4-0EA8-6131-8C7E336C6F6A}"/>
              </a:ext>
            </a:extLst>
          </p:cNvPr>
          <p:cNvSpPr>
            <a:spLocks noGrp="1"/>
          </p:cNvSpPr>
          <p:nvPr>
            <p:ph idx="1"/>
          </p:nvPr>
        </p:nvSpPr>
        <p:spPr>
          <a:xfrm>
            <a:off x="934779" y="2100150"/>
            <a:ext cx="6940902" cy="4078817"/>
          </a:xfrm>
        </p:spPr>
        <p:txBody>
          <a:bodyPr>
            <a:noAutofit/>
          </a:bodyPr>
          <a:lstStyle/>
          <a:p>
            <a:pPr marL="0" marR="0" indent="0">
              <a:lnSpc>
                <a:spcPct val="107000"/>
              </a:lnSpc>
              <a:spcBef>
                <a:spcPts val="0"/>
              </a:spcBef>
              <a:spcAft>
                <a:spcPts val="800"/>
              </a:spcAft>
              <a:buNone/>
            </a:pPr>
            <a:r>
              <a:rPr lang="en-US" sz="1800" b="1" dirty="0">
                <a:solidFill>
                  <a:srgbClr val="7030A0"/>
                </a:solidFill>
              </a:rPr>
              <a:t>Hochschule Anhalt</a:t>
            </a:r>
          </a:p>
          <a:p>
            <a:pPr marL="0" indent="0">
              <a:lnSpc>
                <a:spcPct val="107000"/>
              </a:lnSpc>
              <a:spcBef>
                <a:spcPts val="0"/>
              </a:spcBef>
              <a:spcAft>
                <a:spcPts val="800"/>
              </a:spcAft>
              <a:buNone/>
            </a:pPr>
            <a:r>
              <a:rPr lang="en-US" sz="1800" dirty="0"/>
              <a:t>Prof. Dr. Marianne </a:t>
            </a:r>
            <a:r>
              <a:rPr lang="en-US" sz="1800" dirty="0" err="1"/>
              <a:t>Maktabi</a:t>
            </a:r>
            <a:endParaRPr lang="en-US" sz="1800" dirty="0"/>
          </a:p>
          <a:p>
            <a:pPr marL="0" marR="0" indent="0">
              <a:lnSpc>
                <a:spcPct val="107000"/>
              </a:lnSpc>
              <a:spcBef>
                <a:spcPts val="0"/>
              </a:spcBef>
              <a:spcAft>
                <a:spcPts val="800"/>
              </a:spcAft>
              <a:buNone/>
            </a:pPr>
            <a:endParaRPr lang="en-US" sz="1800" b="1" dirty="0">
              <a:solidFill>
                <a:srgbClr val="7030A0"/>
              </a:solidFill>
            </a:endParaRPr>
          </a:p>
          <a:p>
            <a:pPr marL="0" marR="0" indent="0">
              <a:lnSpc>
                <a:spcPct val="107000"/>
              </a:lnSpc>
              <a:spcBef>
                <a:spcPts val="0"/>
              </a:spcBef>
              <a:spcAft>
                <a:spcPts val="800"/>
              </a:spcAft>
              <a:buNone/>
            </a:pPr>
            <a:r>
              <a:rPr lang="en-US" sz="1800" b="1" dirty="0" err="1">
                <a:solidFill>
                  <a:srgbClr val="7030A0"/>
                </a:solidFill>
              </a:rPr>
              <a:t>Physikalisch-Technische</a:t>
            </a:r>
            <a:r>
              <a:rPr lang="en-US" sz="1800" b="1" dirty="0">
                <a:solidFill>
                  <a:srgbClr val="7030A0"/>
                </a:solidFill>
              </a:rPr>
              <a:t> </a:t>
            </a:r>
            <a:r>
              <a:rPr lang="en-US" sz="1800" b="1" dirty="0" err="1">
                <a:solidFill>
                  <a:srgbClr val="7030A0"/>
                </a:solidFill>
              </a:rPr>
              <a:t>Bundesanstalt</a:t>
            </a:r>
            <a:r>
              <a:rPr lang="en-US" sz="1800" b="1" dirty="0">
                <a:solidFill>
                  <a:srgbClr val="7030A0"/>
                </a:solidFill>
              </a:rPr>
              <a:t> Berlin </a:t>
            </a:r>
          </a:p>
          <a:p>
            <a:pPr marL="285750" indent="-285750">
              <a:lnSpc>
                <a:spcPct val="107000"/>
              </a:lnSpc>
              <a:spcBef>
                <a:spcPts val="0"/>
              </a:spcBef>
              <a:spcAft>
                <a:spcPts val="800"/>
              </a:spcAft>
            </a:pPr>
            <a:r>
              <a:rPr lang="en-US" sz="1800" b="1" dirty="0" err="1">
                <a:solidFill>
                  <a:srgbClr val="7030A0"/>
                </a:solidFill>
              </a:rPr>
              <a:t>Abteilung</a:t>
            </a:r>
            <a:r>
              <a:rPr lang="en-US" sz="1800" b="1" dirty="0">
                <a:solidFill>
                  <a:srgbClr val="7030A0"/>
                </a:solidFill>
              </a:rPr>
              <a:t>  8.01</a:t>
            </a:r>
          </a:p>
          <a:p>
            <a:pPr marL="0" marR="0" indent="0">
              <a:lnSpc>
                <a:spcPct val="107000"/>
              </a:lnSpc>
              <a:spcBef>
                <a:spcPts val="0"/>
              </a:spcBef>
              <a:spcAft>
                <a:spcPts val="800"/>
              </a:spcAft>
              <a:buNone/>
            </a:pPr>
            <a:r>
              <a:rPr lang="en-US" sz="1800" dirty="0"/>
              <a:t>Dr. Hans </a:t>
            </a:r>
            <a:r>
              <a:rPr lang="en-US" sz="1800" dirty="0" err="1"/>
              <a:t>Rabus</a:t>
            </a:r>
            <a:endParaRPr lang="en-US" sz="1800" dirty="0"/>
          </a:p>
          <a:p>
            <a:pPr marL="0" marR="0" indent="0">
              <a:lnSpc>
                <a:spcPct val="107000"/>
              </a:lnSpc>
              <a:spcBef>
                <a:spcPts val="0"/>
              </a:spcBef>
              <a:spcAft>
                <a:spcPts val="800"/>
              </a:spcAft>
              <a:buNone/>
            </a:pPr>
            <a:r>
              <a:rPr lang="en-US" sz="1800" dirty="0"/>
              <a:t>Leo Thomas</a:t>
            </a:r>
          </a:p>
          <a:p>
            <a:pPr marL="0" marR="0" indent="0">
              <a:lnSpc>
                <a:spcPct val="107000"/>
              </a:lnSpc>
              <a:spcBef>
                <a:spcPts val="0"/>
              </a:spcBef>
              <a:spcAft>
                <a:spcPts val="800"/>
              </a:spcAft>
              <a:buNone/>
            </a:pPr>
            <a:r>
              <a:rPr lang="en-US" sz="1800" dirty="0"/>
              <a:t>Miriam </a:t>
            </a:r>
            <a:r>
              <a:rPr lang="en-US" sz="1800" dirty="0" err="1"/>
              <a:t>Schwarze</a:t>
            </a:r>
            <a:endParaRPr lang="en-US" sz="1800" dirty="0"/>
          </a:p>
          <a:p>
            <a:pPr marL="285750" indent="-285750">
              <a:lnSpc>
                <a:spcPct val="107000"/>
              </a:lnSpc>
              <a:spcBef>
                <a:spcPts val="0"/>
              </a:spcBef>
              <a:spcAft>
                <a:spcPts val="800"/>
              </a:spcAft>
            </a:pPr>
            <a:r>
              <a:rPr lang="en-US" sz="1800" b="1" dirty="0">
                <a:solidFill>
                  <a:srgbClr val="7030A0"/>
                </a:solidFill>
              </a:rPr>
              <a:t>HPC</a:t>
            </a:r>
          </a:p>
          <a:p>
            <a:pPr marL="0" marR="0" indent="0">
              <a:lnSpc>
                <a:spcPct val="107000"/>
              </a:lnSpc>
              <a:spcBef>
                <a:spcPts val="0"/>
              </a:spcBef>
              <a:spcAft>
                <a:spcPts val="800"/>
              </a:spcAft>
              <a:buNone/>
            </a:pPr>
            <a:r>
              <a:rPr lang="en-US" sz="1800" dirty="0"/>
              <a:t>Florian Burger</a:t>
            </a:r>
          </a:p>
          <a:p>
            <a:pPr marL="285750" marR="0" indent="-285750">
              <a:lnSpc>
                <a:spcPct val="107000"/>
              </a:lnSpc>
              <a:spcBef>
                <a:spcPts val="0"/>
              </a:spcBef>
              <a:spcAft>
                <a:spcPts val="800"/>
              </a:spcAft>
              <a:buFont typeface="Arial" panose="020B0604020202020204" pitchFamily="34" charset="0"/>
              <a:buChar char="•"/>
            </a:pPr>
            <a:endParaRPr lang="en-US" sz="1800" b="1" dirty="0">
              <a:solidFill>
                <a:srgbClr val="7030A0"/>
              </a:solidFill>
            </a:endParaRPr>
          </a:p>
          <a:p>
            <a:pPr marL="0" marR="0" indent="0">
              <a:lnSpc>
                <a:spcPct val="107000"/>
              </a:lnSpc>
              <a:spcBef>
                <a:spcPts val="0"/>
              </a:spcBef>
              <a:spcAft>
                <a:spcPts val="800"/>
              </a:spcAft>
              <a:buNone/>
            </a:pPr>
            <a:endParaRPr lang="en-US" sz="1800" dirty="0"/>
          </a:p>
          <a:p>
            <a:pPr marL="0" marR="0" indent="0">
              <a:lnSpc>
                <a:spcPct val="107000"/>
              </a:lnSpc>
              <a:spcBef>
                <a:spcPts val="0"/>
              </a:spcBef>
              <a:spcAft>
                <a:spcPts val="800"/>
              </a:spcAft>
              <a:buNone/>
            </a:pPr>
            <a:br>
              <a:rPr lang="en-US" sz="1200" dirty="0"/>
            </a:br>
            <a:endParaRPr lang="en-US" sz="1800" dirty="0"/>
          </a:p>
          <a:p>
            <a:pPr marL="285750" marR="0" indent="-285750">
              <a:lnSpc>
                <a:spcPct val="107000"/>
              </a:lnSpc>
              <a:spcBef>
                <a:spcPts val="0"/>
              </a:spcBef>
              <a:spcAft>
                <a:spcPts val="800"/>
              </a:spcAft>
              <a:buFont typeface="Arial" panose="020B0604020202020204" pitchFamily="34" charset="0"/>
              <a:buChar char="•"/>
            </a:pPr>
            <a:endParaRPr lang="en-US" sz="1800" dirty="0"/>
          </a:p>
        </p:txBody>
      </p:sp>
      <p:sp>
        <p:nvSpPr>
          <p:cNvPr id="3" name="Title 2">
            <a:extLst>
              <a:ext uri="{FF2B5EF4-FFF2-40B4-BE49-F238E27FC236}">
                <a16:creationId xmlns:a16="http://schemas.microsoft.com/office/drawing/2014/main" id="{2570F95B-D6D4-40A0-DDC9-588D2C16E5D2}"/>
              </a:ext>
            </a:extLst>
          </p:cNvPr>
          <p:cNvSpPr>
            <a:spLocks noGrp="1"/>
          </p:cNvSpPr>
          <p:nvPr>
            <p:ph type="title"/>
          </p:nvPr>
        </p:nvSpPr>
        <p:spPr>
          <a:xfrm>
            <a:off x="480484" y="960000"/>
            <a:ext cx="11280000" cy="840000"/>
          </a:xfrm>
        </p:spPr>
        <p:txBody>
          <a:bodyPr/>
          <a:lstStyle/>
          <a:p>
            <a:r>
              <a:rPr lang="en-US" sz="2400" dirty="0"/>
              <a:t>Acknowledgments 				</a:t>
            </a:r>
          </a:p>
        </p:txBody>
      </p:sp>
      <p:sp>
        <p:nvSpPr>
          <p:cNvPr id="4" name="Date Placeholder 3">
            <a:extLst>
              <a:ext uri="{FF2B5EF4-FFF2-40B4-BE49-F238E27FC236}">
                <a16:creationId xmlns:a16="http://schemas.microsoft.com/office/drawing/2014/main" id="{E9E6F156-5151-6D50-8108-37EE393135F1}"/>
              </a:ext>
            </a:extLst>
          </p:cNvPr>
          <p:cNvSpPr>
            <a:spLocks noGrp="1"/>
          </p:cNvSpPr>
          <p:nvPr>
            <p:ph type="dt" sz="half" idx="10"/>
          </p:nvPr>
        </p:nvSpPr>
        <p:spPr/>
        <p:txBody>
          <a:bodyPr/>
          <a:lstStyle/>
          <a:p>
            <a:pPr>
              <a:defRPr/>
            </a:pPr>
            <a:fld id="{42E34920-78E1-4FED-B99A-35F393D89856}" type="datetime1">
              <a:rPr lang="en-US" smtClean="0"/>
              <a:t>2/28/2024</a:t>
            </a:fld>
            <a:endParaRPr lang="de-DE" dirty="0"/>
          </a:p>
        </p:txBody>
      </p:sp>
      <p:sp>
        <p:nvSpPr>
          <p:cNvPr id="5" name="Footer Placeholder 4">
            <a:extLst>
              <a:ext uri="{FF2B5EF4-FFF2-40B4-BE49-F238E27FC236}">
                <a16:creationId xmlns:a16="http://schemas.microsoft.com/office/drawing/2014/main" id="{67A5B0EA-76A1-0C61-94B9-0D937F8AE7EE}"/>
              </a:ext>
            </a:extLst>
          </p:cNvPr>
          <p:cNvSpPr>
            <a:spLocks noGrp="1"/>
          </p:cNvSpPr>
          <p:nvPr>
            <p:ph type="ftr" sz="quarter" idx="11"/>
          </p:nvPr>
        </p:nvSpPr>
        <p:spPr>
          <a:xfrm>
            <a:off x="2376674" y="6479117"/>
            <a:ext cx="7486651" cy="378883"/>
          </a:xfrm>
        </p:spPr>
        <p:txBody>
          <a:bodyPr/>
          <a:lstStyle/>
          <a:p>
            <a:pPr>
              <a:defRPr/>
            </a:pPr>
            <a:r>
              <a:rPr lang="de-DE"/>
              <a:t>Pichaya Tappayuthpijarn</a:t>
            </a:r>
            <a:endParaRPr lang="de-DE" dirty="0"/>
          </a:p>
        </p:txBody>
      </p:sp>
      <p:sp>
        <p:nvSpPr>
          <p:cNvPr id="6" name="Slide Number Placeholder 5">
            <a:extLst>
              <a:ext uri="{FF2B5EF4-FFF2-40B4-BE49-F238E27FC236}">
                <a16:creationId xmlns:a16="http://schemas.microsoft.com/office/drawing/2014/main" id="{F0720DC8-248E-8609-F598-DEF73B19DAC7}"/>
              </a:ext>
            </a:extLst>
          </p:cNvPr>
          <p:cNvSpPr>
            <a:spLocks noGrp="1"/>
          </p:cNvSpPr>
          <p:nvPr>
            <p:ph type="sldNum" sz="quarter" idx="12"/>
          </p:nvPr>
        </p:nvSpPr>
        <p:spPr/>
        <p:txBody>
          <a:bodyPr/>
          <a:lstStyle/>
          <a:p>
            <a:pPr>
              <a:defRPr/>
            </a:pPr>
            <a:r>
              <a:rPr lang="de-DE"/>
              <a:t>SEITE</a:t>
            </a:r>
            <a:r>
              <a:rPr lang="de-DE" spc="0"/>
              <a:t> </a:t>
            </a:r>
            <a:fld id="{37ED3A82-C5FC-FE4D-9EDE-EA1B3EA06354}" type="slidenum">
              <a:rPr lang="de-DE" spc="0" smtClean="0"/>
              <a:pPr>
                <a:defRPr/>
              </a:pPr>
              <a:t>26</a:t>
            </a:fld>
            <a:endParaRPr lang="de-DE" spc="0"/>
          </a:p>
        </p:txBody>
      </p:sp>
      <p:sp>
        <p:nvSpPr>
          <p:cNvPr id="7" name="Rectangle 6">
            <a:extLst>
              <a:ext uri="{FF2B5EF4-FFF2-40B4-BE49-F238E27FC236}">
                <a16:creationId xmlns:a16="http://schemas.microsoft.com/office/drawing/2014/main" id="{C7F8BA94-0104-761A-889A-6F22C2A2B824}"/>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sp>
        <p:nvSpPr>
          <p:cNvPr id="10" name="TextBox 9">
            <a:extLst>
              <a:ext uri="{FF2B5EF4-FFF2-40B4-BE49-F238E27FC236}">
                <a16:creationId xmlns:a16="http://schemas.microsoft.com/office/drawing/2014/main" id="{41543F8E-1A63-8B73-CA78-C08967613FC8}"/>
              </a:ext>
            </a:extLst>
          </p:cNvPr>
          <p:cNvSpPr txBox="1"/>
          <p:nvPr/>
        </p:nvSpPr>
        <p:spPr>
          <a:xfrm>
            <a:off x="3048000" y="-13947904"/>
            <a:ext cx="6096000" cy="9865906"/>
          </a:xfrm>
          <a:prstGeom prst="rect">
            <a:avLst/>
          </a:prstGeom>
          <a:noFill/>
        </p:spPr>
        <p:txBody>
          <a:bodyPr wrap="square">
            <a:spAutoFit/>
          </a:bodyPr>
          <a:lstStyle/>
          <a:p>
            <a:pPr marL="0" marR="0">
              <a:lnSpc>
                <a:spcPct val="107000"/>
              </a:lnSpc>
              <a:spcBef>
                <a:spcPts val="0"/>
              </a:spcBef>
              <a:spcAft>
                <a:spcPts val="800"/>
              </a:spcAft>
            </a:pPr>
            <a:r>
              <a:rPr lang="en-US" sz="800" dirty="0">
                <a:effectLst/>
                <a:latin typeface="Calibri" panose="020F0502020204030204" pitchFamily="34" charset="0"/>
                <a:ea typeface="Calibri" panose="020F0502020204030204" pitchFamily="34" charset="0"/>
                <a:cs typeface="Calibri" panose="020F0502020204030204" pitchFamily="34" charset="0"/>
              </a:rPr>
              <a:t>AAPM Report 85. (2004). </a:t>
            </a:r>
            <a:r>
              <a:rPr lang="en-US" sz="800" i="1" dirty="0">
                <a:effectLst/>
                <a:latin typeface="Calibri" panose="020F0502020204030204" pitchFamily="34" charset="0"/>
                <a:ea typeface="Calibri" panose="020F0502020204030204" pitchFamily="34" charset="0"/>
                <a:cs typeface="Calibri" panose="020F0502020204030204" pitchFamily="34" charset="0"/>
              </a:rPr>
              <a:t>Tissue inhomogeneity corrections for megavoltage photon beams.</a:t>
            </a:r>
            <a:r>
              <a:rPr lang="en-US" sz="800" dirty="0">
                <a:effectLst/>
                <a:latin typeface="Calibri" panose="020F0502020204030204" pitchFamily="34" charset="0"/>
                <a:ea typeface="Calibri" panose="020F0502020204030204" pitchFamily="34" charset="0"/>
                <a:cs typeface="Calibri" panose="020F0502020204030204" pitchFamily="34" charset="0"/>
              </a:rPr>
              <a:t> Radiation Therapy Committee Task Group 65. Medical Physics Publishing, Madison, WI. https://www.aapm.org/pubs/reports/rpt_85.pdf</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err="1">
                <a:effectLst/>
                <a:latin typeface="Calibri" panose="020F0502020204030204" pitchFamily="34" charset="0"/>
                <a:ea typeface="Calibri" panose="020F0502020204030204" pitchFamily="34" charset="0"/>
                <a:cs typeface="Calibri" panose="020F0502020204030204" pitchFamily="34" charset="0"/>
              </a:rPr>
              <a:t>Andreo</a:t>
            </a:r>
            <a:r>
              <a:rPr lang="en-US" sz="800" dirty="0">
                <a:effectLst/>
                <a:latin typeface="Calibri" panose="020F0502020204030204" pitchFamily="34" charset="0"/>
                <a:ea typeface="Calibri" panose="020F0502020204030204" pitchFamily="34" charset="0"/>
                <a:cs typeface="Calibri" panose="020F0502020204030204" pitchFamily="34" charset="0"/>
              </a:rPr>
              <a:t>, P., Burns, D. T., Nahum, A. E., </a:t>
            </a:r>
            <a:r>
              <a:rPr lang="en-US" sz="800" dirty="0" err="1">
                <a:effectLst/>
                <a:latin typeface="Calibri" panose="020F0502020204030204" pitchFamily="34" charset="0"/>
                <a:ea typeface="Calibri" panose="020F0502020204030204" pitchFamily="34" charset="0"/>
                <a:cs typeface="Calibri" panose="020F0502020204030204" pitchFamily="34" charset="0"/>
              </a:rPr>
              <a:t>Seuntjens</a:t>
            </a:r>
            <a:r>
              <a:rPr lang="en-US" sz="800" dirty="0">
                <a:effectLst/>
                <a:latin typeface="Calibri" panose="020F0502020204030204" pitchFamily="34" charset="0"/>
                <a:ea typeface="Calibri" panose="020F0502020204030204" pitchFamily="34" charset="0"/>
                <a:cs typeface="Calibri" panose="020F0502020204030204" pitchFamily="34" charset="0"/>
              </a:rPr>
              <a:t>, J., &amp; </a:t>
            </a:r>
            <a:r>
              <a:rPr lang="en-US" sz="800" dirty="0" err="1">
                <a:effectLst/>
                <a:latin typeface="Calibri" panose="020F0502020204030204" pitchFamily="34" charset="0"/>
                <a:ea typeface="Calibri" panose="020F0502020204030204" pitchFamily="34" charset="0"/>
                <a:cs typeface="Calibri" panose="020F0502020204030204" pitchFamily="34" charset="0"/>
              </a:rPr>
              <a:t>Attix</a:t>
            </a:r>
            <a:r>
              <a:rPr lang="en-US" sz="800" dirty="0">
                <a:effectLst/>
                <a:latin typeface="Calibri" panose="020F0502020204030204" pitchFamily="34" charset="0"/>
                <a:ea typeface="Calibri" panose="020F0502020204030204" pitchFamily="34" charset="0"/>
                <a:cs typeface="Calibri" panose="020F0502020204030204" pitchFamily="34" charset="0"/>
              </a:rPr>
              <a:t>, F. H. (2017). </a:t>
            </a:r>
            <a:r>
              <a:rPr lang="en-US" sz="800" i="1" dirty="0">
                <a:effectLst/>
                <a:latin typeface="Calibri" panose="020F0502020204030204" pitchFamily="34" charset="0"/>
                <a:ea typeface="Calibri" panose="020F0502020204030204" pitchFamily="34" charset="0"/>
                <a:cs typeface="Calibri" panose="020F0502020204030204" pitchFamily="34" charset="0"/>
              </a:rPr>
              <a:t>Fundamentals of ionizing radiation dosimetry. Textbook / Pedro </a:t>
            </a:r>
            <a:r>
              <a:rPr lang="en-US" sz="800" i="1" dirty="0" err="1">
                <a:effectLst/>
                <a:latin typeface="Calibri" panose="020F0502020204030204" pitchFamily="34" charset="0"/>
                <a:ea typeface="Calibri" panose="020F0502020204030204" pitchFamily="34" charset="0"/>
                <a:cs typeface="Calibri" panose="020F0502020204030204" pitchFamily="34" charset="0"/>
              </a:rPr>
              <a:t>Andreo</a:t>
            </a:r>
            <a:r>
              <a:rPr lang="en-US" sz="800" i="1" dirty="0">
                <a:effectLst/>
                <a:latin typeface="Calibri" panose="020F0502020204030204" pitchFamily="34" charset="0"/>
                <a:ea typeface="Calibri" panose="020F0502020204030204" pitchFamily="34" charset="0"/>
                <a:cs typeface="Calibri" panose="020F0502020204030204" pitchFamily="34" charset="0"/>
              </a:rPr>
              <a:t>, David T. Burns, Alan E. Nahum, Jan </a:t>
            </a:r>
            <a:r>
              <a:rPr lang="en-US" sz="800" i="1" dirty="0" err="1">
                <a:effectLst/>
                <a:latin typeface="Calibri" panose="020F0502020204030204" pitchFamily="34" charset="0"/>
                <a:ea typeface="Calibri" panose="020F0502020204030204" pitchFamily="34" charset="0"/>
                <a:cs typeface="Calibri" panose="020F0502020204030204" pitchFamily="34" charset="0"/>
              </a:rPr>
              <a:t>Seuntjens</a:t>
            </a:r>
            <a:r>
              <a:rPr lang="en-US" sz="800" i="1" dirty="0">
                <a:effectLst/>
                <a:latin typeface="Calibri" panose="020F0502020204030204" pitchFamily="34" charset="0"/>
                <a:ea typeface="Calibri" panose="020F0502020204030204" pitchFamily="34" charset="0"/>
                <a:cs typeface="Calibri" panose="020F0502020204030204" pitchFamily="34" charset="0"/>
              </a:rPr>
              <a:t>, and Frank H. </a:t>
            </a:r>
            <a:r>
              <a:rPr lang="en-US" sz="800" i="1" dirty="0" err="1">
                <a:effectLst/>
                <a:latin typeface="Calibri" panose="020F0502020204030204" pitchFamily="34" charset="0"/>
                <a:ea typeface="Calibri" panose="020F0502020204030204" pitchFamily="34" charset="0"/>
                <a:cs typeface="Calibri" panose="020F0502020204030204" pitchFamily="34" charset="0"/>
              </a:rPr>
              <a:t>Attix</a:t>
            </a:r>
            <a:r>
              <a:rPr lang="en-US" sz="800" dirty="0">
                <a:effectLst/>
                <a:latin typeface="Calibri" panose="020F0502020204030204" pitchFamily="34" charset="0"/>
                <a:ea typeface="Calibri" panose="020F0502020204030204" pitchFamily="34" charset="0"/>
                <a:cs typeface="Calibri" panose="020F0502020204030204" pitchFamily="34" charset="0"/>
              </a:rPr>
              <a:t>. Wiley-VCH.</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err="1">
                <a:effectLst/>
                <a:latin typeface="Calibri" panose="020F0502020204030204" pitchFamily="34" charset="0"/>
                <a:ea typeface="Calibri" panose="020F0502020204030204" pitchFamily="34" charset="0"/>
                <a:cs typeface="Calibri" panose="020F0502020204030204" pitchFamily="34" charset="0"/>
              </a:rPr>
              <a:t>Arjovsky</a:t>
            </a:r>
            <a:r>
              <a:rPr lang="en-US" sz="800" dirty="0">
                <a:effectLst/>
                <a:latin typeface="Calibri" panose="020F0502020204030204" pitchFamily="34" charset="0"/>
                <a:ea typeface="Calibri" panose="020F0502020204030204" pitchFamily="34" charset="0"/>
                <a:cs typeface="Calibri" panose="020F0502020204030204" pitchFamily="34" charset="0"/>
              </a:rPr>
              <a:t>, M., &amp; </a:t>
            </a:r>
            <a:r>
              <a:rPr lang="en-US" sz="800" dirty="0" err="1">
                <a:effectLst/>
                <a:latin typeface="Calibri" panose="020F0502020204030204" pitchFamily="34" charset="0"/>
                <a:ea typeface="Calibri" panose="020F0502020204030204" pitchFamily="34" charset="0"/>
                <a:cs typeface="Calibri" panose="020F0502020204030204" pitchFamily="34" charset="0"/>
              </a:rPr>
              <a:t>Bottou</a:t>
            </a:r>
            <a:r>
              <a:rPr lang="en-US" sz="800" dirty="0">
                <a:effectLst/>
                <a:latin typeface="Calibri" panose="020F0502020204030204" pitchFamily="34" charset="0"/>
                <a:ea typeface="Calibri" panose="020F0502020204030204" pitchFamily="34" charset="0"/>
                <a:cs typeface="Calibri" panose="020F0502020204030204" pitchFamily="34" charset="0"/>
              </a:rPr>
              <a:t>, L. (2017). </a:t>
            </a:r>
            <a:r>
              <a:rPr lang="en-US" sz="800" i="1" dirty="0">
                <a:effectLst/>
                <a:latin typeface="Calibri" panose="020F0502020204030204" pitchFamily="34" charset="0"/>
                <a:ea typeface="Calibri" panose="020F0502020204030204" pitchFamily="34" charset="0"/>
                <a:cs typeface="Calibri" panose="020F0502020204030204" pitchFamily="34" charset="0"/>
              </a:rPr>
              <a:t>Towards Principled Methods for Training Generative Adversarial Networks</a:t>
            </a:r>
            <a:r>
              <a:rPr lang="en-US" sz="800" dirty="0">
                <a:effectLst/>
                <a:latin typeface="Calibri" panose="020F0502020204030204" pitchFamily="34" charset="0"/>
                <a:ea typeface="Calibri" panose="020F0502020204030204" pitchFamily="34" charset="0"/>
                <a:cs typeface="Calibri" panose="020F0502020204030204" pitchFamily="34" charset="0"/>
              </a:rPr>
              <a:t> (arXiv:1701.04862). </a:t>
            </a:r>
            <a:r>
              <a:rPr lang="en-US" sz="800" dirty="0" err="1">
                <a:effectLst/>
                <a:latin typeface="Calibri" panose="020F0502020204030204" pitchFamily="34" charset="0"/>
                <a:ea typeface="Calibri" panose="020F0502020204030204" pitchFamily="34" charset="0"/>
                <a:cs typeface="Calibri" panose="020F0502020204030204" pitchFamily="34" charset="0"/>
              </a:rPr>
              <a:t>arXiv</a:t>
            </a:r>
            <a:r>
              <a:rPr lang="en-US" sz="800" dirty="0">
                <a:effectLst/>
                <a:latin typeface="Calibri" panose="020F0502020204030204" pitchFamily="34" charset="0"/>
                <a:ea typeface="Calibri" panose="020F0502020204030204" pitchFamily="34" charset="0"/>
                <a:cs typeface="Calibri" panose="020F0502020204030204" pitchFamily="34" charset="0"/>
              </a:rPr>
              <a:t>. http://arxiv.org/abs/1701.04862</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err="1">
                <a:effectLst/>
                <a:latin typeface="Calibri" panose="020F0502020204030204" pitchFamily="34" charset="0"/>
                <a:ea typeface="Calibri" panose="020F0502020204030204" pitchFamily="34" charset="0"/>
                <a:cs typeface="Calibri" panose="020F0502020204030204" pitchFamily="34" charset="0"/>
              </a:rPr>
              <a:t>Arjovsky</a:t>
            </a:r>
            <a:r>
              <a:rPr lang="en-US" sz="800" dirty="0">
                <a:effectLst/>
                <a:latin typeface="Calibri" panose="020F0502020204030204" pitchFamily="34" charset="0"/>
                <a:ea typeface="Calibri" panose="020F0502020204030204" pitchFamily="34" charset="0"/>
                <a:cs typeface="Calibri" panose="020F0502020204030204" pitchFamily="34" charset="0"/>
              </a:rPr>
              <a:t>, M., </a:t>
            </a:r>
            <a:r>
              <a:rPr lang="en-US" sz="800" dirty="0" err="1">
                <a:effectLst/>
                <a:latin typeface="Calibri" panose="020F0502020204030204" pitchFamily="34" charset="0"/>
                <a:ea typeface="Calibri" panose="020F0502020204030204" pitchFamily="34" charset="0"/>
                <a:cs typeface="Calibri" panose="020F0502020204030204" pitchFamily="34" charset="0"/>
              </a:rPr>
              <a:t>Chintala</a:t>
            </a:r>
            <a:r>
              <a:rPr lang="en-US" sz="800" dirty="0">
                <a:effectLst/>
                <a:latin typeface="Calibri" panose="020F0502020204030204" pitchFamily="34" charset="0"/>
                <a:ea typeface="Calibri" panose="020F0502020204030204" pitchFamily="34" charset="0"/>
                <a:cs typeface="Calibri" panose="020F0502020204030204" pitchFamily="34" charset="0"/>
              </a:rPr>
              <a:t>, S., &amp; </a:t>
            </a:r>
            <a:r>
              <a:rPr lang="en-US" sz="800" dirty="0" err="1">
                <a:effectLst/>
                <a:latin typeface="Calibri" panose="020F0502020204030204" pitchFamily="34" charset="0"/>
                <a:ea typeface="Calibri" panose="020F0502020204030204" pitchFamily="34" charset="0"/>
                <a:cs typeface="Calibri" panose="020F0502020204030204" pitchFamily="34" charset="0"/>
              </a:rPr>
              <a:t>Bottou</a:t>
            </a:r>
            <a:r>
              <a:rPr lang="en-US" sz="800" dirty="0">
                <a:effectLst/>
                <a:latin typeface="Calibri" panose="020F0502020204030204" pitchFamily="34" charset="0"/>
                <a:ea typeface="Calibri" panose="020F0502020204030204" pitchFamily="34" charset="0"/>
                <a:cs typeface="Calibri" panose="020F0502020204030204" pitchFamily="34" charset="0"/>
              </a:rPr>
              <a:t>, L. (2017). </a:t>
            </a:r>
            <a:r>
              <a:rPr lang="de-DE" sz="800" i="1" dirty="0">
                <a:effectLst/>
                <a:latin typeface="Calibri" panose="020F0502020204030204" pitchFamily="34" charset="0"/>
                <a:ea typeface="Calibri" panose="020F0502020204030204" pitchFamily="34" charset="0"/>
                <a:cs typeface="Calibri" panose="020F0502020204030204" pitchFamily="34" charset="0"/>
              </a:rPr>
              <a:t>Wasserstein GAN</a:t>
            </a:r>
            <a:r>
              <a:rPr lang="de-DE" sz="800" dirty="0">
                <a:effectLst/>
                <a:latin typeface="Calibri" panose="020F0502020204030204" pitchFamily="34" charset="0"/>
                <a:ea typeface="Calibri" panose="020F0502020204030204" pitchFamily="34" charset="0"/>
                <a:cs typeface="Calibri" panose="020F0502020204030204" pitchFamily="34" charset="0"/>
              </a:rPr>
              <a:t> (arXiv:1701.07875). arXiv. http://arxiv.org/abs/1701.07875</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a:effectLst/>
                <a:latin typeface="Calibri" panose="020F0502020204030204" pitchFamily="34" charset="0"/>
                <a:ea typeface="Calibri" panose="020F0502020204030204" pitchFamily="34" charset="0"/>
                <a:cs typeface="Calibri" panose="020F0502020204030204" pitchFamily="34" charset="0"/>
              </a:rPr>
              <a:t>Barragán-Montero, A. M., Thomas, M., </a:t>
            </a:r>
            <a:r>
              <a:rPr lang="en-US" sz="800" dirty="0" err="1">
                <a:effectLst/>
                <a:latin typeface="Calibri" panose="020F0502020204030204" pitchFamily="34" charset="0"/>
                <a:ea typeface="Calibri" panose="020F0502020204030204" pitchFamily="34" charset="0"/>
                <a:cs typeface="Calibri" panose="020F0502020204030204" pitchFamily="34" charset="0"/>
              </a:rPr>
              <a:t>Defraene</a:t>
            </a:r>
            <a:r>
              <a:rPr lang="en-US" sz="800" dirty="0">
                <a:effectLst/>
                <a:latin typeface="Calibri" panose="020F0502020204030204" pitchFamily="34" charset="0"/>
                <a:ea typeface="Calibri" panose="020F0502020204030204" pitchFamily="34" charset="0"/>
                <a:cs typeface="Calibri" panose="020F0502020204030204" pitchFamily="34" charset="0"/>
              </a:rPr>
              <a:t>, G., Michiels, S., </a:t>
            </a:r>
            <a:r>
              <a:rPr lang="en-US" sz="800" dirty="0" err="1">
                <a:effectLst/>
                <a:latin typeface="Calibri" panose="020F0502020204030204" pitchFamily="34" charset="0"/>
                <a:ea typeface="Calibri" panose="020F0502020204030204" pitchFamily="34" charset="0"/>
                <a:cs typeface="Calibri" panose="020F0502020204030204" pitchFamily="34" charset="0"/>
              </a:rPr>
              <a:t>Haustermans</a:t>
            </a:r>
            <a:r>
              <a:rPr lang="en-US" sz="800" dirty="0">
                <a:effectLst/>
                <a:latin typeface="Calibri" panose="020F0502020204030204" pitchFamily="34" charset="0"/>
                <a:ea typeface="Calibri" panose="020F0502020204030204" pitchFamily="34" charset="0"/>
                <a:cs typeface="Calibri" panose="020F0502020204030204" pitchFamily="34" charset="0"/>
              </a:rPr>
              <a:t>, K., Lee, J. A., &amp; </a:t>
            </a:r>
            <a:r>
              <a:rPr lang="en-US" sz="800" dirty="0" err="1">
                <a:effectLst/>
                <a:latin typeface="Calibri" panose="020F0502020204030204" pitchFamily="34" charset="0"/>
                <a:ea typeface="Calibri" panose="020F0502020204030204" pitchFamily="34" charset="0"/>
                <a:cs typeface="Calibri" panose="020F0502020204030204" pitchFamily="34" charset="0"/>
              </a:rPr>
              <a:t>Sterpin</a:t>
            </a:r>
            <a:r>
              <a:rPr lang="en-US" sz="800" dirty="0">
                <a:effectLst/>
                <a:latin typeface="Calibri" panose="020F0502020204030204" pitchFamily="34" charset="0"/>
                <a:ea typeface="Calibri" panose="020F0502020204030204" pitchFamily="34" charset="0"/>
                <a:cs typeface="Calibri" panose="020F0502020204030204" pitchFamily="34" charset="0"/>
              </a:rPr>
              <a:t>, E. (2021). Deep learning dose prediction for IMRT of esophageal cancer: The effect of data quality and quantity on model performance. </a:t>
            </a:r>
            <a:r>
              <a:rPr lang="en-US" sz="800" i="1" dirty="0" err="1">
                <a:effectLst/>
                <a:latin typeface="Calibri" panose="020F0502020204030204" pitchFamily="34" charset="0"/>
                <a:ea typeface="Calibri" panose="020F0502020204030204" pitchFamily="34" charset="0"/>
                <a:cs typeface="Calibri" panose="020F0502020204030204" pitchFamily="34" charset="0"/>
              </a:rPr>
              <a:t>Physica</a:t>
            </a:r>
            <a:r>
              <a:rPr lang="en-US" sz="800" i="1" dirty="0">
                <a:effectLst/>
                <a:latin typeface="Calibri" panose="020F0502020204030204" pitchFamily="34" charset="0"/>
                <a:ea typeface="Calibri" panose="020F0502020204030204" pitchFamily="34" charset="0"/>
                <a:cs typeface="Calibri" panose="020F0502020204030204" pitchFamily="34" charset="0"/>
              </a:rPr>
              <a:t> Medica</a:t>
            </a:r>
            <a:r>
              <a:rPr lang="en-US" sz="800" dirty="0">
                <a:effectLst/>
                <a:latin typeface="Calibri" panose="020F0502020204030204" pitchFamily="34" charset="0"/>
                <a:ea typeface="Calibri" panose="020F0502020204030204" pitchFamily="34" charset="0"/>
                <a:cs typeface="Calibri" panose="020F0502020204030204" pitchFamily="34" charset="0"/>
              </a:rPr>
              <a:t>, </a:t>
            </a:r>
            <a:r>
              <a:rPr lang="en-US" sz="800" i="1" dirty="0">
                <a:effectLst/>
                <a:latin typeface="Calibri" panose="020F0502020204030204" pitchFamily="34" charset="0"/>
                <a:ea typeface="Calibri" panose="020F0502020204030204" pitchFamily="34" charset="0"/>
                <a:cs typeface="Calibri" panose="020F0502020204030204" pitchFamily="34" charset="0"/>
              </a:rPr>
              <a:t>83</a:t>
            </a:r>
            <a:r>
              <a:rPr lang="en-US" sz="800" dirty="0">
                <a:effectLst/>
                <a:latin typeface="Calibri" panose="020F0502020204030204" pitchFamily="34" charset="0"/>
                <a:ea typeface="Calibri" panose="020F0502020204030204" pitchFamily="34" charset="0"/>
                <a:cs typeface="Calibri" panose="020F0502020204030204" pitchFamily="34" charset="0"/>
              </a:rPr>
              <a:t>, 52–63. https://doi.org/10.1016/j.ejmp.2021.02.026</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a:effectLst/>
                <a:latin typeface="Calibri" panose="020F0502020204030204" pitchFamily="34" charset="0"/>
                <a:ea typeface="Calibri" panose="020F0502020204030204" pitchFamily="34" charset="0"/>
                <a:cs typeface="Calibri" panose="020F0502020204030204" pitchFamily="34" charset="0"/>
              </a:rPr>
              <a:t>Bert, J., Perez-Ponce, H., </a:t>
            </a:r>
            <a:r>
              <a:rPr lang="en-US" sz="800" dirty="0" err="1">
                <a:effectLst/>
                <a:latin typeface="Calibri" panose="020F0502020204030204" pitchFamily="34" charset="0"/>
                <a:ea typeface="Calibri" panose="020F0502020204030204" pitchFamily="34" charset="0"/>
                <a:cs typeface="Calibri" panose="020F0502020204030204" pitchFamily="34" charset="0"/>
              </a:rPr>
              <a:t>Bitar</a:t>
            </a:r>
            <a:r>
              <a:rPr lang="en-US" sz="800" dirty="0">
                <a:effectLst/>
                <a:latin typeface="Calibri" panose="020F0502020204030204" pitchFamily="34" charset="0"/>
                <a:ea typeface="Calibri" panose="020F0502020204030204" pitchFamily="34" charset="0"/>
                <a:cs typeface="Calibri" panose="020F0502020204030204" pitchFamily="34" charset="0"/>
              </a:rPr>
              <a:t>, Z. E., Jan, S., </a:t>
            </a:r>
            <a:r>
              <a:rPr lang="en-US" sz="800" dirty="0" err="1">
                <a:effectLst/>
                <a:latin typeface="Calibri" panose="020F0502020204030204" pitchFamily="34" charset="0"/>
                <a:ea typeface="Calibri" panose="020F0502020204030204" pitchFamily="34" charset="0"/>
                <a:cs typeface="Calibri" panose="020F0502020204030204" pitchFamily="34" charset="0"/>
              </a:rPr>
              <a:t>Boursier</a:t>
            </a:r>
            <a:r>
              <a:rPr lang="en-US" sz="800" dirty="0">
                <a:effectLst/>
                <a:latin typeface="Calibri" panose="020F0502020204030204" pitchFamily="34" charset="0"/>
                <a:ea typeface="Calibri" panose="020F0502020204030204" pitchFamily="34" charset="0"/>
                <a:cs typeface="Calibri" panose="020F0502020204030204" pitchFamily="34" charset="0"/>
              </a:rPr>
              <a:t>, Y., </a:t>
            </a:r>
            <a:r>
              <a:rPr lang="en-US" sz="800" dirty="0" err="1">
                <a:effectLst/>
                <a:latin typeface="Calibri" panose="020F0502020204030204" pitchFamily="34" charset="0"/>
                <a:ea typeface="Calibri" panose="020F0502020204030204" pitchFamily="34" charset="0"/>
                <a:cs typeface="Calibri" panose="020F0502020204030204" pitchFamily="34" charset="0"/>
              </a:rPr>
              <a:t>Vintache</a:t>
            </a:r>
            <a:r>
              <a:rPr lang="en-US" sz="800" dirty="0">
                <a:effectLst/>
                <a:latin typeface="Calibri" panose="020F0502020204030204" pitchFamily="34" charset="0"/>
                <a:ea typeface="Calibri" panose="020F0502020204030204" pitchFamily="34" charset="0"/>
                <a:cs typeface="Calibri" panose="020F0502020204030204" pitchFamily="34" charset="0"/>
              </a:rPr>
              <a:t>, D., </a:t>
            </a:r>
            <a:r>
              <a:rPr lang="en-US" sz="800" dirty="0" err="1">
                <a:effectLst/>
                <a:latin typeface="Calibri" panose="020F0502020204030204" pitchFamily="34" charset="0"/>
                <a:ea typeface="Calibri" panose="020F0502020204030204" pitchFamily="34" charset="0"/>
                <a:cs typeface="Calibri" panose="020F0502020204030204" pitchFamily="34" charset="0"/>
              </a:rPr>
              <a:t>Bonissent</a:t>
            </a:r>
            <a:r>
              <a:rPr lang="en-US" sz="800" dirty="0">
                <a:effectLst/>
                <a:latin typeface="Calibri" panose="020F0502020204030204" pitchFamily="34" charset="0"/>
                <a:ea typeface="Calibri" panose="020F0502020204030204" pitchFamily="34" charset="0"/>
                <a:cs typeface="Calibri" panose="020F0502020204030204" pitchFamily="34" charset="0"/>
              </a:rPr>
              <a:t>, A., Morel, C., </a:t>
            </a:r>
            <a:r>
              <a:rPr lang="en-US" sz="800" dirty="0" err="1">
                <a:effectLst/>
                <a:latin typeface="Calibri" panose="020F0502020204030204" pitchFamily="34" charset="0"/>
                <a:ea typeface="Calibri" panose="020F0502020204030204" pitchFamily="34" charset="0"/>
                <a:cs typeface="Calibri" panose="020F0502020204030204" pitchFamily="34" charset="0"/>
              </a:rPr>
              <a:t>Brasse</a:t>
            </a:r>
            <a:r>
              <a:rPr lang="en-US" sz="800" dirty="0">
                <a:effectLst/>
                <a:latin typeface="Calibri" panose="020F0502020204030204" pitchFamily="34" charset="0"/>
                <a:ea typeface="Calibri" panose="020F0502020204030204" pitchFamily="34" charset="0"/>
                <a:cs typeface="Calibri" panose="020F0502020204030204" pitchFamily="34" charset="0"/>
              </a:rPr>
              <a:t>, D., &amp; </a:t>
            </a:r>
            <a:r>
              <a:rPr lang="en-US" sz="800" dirty="0" err="1">
                <a:effectLst/>
                <a:latin typeface="Calibri" panose="020F0502020204030204" pitchFamily="34" charset="0"/>
                <a:ea typeface="Calibri" panose="020F0502020204030204" pitchFamily="34" charset="0"/>
                <a:cs typeface="Calibri" panose="020F0502020204030204" pitchFamily="34" charset="0"/>
              </a:rPr>
              <a:t>Visvikis</a:t>
            </a:r>
            <a:r>
              <a:rPr lang="en-US" sz="800" dirty="0">
                <a:effectLst/>
                <a:latin typeface="Calibri" panose="020F0502020204030204" pitchFamily="34" charset="0"/>
                <a:ea typeface="Calibri" panose="020F0502020204030204" pitchFamily="34" charset="0"/>
                <a:cs typeface="Calibri" panose="020F0502020204030204" pitchFamily="34" charset="0"/>
              </a:rPr>
              <a:t>, D. (2013). Geant4-based Monte Carlo simulations on GPU for medical applications. </a:t>
            </a:r>
            <a:r>
              <a:rPr lang="en-US" sz="800" i="1" dirty="0">
                <a:effectLst/>
                <a:latin typeface="Calibri" panose="020F0502020204030204" pitchFamily="34" charset="0"/>
                <a:ea typeface="Calibri" panose="020F0502020204030204" pitchFamily="34" charset="0"/>
                <a:cs typeface="Calibri" panose="020F0502020204030204" pitchFamily="34" charset="0"/>
              </a:rPr>
              <a:t>Physics in Medicine and Biology</a:t>
            </a:r>
            <a:r>
              <a:rPr lang="en-US" sz="800" dirty="0">
                <a:effectLst/>
                <a:latin typeface="Calibri" panose="020F0502020204030204" pitchFamily="34" charset="0"/>
                <a:ea typeface="Calibri" panose="020F0502020204030204" pitchFamily="34" charset="0"/>
                <a:cs typeface="Calibri" panose="020F0502020204030204" pitchFamily="34" charset="0"/>
              </a:rPr>
              <a:t>, </a:t>
            </a:r>
            <a:r>
              <a:rPr lang="en-US" sz="800" i="1" dirty="0">
                <a:effectLst/>
                <a:latin typeface="Calibri" panose="020F0502020204030204" pitchFamily="34" charset="0"/>
                <a:ea typeface="Calibri" panose="020F0502020204030204" pitchFamily="34" charset="0"/>
                <a:cs typeface="Calibri" panose="020F0502020204030204" pitchFamily="34" charset="0"/>
              </a:rPr>
              <a:t>58</a:t>
            </a:r>
            <a:r>
              <a:rPr lang="en-US" sz="800" dirty="0">
                <a:effectLst/>
                <a:latin typeface="Calibri" panose="020F0502020204030204" pitchFamily="34" charset="0"/>
                <a:ea typeface="Calibri" panose="020F0502020204030204" pitchFamily="34" charset="0"/>
                <a:cs typeface="Calibri" panose="020F0502020204030204" pitchFamily="34" charset="0"/>
              </a:rPr>
              <a:t>(16), 5593–5611. https://doi.org/10.1088/0031-9155/58/16/5593</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a:effectLst/>
                <a:latin typeface="Calibri" panose="020F0502020204030204" pitchFamily="34" charset="0"/>
                <a:ea typeface="Calibri" panose="020F0502020204030204" pitchFamily="34" charset="0"/>
                <a:cs typeface="Calibri" panose="020F0502020204030204" pitchFamily="34" charset="0"/>
              </a:rPr>
              <a:t>Goodfellow, I. J., </a:t>
            </a:r>
            <a:r>
              <a:rPr lang="en-US" sz="800" dirty="0" err="1">
                <a:effectLst/>
                <a:latin typeface="Calibri" panose="020F0502020204030204" pitchFamily="34" charset="0"/>
                <a:ea typeface="Calibri" panose="020F0502020204030204" pitchFamily="34" charset="0"/>
                <a:cs typeface="Calibri" panose="020F0502020204030204" pitchFamily="34" charset="0"/>
              </a:rPr>
              <a:t>Pouget</a:t>
            </a:r>
            <a:r>
              <a:rPr lang="en-US" sz="800" dirty="0">
                <a:effectLst/>
                <a:latin typeface="Calibri" panose="020F0502020204030204" pitchFamily="34" charset="0"/>
                <a:ea typeface="Calibri" panose="020F0502020204030204" pitchFamily="34" charset="0"/>
                <a:cs typeface="Calibri" panose="020F0502020204030204" pitchFamily="34" charset="0"/>
              </a:rPr>
              <a:t>-Abadie, J., Mirza, M., Xu, B., </a:t>
            </a:r>
            <a:r>
              <a:rPr lang="en-US" sz="800" dirty="0" err="1">
                <a:effectLst/>
                <a:latin typeface="Calibri" panose="020F0502020204030204" pitchFamily="34" charset="0"/>
                <a:ea typeface="Calibri" panose="020F0502020204030204" pitchFamily="34" charset="0"/>
                <a:cs typeface="Calibri" panose="020F0502020204030204" pitchFamily="34" charset="0"/>
              </a:rPr>
              <a:t>Warde</a:t>
            </a:r>
            <a:r>
              <a:rPr lang="en-US" sz="800" dirty="0">
                <a:effectLst/>
                <a:latin typeface="Calibri" panose="020F0502020204030204" pitchFamily="34" charset="0"/>
                <a:ea typeface="Calibri" panose="020F0502020204030204" pitchFamily="34" charset="0"/>
                <a:cs typeface="Calibri" panose="020F0502020204030204" pitchFamily="34" charset="0"/>
              </a:rPr>
              <a:t>-Farley, D., </a:t>
            </a:r>
            <a:r>
              <a:rPr lang="en-US" sz="800" dirty="0" err="1">
                <a:effectLst/>
                <a:latin typeface="Calibri" panose="020F0502020204030204" pitchFamily="34" charset="0"/>
                <a:ea typeface="Calibri" panose="020F0502020204030204" pitchFamily="34" charset="0"/>
                <a:cs typeface="Calibri" panose="020F0502020204030204" pitchFamily="34" charset="0"/>
              </a:rPr>
              <a:t>Ozair</a:t>
            </a:r>
            <a:r>
              <a:rPr lang="en-US" sz="800" dirty="0">
                <a:effectLst/>
                <a:latin typeface="Calibri" panose="020F0502020204030204" pitchFamily="34" charset="0"/>
                <a:ea typeface="Calibri" panose="020F0502020204030204" pitchFamily="34" charset="0"/>
                <a:cs typeface="Calibri" panose="020F0502020204030204" pitchFamily="34" charset="0"/>
              </a:rPr>
              <a:t>, S., Courville, A., &amp; Bengio, Y. (2014). </a:t>
            </a:r>
            <a:r>
              <a:rPr lang="en-US" sz="800" i="1" dirty="0">
                <a:effectLst/>
                <a:latin typeface="Calibri" panose="020F0502020204030204" pitchFamily="34" charset="0"/>
                <a:ea typeface="Calibri" panose="020F0502020204030204" pitchFamily="34" charset="0"/>
                <a:cs typeface="Calibri" panose="020F0502020204030204" pitchFamily="34" charset="0"/>
              </a:rPr>
              <a:t>Generative Adversarial Networks</a:t>
            </a:r>
            <a:r>
              <a:rPr lang="en-US" sz="800" dirty="0">
                <a:effectLst/>
                <a:latin typeface="Calibri" panose="020F0502020204030204" pitchFamily="34" charset="0"/>
                <a:ea typeface="Calibri" panose="020F0502020204030204" pitchFamily="34" charset="0"/>
                <a:cs typeface="Calibri" panose="020F0502020204030204" pitchFamily="34" charset="0"/>
              </a:rPr>
              <a:t> (arXiv:1406.2661). </a:t>
            </a:r>
            <a:r>
              <a:rPr lang="en-US" sz="800" dirty="0" err="1">
                <a:effectLst/>
                <a:latin typeface="Calibri" panose="020F0502020204030204" pitchFamily="34" charset="0"/>
                <a:ea typeface="Calibri" panose="020F0502020204030204" pitchFamily="34" charset="0"/>
                <a:cs typeface="Calibri" panose="020F0502020204030204" pitchFamily="34" charset="0"/>
              </a:rPr>
              <a:t>arXiv</a:t>
            </a:r>
            <a:r>
              <a:rPr lang="en-US" sz="800" dirty="0">
                <a:effectLst/>
                <a:latin typeface="Calibri" panose="020F0502020204030204" pitchFamily="34" charset="0"/>
                <a:ea typeface="Calibri" panose="020F0502020204030204" pitchFamily="34" charset="0"/>
                <a:cs typeface="Calibri" panose="020F0502020204030204" pitchFamily="34" charset="0"/>
              </a:rPr>
              <a:t>. http://arxiv.org/abs/1406.2661</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err="1">
                <a:effectLst/>
                <a:latin typeface="Calibri" panose="020F0502020204030204" pitchFamily="34" charset="0"/>
                <a:ea typeface="Calibri" panose="020F0502020204030204" pitchFamily="34" charset="0"/>
                <a:cs typeface="Calibri" panose="020F0502020204030204" pitchFamily="34" charset="0"/>
              </a:rPr>
              <a:t>Gulrajani</a:t>
            </a:r>
            <a:r>
              <a:rPr lang="en-US" sz="800" dirty="0">
                <a:effectLst/>
                <a:latin typeface="Calibri" panose="020F0502020204030204" pitchFamily="34" charset="0"/>
                <a:ea typeface="Calibri" panose="020F0502020204030204" pitchFamily="34" charset="0"/>
                <a:cs typeface="Calibri" panose="020F0502020204030204" pitchFamily="34" charset="0"/>
              </a:rPr>
              <a:t>, I., Ahmed, F., </a:t>
            </a:r>
            <a:r>
              <a:rPr lang="en-US" sz="800" dirty="0" err="1">
                <a:effectLst/>
                <a:latin typeface="Calibri" panose="020F0502020204030204" pitchFamily="34" charset="0"/>
                <a:ea typeface="Calibri" panose="020F0502020204030204" pitchFamily="34" charset="0"/>
                <a:cs typeface="Calibri" panose="020F0502020204030204" pitchFamily="34" charset="0"/>
              </a:rPr>
              <a:t>Arjovsky</a:t>
            </a:r>
            <a:r>
              <a:rPr lang="en-US" sz="800" dirty="0">
                <a:effectLst/>
                <a:latin typeface="Calibri" panose="020F0502020204030204" pitchFamily="34" charset="0"/>
                <a:ea typeface="Calibri" panose="020F0502020204030204" pitchFamily="34" charset="0"/>
                <a:cs typeface="Calibri" panose="020F0502020204030204" pitchFamily="34" charset="0"/>
              </a:rPr>
              <a:t>, M., Dumoulin, V., &amp; Courville, A. (2017). </a:t>
            </a:r>
            <a:r>
              <a:rPr lang="en-US" sz="800" i="1" dirty="0">
                <a:effectLst/>
                <a:latin typeface="Calibri" panose="020F0502020204030204" pitchFamily="34" charset="0"/>
                <a:ea typeface="Calibri" panose="020F0502020204030204" pitchFamily="34" charset="0"/>
                <a:cs typeface="Calibri" panose="020F0502020204030204" pitchFamily="34" charset="0"/>
              </a:rPr>
              <a:t>Improved Training of Wasserstein GANs</a:t>
            </a:r>
            <a:r>
              <a:rPr lang="en-US" sz="800" dirty="0">
                <a:effectLst/>
                <a:latin typeface="Calibri" panose="020F0502020204030204" pitchFamily="34" charset="0"/>
                <a:ea typeface="Calibri" panose="020F0502020204030204" pitchFamily="34" charset="0"/>
                <a:cs typeface="Calibri" panose="020F0502020204030204" pitchFamily="34" charset="0"/>
              </a:rPr>
              <a:t> (arXiv:1704.00028). </a:t>
            </a:r>
            <a:r>
              <a:rPr lang="en-US" sz="800" dirty="0" err="1">
                <a:effectLst/>
                <a:latin typeface="Calibri" panose="020F0502020204030204" pitchFamily="34" charset="0"/>
                <a:ea typeface="Calibri" panose="020F0502020204030204" pitchFamily="34" charset="0"/>
                <a:cs typeface="Calibri" panose="020F0502020204030204" pitchFamily="34" charset="0"/>
              </a:rPr>
              <a:t>arXiv</a:t>
            </a:r>
            <a:r>
              <a:rPr lang="en-US" sz="800" dirty="0">
                <a:effectLst/>
                <a:latin typeface="Calibri" panose="020F0502020204030204" pitchFamily="34" charset="0"/>
                <a:ea typeface="Calibri" panose="020F0502020204030204" pitchFamily="34" charset="0"/>
                <a:cs typeface="Calibri" panose="020F0502020204030204" pitchFamily="34" charset="0"/>
              </a:rPr>
              <a:t>. http://arxiv.org/abs/1704.00028</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err="1">
                <a:effectLst/>
                <a:latin typeface="Calibri" panose="020F0502020204030204" pitchFamily="34" charset="0"/>
                <a:ea typeface="Calibri" panose="020F0502020204030204" pitchFamily="34" charset="0"/>
                <a:cs typeface="Calibri" panose="020F0502020204030204" pitchFamily="34" charset="0"/>
              </a:rPr>
              <a:t>Jermann</a:t>
            </a:r>
            <a:r>
              <a:rPr lang="en-US" sz="800" dirty="0">
                <a:effectLst/>
                <a:latin typeface="Calibri" panose="020F0502020204030204" pitchFamily="34" charset="0"/>
                <a:ea typeface="Calibri" panose="020F0502020204030204" pitchFamily="34" charset="0"/>
                <a:cs typeface="Calibri" panose="020F0502020204030204" pitchFamily="34" charset="0"/>
              </a:rPr>
              <a:t>, M. (2016). </a:t>
            </a:r>
            <a:r>
              <a:rPr lang="en-US" sz="800" i="1" dirty="0">
                <a:effectLst/>
                <a:latin typeface="Calibri" panose="020F0502020204030204" pitchFamily="34" charset="0"/>
                <a:ea typeface="Calibri" panose="020F0502020204030204" pitchFamily="34" charset="0"/>
                <a:cs typeface="Calibri" panose="020F0502020204030204" pitchFamily="34" charset="0"/>
              </a:rPr>
              <a:t>PTCOG</a:t>
            </a:r>
            <a:r>
              <a:rPr lang="en-US" sz="800" dirty="0">
                <a:effectLst/>
                <a:latin typeface="Calibri" panose="020F0502020204030204" pitchFamily="34" charset="0"/>
                <a:ea typeface="Calibri" panose="020F0502020204030204" pitchFamily="34" charset="0"/>
                <a:cs typeface="Calibri" panose="020F0502020204030204" pitchFamily="34" charset="0"/>
              </a:rPr>
              <a:t>. https://www.ptcog.site/index.php/patient-statistics-2</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a:effectLst/>
                <a:latin typeface="Calibri" panose="020F0502020204030204" pitchFamily="34" charset="0"/>
                <a:ea typeface="Calibri" panose="020F0502020204030204" pitchFamily="34" charset="0"/>
                <a:cs typeface="Calibri" panose="020F0502020204030204" pitchFamily="34" charset="0"/>
              </a:rPr>
              <a:t>Kearney, V., Chan, J. W., Wang, T., Perry, A., </a:t>
            </a:r>
            <a:r>
              <a:rPr lang="en-US" sz="800" dirty="0" err="1">
                <a:effectLst/>
                <a:latin typeface="Calibri" panose="020F0502020204030204" pitchFamily="34" charset="0"/>
                <a:ea typeface="Calibri" panose="020F0502020204030204" pitchFamily="34" charset="0"/>
                <a:cs typeface="Calibri" panose="020F0502020204030204" pitchFamily="34" charset="0"/>
              </a:rPr>
              <a:t>Descovich</a:t>
            </a:r>
            <a:r>
              <a:rPr lang="en-US" sz="800" dirty="0">
                <a:effectLst/>
                <a:latin typeface="Calibri" panose="020F0502020204030204" pitchFamily="34" charset="0"/>
                <a:ea typeface="Calibri" panose="020F0502020204030204" pitchFamily="34" charset="0"/>
                <a:cs typeface="Calibri" panose="020F0502020204030204" pitchFamily="34" charset="0"/>
              </a:rPr>
              <a:t>, M., Morin, O., Yom, S. S., &amp; Solberg, T. D. (2020). </a:t>
            </a:r>
            <a:r>
              <a:rPr lang="en-US" sz="800" dirty="0" err="1">
                <a:effectLst/>
                <a:latin typeface="Calibri" panose="020F0502020204030204" pitchFamily="34" charset="0"/>
                <a:ea typeface="Calibri" panose="020F0502020204030204" pitchFamily="34" charset="0"/>
                <a:cs typeface="Calibri" panose="020F0502020204030204" pitchFamily="34" charset="0"/>
              </a:rPr>
              <a:t>DoseGAN</a:t>
            </a:r>
            <a:r>
              <a:rPr lang="en-US" sz="800" dirty="0">
                <a:effectLst/>
                <a:latin typeface="Calibri" panose="020F0502020204030204" pitchFamily="34" charset="0"/>
                <a:ea typeface="Calibri" panose="020F0502020204030204" pitchFamily="34" charset="0"/>
                <a:cs typeface="Calibri" panose="020F0502020204030204" pitchFamily="34" charset="0"/>
              </a:rPr>
              <a:t>: A generative adversarial network for synthetic dose prediction using attention-gated discrimination and generation. </a:t>
            </a:r>
            <a:r>
              <a:rPr lang="en-US" sz="800" i="1" dirty="0">
                <a:effectLst/>
                <a:latin typeface="Calibri" panose="020F0502020204030204" pitchFamily="34" charset="0"/>
                <a:ea typeface="Calibri" panose="020F0502020204030204" pitchFamily="34" charset="0"/>
                <a:cs typeface="Calibri" panose="020F0502020204030204" pitchFamily="34" charset="0"/>
              </a:rPr>
              <a:t>Scientific Reports</a:t>
            </a:r>
            <a:r>
              <a:rPr lang="en-US" sz="800" dirty="0">
                <a:effectLst/>
                <a:latin typeface="Calibri" panose="020F0502020204030204" pitchFamily="34" charset="0"/>
                <a:ea typeface="Calibri" panose="020F0502020204030204" pitchFamily="34" charset="0"/>
                <a:cs typeface="Calibri" panose="020F0502020204030204" pitchFamily="34" charset="0"/>
              </a:rPr>
              <a:t>, </a:t>
            </a:r>
            <a:r>
              <a:rPr lang="en-US" sz="800" i="1" dirty="0">
                <a:effectLst/>
                <a:latin typeface="Calibri" panose="020F0502020204030204" pitchFamily="34" charset="0"/>
                <a:ea typeface="Calibri" panose="020F0502020204030204" pitchFamily="34" charset="0"/>
                <a:cs typeface="Calibri" panose="020F0502020204030204" pitchFamily="34" charset="0"/>
              </a:rPr>
              <a:t>10</a:t>
            </a:r>
            <a:r>
              <a:rPr lang="en-US" sz="800" dirty="0">
                <a:effectLst/>
                <a:latin typeface="Calibri" panose="020F0502020204030204" pitchFamily="34" charset="0"/>
                <a:ea typeface="Calibri" panose="020F0502020204030204" pitchFamily="34" charset="0"/>
                <a:cs typeface="Calibri" panose="020F0502020204030204" pitchFamily="34" charset="0"/>
              </a:rPr>
              <a:t>(1), 11073. https://doi.org/10.1038/s41598-020-68062-7</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a:effectLst/>
                <a:latin typeface="Calibri" panose="020F0502020204030204" pitchFamily="34" charset="0"/>
                <a:ea typeface="Calibri" panose="020F0502020204030204" pitchFamily="34" charset="0"/>
                <a:cs typeface="Calibri" panose="020F0502020204030204" pitchFamily="34" charset="0"/>
              </a:rPr>
              <a:t>Lan, L., You, L., Zhang, Z., Fan, Z., Zhao, W., Zeng, N., Chen, Y., &amp; Zhou, X. (2020). Generative Adversarial Networks and Its Applications in Biomedical Informatics. </a:t>
            </a:r>
            <a:r>
              <a:rPr lang="en-US" sz="800" i="1" dirty="0">
                <a:effectLst/>
                <a:latin typeface="Calibri" panose="020F0502020204030204" pitchFamily="34" charset="0"/>
                <a:ea typeface="Calibri" panose="020F0502020204030204" pitchFamily="34" charset="0"/>
                <a:cs typeface="Calibri" panose="020F0502020204030204" pitchFamily="34" charset="0"/>
              </a:rPr>
              <a:t>Frontiers in Public Health</a:t>
            </a:r>
            <a:r>
              <a:rPr lang="en-US" sz="800" dirty="0">
                <a:effectLst/>
                <a:latin typeface="Calibri" panose="020F0502020204030204" pitchFamily="34" charset="0"/>
                <a:ea typeface="Calibri" panose="020F0502020204030204" pitchFamily="34" charset="0"/>
                <a:cs typeface="Calibri" panose="020F0502020204030204" pitchFamily="34" charset="0"/>
              </a:rPr>
              <a:t>, </a:t>
            </a:r>
            <a:r>
              <a:rPr lang="en-US" sz="800" i="1" dirty="0">
                <a:effectLst/>
                <a:latin typeface="Calibri" panose="020F0502020204030204" pitchFamily="34" charset="0"/>
                <a:ea typeface="Calibri" panose="020F0502020204030204" pitchFamily="34" charset="0"/>
                <a:cs typeface="Calibri" panose="020F0502020204030204" pitchFamily="34" charset="0"/>
              </a:rPr>
              <a:t>8</a:t>
            </a:r>
            <a:r>
              <a:rPr lang="en-US" sz="800" dirty="0">
                <a:effectLst/>
                <a:latin typeface="Calibri" panose="020F0502020204030204" pitchFamily="34" charset="0"/>
                <a:ea typeface="Calibri" panose="020F0502020204030204" pitchFamily="34" charset="0"/>
                <a:cs typeface="Calibri" panose="020F0502020204030204" pitchFamily="34" charset="0"/>
              </a:rPr>
              <a:t>, 164. https://doi.org/10.3389/fpubh.2020.00164</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de-DE" sz="800" dirty="0">
                <a:effectLst/>
                <a:latin typeface="Calibri" panose="020F0502020204030204" pitchFamily="34" charset="0"/>
                <a:ea typeface="Calibri" panose="020F0502020204030204" pitchFamily="34" charset="0"/>
                <a:cs typeface="Calibri" panose="020F0502020204030204" pitchFamily="34" charset="0"/>
              </a:rPr>
              <a:t>Mentzel, F., Kröninger, K., Lerch, M., Nackenhorst, O., Paino, J., Rosenfeld, A., Saraswati, A., Tsoi, A. C., Weingarten, J., Hagenbuchner, M., &amp; Guatelli, S. (2022). </a:t>
            </a:r>
            <a:r>
              <a:rPr lang="en-US" sz="800" dirty="0">
                <a:effectLst/>
                <a:latin typeface="Calibri" panose="020F0502020204030204" pitchFamily="34" charset="0"/>
                <a:ea typeface="Calibri" panose="020F0502020204030204" pitchFamily="34" charset="0"/>
                <a:cs typeface="Calibri" panose="020F0502020204030204" pitchFamily="34" charset="0"/>
              </a:rPr>
              <a:t>Fast and accurate dose predictions for novel radiotherapy treatments in heterogeneous phantoms using conditional 3D‐UNet generative adversarial networks. </a:t>
            </a:r>
            <a:r>
              <a:rPr lang="en-US" sz="800" i="1" dirty="0">
                <a:effectLst/>
                <a:latin typeface="Calibri" panose="020F0502020204030204" pitchFamily="34" charset="0"/>
                <a:ea typeface="Calibri" panose="020F0502020204030204" pitchFamily="34" charset="0"/>
                <a:cs typeface="Calibri" panose="020F0502020204030204" pitchFamily="34" charset="0"/>
              </a:rPr>
              <a:t>Medical Physics</a:t>
            </a:r>
            <a:r>
              <a:rPr lang="en-US" sz="800" dirty="0">
                <a:effectLst/>
                <a:latin typeface="Calibri" panose="020F0502020204030204" pitchFamily="34" charset="0"/>
                <a:ea typeface="Calibri" panose="020F0502020204030204" pitchFamily="34" charset="0"/>
                <a:cs typeface="Calibri" panose="020F0502020204030204" pitchFamily="34" charset="0"/>
              </a:rPr>
              <a:t>, </a:t>
            </a:r>
            <a:r>
              <a:rPr lang="en-US" sz="800" i="1" dirty="0">
                <a:effectLst/>
                <a:latin typeface="Calibri" panose="020F0502020204030204" pitchFamily="34" charset="0"/>
                <a:ea typeface="Calibri" panose="020F0502020204030204" pitchFamily="34" charset="0"/>
                <a:cs typeface="Calibri" panose="020F0502020204030204" pitchFamily="34" charset="0"/>
              </a:rPr>
              <a:t>49</a:t>
            </a:r>
            <a:r>
              <a:rPr lang="en-US" sz="800" dirty="0">
                <a:effectLst/>
                <a:latin typeface="Calibri" panose="020F0502020204030204" pitchFamily="34" charset="0"/>
                <a:ea typeface="Calibri" panose="020F0502020204030204" pitchFamily="34" charset="0"/>
                <a:cs typeface="Calibri" panose="020F0502020204030204" pitchFamily="34" charset="0"/>
              </a:rPr>
              <a:t>(5), 3389–3404. https://doi.org/10.1002/mp.15555</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a:effectLst/>
                <a:latin typeface="Calibri" panose="020F0502020204030204" pitchFamily="34" charset="0"/>
                <a:ea typeface="Calibri" panose="020F0502020204030204" pitchFamily="34" charset="0"/>
                <a:cs typeface="Calibri" panose="020F0502020204030204" pitchFamily="34" charset="0"/>
              </a:rPr>
              <a:t>Mirza, M., &amp; </a:t>
            </a:r>
            <a:r>
              <a:rPr lang="en-US" sz="800" dirty="0" err="1">
                <a:effectLst/>
                <a:latin typeface="Calibri" panose="020F0502020204030204" pitchFamily="34" charset="0"/>
                <a:ea typeface="Calibri" panose="020F0502020204030204" pitchFamily="34" charset="0"/>
                <a:cs typeface="Calibri" panose="020F0502020204030204" pitchFamily="34" charset="0"/>
              </a:rPr>
              <a:t>Osindero</a:t>
            </a:r>
            <a:r>
              <a:rPr lang="en-US" sz="800" dirty="0">
                <a:effectLst/>
                <a:latin typeface="Calibri" panose="020F0502020204030204" pitchFamily="34" charset="0"/>
                <a:ea typeface="Calibri" panose="020F0502020204030204" pitchFamily="34" charset="0"/>
                <a:cs typeface="Calibri" panose="020F0502020204030204" pitchFamily="34" charset="0"/>
              </a:rPr>
              <a:t>, S. (2014). </a:t>
            </a:r>
            <a:r>
              <a:rPr lang="en-US" sz="800" i="1" dirty="0">
                <a:effectLst/>
                <a:latin typeface="Calibri" panose="020F0502020204030204" pitchFamily="34" charset="0"/>
                <a:ea typeface="Calibri" panose="020F0502020204030204" pitchFamily="34" charset="0"/>
                <a:cs typeface="Calibri" panose="020F0502020204030204" pitchFamily="34" charset="0"/>
              </a:rPr>
              <a:t>Conditional Generative Adversarial Nets</a:t>
            </a:r>
            <a:r>
              <a:rPr lang="en-US" sz="800" dirty="0">
                <a:effectLst/>
                <a:latin typeface="Calibri" panose="020F0502020204030204" pitchFamily="34" charset="0"/>
                <a:ea typeface="Calibri" panose="020F0502020204030204" pitchFamily="34" charset="0"/>
                <a:cs typeface="Calibri" panose="020F0502020204030204" pitchFamily="34" charset="0"/>
              </a:rPr>
              <a:t> (arXiv:1411.1784). </a:t>
            </a:r>
            <a:r>
              <a:rPr lang="en-US" sz="800" dirty="0" err="1">
                <a:effectLst/>
                <a:latin typeface="Calibri" panose="020F0502020204030204" pitchFamily="34" charset="0"/>
                <a:ea typeface="Calibri" panose="020F0502020204030204" pitchFamily="34" charset="0"/>
                <a:cs typeface="Calibri" panose="020F0502020204030204" pitchFamily="34" charset="0"/>
              </a:rPr>
              <a:t>arXiv</a:t>
            </a:r>
            <a:r>
              <a:rPr lang="en-US" sz="800" dirty="0">
                <a:effectLst/>
                <a:latin typeface="Calibri" panose="020F0502020204030204" pitchFamily="34" charset="0"/>
                <a:ea typeface="Calibri" panose="020F0502020204030204" pitchFamily="34" charset="0"/>
                <a:cs typeface="Calibri" panose="020F0502020204030204" pitchFamily="34" charset="0"/>
              </a:rPr>
              <a:t>. http://arxiv.org/abs/1411.1784</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a:effectLst/>
                <a:latin typeface="Calibri" panose="020F0502020204030204" pitchFamily="34" charset="0"/>
                <a:ea typeface="Calibri" panose="020F0502020204030204" pitchFamily="34" charset="0"/>
                <a:cs typeface="Calibri" panose="020F0502020204030204" pitchFamily="34" charset="0"/>
              </a:rPr>
              <a:t>Nguyen, D., Long, T., Jia, X., Lu, W., Gu, X., Iqbal, Z., &amp; Jiang, S. (2019). A feasibility study for predicting optimal radiation therapy dose distributions of prostate cancer patients from patient anatomy using deep learning. </a:t>
            </a:r>
            <a:r>
              <a:rPr lang="en-US" sz="800" i="1" dirty="0">
                <a:effectLst/>
                <a:latin typeface="Calibri" panose="020F0502020204030204" pitchFamily="34" charset="0"/>
                <a:ea typeface="Calibri" panose="020F0502020204030204" pitchFamily="34" charset="0"/>
                <a:cs typeface="Calibri" panose="020F0502020204030204" pitchFamily="34" charset="0"/>
              </a:rPr>
              <a:t>Scientific Reports</a:t>
            </a:r>
            <a:r>
              <a:rPr lang="en-US" sz="800" dirty="0">
                <a:effectLst/>
                <a:latin typeface="Calibri" panose="020F0502020204030204" pitchFamily="34" charset="0"/>
                <a:ea typeface="Calibri" panose="020F0502020204030204" pitchFamily="34" charset="0"/>
                <a:cs typeface="Calibri" panose="020F0502020204030204" pitchFamily="34" charset="0"/>
              </a:rPr>
              <a:t>, </a:t>
            </a:r>
            <a:r>
              <a:rPr lang="en-US" sz="800" i="1" dirty="0">
                <a:effectLst/>
                <a:latin typeface="Calibri" panose="020F0502020204030204" pitchFamily="34" charset="0"/>
                <a:ea typeface="Calibri" panose="020F0502020204030204" pitchFamily="34" charset="0"/>
                <a:cs typeface="Calibri" panose="020F0502020204030204" pitchFamily="34" charset="0"/>
              </a:rPr>
              <a:t>9</a:t>
            </a:r>
            <a:r>
              <a:rPr lang="en-US" sz="800" dirty="0">
                <a:effectLst/>
                <a:latin typeface="Calibri" panose="020F0502020204030204" pitchFamily="34" charset="0"/>
                <a:ea typeface="Calibri" panose="020F0502020204030204" pitchFamily="34" charset="0"/>
                <a:cs typeface="Calibri" panose="020F0502020204030204" pitchFamily="34" charset="0"/>
              </a:rPr>
              <a:t>(1), 1076. https://doi.org/10.1038/s41598-018-37741-x</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err="1">
                <a:effectLst/>
                <a:latin typeface="Calibri" panose="020F0502020204030204" pitchFamily="34" charset="0"/>
                <a:ea typeface="Calibri" panose="020F0502020204030204" pitchFamily="34" charset="0"/>
                <a:cs typeface="Calibri" panose="020F0502020204030204" pitchFamily="34" charset="0"/>
              </a:rPr>
              <a:t>Pamisa</a:t>
            </a:r>
            <a:r>
              <a:rPr lang="en-US" sz="800" dirty="0">
                <a:effectLst/>
                <a:latin typeface="Calibri" panose="020F0502020204030204" pitchFamily="34" charset="0"/>
                <a:ea typeface="Calibri" panose="020F0502020204030204" pitchFamily="34" charset="0"/>
                <a:cs typeface="Calibri" panose="020F0502020204030204" pitchFamily="34" charset="0"/>
              </a:rPr>
              <a:t>, D. R., </a:t>
            </a:r>
            <a:r>
              <a:rPr lang="en-US" sz="800" dirty="0" err="1">
                <a:effectLst/>
                <a:latin typeface="Calibri" panose="020F0502020204030204" pitchFamily="34" charset="0"/>
                <a:ea typeface="Calibri" panose="020F0502020204030204" pitchFamily="34" charset="0"/>
                <a:cs typeface="Calibri" panose="020F0502020204030204" pitchFamily="34" charset="0"/>
              </a:rPr>
              <a:t>Convicto</a:t>
            </a:r>
            <a:r>
              <a:rPr lang="en-US" sz="800" dirty="0">
                <a:effectLst/>
                <a:latin typeface="Calibri" panose="020F0502020204030204" pitchFamily="34" charset="0"/>
                <a:ea typeface="Calibri" panose="020F0502020204030204" pitchFamily="34" charset="0"/>
                <a:cs typeface="Calibri" panose="020F0502020204030204" pitchFamily="34" charset="0"/>
              </a:rPr>
              <a:t>, V., </a:t>
            </a:r>
            <a:r>
              <a:rPr lang="en-US" sz="800" dirty="0" err="1">
                <a:effectLst/>
                <a:latin typeface="Calibri" panose="020F0502020204030204" pitchFamily="34" charset="0"/>
                <a:ea typeface="Calibri" panose="020F0502020204030204" pitchFamily="34" charset="0"/>
                <a:cs typeface="Calibri" panose="020F0502020204030204" pitchFamily="34" charset="0"/>
              </a:rPr>
              <a:t>Lintasan</a:t>
            </a:r>
            <a:r>
              <a:rPr lang="en-US" sz="800" dirty="0">
                <a:effectLst/>
                <a:latin typeface="Calibri" panose="020F0502020204030204" pitchFamily="34" charset="0"/>
                <a:ea typeface="Calibri" panose="020F0502020204030204" pitchFamily="34" charset="0"/>
                <a:cs typeface="Calibri" panose="020F0502020204030204" pitchFamily="34" charset="0"/>
              </a:rPr>
              <a:t>, A., &amp; </a:t>
            </a:r>
            <a:r>
              <a:rPr lang="en-US" sz="800" dirty="0" err="1">
                <a:effectLst/>
                <a:latin typeface="Calibri" panose="020F0502020204030204" pitchFamily="34" charset="0"/>
                <a:ea typeface="Calibri" panose="020F0502020204030204" pitchFamily="34" charset="0"/>
                <a:cs typeface="Calibri" panose="020F0502020204030204" pitchFamily="34" charset="0"/>
              </a:rPr>
              <a:t>Quiñones</a:t>
            </a:r>
            <a:r>
              <a:rPr lang="en-US" sz="800" dirty="0">
                <a:effectLst/>
                <a:latin typeface="Calibri" panose="020F0502020204030204" pitchFamily="34" charset="0"/>
                <a:ea typeface="Calibri" panose="020F0502020204030204" pitchFamily="34" charset="0"/>
                <a:cs typeface="Calibri" panose="020F0502020204030204" pitchFamily="34" charset="0"/>
              </a:rPr>
              <a:t>, C. T. (2020). Monte Carlo Investigation of the Depth-dose Profile of Proton Beams and Carbon Ions in Water, Skeletal Muscle, Adipose Tissue, and Cortical Bone for Hadron Therapy Applications. </a:t>
            </a:r>
            <a:r>
              <a:rPr lang="en-US" sz="800" i="1" dirty="0">
                <a:effectLst/>
                <a:latin typeface="Calibri" panose="020F0502020204030204" pitchFamily="34" charset="0"/>
                <a:ea typeface="Calibri" panose="020F0502020204030204" pitchFamily="34" charset="0"/>
                <a:cs typeface="Calibri" panose="020F0502020204030204" pitchFamily="34" charset="0"/>
              </a:rPr>
              <a:t>Journal of Physics: Conference Series</a:t>
            </a:r>
            <a:r>
              <a:rPr lang="en-US" sz="800" dirty="0">
                <a:effectLst/>
                <a:latin typeface="Calibri" panose="020F0502020204030204" pitchFamily="34" charset="0"/>
                <a:ea typeface="Calibri" panose="020F0502020204030204" pitchFamily="34" charset="0"/>
                <a:cs typeface="Calibri" panose="020F0502020204030204" pitchFamily="34" charset="0"/>
              </a:rPr>
              <a:t>, </a:t>
            </a:r>
            <a:r>
              <a:rPr lang="en-US" sz="800" i="1" dirty="0">
                <a:effectLst/>
                <a:latin typeface="Calibri" panose="020F0502020204030204" pitchFamily="34" charset="0"/>
                <a:ea typeface="Calibri" panose="020F0502020204030204" pitchFamily="34" charset="0"/>
                <a:cs typeface="Calibri" panose="020F0502020204030204" pitchFamily="34" charset="0"/>
              </a:rPr>
              <a:t>1505</a:t>
            </a:r>
            <a:r>
              <a:rPr lang="en-US" sz="800" dirty="0">
                <a:effectLst/>
                <a:latin typeface="Calibri" panose="020F0502020204030204" pitchFamily="34" charset="0"/>
                <a:ea typeface="Calibri" panose="020F0502020204030204" pitchFamily="34" charset="0"/>
                <a:cs typeface="Calibri" panose="020F0502020204030204" pitchFamily="34" charset="0"/>
              </a:rPr>
              <a:t>(1), 012010. https://doi.org/10.1088/1742-6596/1505/1/012010</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a:effectLst/>
                <a:latin typeface="Calibri" panose="020F0502020204030204" pitchFamily="34" charset="0"/>
                <a:ea typeface="Calibri" panose="020F0502020204030204" pitchFamily="34" charset="0"/>
                <a:cs typeface="Calibri" panose="020F0502020204030204" pitchFamily="34" charset="0"/>
              </a:rPr>
              <a:t>Radford, A., Metz, L., &amp; </a:t>
            </a:r>
            <a:r>
              <a:rPr lang="en-US" sz="800" dirty="0" err="1">
                <a:effectLst/>
                <a:latin typeface="Calibri" panose="020F0502020204030204" pitchFamily="34" charset="0"/>
                <a:ea typeface="Calibri" panose="020F0502020204030204" pitchFamily="34" charset="0"/>
                <a:cs typeface="Calibri" panose="020F0502020204030204" pitchFamily="34" charset="0"/>
              </a:rPr>
              <a:t>Chintala</a:t>
            </a:r>
            <a:r>
              <a:rPr lang="en-US" sz="800" dirty="0">
                <a:effectLst/>
                <a:latin typeface="Calibri" panose="020F0502020204030204" pitchFamily="34" charset="0"/>
                <a:ea typeface="Calibri" panose="020F0502020204030204" pitchFamily="34" charset="0"/>
                <a:cs typeface="Calibri" panose="020F0502020204030204" pitchFamily="34" charset="0"/>
              </a:rPr>
              <a:t>, S. (2016). </a:t>
            </a:r>
            <a:r>
              <a:rPr lang="en-US" sz="800" i="1" dirty="0">
                <a:effectLst/>
                <a:latin typeface="Calibri" panose="020F0502020204030204" pitchFamily="34" charset="0"/>
                <a:ea typeface="Calibri" panose="020F0502020204030204" pitchFamily="34" charset="0"/>
                <a:cs typeface="Calibri" panose="020F0502020204030204" pitchFamily="34" charset="0"/>
              </a:rPr>
              <a:t>Unsupervised Representation Learning with Deep Convolutional Generative Adversarial Networks</a:t>
            </a:r>
            <a:r>
              <a:rPr lang="en-US" sz="800" dirty="0">
                <a:effectLst/>
                <a:latin typeface="Calibri" panose="020F0502020204030204" pitchFamily="34" charset="0"/>
                <a:ea typeface="Calibri" panose="020F0502020204030204" pitchFamily="34" charset="0"/>
                <a:cs typeface="Calibri" panose="020F0502020204030204" pitchFamily="34" charset="0"/>
              </a:rPr>
              <a:t> (arXiv:1511.06434). </a:t>
            </a:r>
            <a:r>
              <a:rPr lang="en-US" sz="800" dirty="0" err="1">
                <a:effectLst/>
                <a:latin typeface="Calibri" panose="020F0502020204030204" pitchFamily="34" charset="0"/>
                <a:ea typeface="Calibri" panose="020F0502020204030204" pitchFamily="34" charset="0"/>
                <a:cs typeface="Calibri" panose="020F0502020204030204" pitchFamily="34" charset="0"/>
              </a:rPr>
              <a:t>arXiv</a:t>
            </a:r>
            <a:r>
              <a:rPr lang="en-US" sz="800" dirty="0">
                <a:effectLst/>
                <a:latin typeface="Calibri" panose="020F0502020204030204" pitchFamily="34" charset="0"/>
                <a:ea typeface="Calibri" panose="020F0502020204030204" pitchFamily="34" charset="0"/>
                <a:cs typeface="Calibri" panose="020F0502020204030204" pitchFamily="34" charset="0"/>
              </a:rPr>
              <a:t>. http://arxiv.org/abs/1511.06434</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err="1">
                <a:effectLst/>
                <a:latin typeface="Calibri" panose="020F0502020204030204" pitchFamily="34" charset="0"/>
                <a:ea typeface="Calibri" panose="020F0502020204030204" pitchFamily="34" charset="0"/>
                <a:cs typeface="Calibri" panose="020F0502020204030204" pitchFamily="34" charset="0"/>
              </a:rPr>
              <a:t>Salimans</a:t>
            </a:r>
            <a:r>
              <a:rPr lang="en-US" sz="800" dirty="0">
                <a:effectLst/>
                <a:latin typeface="Calibri" panose="020F0502020204030204" pitchFamily="34" charset="0"/>
                <a:ea typeface="Calibri" panose="020F0502020204030204" pitchFamily="34" charset="0"/>
                <a:cs typeface="Calibri" panose="020F0502020204030204" pitchFamily="34" charset="0"/>
              </a:rPr>
              <a:t>, T., Goodfellow, I., Zaremba, W., Cheung, V., Radford, A., &amp; Chen, X. (2016). </a:t>
            </a:r>
            <a:r>
              <a:rPr lang="en-US" sz="800" i="1" dirty="0">
                <a:effectLst/>
                <a:latin typeface="Calibri" panose="020F0502020204030204" pitchFamily="34" charset="0"/>
                <a:ea typeface="Calibri" panose="020F0502020204030204" pitchFamily="34" charset="0"/>
                <a:cs typeface="Calibri" panose="020F0502020204030204" pitchFamily="34" charset="0"/>
              </a:rPr>
              <a:t>Improved Techniques for Training GANs</a:t>
            </a:r>
            <a:r>
              <a:rPr lang="en-US" sz="800" dirty="0">
                <a:effectLst/>
                <a:latin typeface="Calibri" panose="020F0502020204030204" pitchFamily="34" charset="0"/>
                <a:ea typeface="Calibri" panose="020F0502020204030204" pitchFamily="34" charset="0"/>
                <a:cs typeface="Calibri" panose="020F0502020204030204" pitchFamily="34" charset="0"/>
              </a:rPr>
              <a:t> (arXiv:1606.03498). </a:t>
            </a:r>
            <a:r>
              <a:rPr lang="en-US" sz="800" dirty="0" err="1">
                <a:effectLst/>
                <a:latin typeface="Calibri" panose="020F0502020204030204" pitchFamily="34" charset="0"/>
                <a:ea typeface="Calibri" panose="020F0502020204030204" pitchFamily="34" charset="0"/>
                <a:cs typeface="Calibri" panose="020F0502020204030204" pitchFamily="34" charset="0"/>
              </a:rPr>
              <a:t>arXiv</a:t>
            </a:r>
            <a:r>
              <a:rPr lang="en-US" sz="800" dirty="0">
                <a:effectLst/>
                <a:latin typeface="Calibri" panose="020F0502020204030204" pitchFamily="34" charset="0"/>
                <a:ea typeface="Calibri" panose="020F0502020204030204" pitchFamily="34" charset="0"/>
                <a:cs typeface="Calibri" panose="020F0502020204030204" pitchFamily="34" charset="0"/>
              </a:rPr>
              <a:t>. http://arxiv.org/abs/1606.03498</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de-DE" sz="800" dirty="0">
                <a:effectLst/>
                <a:latin typeface="Calibri" panose="020F0502020204030204" pitchFamily="34" charset="0"/>
                <a:ea typeface="Calibri" panose="020F0502020204030204" pitchFamily="34" charset="0"/>
                <a:cs typeface="Calibri" panose="020F0502020204030204" pitchFamily="34" charset="0"/>
              </a:rPr>
              <a:t>Sarrut, D., Krah, N., &amp; Létang, J.-M. (2019). </a:t>
            </a:r>
            <a:r>
              <a:rPr lang="en-US" sz="800" i="1" dirty="0">
                <a:effectLst/>
                <a:latin typeface="Calibri" panose="020F0502020204030204" pitchFamily="34" charset="0"/>
                <a:ea typeface="Calibri" panose="020F0502020204030204" pitchFamily="34" charset="0"/>
                <a:cs typeface="Calibri" panose="020F0502020204030204" pitchFamily="34" charset="0"/>
              </a:rPr>
              <a:t>Generative Adversarial Networks (GAN) for compact beam source modelling in Monte Carlo simulations</a:t>
            </a:r>
            <a:r>
              <a:rPr lang="en-US" sz="800" dirty="0">
                <a:effectLst/>
                <a:latin typeface="Calibri" panose="020F0502020204030204" pitchFamily="34" charset="0"/>
                <a:ea typeface="Calibri" panose="020F0502020204030204" pitchFamily="34" charset="0"/>
                <a:cs typeface="Calibri" panose="020F0502020204030204" pitchFamily="34" charset="0"/>
              </a:rPr>
              <a:t>. https://doi.org/10.48550/ARXIV.1907.13324</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err="1">
                <a:effectLst/>
                <a:latin typeface="Calibri" panose="020F0502020204030204" pitchFamily="34" charset="0"/>
                <a:ea typeface="Calibri" panose="020F0502020204030204" pitchFamily="34" charset="0"/>
                <a:cs typeface="Calibri" panose="020F0502020204030204" pitchFamily="34" charset="0"/>
              </a:rPr>
              <a:t>Schwarze</a:t>
            </a:r>
            <a:r>
              <a:rPr lang="en-US" sz="800" dirty="0">
                <a:effectLst/>
                <a:latin typeface="Calibri" panose="020F0502020204030204" pitchFamily="34" charset="0"/>
                <a:ea typeface="Calibri" panose="020F0502020204030204" pitchFamily="34" charset="0"/>
                <a:cs typeface="Calibri" panose="020F0502020204030204" pitchFamily="34" charset="0"/>
              </a:rPr>
              <a:t>, M. (2023). </a:t>
            </a:r>
            <a:r>
              <a:rPr lang="en-US" sz="800" i="1" dirty="0">
                <a:effectLst/>
                <a:latin typeface="Calibri" panose="020F0502020204030204" pitchFamily="34" charset="0"/>
                <a:ea typeface="Calibri" panose="020F0502020204030204" pitchFamily="34" charset="0"/>
                <a:cs typeface="Calibri" panose="020F0502020204030204" pitchFamily="34" charset="0"/>
              </a:rPr>
              <a:t>MC Simulation of a therapeutic carbon ion beam in head</a:t>
            </a:r>
            <a:r>
              <a:rPr lang="en-US" sz="800" dirty="0">
                <a:effectLst/>
                <a:latin typeface="Calibri" panose="020F0502020204030204" pitchFamily="34" charset="0"/>
                <a:ea typeface="Calibri" panose="020F0502020204030204" pitchFamily="34" charset="0"/>
                <a:cs typeface="Calibri" panose="020F0502020204030204" pitchFamily="34" charset="0"/>
              </a:rPr>
              <a:t>. https://gitlab1.ptb.de/MiriamSchwarze/simudosemapheavyions</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de-DE" sz="800" dirty="0">
                <a:effectLst/>
                <a:latin typeface="Calibri" panose="020F0502020204030204" pitchFamily="34" charset="0"/>
                <a:ea typeface="Calibri" panose="020F0502020204030204" pitchFamily="34" charset="0"/>
                <a:cs typeface="Calibri" panose="020F0502020204030204" pitchFamily="34" charset="0"/>
              </a:rPr>
              <a:t>Seco, J., &amp; Verhaegen, F. (Eds.). </a:t>
            </a:r>
            <a:r>
              <a:rPr lang="en-US" sz="800" dirty="0">
                <a:effectLst/>
                <a:latin typeface="Calibri" panose="020F0502020204030204" pitchFamily="34" charset="0"/>
                <a:ea typeface="Calibri" panose="020F0502020204030204" pitchFamily="34" charset="0"/>
                <a:cs typeface="Calibri" panose="020F0502020204030204" pitchFamily="34" charset="0"/>
              </a:rPr>
              <a:t>(2016). </a:t>
            </a:r>
            <a:r>
              <a:rPr lang="en-US" sz="800" i="1" dirty="0">
                <a:effectLst/>
                <a:latin typeface="Calibri" panose="020F0502020204030204" pitchFamily="34" charset="0"/>
                <a:ea typeface="Calibri" panose="020F0502020204030204" pitchFamily="34" charset="0"/>
                <a:cs typeface="Calibri" panose="020F0502020204030204" pitchFamily="34" charset="0"/>
              </a:rPr>
              <a:t>Monte Carlo Techniques in Radiation Therapy</a:t>
            </a:r>
            <a:r>
              <a:rPr lang="en-US" sz="800" dirty="0">
                <a:effectLst/>
                <a:latin typeface="Calibri" panose="020F0502020204030204" pitchFamily="34" charset="0"/>
                <a:ea typeface="Calibri" panose="020F0502020204030204" pitchFamily="34" charset="0"/>
                <a:cs typeface="Calibri" panose="020F0502020204030204" pitchFamily="34" charset="0"/>
              </a:rPr>
              <a:t> (0 ed.). CRC Press. https://doi.org/10.1201/b13961</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a:effectLst/>
                <a:latin typeface="Calibri" panose="020F0502020204030204" pitchFamily="34" charset="0"/>
                <a:ea typeface="Calibri" panose="020F0502020204030204" pitchFamily="34" charset="0"/>
                <a:cs typeface="Calibri" panose="020F0502020204030204" pitchFamily="34" charset="0"/>
              </a:rPr>
              <a:t>Seltzer, S. M., Bartlett, D. T., Burns, D. T., </a:t>
            </a:r>
            <a:r>
              <a:rPr lang="en-US" sz="800" dirty="0" err="1">
                <a:effectLst/>
                <a:latin typeface="Calibri" panose="020F0502020204030204" pitchFamily="34" charset="0"/>
                <a:ea typeface="Calibri" panose="020F0502020204030204" pitchFamily="34" charset="0"/>
                <a:cs typeface="Calibri" panose="020F0502020204030204" pitchFamily="34" charset="0"/>
              </a:rPr>
              <a:t>Dietze</a:t>
            </a:r>
            <a:r>
              <a:rPr lang="en-US" sz="800" dirty="0">
                <a:effectLst/>
                <a:latin typeface="Calibri" panose="020F0502020204030204" pitchFamily="34" charset="0"/>
                <a:ea typeface="Calibri" panose="020F0502020204030204" pitchFamily="34" charset="0"/>
                <a:cs typeface="Calibri" panose="020F0502020204030204" pitchFamily="34" charset="0"/>
              </a:rPr>
              <a:t>, G., Menzel, H.-G., </a:t>
            </a:r>
            <a:r>
              <a:rPr lang="en-US" sz="800" dirty="0" err="1">
                <a:effectLst/>
                <a:latin typeface="Calibri" panose="020F0502020204030204" pitchFamily="34" charset="0"/>
                <a:ea typeface="Calibri" panose="020F0502020204030204" pitchFamily="34" charset="0"/>
                <a:cs typeface="Calibri" panose="020F0502020204030204" pitchFamily="34" charset="0"/>
              </a:rPr>
              <a:t>Paretzke</a:t>
            </a:r>
            <a:r>
              <a:rPr lang="en-US" sz="800" dirty="0">
                <a:effectLst/>
                <a:latin typeface="Calibri" panose="020F0502020204030204" pitchFamily="34" charset="0"/>
                <a:ea typeface="Calibri" panose="020F0502020204030204" pitchFamily="34" charset="0"/>
                <a:cs typeface="Calibri" panose="020F0502020204030204" pitchFamily="34" charset="0"/>
              </a:rPr>
              <a:t>, H. G., &amp; </a:t>
            </a:r>
            <a:r>
              <a:rPr lang="en-US" sz="800" dirty="0" err="1">
                <a:effectLst/>
                <a:latin typeface="Calibri" panose="020F0502020204030204" pitchFamily="34" charset="0"/>
                <a:ea typeface="Calibri" panose="020F0502020204030204" pitchFamily="34" charset="0"/>
                <a:cs typeface="Calibri" panose="020F0502020204030204" pitchFamily="34" charset="0"/>
              </a:rPr>
              <a:t>Wambersie</a:t>
            </a:r>
            <a:r>
              <a:rPr lang="en-US" sz="800" dirty="0">
                <a:effectLst/>
                <a:latin typeface="Calibri" panose="020F0502020204030204" pitchFamily="34" charset="0"/>
                <a:ea typeface="Calibri" panose="020F0502020204030204" pitchFamily="34" charset="0"/>
                <a:cs typeface="Calibri" panose="020F0502020204030204" pitchFamily="34" charset="0"/>
              </a:rPr>
              <a:t>, A. (2011). 5. Dosimetry. </a:t>
            </a:r>
            <a:r>
              <a:rPr lang="en-US" sz="800" i="1" dirty="0">
                <a:effectLst/>
                <a:latin typeface="Calibri" panose="020F0502020204030204" pitchFamily="34" charset="0"/>
                <a:ea typeface="Calibri" panose="020F0502020204030204" pitchFamily="34" charset="0"/>
                <a:cs typeface="Calibri" panose="020F0502020204030204" pitchFamily="34" charset="0"/>
              </a:rPr>
              <a:t>Journal of the ICRU</a:t>
            </a:r>
            <a:r>
              <a:rPr lang="en-US" sz="800" dirty="0">
                <a:effectLst/>
                <a:latin typeface="Calibri" panose="020F0502020204030204" pitchFamily="34" charset="0"/>
                <a:ea typeface="Calibri" panose="020F0502020204030204" pitchFamily="34" charset="0"/>
                <a:cs typeface="Calibri" panose="020F0502020204030204" pitchFamily="34" charset="0"/>
              </a:rPr>
              <a:t>, </a:t>
            </a:r>
            <a:r>
              <a:rPr lang="en-US" sz="800" i="1" dirty="0">
                <a:effectLst/>
                <a:latin typeface="Calibri" panose="020F0502020204030204" pitchFamily="34" charset="0"/>
                <a:ea typeface="Calibri" panose="020F0502020204030204" pitchFamily="34" charset="0"/>
                <a:cs typeface="Calibri" panose="020F0502020204030204" pitchFamily="34" charset="0"/>
              </a:rPr>
              <a:t>11</a:t>
            </a:r>
            <a:r>
              <a:rPr lang="en-US" sz="800" dirty="0">
                <a:effectLst/>
                <a:latin typeface="Calibri" panose="020F0502020204030204" pitchFamily="34" charset="0"/>
                <a:ea typeface="Calibri" panose="020F0502020204030204" pitchFamily="34" charset="0"/>
                <a:cs typeface="Calibri" panose="020F0502020204030204" pitchFamily="34" charset="0"/>
              </a:rPr>
              <a:t>(1), 23–28. https://doi.org/10.1093/jicru/ndr003</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err="1">
                <a:effectLst/>
                <a:latin typeface="Calibri" panose="020F0502020204030204" pitchFamily="34" charset="0"/>
                <a:ea typeface="Calibri" panose="020F0502020204030204" pitchFamily="34" charset="0"/>
                <a:cs typeface="Calibri" panose="020F0502020204030204" pitchFamily="34" charset="0"/>
              </a:rPr>
              <a:t>Shusharina</a:t>
            </a:r>
            <a:r>
              <a:rPr lang="en-US" sz="800" dirty="0">
                <a:effectLst/>
                <a:latin typeface="Calibri" panose="020F0502020204030204" pitchFamily="34" charset="0"/>
                <a:ea typeface="Calibri" panose="020F0502020204030204" pitchFamily="34" charset="0"/>
                <a:cs typeface="Calibri" panose="020F0502020204030204" pitchFamily="34" charset="0"/>
              </a:rPr>
              <a:t>, N., &amp; </a:t>
            </a:r>
            <a:r>
              <a:rPr lang="en-US" sz="800" dirty="0" err="1">
                <a:effectLst/>
                <a:latin typeface="Calibri" panose="020F0502020204030204" pitchFamily="34" charset="0"/>
                <a:ea typeface="Calibri" panose="020F0502020204030204" pitchFamily="34" charset="0"/>
                <a:cs typeface="Calibri" panose="020F0502020204030204" pitchFamily="34" charset="0"/>
              </a:rPr>
              <a:t>Bortfeld</a:t>
            </a:r>
            <a:r>
              <a:rPr lang="en-US" sz="800" dirty="0">
                <a:effectLst/>
                <a:latin typeface="Calibri" panose="020F0502020204030204" pitchFamily="34" charset="0"/>
                <a:ea typeface="Calibri" panose="020F0502020204030204" pitchFamily="34" charset="0"/>
                <a:cs typeface="Calibri" panose="020F0502020204030204" pitchFamily="34" charset="0"/>
              </a:rPr>
              <a:t>, T. (2021). </a:t>
            </a:r>
            <a:r>
              <a:rPr lang="en-US" sz="800" i="1" dirty="0">
                <a:effectLst/>
                <a:latin typeface="Calibri" panose="020F0502020204030204" pitchFamily="34" charset="0"/>
                <a:ea typeface="Calibri" panose="020F0502020204030204" pitchFamily="34" charset="0"/>
                <a:cs typeface="Calibri" panose="020F0502020204030204" pitchFamily="34" charset="0"/>
              </a:rPr>
              <a:t>Glioma Image Segmentation for Radiotherapy: RT targets, barriers to cancer spread, and organs at risk (GLIS-RT)</a:t>
            </a:r>
            <a:r>
              <a:rPr lang="en-US" sz="800" dirty="0">
                <a:effectLst/>
                <a:latin typeface="Calibri" panose="020F0502020204030204" pitchFamily="34" charset="0"/>
                <a:ea typeface="Calibri" panose="020F0502020204030204" pitchFamily="34" charset="0"/>
                <a:cs typeface="Calibri" panose="020F0502020204030204" pitchFamily="34" charset="0"/>
              </a:rPr>
              <a:t> (Version 1) [dataset]. The Cancer Imaging Archive. https://doi.org/10.7937/TCIA.T905-ZQ20</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err="1">
                <a:effectLst/>
                <a:latin typeface="Calibri" panose="020F0502020204030204" pitchFamily="34" charset="0"/>
                <a:ea typeface="Calibri" panose="020F0502020204030204" pitchFamily="34" charset="0"/>
                <a:cs typeface="Calibri" panose="020F0502020204030204" pitchFamily="34" charset="0"/>
              </a:rPr>
              <a:t>Tsujii</a:t>
            </a:r>
            <a:r>
              <a:rPr lang="en-US" sz="800" dirty="0">
                <a:effectLst/>
                <a:latin typeface="Calibri" panose="020F0502020204030204" pitchFamily="34" charset="0"/>
                <a:ea typeface="Calibri" panose="020F0502020204030204" pitchFamily="34" charset="0"/>
                <a:cs typeface="Calibri" panose="020F0502020204030204" pitchFamily="34" charset="0"/>
              </a:rPr>
              <a:t>, H. (2017). Overview of Carbon-ion Radiotherapy. </a:t>
            </a:r>
            <a:r>
              <a:rPr lang="en-US" sz="800" i="1" dirty="0">
                <a:effectLst/>
                <a:latin typeface="Calibri" panose="020F0502020204030204" pitchFamily="34" charset="0"/>
                <a:ea typeface="Calibri" panose="020F0502020204030204" pitchFamily="34" charset="0"/>
                <a:cs typeface="Calibri" panose="020F0502020204030204" pitchFamily="34" charset="0"/>
              </a:rPr>
              <a:t>Journal of Physics: Conference Series</a:t>
            </a:r>
            <a:r>
              <a:rPr lang="en-US" sz="800" dirty="0">
                <a:effectLst/>
                <a:latin typeface="Calibri" panose="020F0502020204030204" pitchFamily="34" charset="0"/>
                <a:ea typeface="Calibri" panose="020F0502020204030204" pitchFamily="34" charset="0"/>
                <a:cs typeface="Calibri" panose="020F0502020204030204" pitchFamily="34" charset="0"/>
              </a:rPr>
              <a:t>, </a:t>
            </a:r>
            <a:r>
              <a:rPr lang="en-US" sz="800" i="1" dirty="0">
                <a:effectLst/>
                <a:latin typeface="Calibri" panose="020F0502020204030204" pitchFamily="34" charset="0"/>
                <a:ea typeface="Calibri" panose="020F0502020204030204" pitchFamily="34" charset="0"/>
                <a:cs typeface="Calibri" panose="020F0502020204030204" pitchFamily="34" charset="0"/>
              </a:rPr>
              <a:t>777</a:t>
            </a:r>
            <a:r>
              <a:rPr lang="en-US" sz="800" dirty="0">
                <a:effectLst/>
                <a:latin typeface="Calibri" panose="020F0502020204030204" pitchFamily="34" charset="0"/>
                <a:ea typeface="Calibri" panose="020F0502020204030204" pitchFamily="34" charset="0"/>
                <a:cs typeface="Calibri" panose="020F0502020204030204" pitchFamily="34" charset="0"/>
              </a:rPr>
              <a:t>, 012032. https://doi.org/10.1088/1742-6596/777/1/012032</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err="1">
                <a:effectLst/>
                <a:latin typeface="Calibri" panose="020F0502020204030204" pitchFamily="34" charset="0"/>
                <a:ea typeface="Calibri" panose="020F0502020204030204" pitchFamily="34" charset="0"/>
                <a:cs typeface="Calibri" panose="020F0502020204030204" pitchFamily="34" charset="0"/>
              </a:rPr>
              <a:t>Vassiliev</a:t>
            </a:r>
            <a:r>
              <a:rPr lang="en-US" sz="800" dirty="0">
                <a:effectLst/>
                <a:latin typeface="Calibri" panose="020F0502020204030204" pitchFamily="34" charset="0"/>
                <a:ea typeface="Calibri" panose="020F0502020204030204" pitchFamily="34" charset="0"/>
                <a:cs typeface="Calibri" panose="020F0502020204030204" pitchFamily="34" charset="0"/>
              </a:rPr>
              <a:t>, O. N. (2016). </a:t>
            </a:r>
            <a:r>
              <a:rPr lang="en-US" sz="800" i="1" dirty="0">
                <a:effectLst/>
                <a:latin typeface="Calibri" panose="020F0502020204030204" pitchFamily="34" charset="0"/>
                <a:ea typeface="Calibri" panose="020F0502020204030204" pitchFamily="34" charset="0"/>
                <a:cs typeface="Calibri" panose="020F0502020204030204" pitchFamily="34" charset="0"/>
              </a:rPr>
              <a:t>Monte Carlo methods for radiation transport: Fundamentals and advanced topics</a:t>
            </a:r>
            <a:r>
              <a:rPr lang="en-US" sz="800" dirty="0">
                <a:effectLst/>
                <a:latin typeface="Calibri" panose="020F0502020204030204" pitchFamily="34" charset="0"/>
                <a:ea typeface="Calibri" panose="020F0502020204030204" pitchFamily="34" charset="0"/>
                <a:cs typeface="Calibri" panose="020F0502020204030204" pitchFamily="34" charset="0"/>
              </a:rPr>
              <a:t>. Springer </a:t>
            </a:r>
            <a:r>
              <a:rPr lang="en-US" sz="800" dirty="0" err="1">
                <a:effectLst/>
                <a:latin typeface="Calibri" panose="020F0502020204030204" pitchFamily="34" charset="0"/>
                <a:ea typeface="Calibri" panose="020F0502020204030204" pitchFamily="34" charset="0"/>
                <a:cs typeface="Calibri" panose="020F0502020204030204" pitchFamily="34" charset="0"/>
              </a:rPr>
              <a:t>Science+Business</a:t>
            </a:r>
            <a:r>
              <a:rPr lang="en-US" sz="800" dirty="0">
                <a:effectLst/>
                <a:latin typeface="Calibri" panose="020F0502020204030204" pitchFamily="34" charset="0"/>
                <a:ea typeface="Calibri" panose="020F0502020204030204" pitchFamily="34" charset="0"/>
                <a:cs typeface="Calibri" panose="020F0502020204030204" pitchFamily="34" charset="0"/>
              </a:rPr>
              <a:t> Media.</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a:effectLst/>
                <a:latin typeface="Calibri" panose="020F0502020204030204" pitchFamily="34" charset="0"/>
                <a:ea typeface="Calibri" panose="020F0502020204030204" pitchFamily="34" charset="0"/>
                <a:cs typeface="Calibri" panose="020F0502020204030204" pitchFamily="34" charset="0"/>
              </a:rPr>
              <a:t>Weng, L. (2019). </a:t>
            </a:r>
            <a:r>
              <a:rPr lang="en-US" sz="800" i="1" dirty="0">
                <a:effectLst/>
                <a:latin typeface="Calibri" panose="020F0502020204030204" pitchFamily="34" charset="0"/>
                <a:ea typeface="Calibri" panose="020F0502020204030204" pitchFamily="34" charset="0"/>
                <a:cs typeface="Calibri" panose="020F0502020204030204" pitchFamily="34" charset="0"/>
              </a:rPr>
              <a:t>From GAN to WGAN</a:t>
            </a:r>
            <a:r>
              <a:rPr lang="en-US" sz="800" dirty="0">
                <a:effectLst/>
                <a:latin typeface="Calibri" panose="020F0502020204030204" pitchFamily="34" charset="0"/>
                <a:ea typeface="Calibri" panose="020F0502020204030204" pitchFamily="34" charset="0"/>
                <a:cs typeface="Calibri" panose="020F0502020204030204" pitchFamily="34" charset="0"/>
              </a:rPr>
              <a:t> (arXiv:1904.08994). </a:t>
            </a:r>
            <a:r>
              <a:rPr lang="en-US" sz="800" dirty="0" err="1">
                <a:effectLst/>
                <a:latin typeface="Calibri" panose="020F0502020204030204" pitchFamily="34" charset="0"/>
                <a:ea typeface="Calibri" panose="020F0502020204030204" pitchFamily="34" charset="0"/>
                <a:cs typeface="Calibri" panose="020F0502020204030204" pitchFamily="34" charset="0"/>
              </a:rPr>
              <a:t>arXiv</a:t>
            </a:r>
            <a:r>
              <a:rPr lang="en-US" sz="800" dirty="0">
                <a:effectLst/>
                <a:latin typeface="Calibri" panose="020F0502020204030204" pitchFamily="34" charset="0"/>
                <a:ea typeface="Calibri" panose="020F0502020204030204" pitchFamily="34" charset="0"/>
                <a:cs typeface="Calibri" panose="020F0502020204030204" pitchFamily="34" charset="0"/>
              </a:rPr>
              <a:t>. http://arxiv.org/abs/1904.08994</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err="1">
                <a:effectLst/>
                <a:latin typeface="Calibri" panose="020F0502020204030204" pitchFamily="34" charset="0"/>
                <a:ea typeface="Calibri" panose="020F0502020204030204" pitchFamily="34" charset="0"/>
                <a:cs typeface="Calibri" panose="020F0502020204030204" pitchFamily="34" charset="0"/>
              </a:rPr>
              <a:t>Yoganathan</a:t>
            </a:r>
            <a:r>
              <a:rPr lang="en-US" sz="800" dirty="0">
                <a:effectLst/>
                <a:latin typeface="Calibri" panose="020F0502020204030204" pitchFamily="34" charset="0"/>
                <a:ea typeface="Calibri" panose="020F0502020204030204" pitchFamily="34" charset="0"/>
                <a:cs typeface="Calibri" panose="020F0502020204030204" pitchFamily="34" charset="0"/>
              </a:rPr>
              <a:t>, S. A., &amp; Zhang, R. (2019). An atlas-based method to predict three-dimensional dose distributions for cancer patients who receive radiotherapy. </a:t>
            </a:r>
            <a:r>
              <a:rPr lang="en-US" sz="800" i="1" dirty="0">
                <a:effectLst/>
                <a:latin typeface="Calibri" panose="020F0502020204030204" pitchFamily="34" charset="0"/>
                <a:ea typeface="Calibri" panose="020F0502020204030204" pitchFamily="34" charset="0"/>
                <a:cs typeface="Calibri" panose="020F0502020204030204" pitchFamily="34" charset="0"/>
              </a:rPr>
              <a:t>Physics in Medicine &amp; Biology</a:t>
            </a:r>
            <a:r>
              <a:rPr lang="en-US" sz="800" dirty="0">
                <a:effectLst/>
                <a:latin typeface="Calibri" panose="020F0502020204030204" pitchFamily="34" charset="0"/>
                <a:ea typeface="Calibri" panose="020F0502020204030204" pitchFamily="34" charset="0"/>
                <a:cs typeface="Calibri" panose="020F0502020204030204" pitchFamily="34" charset="0"/>
              </a:rPr>
              <a:t>, </a:t>
            </a:r>
            <a:r>
              <a:rPr lang="en-US" sz="800" i="1" dirty="0">
                <a:effectLst/>
                <a:latin typeface="Calibri" panose="020F0502020204030204" pitchFamily="34" charset="0"/>
                <a:ea typeface="Calibri" panose="020F0502020204030204" pitchFamily="34" charset="0"/>
                <a:cs typeface="Calibri" panose="020F0502020204030204" pitchFamily="34" charset="0"/>
              </a:rPr>
              <a:t>64</a:t>
            </a:r>
            <a:r>
              <a:rPr lang="en-US" sz="800" dirty="0">
                <a:effectLst/>
                <a:latin typeface="Calibri" panose="020F0502020204030204" pitchFamily="34" charset="0"/>
                <a:ea typeface="Calibri" panose="020F0502020204030204" pitchFamily="34" charset="0"/>
                <a:cs typeface="Calibri" panose="020F0502020204030204" pitchFamily="34" charset="0"/>
              </a:rPr>
              <a:t>(8), 085016. https://doi.org/10.1088/1361-6560/ab10a0</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800" dirty="0">
                <a:effectLst/>
                <a:latin typeface="Calibri" panose="020F0502020204030204" pitchFamily="34" charset="0"/>
                <a:ea typeface="Calibri" panose="020F0502020204030204" pitchFamily="34" charset="0"/>
                <a:cs typeface="Calibri" panose="020F0502020204030204" pitchFamily="34" charset="0"/>
              </a:rPr>
              <a:t>Zhang, Q., Kong, L., Liu, R., &amp; Wang, X. (2021). Ion therapy guideline (Version 2020): Radiation Oncology Physicians Branch of Chinese Medical Doctor Association. </a:t>
            </a:r>
            <a:r>
              <a:rPr lang="de-DE" sz="800" i="1" dirty="0">
                <a:effectLst/>
                <a:latin typeface="Calibri" panose="020F0502020204030204" pitchFamily="34" charset="0"/>
                <a:ea typeface="Calibri" panose="020F0502020204030204" pitchFamily="34" charset="0"/>
                <a:cs typeface="Calibri" panose="020F0502020204030204" pitchFamily="34" charset="0"/>
              </a:rPr>
              <a:t>Precision Radiation Oncology</a:t>
            </a:r>
            <a:r>
              <a:rPr lang="de-DE" sz="800" dirty="0">
                <a:effectLst/>
                <a:latin typeface="Calibri" panose="020F0502020204030204" pitchFamily="34" charset="0"/>
                <a:ea typeface="Calibri" panose="020F0502020204030204" pitchFamily="34" charset="0"/>
                <a:cs typeface="Calibri" panose="020F0502020204030204" pitchFamily="34" charset="0"/>
              </a:rPr>
              <a:t>, </a:t>
            </a:r>
            <a:r>
              <a:rPr lang="de-DE" sz="800" i="1" dirty="0">
                <a:effectLst/>
                <a:latin typeface="Calibri" panose="020F0502020204030204" pitchFamily="34" charset="0"/>
                <a:ea typeface="Calibri" panose="020F0502020204030204" pitchFamily="34" charset="0"/>
                <a:cs typeface="Calibri" panose="020F0502020204030204" pitchFamily="34" charset="0"/>
              </a:rPr>
              <a:t>5</a:t>
            </a:r>
            <a:r>
              <a:rPr lang="de-DE" sz="800" dirty="0">
                <a:effectLst/>
                <a:latin typeface="Calibri" panose="020F0502020204030204" pitchFamily="34" charset="0"/>
                <a:ea typeface="Calibri" panose="020F0502020204030204" pitchFamily="34" charset="0"/>
                <a:cs typeface="Calibri" panose="020F0502020204030204" pitchFamily="34" charset="0"/>
              </a:rPr>
              <a:t>(2), 73–83. https://doi.org/10.1002/pro6.1120</a:t>
            </a:r>
            <a:endParaRPr lang="en-US" sz="800" dirty="0">
              <a:effectLst/>
              <a:latin typeface="Calibri" panose="020F0502020204030204" pitchFamily="34" charset="0"/>
              <a:ea typeface="Calibri" panose="020F0502020204030204" pitchFamily="34" charset="0"/>
              <a:cs typeface="Cordia New" panose="020B0304020202020204" pitchFamily="34" charset="-34"/>
            </a:endParaRPr>
          </a:p>
        </p:txBody>
      </p:sp>
      <p:pic>
        <p:nvPicPr>
          <p:cNvPr id="3074" name="Picture 2" descr="Logo der Physikalisch-Technischen Bundesanstalt">
            <a:extLst>
              <a:ext uri="{FF2B5EF4-FFF2-40B4-BE49-F238E27FC236}">
                <a16:creationId xmlns:a16="http://schemas.microsoft.com/office/drawing/2014/main" id="{2FD150D0-FC0B-E714-EF1C-0A9B4E7348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0940" y="4244976"/>
            <a:ext cx="3219450" cy="12477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ochschule Anhalt">
            <a:extLst>
              <a:ext uri="{FF2B5EF4-FFF2-40B4-BE49-F238E27FC236}">
                <a16:creationId xmlns:a16="http://schemas.microsoft.com/office/drawing/2014/main" id="{398D5915-2D65-C0BD-1068-68A91AA487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18577" y="1453984"/>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Studieren, Forschen und Leben">
            <a:extLst>
              <a:ext uri="{FF2B5EF4-FFF2-40B4-BE49-F238E27FC236}">
                <a16:creationId xmlns:a16="http://schemas.microsoft.com/office/drawing/2014/main" id="{EE39CABD-5162-22F6-970B-3F73CD1877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7560" y="1972371"/>
            <a:ext cx="3293862" cy="640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93982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D10B31-1F1B-0109-B977-BBA8CD9F443D}"/>
              </a:ext>
            </a:extLst>
          </p:cNvPr>
          <p:cNvSpPr>
            <a:spLocks noGrp="1"/>
          </p:cNvSpPr>
          <p:nvPr>
            <p:ph type="title"/>
          </p:nvPr>
        </p:nvSpPr>
        <p:spPr/>
        <p:txBody>
          <a:bodyPr/>
          <a:lstStyle/>
          <a:p>
            <a:r>
              <a:rPr lang="en-US" dirty="0"/>
              <a:t>References</a:t>
            </a:r>
          </a:p>
        </p:txBody>
      </p:sp>
      <p:sp>
        <p:nvSpPr>
          <p:cNvPr id="4" name="Date Placeholder 3">
            <a:extLst>
              <a:ext uri="{FF2B5EF4-FFF2-40B4-BE49-F238E27FC236}">
                <a16:creationId xmlns:a16="http://schemas.microsoft.com/office/drawing/2014/main" id="{806D08E4-56E6-3007-5FD2-A9C2837A3EC1}"/>
              </a:ext>
            </a:extLst>
          </p:cNvPr>
          <p:cNvSpPr>
            <a:spLocks noGrp="1"/>
          </p:cNvSpPr>
          <p:nvPr>
            <p:ph type="dt" sz="half" idx="10"/>
          </p:nvPr>
        </p:nvSpPr>
        <p:spPr/>
        <p:txBody>
          <a:bodyPr/>
          <a:lstStyle/>
          <a:p>
            <a:pPr>
              <a:defRPr/>
            </a:pPr>
            <a:fld id="{6BBCFA0D-75E3-4747-B95D-E9B5B1791F05}" type="datetime1">
              <a:rPr lang="en-US" smtClean="0"/>
              <a:t>2/28/2024</a:t>
            </a:fld>
            <a:endParaRPr lang="de-DE" dirty="0"/>
          </a:p>
        </p:txBody>
      </p:sp>
      <p:sp>
        <p:nvSpPr>
          <p:cNvPr id="5" name="Footer Placeholder 4">
            <a:extLst>
              <a:ext uri="{FF2B5EF4-FFF2-40B4-BE49-F238E27FC236}">
                <a16:creationId xmlns:a16="http://schemas.microsoft.com/office/drawing/2014/main" id="{B042E456-3A49-370A-14BF-43CAE711A140}"/>
              </a:ext>
            </a:extLst>
          </p:cNvPr>
          <p:cNvSpPr>
            <a:spLocks noGrp="1"/>
          </p:cNvSpPr>
          <p:nvPr>
            <p:ph type="ftr" sz="quarter" idx="11"/>
          </p:nvPr>
        </p:nvSpPr>
        <p:spPr/>
        <p:txBody>
          <a:bodyPr/>
          <a:lstStyle/>
          <a:p>
            <a:pPr>
              <a:defRPr/>
            </a:pPr>
            <a:r>
              <a:rPr lang="de-DE"/>
              <a:t>Pichaya Tappayuthpijarn</a:t>
            </a:r>
            <a:endParaRPr lang="de-DE" dirty="0"/>
          </a:p>
        </p:txBody>
      </p:sp>
      <p:sp>
        <p:nvSpPr>
          <p:cNvPr id="6" name="Slide Number Placeholder 5">
            <a:extLst>
              <a:ext uri="{FF2B5EF4-FFF2-40B4-BE49-F238E27FC236}">
                <a16:creationId xmlns:a16="http://schemas.microsoft.com/office/drawing/2014/main" id="{91909525-63B4-4AB4-5160-B2F3F93B319D}"/>
              </a:ext>
            </a:extLst>
          </p:cNvPr>
          <p:cNvSpPr>
            <a:spLocks noGrp="1"/>
          </p:cNvSpPr>
          <p:nvPr>
            <p:ph type="sldNum" sz="quarter" idx="12"/>
          </p:nvPr>
        </p:nvSpPr>
        <p:spPr/>
        <p:txBody>
          <a:bodyPr/>
          <a:lstStyle/>
          <a:p>
            <a:pPr>
              <a:defRPr/>
            </a:pPr>
            <a:r>
              <a:rPr lang="de-DE"/>
              <a:t>SEITE</a:t>
            </a:r>
            <a:r>
              <a:rPr lang="de-DE" spc="0"/>
              <a:t> </a:t>
            </a:r>
            <a:fld id="{37ED3A82-C5FC-FE4D-9EDE-EA1B3EA06354}" type="slidenum">
              <a:rPr lang="de-DE" spc="0" smtClean="0"/>
              <a:pPr>
                <a:defRPr/>
              </a:pPr>
              <a:t>27</a:t>
            </a:fld>
            <a:endParaRPr lang="de-DE" spc="0"/>
          </a:p>
        </p:txBody>
      </p:sp>
      <p:sp>
        <p:nvSpPr>
          <p:cNvPr id="7" name="Rectangle 6">
            <a:extLst>
              <a:ext uri="{FF2B5EF4-FFF2-40B4-BE49-F238E27FC236}">
                <a16:creationId xmlns:a16="http://schemas.microsoft.com/office/drawing/2014/main" id="{F10990ED-9BE2-904A-DC6A-A779B2069620}"/>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sp>
        <p:nvSpPr>
          <p:cNvPr id="9" name="Content Placeholder 8">
            <a:extLst>
              <a:ext uri="{FF2B5EF4-FFF2-40B4-BE49-F238E27FC236}">
                <a16:creationId xmlns:a16="http://schemas.microsoft.com/office/drawing/2014/main" id="{8D09A869-14DC-325D-CE5B-502FF8CD5890}"/>
              </a:ext>
            </a:extLst>
          </p:cNvPr>
          <p:cNvSpPr>
            <a:spLocks noGrp="1"/>
          </p:cNvSpPr>
          <p:nvPr>
            <p:ph idx="1"/>
          </p:nvPr>
        </p:nvSpPr>
        <p:spPr/>
        <p:txBody>
          <a:bodyPr>
            <a:noAutofit/>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Calibri" panose="020F0502020204030204" pitchFamily="34" charset="0"/>
              </a:rPr>
              <a:t>AAPM Report 85. (2004). </a:t>
            </a:r>
            <a:r>
              <a:rPr lang="en-US" sz="1200" i="1" dirty="0">
                <a:effectLst/>
                <a:latin typeface="Calibri" panose="020F0502020204030204" pitchFamily="34" charset="0"/>
                <a:ea typeface="Calibri" panose="020F0502020204030204" pitchFamily="34" charset="0"/>
                <a:cs typeface="Calibri" panose="020F0502020204030204" pitchFamily="34" charset="0"/>
              </a:rPr>
              <a:t>Tissue inhomogeneity corrections for megavoltage photon beams.</a:t>
            </a:r>
            <a:r>
              <a:rPr lang="en-US" sz="1200" dirty="0">
                <a:effectLst/>
                <a:latin typeface="Calibri" panose="020F0502020204030204" pitchFamily="34" charset="0"/>
                <a:ea typeface="Calibri" panose="020F0502020204030204" pitchFamily="34" charset="0"/>
                <a:cs typeface="Calibri" panose="020F0502020204030204" pitchFamily="34" charset="0"/>
              </a:rPr>
              <a:t> Radiation Therapy Committee Task Group 65. Medical Physics Publishing, Madison, WI. https://www.aapm.org/pubs/reports/rpt_85.pdf</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err="1">
                <a:effectLst/>
                <a:latin typeface="Calibri" panose="020F0502020204030204" pitchFamily="34" charset="0"/>
                <a:ea typeface="Calibri" panose="020F0502020204030204" pitchFamily="34" charset="0"/>
                <a:cs typeface="Calibri" panose="020F0502020204030204" pitchFamily="34" charset="0"/>
              </a:rPr>
              <a:t>Agostinelli</a:t>
            </a:r>
            <a:r>
              <a:rPr lang="en-US" sz="1200" dirty="0">
                <a:effectLst/>
                <a:latin typeface="Calibri" panose="020F0502020204030204" pitchFamily="34" charset="0"/>
                <a:ea typeface="Calibri" panose="020F0502020204030204" pitchFamily="34" charset="0"/>
                <a:cs typeface="Calibri" panose="020F0502020204030204" pitchFamily="34" charset="0"/>
              </a:rPr>
              <a:t>, S., Allison, J., </a:t>
            </a:r>
            <a:r>
              <a:rPr lang="en-US" sz="1200" dirty="0" err="1">
                <a:effectLst/>
                <a:latin typeface="Calibri" panose="020F0502020204030204" pitchFamily="34" charset="0"/>
                <a:ea typeface="Calibri" panose="020F0502020204030204" pitchFamily="34" charset="0"/>
                <a:cs typeface="Calibri" panose="020F0502020204030204" pitchFamily="34" charset="0"/>
              </a:rPr>
              <a:t>Amako</a:t>
            </a:r>
            <a:r>
              <a:rPr lang="en-US" sz="1200" dirty="0">
                <a:effectLst/>
                <a:latin typeface="Calibri" panose="020F0502020204030204" pitchFamily="34" charset="0"/>
                <a:ea typeface="Calibri" panose="020F0502020204030204" pitchFamily="34" charset="0"/>
                <a:cs typeface="Calibri" panose="020F0502020204030204" pitchFamily="34" charset="0"/>
              </a:rPr>
              <a:t>, K., Apostolakis, J., Araujo, H., Arce, P., </a:t>
            </a:r>
            <a:r>
              <a:rPr lang="en-US" sz="1200" dirty="0" err="1">
                <a:effectLst/>
                <a:latin typeface="Calibri" panose="020F0502020204030204" pitchFamily="34" charset="0"/>
                <a:ea typeface="Calibri" panose="020F0502020204030204" pitchFamily="34" charset="0"/>
                <a:cs typeface="Calibri" panose="020F0502020204030204" pitchFamily="34" charset="0"/>
              </a:rPr>
              <a:t>Asai</a:t>
            </a:r>
            <a:r>
              <a:rPr lang="en-US" sz="1200" dirty="0">
                <a:effectLst/>
                <a:latin typeface="Calibri" panose="020F0502020204030204" pitchFamily="34" charset="0"/>
                <a:ea typeface="Calibri" panose="020F0502020204030204" pitchFamily="34" charset="0"/>
                <a:cs typeface="Calibri" panose="020F0502020204030204" pitchFamily="34" charset="0"/>
              </a:rPr>
              <a:t>, M., </a:t>
            </a:r>
            <a:r>
              <a:rPr lang="en-US" sz="1200" dirty="0" err="1">
                <a:effectLst/>
                <a:latin typeface="Calibri" panose="020F0502020204030204" pitchFamily="34" charset="0"/>
                <a:ea typeface="Calibri" panose="020F0502020204030204" pitchFamily="34" charset="0"/>
                <a:cs typeface="Calibri" panose="020F0502020204030204" pitchFamily="34" charset="0"/>
              </a:rPr>
              <a:t>Axen</a:t>
            </a:r>
            <a:r>
              <a:rPr lang="en-US" sz="1200" dirty="0">
                <a:effectLst/>
                <a:latin typeface="Calibri" panose="020F0502020204030204" pitchFamily="34" charset="0"/>
                <a:ea typeface="Calibri" panose="020F0502020204030204" pitchFamily="34" charset="0"/>
                <a:cs typeface="Calibri" panose="020F0502020204030204" pitchFamily="34" charset="0"/>
              </a:rPr>
              <a:t>, D., Banerjee, S., </a:t>
            </a:r>
            <a:r>
              <a:rPr lang="en-US" sz="1200" dirty="0" err="1">
                <a:effectLst/>
                <a:latin typeface="Calibri" panose="020F0502020204030204" pitchFamily="34" charset="0"/>
                <a:ea typeface="Calibri" panose="020F0502020204030204" pitchFamily="34" charset="0"/>
                <a:cs typeface="Calibri" panose="020F0502020204030204" pitchFamily="34" charset="0"/>
              </a:rPr>
              <a:t>Barrand</a:t>
            </a:r>
            <a:r>
              <a:rPr lang="en-US" sz="1200" dirty="0">
                <a:effectLst/>
                <a:latin typeface="Calibri" panose="020F0502020204030204" pitchFamily="34" charset="0"/>
                <a:ea typeface="Calibri" panose="020F0502020204030204" pitchFamily="34" charset="0"/>
                <a:cs typeface="Calibri" panose="020F0502020204030204" pitchFamily="34" charset="0"/>
              </a:rPr>
              <a:t>, G., </a:t>
            </a:r>
            <a:r>
              <a:rPr lang="en-US" sz="1200" dirty="0" err="1">
                <a:effectLst/>
                <a:latin typeface="Calibri" panose="020F0502020204030204" pitchFamily="34" charset="0"/>
                <a:ea typeface="Calibri" panose="020F0502020204030204" pitchFamily="34" charset="0"/>
                <a:cs typeface="Calibri" panose="020F0502020204030204" pitchFamily="34" charset="0"/>
              </a:rPr>
              <a:t>Behner</a:t>
            </a:r>
            <a:r>
              <a:rPr lang="en-US" sz="1200" dirty="0">
                <a:effectLst/>
                <a:latin typeface="Calibri" panose="020F0502020204030204" pitchFamily="34" charset="0"/>
                <a:ea typeface="Calibri" panose="020F0502020204030204" pitchFamily="34" charset="0"/>
                <a:cs typeface="Calibri" panose="020F0502020204030204" pitchFamily="34" charset="0"/>
              </a:rPr>
              <a:t>, F., </a:t>
            </a:r>
            <a:r>
              <a:rPr lang="en-US" sz="1200" dirty="0" err="1">
                <a:effectLst/>
                <a:latin typeface="Calibri" panose="020F0502020204030204" pitchFamily="34" charset="0"/>
                <a:ea typeface="Calibri" panose="020F0502020204030204" pitchFamily="34" charset="0"/>
                <a:cs typeface="Calibri" panose="020F0502020204030204" pitchFamily="34" charset="0"/>
              </a:rPr>
              <a:t>Bellagamba</a:t>
            </a:r>
            <a:r>
              <a:rPr lang="en-US" sz="1200" dirty="0">
                <a:effectLst/>
                <a:latin typeface="Calibri" panose="020F0502020204030204" pitchFamily="34" charset="0"/>
                <a:ea typeface="Calibri" panose="020F0502020204030204" pitchFamily="34" charset="0"/>
                <a:cs typeface="Calibri" panose="020F0502020204030204" pitchFamily="34" charset="0"/>
              </a:rPr>
              <a:t>, L., Boudreau, J., </a:t>
            </a:r>
            <a:r>
              <a:rPr lang="en-US" sz="1200" dirty="0" err="1">
                <a:effectLst/>
                <a:latin typeface="Calibri" panose="020F0502020204030204" pitchFamily="34" charset="0"/>
                <a:ea typeface="Calibri" panose="020F0502020204030204" pitchFamily="34" charset="0"/>
                <a:cs typeface="Calibri" panose="020F0502020204030204" pitchFamily="34" charset="0"/>
              </a:rPr>
              <a:t>Broglia</a:t>
            </a:r>
            <a:r>
              <a:rPr lang="en-US" sz="1200" dirty="0">
                <a:effectLst/>
                <a:latin typeface="Calibri" panose="020F0502020204030204" pitchFamily="34" charset="0"/>
                <a:ea typeface="Calibri" panose="020F0502020204030204" pitchFamily="34" charset="0"/>
                <a:cs typeface="Calibri" panose="020F0502020204030204" pitchFamily="34" charset="0"/>
              </a:rPr>
              <a:t>, L., </a:t>
            </a:r>
            <a:r>
              <a:rPr lang="en-US" sz="1200" dirty="0" err="1">
                <a:effectLst/>
                <a:latin typeface="Calibri" panose="020F0502020204030204" pitchFamily="34" charset="0"/>
                <a:ea typeface="Calibri" panose="020F0502020204030204" pitchFamily="34" charset="0"/>
                <a:cs typeface="Calibri" panose="020F0502020204030204" pitchFamily="34" charset="0"/>
              </a:rPr>
              <a:t>Brunengo</a:t>
            </a:r>
            <a:r>
              <a:rPr lang="en-US" sz="1200" dirty="0">
                <a:effectLst/>
                <a:latin typeface="Calibri" panose="020F0502020204030204" pitchFamily="34" charset="0"/>
                <a:ea typeface="Calibri" panose="020F0502020204030204" pitchFamily="34" charset="0"/>
                <a:cs typeface="Calibri" panose="020F0502020204030204" pitchFamily="34" charset="0"/>
              </a:rPr>
              <a:t>, A., Burkhardt, H., </a:t>
            </a:r>
            <a:r>
              <a:rPr lang="en-US" sz="1200" dirty="0" err="1">
                <a:effectLst/>
                <a:latin typeface="Calibri" panose="020F0502020204030204" pitchFamily="34" charset="0"/>
                <a:ea typeface="Calibri" panose="020F0502020204030204" pitchFamily="34" charset="0"/>
                <a:cs typeface="Calibri" panose="020F0502020204030204" pitchFamily="34" charset="0"/>
              </a:rPr>
              <a:t>Chauvie</a:t>
            </a:r>
            <a:r>
              <a:rPr lang="en-US" sz="1200" dirty="0">
                <a:effectLst/>
                <a:latin typeface="Calibri" panose="020F0502020204030204" pitchFamily="34" charset="0"/>
                <a:ea typeface="Calibri" panose="020F0502020204030204" pitchFamily="34" charset="0"/>
                <a:cs typeface="Calibri" panose="020F0502020204030204" pitchFamily="34" charset="0"/>
              </a:rPr>
              <a:t>, S., </a:t>
            </a:r>
            <a:r>
              <a:rPr lang="en-US" sz="1200" dirty="0" err="1">
                <a:effectLst/>
                <a:latin typeface="Calibri" panose="020F0502020204030204" pitchFamily="34" charset="0"/>
                <a:ea typeface="Calibri" panose="020F0502020204030204" pitchFamily="34" charset="0"/>
                <a:cs typeface="Calibri" panose="020F0502020204030204" pitchFamily="34" charset="0"/>
              </a:rPr>
              <a:t>Chuma</a:t>
            </a:r>
            <a:r>
              <a:rPr lang="en-US" sz="1200" dirty="0">
                <a:effectLst/>
                <a:latin typeface="Calibri" panose="020F0502020204030204" pitchFamily="34" charset="0"/>
                <a:ea typeface="Calibri" panose="020F0502020204030204" pitchFamily="34" charset="0"/>
                <a:cs typeface="Calibri" panose="020F0502020204030204" pitchFamily="34" charset="0"/>
              </a:rPr>
              <a:t>, J., </a:t>
            </a:r>
            <a:r>
              <a:rPr lang="en-US" sz="1200" dirty="0" err="1">
                <a:effectLst/>
                <a:latin typeface="Calibri" panose="020F0502020204030204" pitchFamily="34" charset="0"/>
                <a:ea typeface="Calibri" panose="020F0502020204030204" pitchFamily="34" charset="0"/>
                <a:cs typeface="Calibri" panose="020F0502020204030204" pitchFamily="34" charset="0"/>
              </a:rPr>
              <a:t>Chytracek</a:t>
            </a:r>
            <a:r>
              <a:rPr lang="en-US" sz="1200" dirty="0">
                <a:effectLst/>
                <a:latin typeface="Calibri" panose="020F0502020204030204" pitchFamily="34" charset="0"/>
                <a:ea typeface="Calibri" panose="020F0502020204030204" pitchFamily="34" charset="0"/>
                <a:cs typeface="Calibri" panose="020F0502020204030204" pitchFamily="34" charset="0"/>
              </a:rPr>
              <a:t>, R., … </a:t>
            </a:r>
            <a:r>
              <a:rPr lang="en-US" sz="1200" dirty="0" err="1">
                <a:effectLst/>
                <a:latin typeface="Calibri" panose="020F0502020204030204" pitchFamily="34" charset="0"/>
                <a:ea typeface="Calibri" panose="020F0502020204030204" pitchFamily="34" charset="0"/>
                <a:cs typeface="Calibri" panose="020F0502020204030204" pitchFamily="34" charset="0"/>
              </a:rPr>
              <a:t>Zschiesche</a:t>
            </a:r>
            <a:r>
              <a:rPr lang="en-US" sz="1200" dirty="0">
                <a:effectLst/>
                <a:latin typeface="Calibri" panose="020F0502020204030204" pitchFamily="34" charset="0"/>
                <a:ea typeface="Calibri" panose="020F0502020204030204" pitchFamily="34" charset="0"/>
                <a:cs typeface="Calibri" panose="020F0502020204030204" pitchFamily="34" charset="0"/>
              </a:rPr>
              <a:t>, D. (2003). Geant4—A simulation toolkit. </a:t>
            </a:r>
            <a:r>
              <a:rPr lang="en-US" sz="1200" i="1" dirty="0">
                <a:effectLst/>
                <a:latin typeface="Calibri" panose="020F0502020204030204" pitchFamily="34" charset="0"/>
                <a:ea typeface="Calibri" panose="020F0502020204030204" pitchFamily="34" charset="0"/>
                <a:cs typeface="Calibri" panose="020F0502020204030204" pitchFamily="34" charset="0"/>
              </a:rPr>
              <a:t>Nuclear Instruments and Methods in Physics Research Section A: Accelerators, Spectrometers, Detectors and Associated Equipment</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a:effectLst/>
                <a:latin typeface="Calibri" panose="020F0502020204030204" pitchFamily="34" charset="0"/>
                <a:ea typeface="Calibri" panose="020F0502020204030204" pitchFamily="34" charset="0"/>
                <a:cs typeface="Calibri" panose="020F0502020204030204" pitchFamily="34" charset="0"/>
              </a:rPr>
              <a:t>506</a:t>
            </a:r>
            <a:r>
              <a:rPr lang="en-US" sz="1200" dirty="0">
                <a:effectLst/>
                <a:latin typeface="Calibri" panose="020F0502020204030204" pitchFamily="34" charset="0"/>
                <a:ea typeface="Calibri" panose="020F0502020204030204" pitchFamily="34" charset="0"/>
                <a:cs typeface="Calibri" panose="020F0502020204030204" pitchFamily="34" charset="0"/>
              </a:rPr>
              <a:t>(3), 250–303. https://doi.org/10.1016/S0168-9002(03)01368-8</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err="1">
                <a:effectLst/>
                <a:latin typeface="Calibri" panose="020F0502020204030204" pitchFamily="34" charset="0"/>
                <a:ea typeface="Calibri" panose="020F0502020204030204" pitchFamily="34" charset="0"/>
                <a:cs typeface="Calibri" panose="020F0502020204030204" pitchFamily="34" charset="0"/>
              </a:rPr>
              <a:t>Andreo</a:t>
            </a:r>
            <a:r>
              <a:rPr lang="en-US" sz="1200" dirty="0">
                <a:effectLst/>
                <a:latin typeface="Calibri" panose="020F0502020204030204" pitchFamily="34" charset="0"/>
                <a:ea typeface="Calibri" panose="020F0502020204030204" pitchFamily="34" charset="0"/>
                <a:cs typeface="Calibri" panose="020F0502020204030204" pitchFamily="34" charset="0"/>
              </a:rPr>
              <a:t>, P., Burns, D. T., Nahum, A. E., </a:t>
            </a:r>
            <a:r>
              <a:rPr lang="en-US" sz="1200" dirty="0" err="1">
                <a:effectLst/>
                <a:latin typeface="Calibri" panose="020F0502020204030204" pitchFamily="34" charset="0"/>
                <a:ea typeface="Calibri" panose="020F0502020204030204" pitchFamily="34" charset="0"/>
                <a:cs typeface="Calibri" panose="020F0502020204030204" pitchFamily="34" charset="0"/>
              </a:rPr>
              <a:t>Seuntjens</a:t>
            </a:r>
            <a:r>
              <a:rPr lang="en-US" sz="1200" dirty="0">
                <a:effectLst/>
                <a:latin typeface="Calibri" panose="020F0502020204030204" pitchFamily="34" charset="0"/>
                <a:ea typeface="Calibri" panose="020F0502020204030204" pitchFamily="34" charset="0"/>
                <a:cs typeface="Calibri" panose="020F0502020204030204" pitchFamily="34" charset="0"/>
              </a:rPr>
              <a:t>, J., &amp; </a:t>
            </a:r>
            <a:r>
              <a:rPr lang="en-US" sz="1200" dirty="0" err="1">
                <a:effectLst/>
                <a:latin typeface="Calibri" panose="020F0502020204030204" pitchFamily="34" charset="0"/>
                <a:ea typeface="Calibri" panose="020F0502020204030204" pitchFamily="34" charset="0"/>
                <a:cs typeface="Calibri" panose="020F0502020204030204" pitchFamily="34" charset="0"/>
              </a:rPr>
              <a:t>Attix</a:t>
            </a:r>
            <a:r>
              <a:rPr lang="en-US" sz="1200" dirty="0">
                <a:effectLst/>
                <a:latin typeface="Calibri" panose="020F0502020204030204" pitchFamily="34" charset="0"/>
                <a:ea typeface="Calibri" panose="020F0502020204030204" pitchFamily="34" charset="0"/>
                <a:cs typeface="Calibri" panose="020F0502020204030204" pitchFamily="34" charset="0"/>
              </a:rPr>
              <a:t>, F. H. (2017). </a:t>
            </a:r>
            <a:r>
              <a:rPr lang="en-US" sz="1200" i="1" dirty="0">
                <a:effectLst/>
                <a:latin typeface="Calibri" panose="020F0502020204030204" pitchFamily="34" charset="0"/>
                <a:ea typeface="Calibri" panose="020F0502020204030204" pitchFamily="34" charset="0"/>
                <a:cs typeface="Calibri" panose="020F0502020204030204" pitchFamily="34" charset="0"/>
              </a:rPr>
              <a:t>Fundamentals of ionizing radiation dosimetry. Textbook / Pedro </a:t>
            </a:r>
            <a:r>
              <a:rPr lang="en-US" sz="1200" i="1" dirty="0" err="1">
                <a:effectLst/>
                <a:latin typeface="Calibri" panose="020F0502020204030204" pitchFamily="34" charset="0"/>
                <a:ea typeface="Calibri" panose="020F0502020204030204" pitchFamily="34" charset="0"/>
                <a:cs typeface="Calibri" panose="020F0502020204030204" pitchFamily="34" charset="0"/>
              </a:rPr>
              <a:t>Andreo</a:t>
            </a:r>
            <a:r>
              <a:rPr lang="en-US" sz="1200" i="1" dirty="0">
                <a:effectLst/>
                <a:latin typeface="Calibri" panose="020F0502020204030204" pitchFamily="34" charset="0"/>
                <a:ea typeface="Calibri" panose="020F0502020204030204" pitchFamily="34" charset="0"/>
                <a:cs typeface="Calibri" panose="020F0502020204030204" pitchFamily="34" charset="0"/>
              </a:rPr>
              <a:t>, David T. Burns, Alan E. Nahum, Jan </a:t>
            </a:r>
            <a:r>
              <a:rPr lang="en-US" sz="1200" i="1" dirty="0" err="1">
                <a:effectLst/>
                <a:latin typeface="Calibri" panose="020F0502020204030204" pitchFamily="34" charset="0"/>
                <a:ea typeface="Calibri" panose="020F0502020204030204" pitchFamily="34" charset="0"/>
                <a:cs typeface="Calibri" panose="020F0502020204030204" pitchFamily="34" charset="0"/>
              </a:rPr>
              <a:t>Seuntjens</a:t>
            </a:r>
            <a:r>
              <a:rPr lang="en-US" sz="1200" i="1" dirty="0">
                <a:effectLst/>
                <a:latin typeface="Calibri" panose="020F0502020204030204" pitchFamily="34" charset="0"/>
                <a:ea typeface="Calibri" panose="020F0502020204030204" pitchFamily="34" charset="0"/>
                <a:cs typeface="Calibri" panose="020F0502020204030204" pitchFamily="34" charset="0"/>
              </a:rPr>
              <a:t>, and Frank H. </a:t>
            </a:r>
            <a:r>
              <a:rPr lang="en-US" sz="1200" i="1" dirty="0" err="1">
                <a:effectLst/>
                <a:latin typeface="Calibri" panose="020F0502020204030204" pitchFamily="34" charset="0"/>
                <a:ea typeface="Calibri" panose="020F0502020204030204" pitchFamily="34" charset="0"/>
                <a:cs typeface="Calibri" panose="020F0502020204030204" pitchFamily="34" charset="0"/>
              </a:rPr>
              <a:t>Attix</a:t>
            </a:r>
            <a:r>
              <a:rPr lang="en-US" sz="1200" dirty="0">
                <a:effectLst/>
                <a:latin typeface="Calibri" panose="020F0502020204030204" pitchFamily="34" charset="0"/>
                <a:ea typeface="Calibri" panose="020F0502020204030204" pitchFamily="34" charset="0"/>
                <a:cs typeface="Calibri" panose="020F0502020204030204" pitchFamily="34" charset="0"/>
              </a:rPr>
              <a:t>. Wiley-VCH.</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err="1">
                <a:effectLst/>
                <a:latin typeface="Calibri" panose="020F0502020204030204" pitchFamily="34" charset="0"/>
                <a:ea typeface="Calibri" panose="020F0502020204030204" pitchFamily="34" charset="0"/>
                <a:cs typeface="Calibri" panose="020F0502020204030204" pitchFamily="34" charset="0"/>
              </a:rPr>
              <a:t>Arjovsky</a:t>
            </a:r>
            <a:r>
              <a:rPr lang="en-US" sz="1200" dirty="0">
                <a:effectLst/>
                <a:latin typeface="Calibri" panose="020F0502020204030204" pitchFamily="34" charset="0"/>
                <a:ea typeface="Calibri" panose="020F0502020204030204" pitchFamily="34" charset="0"/>
                <a:cs typeface="Calibri" panose="020F0502020204030204" pitchFamily="34" charset="0"/>
              </a:rPr>
              <a:t>, M., &amp; </a:t>
            </a:r>
            <a:r>
              <a:rPr lang="en-US" sz="1200" dirty="0" err="1">
                <a:effectLst/>
                <a:latin typeface="Calibri" panose="020F0502020204030204" pitchFamily="34" charset="0"/>
                <a:ea typeface="Calibri" panose="020F0502020204030204" pitchFamily="34" charset="0"/>
                <a:cs typeface="Calibri" panose="020F0502020204030204" pitchFamily="34" charset="0"/>
              </a:rPr>
              <a:t>Bottou</a:t>
            </a:r>
            <a:r>
              <a:rPr lang="en-US" sz="1200" dirty="0">
                <a:effectLst/>
                <a:latin typeface="Calibri" panose="020F0502020204030204" pitchFamily="34" charset="0"/>
                <a:ea typeface="Calibri" panose="020F0502020204030204" pitchFamily="34" charset="0"/>
                <a:cs typeface="Calibri" panose="020F0502020204030204" pitchFamily="34" charset="0"/>
              </a:rPr>
              <a:t>, L. (2017). </a:t>
            </a:r>
            <a:r>
              <a:rPr lang="en-US" sz="1200" i="1" dirty="0">
                <a:effectLst/>
                <a:latin typeface="Calibri" panose="020F0502020204030204" pitchFamily="34" charset="0"/>
                <a:ea typeface="Calibri" panose="020F0502020204030204" pitchFamily="34" charset="0"/>
                <a:cs typeface="Calibri" panose="020F0502020204030204" pitchFamily="34" charset="0"/>
              </a:rPr>
              <a:t>Towards Principled Methods for Training Generative Adversarial Networks</a:t>
            </a:r>
            <a:r>
              <a:rPr lang="en-US" sz="1200" dirty="0">
                <a:effectLst/>
                <a:latin typeface="Calibri" panose="020F0502020204030204" pitchFamily="34" charset="0"/>
                <a:ea typeface="Calibri" panose="020F0502020204030204" pitchFamily="34" charset="0"/>
                <a:cs typeface="Calibri" panose="020F0502020204030204" pitchFamily="34" charset="0"/>
              </a:rPr>
              <a:t> (arXiv:1701.04862). </a:t>
            </a:r>
            <a:r>
              <a:rPr lang="en-US" sz="1200" dirty="0" err="1">
                <a:effectLst/>
                <a:latin typeface="Calibri" panose="020F0502020204030204" pitchFamily="34" charset="0"/>
                <a:ea typeface="Calibri" panose="020F0502020204030204" pitchFamily="34" charset="0"/>
                <a:cs typeface="Calibri" panose="020F0502020204030204" pitchFamily="34" charset="0"/>
              </a:rPr>
              <a:t>arXiv</a:t>
            </a:r>
            <a:r>
              <a:rPr lang="en-US" sz="1200" dirty="0">
                <a:effectLst/>
                <a:latin typeface="Calibri" panose="020F0502020204030204" pitchFamily="34" charset="0"/>
                <a:ea typeface="Calibri" panose="020F0502020204030204" pitchFamily="34" charset="0"/>
                <a:cs typeface="Calibri" panose="020F0502020204030204" pitchFamily="34" charset="0"/>
              </a:rPr>
              <a:t>. http://arxiv.org/abs/1701.04862</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err="1">
                <a:effectLst/>
                <a:latin typeface="Calibri" panose="020F0502020204030204" pitchFamily="34" charset="0"/>
                <a:ea typeface="Calibri" panose="020F0502020204030204" pitchFamily="34" charset="0"/>
                <a:cs typeface="Calibri" panose="020F0502020204030204" pitchFamily="34" charset="0"/>
              </a:rPr>
              <a:t>Arjovsky</a:t>
            </a:r>
            <a:r>
              <a:rPr lang="en-US" sz="1200" dirty="0">
                <a:effectLst/>
                <a:latin typeface="Calibri" panose="020F0502020204030204" pitchFamily="34" charset="0"/>
                <a:ea typeface="Calibri" panose="020F0502020204030204" pitchFamily="34" charset="0"/>
                <a:cs typeface="Calibri" panose="020F0502020204030204" pitchFamily="34" charset="0"/>
              </a:rPr>
              <a:t>, M., </a:t>
            </a:r>
            <a:r>
              <a:rPr lang="en-US" sz="1200" dirty="0" err="1">
                <a:effectLst/>
                <a:latin typeface="Calibri" panose="020F0502020204030204" pitchFamily="34" charset="0"/>
                <a:ea typeface="Calibri" panose="020F0502020204030204" pitchFamily="34" charset="0"/>
                <a:cs typeface="Calibri" panose="020F0502020204030204" pitchFamily="34" charset="0"/>
              </a:rPr>
              <a:t>Chintala</a:t>
            </a:r>
            <a:r>
              <a:rPr lang="en-US" sz="1200" dirty="0">
                <a:effectLst/>
                <a:latin typeface="Calibri" panose="020F0502020204030204" pitchFamily="34" charset="0"/>
                <a:ea typeface="Calibri" panose="020F0502020204030204" pitchFamily="34" charset="0"/>
                <a:cs typeface="Calibri" panose="020F0502020204030204" pitchFamily="34" charset="0"/>
              </a:rPr>
              <a:t>, S., &amp; </a:t>
            </a:r>
            <a:r>
              <a:rPr lang="en-US" sz="1200" dirty="0" err="1">
                <a:effectLst/>
                <a:latin typeface="Calibri" panose="020F0502020204030204" pitchFamily="34" charset="0"/>
                <a:ea typeface="Calibri" panose="020F0502020204030204" pitchFamily="34" charset="0"/>
                <a:cs typeface="Calibri" panose="020F0502020204030204" pitchFamily="34" charset="0"/>
              </a:rPr>
              <a:t>Bottou</a:t>
            </a:r>
            <a:r>
              <a:rPr lang="en-US" sz="1200" dirty="0">
                <a:effectLst/>
                <a:latin typeface="Calibri" panose="020F0502020204030204" pitchFamily="34" charset="0"/>
                <a:ea typeface="Calibri" panose="020F0502020204030204" pitchFamily="34" charset="0"/>
                <a:cs typeface="Calibri" panose="020F0502020204030204" pitchFamily="34" charset="0"/>
              </a:rPr>
              <a:t>, L. (2017). </a:t>
            </a:r>
            <a:r>
              <a:rPr lang="de-DE" sz="1200" i="1" dirty="0">
                <a:effectLst/>
                <a:latin typeface="Calibri" panose="020F0502020204030204" pitchFamily="34" charset="0"/>
                <a:ea typeface="Calibri" panose="020F0502020204030204" pitchFamily="34" charset="0"/>
                <a:cs typeface="Calibri" panose="020F0502020204030204" pitchFamily="34" charset="0"/>
              </a:rPr>
              <a:t>Wasserstein GAN</a:t>
            </a:r>
            <a:r>
              <a:rPr lang="de-DE" sz="1200" dirty="0">
                <a:effectLst/>
                <a:latin typeface="Calibri" panose="020F0502020204030204" pitchFamily="34" charset="0"/>
                <a:ea typeface="Calibri" panose="020F0502020204030204" pitchFamily="34" charset="0"/>
                <a:cs typeface="Calibri" panose="020F0502020204030204" pitchFamily="34" charset="0"/>
              </a:rPr>
              <a:t> (arXiv:1701.07875). arXiv. http://arxiv.org/abs/1701.07875</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Calibri" panose="020F0502020204030204" pitchFamily="34" charset="0"/>
              </a:rPr>
              <a:t>Barragán-Montero, A. M., Thomas, M., </a:t>
            </a:r>
            <a:r>
              <a:rPr lang="en-US" sz="1200" dirty="0" err="1">
                <a:effectLst/>
                <a:latin typeface="Calibri" panose="020F0502020204030204" pitchFamily="34" charset="0"/>
                <a:ea typeface="Calibri" panose="020F0502020204030204" pitchFamily="34" charset="0"/>
                <a:cs typeface="Calibri" panose="020F0502020204030204" pitchFamily="34" charset="0"/>
              </a:rPr>
              <a:t>Defraene</a:t>
            </a:r>
            <a:r>
              <a:rPr lang="en-US" sz="1200" dirty="0">
                <a:effectLst/>
                <a:latin typeface="Calibri" panose="020F0502020204030204" pitchFamily="34" charset="0"/>
                <a:ea typeface="Calibri" panose="020F0502020204030204" pitchFamily="34" charset="0"/>
                <a:cs typeface="Calibri" panose="020F0502020204030204" pitchFamily="34" charset="0"/>
              </a:rPr>
              <a:t>, G., Michiels, S., </a:t>
            </a:r>
            <a:r>
              <a:rPr lang="en-US" sz="1200" dirty="0" err="1">
                <a:effectLst/>
                <a:latin typeface="Calibri" panose="020F0502020204030204" pitchFamily="34" charset="0"/>
                <a:ea typeface="Calibri" panose="020F0502020204030204" pitchFamily="34" charset="0"/>
                <a:cs typeface="Calibri" panose="020F0502020204030204" pitchFamily="34" charset="0"/>
              </a:rPr>
              <a:t>Haustermans</a:t>
            </a:r>
            <a:r>
              <a:rPr lang="en-US" sz="1200" dirty="0">
                <a:effectLst/>
                <a:latin typeface="Calibri" panose="020F0502020204030204" pitchFamily="34" charset="0"/>
                <a:ea typeface="Calibri" panose="020F0502020204030204" pitchFamily="34" charset="0"/>
                <a:cs typeface="Calibri" panose="020F0502020204030204" pitchFamily="34" charset="0"/>
              </a:rPr>
              <a:t>, K., Lee, J. A., &amp; </a:t>
            </a:r>
            <a:r>
              <a:rPr lang="en-US" sz="1200" dirty="0" err="1">
                <a:effectLst/>
                <a:latin typeface="Calibri" panose="020F0502020204030204" pitchFamily="34" charset="0"/>
                <a:ea typeface="Calibri" panose="020F0502020204030204" pitchFamily="34" charset="0"/>
                <a:cs typeface="Calibri" panose="020F0502020204030204" pitchFamily="34" charset="0"/>
              </a:rPr>
              <a:t>Sterpin</a:t>
            </a:r>
            <a:r>
              <a:rPr lang="en-US" sz="1200" dirty="0">
                <a:effectLst/>
                <a:latin typeface="Calibri" panose="020F0502020204030204" pitchFamily="34" charset="0"/>
                <a:ea typeface="Calibri" panose="020F0502020204030204" pitchFamily="34" charset="0"/>
                <a:cs typeface="Calibri" panose="020F0502020204030204" pitchFamily="34" charset="0"/>
              </a:rPr>
              <a:t>, E. (2021). Deep learning dose prediction for IMRT of esophageal cancer: The effect of data quality and quantity on model performance. </a:t>
            </a:r>
            <a:r>
              <a:rPr lang="en-US" sz="1200" i="1" dirty="0" err="1">
                <a:effectLst/>
                <a:latin typeface="Calibri" panose="020F0502020204030204" pitchFamily="34" charset="0"/>
                <a:ea typeface="Calibri" panose="020F0502020204030204" pitchFamily="34" charset="0"/>
                <a:cs typeface="Calibri" panose="020F0502020204030204" pitchFamily="34" charset="0"/>
              </a:rPr>
              <a:t>Physica</a:t>
            </a:r>
            <a:r>
              <a:rPr lang="en-US" sz="1200" i="1" dirty="0">
                <a:effectLst/>
                <a:latin typeface="Calibri" panose="020F0502020204030204" pitchFamily="34" charset="0"/>
                <a:ea typeface="Calibri" panose="020F0502020204030204" pitchFamily="34" charset="0"/>
                <a:cs typeface="Calibri" panose="020F0502020204030204" pitchFamily="34" charset="0"/>
              </a:rPr>
              <a:t> Medica</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a:effectLst/>
                <a:latin typeface="Calibri" panose="020F0502020204030204" pitchFamily="34" charset="0"/>
                <a:ea typeface="Calibri" panose="020F0502020204030204" pitchFamily="34" charset="0"/>
                <a:cs typeface="Calibri" panose="020F0502020204030204" pitchFamily="34" charset="0"/>
              </a:rPr>
              <a:t>83</a:t>
            </a:r>
            <a:r>
              <a:rPr lang="en-US" sz="1200" dirty="0">
                <a:effectLst/>
                <a:latin typeface="Calibri" panose="020F0502020204030204" pitchFamily="34" charset="0"/>
                <a:ea typeface="Calibri" panose="020F0502020204030204" pitchFamily="34" charset="0"/>
                <a:cs typeface="Calibri" panose="020F0502020204030204" pitchFamily="34" charset="0"/>
              </a:rPr>
              <a:t>, 52–63. https://doi.org/10.1016/j.ejmp.2021.02.026</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Calibri" panose="020F0502020204030204" pitchFamily="34" charset="0"/>
              </a:rPr>
              <a:t>Bert, J., Perez-Ponce, H., </a:t>
            </a:r>
            <a:r>
              <a:rPr lang="en-US" sz="1200" dirty="0" err="1">
                <a:effectLst/>
                <a:latin typeface="Calibri" panose="020F0502020204030204" pitchFamily="34" charset="0"/>
                <a:ea typeface="Calibri" panose="020F0502020204030204" pitchFamily="34" charset="0"/>
                <a:cs typeface="Calibri" panose="020F0502020204030204" pitchFamily="34" charset="0"/>
              </a:rPr>
              <a:t>Bitar</a:t>
            </a:r>
            <a:r>
              <a:rPr lang="en-US" sz="1200" dirty="0">
                <a:effectLst/>
                <a:latin typeface="Calibri" panose="020F0502020204030204" pitchFamily="34" charset="0"/>
                <a:ea typeface="Calibri" panose="020F0502020204030204" pitchFamily="34" charset="0"/>
                <a:cs typeface="Calibri" panose="020F0502020204030204" pitchFamily="34" charset="0"/>
              </a:rPr>
              <a:t>, Z. E., Jan, S., </a:t>
            </a:r>
            <a:r>
              <a:rPr lang="en-US" sz="1200" dirty="0" err="1">
                <a:effectLst/>
                <a:latin typeface="Calibri" panose="020F0502020204030204" pitchFamily="34" charset="0"/>
                <a:ea typeface="Calibri" panose="020F0502020204030204" pitchFamily="34" charset="0"/>
                <a:cs typeface="Calibri" panose="020F0502020204030204" pitchFamily="34" charset="0"/>
              </a:rPr>
              <a:t>Boursier</a:t>
            </a:r>
            <a:r>
              <a:rPr lang="en-US" sz="1200" dirty="0">
                <a:effectLst/>
                <a:latin typeface="Calibri" panose="020F0502020204030204" pitchFamily="34" charset="0"/>
                <a:ea typeface="Calibri" panose="020F0502020204030204" pitchFamily="34" charset="0"/>
                <a:cs typeface="Calibri" panose="020F0502020204030204" pitchFamily="34" charset="0"/>
              </a:rPr>
              <a:t>, Y., </a:t>
            </a:r>
            <a:r>
              <a:rPr lang="en-US" sz="1200" dirty="0" err="1">
                <a:effectLst/>
                <a:latin typeface="Calibri" panose="020F0502020204030204" pitchFamily="34" charset="0"/>
                <a:ea typeface="Calibri" panose="020F0502020204030204" pitchFamily="34" charset="0"/>
                <a:cs typeface="Calibri" panose="020F0502020204030204" pitchFamily="34" charset="0"/>
              </a:rPr>
              <a:t>Vintache</a:t>
            </a:r>
            <a:r>
              <a:rPr lang="en-US" sz="1200" dirty="0">
                <a:effectLst/>
                <a:latin typeface="Calibri" panose="020F0502020204030204" pitchFamily="34" charset="0"/>
                <a:ea typeface="Calibri" panose="020F0502020204030204" pitchFamily="34" charset="0"/>
                <a:cs typeface="Calibri" panose="020F0502020204030204" pitchFamily="34" charset="0"/>
              </a:rPr>
              <a:t>, D., </a:t>
            </a:r>
            <a:r>
              <a:rPr lang="en-US" sz="1200" dirty="0" err="1">
                <a:effectLst/>
                <a:latin typeface="Calibri" panose="020F0502020204030204" pitchFamily="34" charset="0"/>
                <a:ea typeface="Calibri" panose="020F0502020204030204" pitchFamily="34" charset="0"/>
                <a:cs typeface="Calibri" panose="020F0502020204030204" pitchFamily="34" charset="0"/>
              </a:rPr>
              <a:t>Bonissent</a:t>
            </a:r>
            <a:r>
              <a:rPr lang="en-US" sz="1200" dirty="0">
                <a:effectLst/>
                <a:latin typeface="Calibri" panose="020F0502020204030204" pitchFamily="34" charset="0"/>
                <a:ea typeface="Calibri" panose="020F0502020204030204" pitchFamily="34" charset="0"/>
                <a:cs typeface="Calibri" panose="020F0502020204030204" pitchFamily="34" charset="0"/>
              </a:rPr>
              <a:t>, A., Morel, C., </a:t>
            </a:r>
            <a:r>
              <a:rPr lang="en-US" sz="1200" dirty="0" err="1">
                <a:effectLst/>
                <a:latin typeface="Calibri" panose="020F0502020204030204" pitchFamily="34" charset="0"/>
                <a:ea typeface="Calibri" panose="020F0502020204030204" pitchFamily="34" charset="0"/>
                <a:cs typeface="Calibri" panose="020F0502020204030204" pitchFamily="34" charset="0"/>
              </a:rPr>
              <a:t>Brasse</a:t>
            </a:r>
            <a:r>
              <a:rPr lang="en-US" sz="1200" dirty="0">
                <a:effectLst/>
                <a:latin typeface="Calibri" panose="020F0502020204030204" pitchFamily="34" charset="0"/>
                <a:ea typeface="Calibri" panose="020F0502020204030204" pitchFamily="34" charset="0"/>
                <a:cs typeface="Calibri" panose="020F0502020204030204" pitchFamily="34" charset="0"/>
              </a:rPr>
              <a:t>, D., &amp; </a:t>
            </a:r>
            <a:r>
              <a:rPr lang="en-US" sz="1200" dirty="0" err="1">
                <a:effectLst/>
                <a:latin typeface="Calibri" panose="020F0502020204030204" pitchFamily="34" charset="0"/>
                <a:ea typeface="Calibri" panose="020F0502020204030204" pitchFamily="34" charset="0"/>
                <a:cs typeface="Calibri" panose="020F0502020204030204" pitchFamily="34" charset="0"/>
              </a:rPr>
              <a:t>Visvikis</a:t>
            </a:r>
            <a:r>
              <a:rPr lang="en-US" sz="1200" dirty="0">
                <a:effectLst/>
                <a:latin typeface="Calibri" panose="020F0502020204030204" pitchFamily="34" charset="0"/>
                <a:ea typeface="Calibri" panose="020F0502020204030204" pitchFamily="34" charset="0"/>
                <a:cs typeface="Calibri" panose="020F0502020204030204" pitchFamily="34" charset="0"/>
              </a:rPr>
              <a:t>, D. (2013). Geant4-based Monte Carlo simulations on GPU for medical applications. </a:t>
            </a:r>
            <a:r>
              <a:rPr lang="en-US" sz="1200" i="1" dirty="0">
                <a:effectLst/>
                <a:latin typeface="Calibri" panose="020F0502020204030204" pitchFamily="34" charset="0"/>
                <a:ea typeface="Calibri" panose="020F0502020204030204" pitchFamily="34" charset="0"/>
                <a:cs typeface="Calibri" panose="020F0502020204030204" pitchFamily="34" charset="0"/>
              </a:rPr>
              <a:t>Physics in Medicine and Biology</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a:effectLst/>
                <a:latin typeface="Calibri" panose="020F0502020204030204" pitchFamily="34" charset="0"/>
                <a:ea typeface="Calibri" panose="020F0502020204030204" pitchFamily="34" charset="0"/>
                <a:cs typeface="Calibri" panose="020F0502020204030204" pitchFamily="34" charset="0"/>
              </a:rPr>
              <a:t>58</a:t>
            </a:r>
            <a:r>
              <a:rPr lang="en-US" sz="1200" dirty="0">
                <a:effectLst/>
                <a:latin typeface="Calibri" panose="020F0502020204030204" pitchFamily="34" charset="0"/>
                <a:ea typeface="Calibri" panose="020F0502020204030204" pitchFamily="34" charset="0"/>
                <a:cs typeface="Calibri" panose="020F0502020204030204" pitchFamily="34" charset="0"/>
              </a:rPr>
              <a:t>(16), 5593–5611. https://doi.org/10.1088/0031-9155/58/16/5593</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Calibri" panose="020F0502020204030204" pitchFamily="34" charset="0"/>
              </a:rPr>
              <a:t>Douglass, M. J. J. (2020). Book Review: Hands-on Machine Learning with Scikit-Learn, </a:t>
            </a:r>
            <a:r>
              <a:rPr lang="en-US" sz="1200" dirty="0" err="1">
                <a:effectLst/>
                <a:latin typeface="Calibri" panose="020F0502020204030204" pitchFamily="34" charset="0"/>
                <a:ea typeface="Calibri" panose="020F0502020204030204" pitchFamily="34" charset="0"/>
                <a:cs typeface="Calibri" panose="020F0502020204030204" pitchFamily="34" charset="0"/>
              </a:rPr>
              <a:t>Keras</a:t>
            </a:r>
            <a:r>
              <a:rPr lang="en-US" sz="1200" dirty="0">
                <a:effectLst/>
                <a:latin typeface="Calibri" panose="020F0502020204030204" pitchFamily="34" charset="0"/>
                <a:ea typeface="Calibri" panose="020F0502020204030204" pitchFamily="34" charset="0"/>
                <a:cs typeface="Calibri" panose="020F0502020204030204" pitchFamily="34" charset="0"/>
              </a:rPr>
              <a:t>, and </a:t>
            </a:r>
            <a:r>
              <a:rPr lang="en-US" sz="1200" dirty="0" err="1">
                <a:effectLst/>
                <a:latin typeface="Calibri" panose="020F0502020204030204" pitchFamily="34" charset="0"/>
                <a:ea typeface="Calibri" panose="020F0502020204030204" pitchFamily="34" charset="0"/>
                <a:cs typeface="Calibri" panose="020F0502020204030204" pitchFamily="34" charset="0"/>
              </a:rPr>
              <a:t>Tensorflow</a:t>
            </a:r>
            <a:r>
              <a:rPr lang="en-US" sz="1200" dirty="0">
                <a:effectLst/>
                <a:latin typeface="Calibri" panose="020F0502020204030204" pitchFamily="34" charset="0"/>
                <a:ea typeface="Calibri" panose="020F0502020204030204" pitchFamily="34" charset="0"/>
                <a:cs typeface="Calibri" panose="020F0502020204030204" pitchFamily="34" charset="0"/>
              </a:rPr>
              <a:t>, 2nd edition by </a:t>
            </a:r>
            <a:r>
              <a:rPr lang="en-US" sz="1200" dirty="0" err="1">
                <a:effectLst/>
                <a:latin typeface="Calibri" panose="020F0502020204030204" pitchFamily="34" charset="0"/>
                <a:ea typeface="Calibri" panose="020F0502020204030204" pitchFamily="34" charset="0"/>
                <a:cs typeface="Calibri" panose="020F0502020204030204" pitchFamily="34" charset="0"/>
              </a:rPr>
              <a:t>Aurélien</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dirty="0" err="1">
                <a:effectLst/>
                <a:latin typeface="Calibri" panose="020F0502020204030204" pitchFamily="34" charset="0"/>
                <a:ea typeface="Calibri" panose="020F0502020204030204" pitchFamily="34" charset="0"/>
                <a:cs typeface="Calibri" panose="020F0502020204030204" pitchFamily="34" charset="0"/>
              </a:rPr>
              <a:t>Géron</a:t>
            </a:r>
            <a:r>
              <a:rPr lang="en-US" sz="1200" dirty="0">
                <a:effectLst/>
                <a:latin typeface="Calibri" panose="020F0502020204030204" pitchFamily="34" charset="0"/>
                <a:ea typeface="Calibri" panose="020F0502020204030204" pitchFamily="34" charset="0"/>
                <a:cs typeface="Calibri" panose="020F0502020204030204" pitchFamily="34" charset="0"/>
              </a:rPr>
              <a:t>: O’ Reilly Media, 2019, 600 pp., ISBN: 978-1-492-03264-9. </a:t>
            </a:r>
            <a:r>
              <a:rPr lang="en-US" sz="1200" i="1" dirty="0">
                <a:effectLst/>
                <a:latin typeface="Calibri" panose="020F0502020204030204" pitchFamily="34" charset="0"/>
                <a:ea typeface="Calibri" panose="020F0502020204030204" pitchFamily="34" charset="0"/>
                <a:cs typeface="Calibri" panose="020F0502020204030204" pitchFamily="34" charset="0"/>
              </a:rPr>
              <a:t>Physical and Engineering Sciences in Medicine</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a:effectLst/>
                <a:latin typeface="Calibri" panose="020F0502020204030204" pitchFamily="34" charset="0"/>
                <a:ea typeface="Calibri" panose="020F0502020204030204" pitchFamily="34" charset="0"/>
                <a:cs typeface="Calibri" panose="020F0502020204030204" pitchFamily="34" charset="0"/>
              </a:rPr>
              <a:t>43</a:t>
            </a:r>
            <a:r>
              <a:rPr lang="en-US" sz="1200" dirty="0">
                <a:effectLst/>
                <a:latin typeface="Calibri" panose="020F0502020204030204" pitchFamily="34" charset="0"/>
                <a:ea typeface="Calibri" panose="020F0502020204030204" pitchFamily="34" charset="0"/>
                <a:cs typeface="Calibri" panose="020F0502020204030204" pitchFamily="34" charset="0"/>
              </a:rPr>
              <a:t>(3), 1135–1136. https://doi.org/10.1007/s13246-020-00913-z</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Calibri" panose="020F0502020204030204" pitchFamily="34" charset="0"/>
              </a:rPr>
              <a:t>Goodfellow, I. J., </a:t>
            </a:r>
            <a:r>
              <a:rPr lang="en-US" sz="1200" dirty="0" err="1">
                <a:effectLst/>
                <a:latin typeface="Calibri" panose="020F0502020204030204" pitchFamily="34" charset="0"/>
                <a:ea typeface="Calibri" panose="020F0502020204030204" pitchFamily="34" charset="0"/>
                <a:cs typeface="Calibri" panose="020F0502020204030204" pitchFamily="34" charset="0"/>
              </a:rPr>
              <a:t>Pouget</a:t>
            </a:r>
            <a:r>
              <a:rPr lang="en-US" sz="1200" dirty="0">
                <a:effectLst/>
                <a:latin typeface="Calibri" panose="020F0502020204030204" pitchFamily="34" charset="0"/>
                <a:ea typeface="Calibri" panose="020F0502020204030204" pitchFamily="34" charset="0"/>
                <a:cs typeface="Calibri" panose="020F0502020204030204" pitchFamily="34" charset="0"/>
              </a:rPr>
              <a:t>-Abadie, J., Mirza, M., Xu, B., </a:t>
            </a:r>
            <a:r>
              <a:rPr lang="en-US" sz="1200" dirty="0" err="1">
                <a:effectLst/>
                <a:latin typeface="Calibri" panose="020F0502020204030204" pitchFamily="34" charset="0"/>
                <a:ea typeface="Calibri" panose="020F0502020204030204" pitchFamily="34" charset="0"/>
                <a:cs typeface="Calibri" panose="020F0502020204030204" pitchFamily="34" charset="0"/>
              </a:rPr>
              <a:t>Warde</a:t>
            </a:r>
            <a:r>
              <a:rPr lang="en-US" sz="1200" dirty="0">
                <a:effectLst/>
                <a:latin typeface="Calibri" panose="020F0502020204030204" pitchFamily="34" charset="0"/>
                <a:ea typeface="Calibri" panose="020F0502020204030204" pitchFamily="34" charset="0"/>
                <a:cs typeface="Calibri" panose="020F0502020204030204" pitchFamily="34" charset="0"/>
              </a:rPr>
              <a:t>-Farley, D., </a:t>
            </a:r>
            <a:r>
              <a:rPr lang="en-US" sz="1200" dirty="0" err="1">
                <a:effectLst/>
                <a:latin typeface="Calibri" panose="020F0502020204030204" pitchFamily="34" charset="0"/>
                <a:ea typeface="Calibri" panose="020F0502020204030204" pitchFamily="34" charset="0"/>
                <a:cs typeface="Calibri" panose="020F0502020204030204" pitchFamily="34" charset="0"/>
              </a:rPr>
              <a:t>Ozair</a:t>
            </a:r>
            <a:r>
              <a:rPr lang="en-US" sz="1200" dirty="0">
                <a:effectLst/>
                <a:latin typeface="Calibri" panose="020F0502020204030204" pitchFamily="34" charset="0"/>
                <a:ea typeface="Calibri" panose="020F0502020204030204" pitchFamily="34" charset="0"/>
                <a:cs typeface="Calibri" panose="020F0502020204030204" pitchFamily="34" charset="0"/>
              </a:rPr>
              <a:t>, S., Courville, A., &amp; Bengio, Y. (2014). </a:t>
            </a:r>
            <a:r>
              <a:rPr lang="en-US" sz="1200" i="1" dirty="0">
                <a:effectLst/>
                <a:latin typeface="Calibri" panose="020F0502020204030204" pitchFamily="34" charset="0"/>
                <a:ea typeface="Calibri" panose="020F0502020204030204" pitchFamily="34" charset="0"/>
                <a:cs typeface="Calibri" panose="020F0502020204030204" pitchFamily="34" charset="0"/>
              </a:rPr>
              <a:t>Generative Adversarial Networks</a:t>
            </a:r>
            <a:r>
              <a:rPr lang="en-US" sz="1200" dirty="0">
                <a:effectLst/>
                <a:latin typeface="Calibri" panose="020F0502020204030204" pitchFamily="34" charset="0"/>
                <a:ea typeface="Calibri" panose="020F0502020204030204" pitchFamily="34" charset="0"/>
                <a:cs typeface="Calibri" panose="020F0502020204030204" pitchFamily="34" charset="0"/>
              </a:rPr>
              <a:t> (arXiv:1406.2661). </a:t>
            </a:r>
            <a:r>
              <a:rPr lang="en-US" sz="1200" dirty="0" err="1">
                <a:effectLst/>
                <a:latin typeface="Calibri" panose="020F0502020204030204" pitchFamily="34" charset="0"/>
                <a:ea typeface="Calibri" panose="020F0502020204030204" pitchFamily="34" charset="0"/>
                <a:cs typeface="Calibri" panose="020F0502020204030204" pitchFamily="34" charset="0"/>
              </a:rPr>
              <a:t>arXiv</a:t>
            </a:r>
            <a:r>
              <a:rPr lang="en-US" sz="1200" dirty="0">
                <a:effectLst/>
                <a:latin typeface="Calibri" panose="020F0502020204030204" pitchFamily="34" charset="0"/>
                <a:ea typeface="Calibri" panose="020F0502020204030204" pitchFamily="34" charset="0"/>
                <a:cs typeface="Calibri" panose="020F0502020204030204" pitchFamily="34" charset="0"/>
              </a:rPr>
              <a:t>. http://arxiv.org/abs/1406.2661</a:t>
            </a:r>
            <a:endParaRPr lang="en-US" sz="1200" dirty="0"/>
          </a:p>
        </p:txBody>
      </p:sp>
    </p:spTree>
    <p:extLst>
      <p:ext uri="{BB962C8B-B14F-4D97-AF65-F5344CB8AC3E}">
        <p14:creationId xmlns:p14="http://schemas.microsoft.com/office/powerpoint/2010/main" val="4263630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956BB46-D6F0-0448-8774-E902F8A21D87}"/>
              </a:ext>
            </a:extLst>
          </p:cNvPr>
          <p:cNvSpPr>
            <a:spLocks noGrp="1"/>
          </p:cNvSpPr>
          <p:nvPr>
            <p:ph type="title"/>
          </p:nvPr>
        </p:nvSpPr>
        <p:spPr/>
        <p:txBody>
          <a:bodyPr/>
          <a:lstStyle/>
          <a:p>
            <a:r>
              <a:rPr lang="en-US" dirty="0"/>
              <a:t>References</a:t>
            </a:r>
          </a:p>
        </p:txBody>
      </p:sp>
      <p:sp>
        <p:nvSpPr>
          <p:cNvPr id="4" name="Date Placeholder 3">
            <a:extLst>
              <a:ext uri="{FF2B5EF4-FFF2-40B4-BE49-F238E27FC236}">
                <a16:creationId xmlns:a16="http://schemas.microsoft.com/office/drawing/2014/main" id="{96F3D9A3-303C-C7A2-B1C2-29777C6F43A8}"/>
              </a:ext>
            </a:extLst>
          </p:cNvPr>
          <p:cNvSpPr>
            <a:spLocks noGrp="1"/>
          </p:cNvSpPr>
          <p:nvPr>
            <p:ph type="dt" sz="half" idx="10"/>
          </p:nvPr>
        </p:nvSpPr>
        <p:spPr/>
        <p:txBody>
          <a:bodyPr/>
          <a:lstStyle/>
          <a:p>
            <a:pPr>
              <a:defRPr/>
            </a:pPr>
            <a:fld id="{525A9441-8582-436B-B697-F90AB34E48D2}" type="datetime1">
              <a:rPr lang="en-US" smtClean="0"/>
              <a:t>2/28/2024</a:t>
            </a:fld>
            <a:endParaRPr lang="de-DE" dirty="0"/>
          </a:p>
        </p:txBody>
      </p:sp>
      <p:sp>
        <p:nvSpPr>
          <p:cNvPr id="5" name="Footer Placeholder 4">
            <a:extLst>
              <a:ext uri="{FF2B5EF4-FFF2-40B4-BE49-F238E27FC236}">
                <a16:creationId xmlns:a16="http://schemas.microsoft.com/office/drawing/2014/main" id="{DAFF6A90-1D7B-A2BE-2F5F-9068D7B67935}"/>
              </a:ext>
            </a:extLst>
          </p:cNvPr>
          <p:cNvSpPr>
            <a:spLocks noGrp="1"/>
          </p:cNvSpPr>
          <p:nvPr>
            <p:ph type="ftr" sz="quarter" idx="11"/>
          </p:nvPr>
        </p:nvSpPr>
        <p:spPr/>
        <p:txBody>
          <a:bodyPr/>
          <a:lstStyle/>
          <a:p>
            <a:pPr>
              <a:defRPr/>
            </a:pPr>
            <a:r>
              <a:rPr lang="de-DE"/>
              <a:t>Pichaya Tappayuthpijarn</a:t>
            </a:r>
            <a:endParaRPr lang="de-DE" dirty="0"/>
          </a:p>
        </p:txBody>
      </p:sp>
      <p:sp>
        <p:nvSpPr>
          <p:cNvPr id="6" name="Slide Number Placeholder 5">
            <a:extLst>
              <a:ext uri="{FF2B5EF4-FFF2-40B4-BE49-F238E27FC236}">
                <a16:creationId xmlns:a16="http://schemas.microsoft.com/office/drawing/2014/main" id="{CC3876D3-EDDA-3403-4AD5-1F43E306F9BC}"/>
              </a:ext>
            </a:extLst>
          </p:cNvPr>
          <p:cNvSpPr>
            <a:spLocks noGrp="1"/>
          </p:cNvSpPr>
          <p:nvPr>
            <p:ph type="sldNum" sz="quarter" idx="12"/>
          </p:nvPr>
        </p:nvSpPr>
        <p:spPr/>
        <p:txBody>
          <a:bodyPr/>
          <a:lstStyle/>
          <a:p>
            <a:pPr>
              <a:defRPr/>
            </a:pPr>
            <a:r>
              <a:rPr lang="de-DE"/>
              <a:t>SEITE</a:t>
            </a:r>
            <a:r>
              <a:rPr lang="de-DE" spc="0"/>
              <a:t> </a:t>
            </a:r>
            <a:fld id="{37ED3A82-C5FC-FE4D-9EDE-EA1B3EA06354}" type="slidenum">
              <a:rPr lang="de-DE" spc="0" smtClean="0"/>
              <a:pPr>
                <a:defRPr/>
              </a:pPr>
              <a:t>28</a:t>
            </a:fld>
            <a:endParaRPr lang="de-DE" spc="0"/>
          </a:p>
        </p:txBody>
      </p:sp>
      <p:sp>
        <p:nvSpPr>
          <p:cNvPr id="7" name="Rectangle 6">
            <a:extLst>
              <a:ext uri="{FF2B5EF4-FFF2-40B4-BE49-F238E27FC236}">
                <a16:creationId xmlns:a16="http://schemas.microsoft.com/office/drawing/2014/main" id="{D231153A-BEBC-8EFA-81F5-12DD64A47613}"/>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sp>
        <p:nvSpPr>
          <p:cNvPr id="9" name="Content Placeholder 8">
            <a:extLst>
              <a:ext uri="{FF2B5EF4-FFF2-40B4-BE49-F238E27FC236}">
                <a16:creationId xmlns:a16="http://schemas.microsoft.com/office/drawing/2014/main" id="{EF304321-98E9-2453-F934-12B0FAC70270}"/>
              </a:ext>
            </a:extLst>
          </p:cNvPr>
          <p:cNvSpPr>
            <a:spLocks noGrp="1"/>
          </p:cNvSpPr>
          <p:nvPr>
            <p:ph idx="1"/>
          </p:nvPr>
        </p:nvSpPr>
        <p:spPr>
          <a:xfrm>
            <a:off x="480485" y="1859709"/>
            <a:ext cx="11279716" cy="4078817"/>
          </a:xfrm>
        </p:spPr>
        <p:txBody>
          <a:bodyPr>
            <a:noAutofit/>
          </a:bodyPr>
          <a:lstStyle/>
          <a:p>
            <a:pPr marL="0" marR="0">
              <a:lnSpc>
                <a:spcPct val="107000"/>
              </a:lnSpc>
              <a:spcBef>
                <a:spcPts val="0"/>
              </a:spcBef>
              <a:spcAft>
                <a:spcPts val="800"/>
              </a:spcAft>
            </a:pPr>
            <a:r>
              <a:rPr lang="en-US" sz="1200" dirty="0" err="1">
                <a:effectLst/>
                <a:latin typeface="Calibri" panose="020F0502020204030204" pitchFamily="34" charset="0"/>
                <a:ea typeface="Calibri" panose="020F0502020204030204" pitchFamily="34" charset="0"/>
                <a:cs typeface="Calibri" panose="020F0502020204030204" pitchFamily="34" charset="0"/>
              </a:rPr>
              <a:t>Gulrajani</a:t>
            </a:r>
            <a:r>
              <a:rPr lang="en-US" sz="1200" dirty="0">
                <a:effectLst/>
                <a:latin typeface="Calibri" panose="020F0502020204030204" pitchFamily="34" charset="0"/>
                <a:ea typeface="Calibri" panose="020F0502020204030204" pitchFamily="34" charset="0"/>
                <a:cs typeface="Calibri" panose="020F0502020204030204" pitchFamily="34" charset="0"/>
              </a:rPr>
              <a:t>, I., Ahmed, F., </a:t>
            </a:r>
            <a:r>
              <a:rPr lang="en-US" sz="1200" dirty="0" err="1">
                <a:effectLst/>
                <a:latin typeface="Calibri" panose="020F0502020204030204" pitchFamily="34" charset="0"/>
                <a:ea typeface="Calibri" panose="020F0502020204030204" pitchFamily="34" charset="0"/>
                <a:cs typeface="Calibri" panose="020F0502020204030204" pitchFamily="34" charset="0"/>
              </a:rPr>
              <a:t>Arjovsky</a:t>
            </a:r>
            <a:r>
              <a:rPr lang="en-US" sz="1200" dirty="0">
                <a:effectLst/>
                <a:latin typeface="Calibri" panose="020F0502020204030204" pitchFamily="34" charset="0"/>
                <a:ea typeface="Calibri" panose="020F0502020204030204" pitchFamily="34" charset="0"/>
                <a:cs typeface="Calibri" panose="020F0502020204030204" pitchFamily="34" charset="0"/>
              </a:rPr>
              <a:t>, M., Dumoulin, V., &amp; Courville, A. (2017). </a:t>
            </a:r>
            <a:r>
              <a:rPr lang="en-US" sz="1200" i="1" dirty="0">
                <a:effectLst/>
                <a:latin typeface="Calibri" panose="020F0502020204030204" pitchFamily="34" charset="0"/>
                <a:ea typeface="Calibri" panose="020F0502020204030204" pitchFamily="34" charset="0"/>
                <a:cs typeface="Calibri" panose="020F0502020204030204" pitchFamily="34" charset="0"/>
              </a:rPr>
              <a:t>Improved Training of Wasserstein GANs</a:t>
            </a:r>
            <a:r>
              <a:rPr lang="en-US" sz="1200" dirty="0">
                <a:effectLst/>
                <a:latin typeface="Calibri" panose="020F0502020204030204" pitchFamily="34" charset="0"/>
                <a:ea typeface="Calibri" panose="020F0502020204030204" pitchFamily="34" charset="0"/>
                <a:cs typeface="Calibri" panose="020F0502020204030204" pitchFamily="34" charset="0"/>
              </a:rPr>
              <a:t> (arXiv:1704.00028). </a:t>
            </a:r>
            <a:r>
              <a:rPr lang="en-US" sz="1200" dirty="0" err="1">
                <a:effectLst/>
                <a:latin typeface="Calibri" panose="020F0502020204030204" pitchFamily="34" charset="0"/>
                <a:ea typeface="Calibri" panose="020F0502020204030204" pitchFamily="34" charset="0"/>
                <a:cs typeface="Calibri" panose="020F0502020204030204" pitchFamily="34" charset="0"/>
              </a:rPr>
              <a:t>arXiv</a:t>
            </a:r>
            <a:r>
              <a:rPr lang="en-US" sz="1200" dirty="0">
                <a:effectLst/>
                <a:latin typeface="Calibri" panose="020F0502020204030204" pitchFamily="34" charset="0"/>
                <a:ea typeface="Calibri" panose="020F0502020204030204" pitchFamily="34" charset="0"/>
                <a:cs typeface="Calibri" panose="020F0502020204030204" pitchFamily="34" charset="0"/>
              </a:rPr>
              <a:t>. http://arxiv.org/abs/1704.00028</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err="1">
                <a:effectLst/>
                <a:latin typeface="Calibri" panose="020F0502020204030204" pitchFamily="34" charset="0"/>
                <a:ea typeface="Calibri" panose="020F0502020204030204" pitchFamily="34" charset="0"/>
                <a:cs typeface="Calibri" panose="020F0502020204030204" pitchFamily="34" charset="0"/>
              </a:rPr>
              <a:t>Jermann</a:t>
            </a:r>
            <a:r>
              <a:rPr lang="en-US" sz="1200" dirty="0">
                <a:effectLst/>
                <a:latin typeface="Calibri" panose="020F0502020204030204" pitchFamily="34" charset="0"/>
                <a:ea typeface="Calibri" panose="020F0502020204030204" pitchFamily="34" charset="0"/>
                <a:cs typeface="Calibri" panose="020F0502020204030204" pitchFamily="34" charset="0"/>
              </a:rPr>
              <a:t>, M. (2016). </a:t>
            </a:r>
            <a:r>
              <a:rPr lang="en-US" sz="1200" i="1" dirty="0">
                <a:effectLst/>
                <a:latin typeface="Calibri" panose="020F0502020204030204" pitchFamily="34" charset="0"/>
                <a:ea typeface="Calibri" panose="020F0502020204030204" pitchFamily="34" charset="0"/>
                <a:cs typeface="Calibri" panose="020F0502020204030204" pitchFamily="34" charset="0"/>
              </a:rPr>
              <a:t>PTCOG</a:t>
            </a:r>
            <a:r>
              <a:rPr lang="en-US" sz="1200" dirty="0">
                <a:effectLst/>
                <a:latin typeface="Calibri" panose="020F0502020204030204" pitchFamily="34" charset="0"/>
                <a:ea typeface="Calibri" panose="020F0502020204030204" pitchFamily="34" charset="0"/>
                <a:cs typeface="Calibri" panose="020F0502020204030204" pitchFamily="34" charset="0"/>
              </a:rPr>
              <a:t>. https://www.ptcog.site/index.php/patient-statistics-2</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Calibri" panose="020F0502020204030204" pitchFamily="34" charset="0"/>
              </a:rPr>
              <a:t>Kearney, V., Chan, J. W., Wang, T., Perry, A., </a:t>
            </a:r>
            <a:r>
              <a:rPr lang="en-US" sz="1200" dirty="0" err="1">
                <a:effectLst/>
                <a:latin typeface="Calibri" panose="020F0502020204030204" pitchFamily="34" charset="0"/>
                <a:ea typeface="Calibri" panose="020F0502020204030204" pitchFamily="34" charset="0"/>
                <a:cs typeface="Calibri" panose="020F0502020204030204" pitchFamily="34" charset="0"/>
              </a:rPr>
              <a:t>Descovich</a:t>
            </a:r>
            <a:r>
              <a:rPr lang="en-US" sz="1200" dirty="0">
                <a:effectLst/>
                <a:latin typeface="Calibri" panose="020F0502020204030204" pitchFamily="34" charset="0"/>
                <a:ea typeface="Calibri" panose="020F0502020204030204" pitchFamily="34" charset="0"/>
                <a:cs typeface="Calibri" panose="020F0502020204030204" pitchFamily="34" charset="0"/>
              </a:rPr>
              <a:t>, M., Morin, O., Yom, S. S., &amp; Solberg, T. D. (2020). </a:t>
            </a:r>
            <a:r>
              <a:rPr lang="en-US" sz="1200" dirty="0" err="1">
                <a:effectLst/>
                <a:latin typeface="Calibri" panose="020F0502020204030204" pitchFamily="34" charset="0"/>
                <a:ea typeface="Calibri" panose="020F0502020204030204" pitchFamily="34" charset="0"/>
                <a:cs typeface="Calibri" panose="020F0502020204030204" pitchFamily="34" charset="0"/>
              </a:rPr>
              <a:t>DoseGAN</a:t>
            </a:r>
            <a:r>
              <a:rPr lang="en-US" sz="1200" dirty="0">
                <a:effectLst/>
                <a:latin typeface="Calibri" panose="020F0502020204030204" pitchFamily="34" charset="0"/>
                <a:ea typeface="Calibri" panose="020F0502020204030204" pitchFamily="34" charset="0"/>
                <a:cs typeface="Calibri" panose="020F0502020204030204" pitchFamily="34" charset="0"/>
              </a:rPr>
              <a:t>: A generative adversarial network for synthetic dose prediction using attention-gated discrimination and generation. </a:t>
            </a:r>
            <a:r>
              <a:rPr lang="en-US" sz="1200" i="1" dirty="0">
                <a:effectLst/>
                <a:latin typeface="Calibri" panose="020F0502020204030204" pitchFamily="34" charset="0"/>
                <a:ea typeface="Calibri" panose="020F0502020204030204" pitchFamily="34" charset="0"/>
                <a:cs typeface="Calibri" panose="020F0502020204030204" pitchFamily="34" charset="0"/>
              </a:rPr>
              <a:t>Scientific Reports</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a:effectLst/>
                <a:latin typeface="Calibri" panose="020F0502020204030204" pitchFamily="34" charset="0"/>
                <a:ea typeface="Calibri" panose="020F0502020204030204" pitchFamily="34" charset="0"/>
                <a:cs typeface="Calibri" panose="020F0502020204030204" pitchFamily="34" charset="0"/>
              </a:rPr>
              <a:t>10</a:t>
            </a:r>
            <a:r>
              <a:rPr lang="en-US" sz="1200" dirty="0">
                <a:effectLst/>
                <a:latin typeface="Calibri" panose="020F0502020204030204" pitchFamily="34" charset="0"/>
                <a:ea typeface="Calibri" panose="020F0502020204030204" pitchFamily="34" charset="0"/>
                <a:cs typeface="Calibri" panose="020F0502020204030204" pitchFamily="34" charset="0"/>
              </a:rPr>
              <a:t>(1), 11073. https://doi.org/10.1038/s41598-020-68062-7</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Calibri" panose="020F0502020204030204" pitchFamily="34" charset="0"/>
              </a:rPr>
              <a:t>Lan, L., You, L., Zhang, Z., Fan, Z., Zhao, W., Zeng, N., Chen, Y., &amp; Zhou, X. (2020). Generative Adversarial Networks and Its Applications in Biomedical Informatics. </a:t>
            </a:r>
            <a:r>
              <a:rPr lang="en-US" sz="1200" i="1" dirty="0">
                <a:effectLst/>
                <a:latin typeface="Calibri" panose="020F0502020204030204" pitchFamily="34" charset="0"/>
                <a:ea typeface="Calibri" panose="020F0502020204030204" pitchFamily="34" charset="0"/>
                <a:cs typeface="Calibri" panose="020F0502020204030204" pitchFamily="34" charset="0"/>
              </a:rPr>
              <a:t>Frontiers in Public Health</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a:effectLst/>
                <a:latin typeface="Calibri" panose="020F0502020204030204" pitchFamily="34" charset="0"/>
                <a:ea typeface="Calibri" panose="020F0502020204030204" pitchFamily="34" charset="0"/>
                <a:cs typeface="Calibri" panose="020F0502020204030204" pitchFamily="34" charset="0"/>
              </a:rPr>
              <a:t>8</a:t>
            </a:r>
            <a:r>
              <a:rPr lang="en-US" sz="1200" dirty="0">
                <a:effectLst/>
                <a:latin typeface="Calibri" panose="020F0502020204030204" pitchFamily="34" charset="0"/>
                <a:ea typeface="Calibri" panose="020F0502020204030204" pitchFamily="34" charset="0"/>
                <a:cs typeface="Calibri" panose="020F0502020204030204" pitchFamily="34" charset="0"/>
              </a:rPr>
              <a:t>, 164. https://doi.org/10.3389/fpubh.2020.00164</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de-DE" sz="1200" dirty="0">
                <a:effectLst/>
                <a:latin typeface="Calibri" panose="020F0502020204030204" pitchFamily="34" charset="0"/>
                <a:ea typeface="Calibri" panose="020F0502020204030204" pitchFamily="34" charset="0"/>
                <a:cs typeface="Calibri" panose="020F0502020204030204" pitchFamily="34" charset="0"/>
              </a:rPr>
              <a:t>Mentzel, F., Kröninger, K., Lerch, M., Nackenhorst, O., Paino, J., Rosenfeld, A., Saraswati, A., Tsoi, A. C., Weingarten, J., Hagenbuchner, M., &amp; Guatelli, S. (2022). </a:t>
            </a:r>
            <a:r>
              <a:rPr lang="en-US" sz="1200" dirty="0">
                <a:effectLst/>
                <a:latin typeface="Calibri" panose="020F0502020204030204" pitchFamily="34" charset="0"/>
                <a:ea typeface="Calibri" panose="020F0502020204030204" pitchFamily="34" charset="0"/>
                <a:cs typeface="Calibri" panose="020F0502020204030204" pitchFamily="34" charset="0"/>
              </a:rPr>
              <a:t>Fast and accurate dose predictions for novel radiotherapy treatments in heterogeneous phantoms using conditional 3D‐UNet generative adversarial networks. </a:t>
            </a:r>
            <a:r>
              <a:rPr lang="en-US" sz="1200" i="1" dirty="0">
                <a:effectLst/>
                <a:latin typeface="Calibri" panose="020F0502020204030204" pitchFamily="34" charset="0"/>
                <a:ea typeface="Calibri" panose="020F0502020204030204" pitchFamily="34" charset="0"/>
                <a:cs typeface="Calibri" panose="020F0502020204030204" pitchFamily="34" charset="0"/>
              </a:rPr>
              <a:t>Medical Physics</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a:effectLst/>
                <a:latin typeface="Calibri" panose="020F0502020204030204" pitchFamily="34" charset="0"/>
                <a:ea typeface="Calibri" panose="020F0502020204030204" pitchFamily="34" charset="0"/>
                <a:cs typeface="Calibri" panose="020F0502020204030204" pitchFamily="34" charset="0"/>
              </a:rPr>
              <a:t>49</a:t>
            </a:r>
            <a:r>
              <a:rPr lang="en-US" sz="1200" dirty="0">
                <a:effectLst/>
                <a:latin typeface="Calibri" panose="020F0502020204030204" pitchFamily="34" charset="0"/>
                <a:ea typeface="Calibri" panose="020F0502020204030204" pitchFamily="34" charset="0"/>
                <a:cs typeface="Calibri" panose="020F0502020204030204" pitchFamily="34" charset="0"/>
              </a:rPr>
              <a:t>(5), 3389–3404. https://doi.org/10.1002/mp.15555</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Calibri" panose="020F0502020204030204" pitchFamily="34" charset="0"/>
              </a:rPr>
              <a:t>Mirza, M., &amp; </a:t>
            </a:r>
            <a:r>
              <a:rPr lang="en-US" sz="1200" dirty="0" err="1">
                <a:effectLst/>
                <a:latin typeface="Calibri" panose="020F0502020204030204" pitchFamily="34" charset="0"/>
                <a:ea typeface="Calibri" panose="020F0502020204030204" pitchFamily="34" charset="0"/>
                <a:cs typeface="Calibri" panose="020F0502020204030204" pitchFamily="34" charset="0"/>
              </a:rPr>
              <a:t>Osindero</a:t>
            </a:r>
            <a:r>
              <a:rPr lang="en-US" sz="1200" dirty="0">
                <a:effectLst/>
                <a:latin typeface="Calibri" panose="020F0502020204030204" pitchFamily="34" charset="0"/>
                <a:ea typeface="Calibri" panose="020F0502020204030204" pitchFamily="34" charset="0"/>
                <a:cs typeface="Calibri" panose="020F0502020204030204" pitchFamily="34" charset="0"/>
              </a:rPr>
              <a:t>, S. (2014). </a:t>
            </a:r>
            <a:r>
              <a:rPr lang="en-US" sz="1200" i="1" dirty="0">
                <a:effectLst/>
                <a:latin typeface="Calibri" panose="020F0502020204030204" pitchFamily="34" charset="0"/>
                <a:ea typeface="Calibri" panose="020F0502020204030204" pitchFamily="34" charset="0"/>
                <a:cs typeface="Calibri" panose="020F0502020204030204" pitchFamily="34" charset="0"/>
              </a:rPr>
              <a:t>Conditional Generative Adversarial Nets</a:t>
            </a:r>
            <a:r>
              <a:rPr lang="en-US" sz="1200" dirty="0">
                <a:effectLst/>
                <a:latin typeface="Calibri" panose="020F0502020204030204" pitchFamily="34" charset="0"/>
                <a:ea typeface="Calibri" panose="020F0502020204030204" pitchFamily="34" charset="0"/>
                <a:cs typeface="Calibri" panose="020F0502020204030204" pitchFamily="34" charset="0"/>
              </a:rPr>
              <a:t> (arXiv:1411.1784). </a:t>
            </a:r>
            <a:r>
              <a:rPr lang="en-US" sz="1200" dirty="0" err="1">
                <a:effectLst/>
                <a:latin typeface="Calibri" panose="020F0502020204030204" pitchFamily="34" charset="0"/>
                <a:ea typeface="Calibri" panose="020F0502020204030204" pitchFamily="34" charset="0"/>
                <a:cs typeface="Calibri" panose="020F0502020204030204" pitchFamily="34" charset="0"/>
              </a:rPr>
              <a:t>arXiv</a:t>
            </a:r>
            <a:r>
              <a:rPr lang="en-US" sz="1200" dirty="0">
                <a:effectLst/>
                <a:latin typeface="Calibri" panose="020F0502020204030204" pitchFamily="34" charset="0"/>
                <a:ea typeface="Calibri" panose="020F0502020204030204" pitchFamily="34" charset="0"/>
                <a:cs typeface="Calibri" panose="020F0502020204030204" pitchFamily="34" charset="0"/>
              </a:rPr>
              <a:t>. http://arxiv.org/abs/1411.1784</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Calibri" panose="020F0502020204030204" pitchFamily="34" charset="0"/>
              </a:rPr>
              <a:t>Nguyen, D., Long, T., Jia, X., Lu, W., Gu, X., Iqbal, Z., &amp; Jiang, S. (2019). A feasibility study for predicting optimal radiation therapy dose distributions of prostate cancer patients from patient anatomy using deep learning. </a:t>
            </a:r>
            <a:r>
              <a:rPr lang="en-US" sz="1200" i="1" dirty="0">
                <a:effectLst/>
                <a:latin typeface="Calibri" panose="020F0502020204030204" pitchFamily="34" charset="0"/>
                <a:ea typeface="Calibri" panose="020F0502020204030204" pitchFamily="34" charset="0"/>
                <a:cs typeface="Calibri" panose="020F0502020204030204" pitchFamily="34" charset="0"/>
              </a:rPr>
              <a:t>Scientific Reports</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a:effectLst/>
                <a:latin typeface="Calibri" panose="020F0502020204030204" pitchFamily="34" charset="0"/>
                <a:ea typeface="Calibri" panose="020F0502020204030204" pitchFamily="34" charset="0"/>
                <a:cs typeface="Calibri" panose="020F0502020204030204" pitchFamily="34" charset="0"/>
              </a:rPr>
              <a:t>9</a:t>
            </a:r>
            <a:r>
              <a:rPr lang="en-US" sz="1200" dirty="0">
                <a:effectLst/>
                <a:latin typeface="Calibri" panose="020F0502020204030204" pitchFamily="34" charset="0"/>
                <a:ea typeface="Calibri" panose="020F0502020204030204" pitchFamily="34" charset="0"/>
                <a:cs typeface="Calibri" panose="020F0502020204030204" pitchFamily="34" charset="0"/>
              </a:rPr>
              <a:t>(1), 1076. https://doi.org/10.1038/s41598-018-37741-x</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Calibri" panose="020F0502020204030204" pitchFamily="34" charset="0"/>
              </a:rPr>
              <a:t>Radford, A., Metz, L., &amp; </a:t>
            </a:r>
            <a:r>
              <a:rPr lang="en-US" sz="1200" dirty="0" err="1">
                <a:effectLst/>
                <a:latin typeface="Calibri" panose="020F0502020204030204" pitchFamily="34" charset="0"/>
                <a:ea typeface="Calibri" panose="020F0502020204030204" pitchFamily="34" charset="0"/>
                <a:cs typeface="Calibri" panose="020F0502020204030204" pitchFamily="34" charset="0"/>
              </a:rPr>
              <a:t>Chintala</a:t>
            </a:r>
            <a:r>
              <a:rPr lang="en-US" sz="1200" dirty="0">
                <a:effectLst/>
                <a:latin typeface="Calibri" panose="020F0502020204030204" pitchFamily="34" charset="0"/>
                <a:ea typeface="Calibri" panose="020F0502020204030204" pitchFamily="34" charset="0"/>
                <a:cs typeface="Calibri" panose="020F0502020204030204" pitchFamily="34" charset="0"/>
              </a:rPr>
              <a:t>, S. (2016). </a:t>
            </a:r>
            <a:r>
              <a:rPr lang="en-US" sz="1200" i="1" dirty="0">
                <a:effectLst/>
                <a:latin typeface="Calibri" panose="020F0502020204030204" pitchFamily="34" charset="0"/>
                <a:ea typeface="Calibri" panose="020F0502020204030204" pitchFamily="34" charset="0"/>
                <a:cs typeface="Calibri" panose="020F0502020204030204" pitchFamily="34" charset="0"/>
              </a:rPr>
              <a:t>Unsupervised Representation Learning with Deep Convolutional Generative Adversarial Networks</a:t>
            </a:r>
            <a:r>
              <a:rPr lang="en-US" sz="1200" dirty="0">
                <a:effectLst/>
                <a:latin typeface="Calibri" panose="020F0502020204030204" pitchFamily="34" charset="0"/>
                <a:ea typeface="Calibri" panose="020F0502020204030204" pitchFamily="34" charset="0"/>
                <a:cs typeface="Calibri" panose="020F0502020204030204" pitchFamily="34" charset="0"/>
              </a:rPr>
              <a:t> (arXiv:1511.06434). </a:t>
            </a:r>
            <a:r>
              <a:rPr lang="en-US" sz="1200" dirty="0" err="1">
                <a:effectLst/>
                <a:latin typeface="Calibri" panose="020F0502020204030204" pitchFamily="34" charset="0"/>
                <a:ea typeface="Calibri" panose="020F0502020204030204" pitchFamily="34" charset="0"/>
                <a:cs typeface="Calibri" panose="020F0502020204030204" pitchFamily="34" charset="0"/>
              </a:rPr>
              <a:t>arXiv</a:t>
            </a:r>
            <a:r>
              <a:rPr lang="en-US" sz="1200" dirty="0">
                <a:effectLst/>
                <a:latin typeface="Calibri" panose="020F0502020204030204" pitchFamily="34" charset="0"/>
                <a:ea typeface="Calibri" panose="020F0502020204030204" pitchFamily="34" charset="0"/>
                <a:cs typeface="Calibri" panose="020F0502020204030204" pitchFamily="34" charset="0"/>
              </a:rPr>
              <a:t>. http://arxiv.org/abs/1511.06434</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Calibri" panose="020F0502020204030204" pitchFamily="34" charset="0"/>
              </a:rPr>
              <a:t>Russell, S. J., &amp; Norvig, P. (2010). </a:t>
            </a:r>
            <a:r>
              <a:rPr lang="en-US" sz="1200" i="1" dirty="0">
                <a:effectLst/>
                <a:latin typeface="Calibri" panose="020F0502020204030204" pitchFamily="34" charset="0"/>
                <a:ea typeface="Calibri" panose="020F0502020204030204" pitchFamily="34" charset="0"/>
                <a:cs typeface="Calibri" panose="020F0502020204030204" pitchFamily="34" charset="0"/>
              </a:rPr>
              <a:t>Artificial Intelligence A Modern Approach</a:t>
            </a:r>
            <a:r>
              <a:rPr lang="en-US" sz="1200" dirty="0">
                <a:effectLst/>
                <a:latin typeface="Calibri" panose="020F0502020204030204" pitchFamily="34" charset="0"/>
                <a:ea typeface="Calibri" panose="020F0502020204030204" pitchFamily="34" charset="0"/>
                <a:cs typeface="Calibri" panose="020F0502020204030204" pitchFamily="34" charset="0"/>
              </a:rPr>
              <a:t> (3rd ed.). Pearson Education, Inc.</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err="1">
                <a:effectLst/>
                <a:latin typeface="Calibri" panose="020F0502020204030204" pitchFamily="34" charset="0"/>
                <a:ea typeface="Calibri" panose="020F0502020204030204" pitchFamily="34" charset="0"/>
                <a:cs typeface="Calibri" panose="020F0502020204030204" pitchFamily="34" charset="0"/>
              </a:rPr>
              <a:t>Salimans</a:t>
            </a:r>
            <a:r>
              <a:rPr lang="en-US" sz="1200" dirty="0">
                <a:effectLst/>
                <a:latin typeface="Calibri" panose="020F0502020204030204" pitchFamily="34" charset="0"/>
                <a:ea typeface="Calibri" panose="020F0502020204030204" pitchFamily="34" charset="0"/>
                <a:cs typeface="Calibri" panose="020F0502020204030204" pitchFamily="34" charset="0"/>
              </a:rPr>
              <a:t>, T., Goodfellow, I., Zaremba, W., Cheung, V., Radford, A., &amp; Chen, X. (2016). </a:t>
            </a:r>
            <a:r>
              <a:rPr lang="en-US" sz="1200" i="1" dirty="0">
                <a:effectLst/>
                <a:latin typeface="Calibri" panose="020F0502020204030204" pitchFamily="34" charset="0"/>
                <a:ea typeface="Calibri" panose="020F0502020204030204" pitchFamily="34" charset="0"/>
                <a:cs typeface="Calibri" panose="020F0502020204030204" pitchFamily="34" charset="0"/>
              </a:rPr>
              <a:t>Improved Techniques for Training GANs</a:t>
            </a:r>
            <a:r>
              <a:rPr lang="en-US" sz="1200" dirty="0">
                <a:effectLst/>
                <a:latin typeface="Calibri" panose="020F0502020204030204" pitchFamily="34" charset="0"/>
                <a:ea typeface="Calibri" panose="020F0502020204030204" pitchFamily="34" charset="0"/>
                <a:cs typeface="Calibri" panose="020F0502020204030204" pitchFamily="34" charset="0"/>
              </a:rPr>
              <a:t> (arXiv:1606.03498). </a:t>
            </a:r>
            <a:r>
              <a:rPr lang="en-US" sz="1200" dirty="0" err="1">
                <a:effectLst/>
                <a:latin typeface="Calibri" panose="020F0502020204030204" pitchFamily="34" charset="0"/>
                <a:ea typeface="Calibri" panose="020F0502020204030204" pitchFamily="34" charset="0"/>
                <a:cs typeface="Calibri" panose="020F0502020204030204" pitchFamily="34" charset="0"/>
              </a:rPr>
              <a:t>arXiv</a:t>
            </a:r>
            <a:r>
              <a:rPr lang="en-US" sz="1200" dirty="0">
                <a:effectLst/>
                <a:latin typeface="Calibri" panose="020F0502020204030204" pitchFamily="34" charset="0"/>
                <a:ea typeface="Calibri" panose="020F0502020204030204" pitchFamily="34" charset="0"/>
                <a:cs typeface="Calibri" panose="020F0502020204030204" pitchFamily="34" charset="0"/>
              </a:rPr>
              <a:t>. http://arxiv.org/abs/1606.03498</a:t>
            </a:r>
            <a:endParaRPr lang="en-US" sz="1200" dirty="0"/>
          </a:p>
        </p:txBody>
      </p:sp>
    </p:spTree>
    <p:extLst>
      <p:ext uri="{BB962C8B-B14F-4D97-AF65-F5344CB8AC3E}">
        <p14:creationId xmlns:p14="http://schemas.microsoft.com/office/powerpoint/2010/main" val="12726970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76D935-3132-B28E-B1B4-D3FEAEC10A1F}"/>
              </a:ext>
            </a:extLst>
          </p:cNvPr>
          <p:cNvSpPr>
            <a:spLocks noGrp="1"/>
          </p:cNvSpPr>
          <p:nvPr>
            <p:ph type="title"/>
          </p:nvPr>
        </p:nvSpPr>
        <p:spPr/>
        <p:txBody>
          <a:bodyPr/>
          <a:lstStyle/>
          <a:p>
            <a:r>
              <a:rPr lang="en-US" dirty="0"/>
              <a:t>References</a:t>
            </a:r>
          </a:p>
        </p:txBody>
      </p:sp>
      <p:sp>
        <p:nvSpPr>
          <p:cNvPr id="4" name="Date Placeholder 3">
            <a:extLst>
              <a:ext uri="{FF2B5EF4-FFF2-40B4-BE49-F238E27FC236}">
                <a16:creationId xmlns:a16="http://schemas.microsoft.com/office/drawing/2014/main" id="{FA815870-FD8D-6C34-A3B6-385C3C8F8563}"/>
              </a:ext>
            </a:extLst>
          </p:cNvPr>
          <p:cNvSpPr>
            <a:spLocks noGrp="1"/>
          </p:cNvSpPr>
          <p:nvPr>
            <p:ph type="dt" sz="half" idx="10"/>
          </p:nvPr>
        </p:nvSpPr>
        <p:spPr/>
        <p:txBody>
          <a:bodyPr/>
          <a:lstStyle/>
          <a:p>
            <a:pPr>
              <a:defRPr/>
            </a:pPr>
            <a:fld id="{16773C88-0E4A-4826-BA37-830EAE1BC3FD}" type="datetime1">
              <a:rPr lang="en-US" smtClean="0"/>
              <a:t>2/28/2024</a:t>
            </a:fld>
            <a:endParaRPr lang="de-DE" dirty="0"/>
          </a:p>
        </p:txBody>
      </p:sp>
      <p:sp>
        <p:nvSpPr>
          <p:cNvPr id="5" name="Footer Placeholder 4">
            <a:extLst>
              <a:ext uri="{FF2B5EF4-FFF2-40B4-BE49-F238E27FC236}">
                <a16:creationId xmlns:a16="http://schemas.microsoft.com/office/drawing/2014/main" id="{4BE81F47-D1AA-F845-54A7-DFB92A4F9075}"/>
              </a:ext>
            </a:extLst>
          </p:cNvPr>
          <p:cNvSpPr>
            <a:spLocks noGrp="1"/>
          </p:cNvSpPr>
          <p:nvPr>
            <p:ph type="ftr" sz="quarter" idx="11"/>
          </p:nvPr>
        </p:nvSpPr>
        <p:spPr/>
        <p:txBody>
          <a:bodyPr/>
          <a:lstStyle/>
          <a:p>
            <a:pPr>
              <a:defRPr/>
            </a:pPr>
            <a:r>
              <a:rPr lang="de-DE"/>
              <a:t>Pichaya Tappayuthpijarn</a:t>
            </a:r>
            <a:endParaRPr lang="de-DE" dirty="0"/>
          </a:p>
        </p:txBody>
      </p:sp>
      <p:sp>
        <p:nvSpPr>
          <p:cNvPr id="6" name="Slide Number Placeholder 5">
            <a:extLst>
              <a:ext uri="{FF2B5EF4-FFF2-40B4-BE49-F238E27FC236}">
                <a16:creationId xmlns:a16="http://schemas.microsoft.com/office/drawing/2014/main" id="{BB16ADAA-FCAD-B376-9943-8F70208B7117}"/>
              </a:ext>
            </a:extLst>
          </p:cNvPr>
          <p:cNvSpPr>
            <a:spLocks noGrp="1"/>
          </p:cNvSpPr>
          <p:nvPr>
            <p:ph type="sldNum" sz="quarter" idx="12"/>
          </p:nvPr>
        </p:nvSpPr>
        <p:spPr/>
        <p:txBody>
          <a:bodyPr/>
          <a:lstStyle/>
          <a:p>
            <a:pPr>
              <a:defRPr/>
            </a:pPr>
            <a:r>
              <a:rPr lang="de-DE"/>
              <a:t>SEITE</a:t>
            </a:r>
            <a:r>
              <a:rPr lang="de-DE" spc="0"/>
              <a:t> </a:t>
            </a:r>
            <a:fld id="{37ED3A82-C5FC-FE4D-9EDE-EA1B3EA06354}" type="slidenum">
              <a:rPr lang="de-DE" spc="0" smtClean="0"/>
              <a:pPr>
                <a:defRPr/>
              </a:pPr>
              <a:t>29</a:t>
            </a:fld>
            <a:endParaRPr lang="de-DE" spc="0"/>
          </a:p>
        </p:txBody>
      </p:sp>
      <p:sp>
        <p:nvSpPr>
          <p:cNvPr id="7" name="Rectangle 6">
            <a:extLst>
              <a:ext uri="{FF2B5EF4-FFF2-40B4-BE49-F238E27FC236}">
                <a16:creationId xmlns:a16="http://schemas.microsoft.com/office/drawing/2014/main" id="{093171E4-1A5D-F1FB-DB90-BC3E435BEAC0}"/>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09585" eaLnBrk="0" fontAlgn="base" hangingPunct="0">
              <a:spcBef>
                <a:spcPct val="0"/>
              </a:spcBef>
              <a:spcAft>
                <a:spcPct val="0"/>
              </a:spcAft>
            </a:pPr>
            <a:endParaRPr lang="en-US" sz="2400">
              <a:solidFill>
                <a:prstClr val="black"/>
              </a:solidFill>
              <a:latin typeface="Calibri"/>
            </a:endParaRPr>
          </a:p>
        </p:txBody>
      </p:sp>
      <p:sp>
        <p:nvSpPr>
          <p:cNvPr id="9" name="Content Placeholder 8">
            <a:extLst>
              <a:ext uri="{FF2B5EF4-FFF2-40B4-BE49-F238E27FC236}">
                <a16:creationId xmlns:a16="http://schemas.microsoft.com/office/drawing/2014/main" id="{270257AB-ADCC-9EB6-B275-2E2945A889FD}"/>
              </a:ext>
            </a:extLst>
          </p:cNvPr>
          <p:cNvSpPr>
            <a:spLocks noGrp="1"/>
          </p:cNvSpPr>
          <p:nvPr>
            <p:ph idx="1"/>
          </p:nvPr>
        </p:nvSpPr>
        <p:spPr>
          <a:xfrm>
            <a:off x="432284" y="1800000"/>
            <a:ext cx="11279716" cy="4078817"/>
          </a:xfrm>
        </p:spPr>
        <p:txBody>
          <a:bodyPr>
            <a:noAutofit/>
          </a:bodyPr>
          <a:lstStyle/>
          <a:p>
            <a:pPr marL="0" marR="0">
              <a:lnSpc>
                <a:spcPct val="107000"/>
              </a:lnSpc>
              <a:spcBef>
                <a:spcPts val="0"/>
              </a:spcBef>
              <a:spcAft>
                <a:spcPts val="800"/>
              </a:spcAft>
            </a:pPr>
            <a:r>
              <a:rPr lang="de-DE" sz="1200" dirty="0">
                <a:effectLst/>
                <a:latin typeface="Calibri" panose="020F0502020204030204" pitchFamily="34" charset="0"/>
                <a:ea typeface="Calibri" panose="020F0502020204030204" pitchFamily="34" charset="0"/>
                <a:cs typeface="Calibri" panose="020F0502020204030204" pitchFamily="34" charset="0"/>
              </a:rPr>
              <a:t>Sarrut, D., Krah, N., &amp; Létang, J.-M. (2019). </a:t>
            </a:r>
            <a:r>
              <a:rPr lang="en-US" sz="1200" i="1" dirty="0">
                <a:effectLst/>
                <a:latin typeface="Calibri" panose="020F0502020204030204" pitchFamily="34" charset="0"/>
                <a:ea typeface="Calibri" panose="020F0502020204030204" pitchFamily="34" charset="0"/>
                <a:cs typeface="Calibri" panose="020F0502020204030204" pitchFamily="34" charset="0"/>
              </a:rPr>
              <a:t>Generative Adversarial Networks (GAN) for compact beam source modelling in Monte Carlo simulations</a:t>
            </a:r>
            <a:r>
              <a:rPr lang="en-US" sz="1200" dirty="0">
                <a:effectLst/>
                <a:latin typeface="Calibri" panose="020F0502020204030204" pitchFamily="34" charset="0"/>
                <a:ea typeface="Calibri" panose="020F0502020204030204" pitchFamily="34" charset="0"/>
                <a:cs typeface="Calibri" panose="020F0502020204030204" pitchFamily="34" charset="0"/>
              </a:rPr>
              <a:t>. https://doi.org/10.48550/ARXIV.1907.13324</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err="1">
                <a:effectLst/>
                <a:latin typeface="Calibri" panose="020F0502020204030204" pitchFamily="34" charset="0"/>
                <a:ea typeface="Calibri" panose="020F0502020204030204" pitchFamily="34" charset="0"/>
                <a:cs typeface="Calibri" panose="020F0502020204030204" pitchFamily="34" charset="0"/>
              </a:rPr>
              <a:t>Schwarze</a:t>
            </a:r>
            <a:r>
              <a:rPr lang="en-US" sz="1200" dirty="0">
                <a:effectLst/>
                <a:latin typeface="Calibri" panose="020F0502020204030204" pitchFamily="34" charset="0"/>
                <a:ea typeface="Calibri" panose="020F0502020204030204" pitchFamily="34" charset="0"/>
                <a:cs typeface="Calibri" panose="020F0502020204030204" pitchFamily="34" charset="0"/>
              </a:rPr>
              <a:t>, M. (2023). </a:t>
            </a:r>
            <a:r>
              <a:rPr lang="en-US" sz="1200" i="1" dirty="0">
                <a:effectLst/>
                <a:latin typeface="Calibri" panose="020F0502020204030204" pitchFamily="34" charset="0"/>
                <a:ea typeface="Calibri" panose="020F0502020204030204" pitchFamily="34" charset="0"/>
                <a:cs typeface="Calibri" panose="020F0502020204030204" pitchFamily="34" charset="0"/>
              </a:rPr>
              <a:t>MC Simulation of a therapeutic carbon ion beam in head</a:t>
            </a:r>
            <a:r>
              <a:rPr lang="en-US" sz="1200" dirty="0">
                <a:effectLst/>
                <a:latin typeface="Calibri" panose="020F0502020204030204" pitchFamily="34" charset="0"/>
                <a:ea typeface="Calibri" panose="020F0502020204030204" pitchFamily="34" charset="0"/>
                <a:cs typeface="Calibri" panose="020F0502020204030204" pitchFamily="34" charset="0"/>
              </a:rPr>
              <a:t>. https://gitlab1.ptb.de/MiriamSchwarze/simudosemapheavyions</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de-DE" sz="1200" dirty="0">
                <a:effectLst/>
                <a:latin typeface="Calibri" panose="020F0502020204030204" pitchFamily="34" charset="0"/>
                <a:ea typeface="Calibri" panose="020F0502020204030204" pitchFamily="34" charset="0"/>
                <a:cs typeface="Calibri" panose="020F0502020204030204" pitchFamily="34" charset="0"/>
              </a:rPr>
              <a:t>Seco, J., &amp; Verhaegen, F. (Eds.). </a:t>
            </a:r>
            <a:r>
              <a:rPr lang="en-US" sz="1200" dirty="0">
                <a:effectLst/>
                <a:latin typeface="Calibri" panose="020F0502020204030204" pitchFamily="34" charset="0"/>
                <a:ea typeface="Calibri" panose="020F0502020204030204" pitchFamily="34" charset="0"/>
                <a:cs typeface="Calibri" panose="020F0502020204030204" pitchFamily="34" charset="0"/>
              </a:rPr>
              <a:t>(2016). </a:t>
            </a:r>
            <a:r>
              <a:rPr lang="en-US" sz="1200" i="1" dirty="0">
                <a:effectLst/>
                <a:latin typeface="Calibri" panose="020F0502020204030204" pitchFamily="34" charset="0"/>
                <a:ea typeface="Calibri" panose="020F0502020204030204" pitchFamily="34" charset="0"/>
                <a:cs typeface="Calibri" panose="020F0502020204030204" pitchFamily="34" charset="0"/>
              </a:rPr>
              <a:t>Monte Carlo Techniques in Radiation Therapy</a:t>
            </a:r>
            <a:r>
              <a:rPr lang="en-US" sz="1200" dirty="0">
                <a:effectLst/>
                <a:latin typeface="Calibri" panose="020F0502020204030204" pitchFamily="34" charset="0"/>
                <a:ea typeface="Calibri" panose="020F0502020204030204" pitchFamily="34" charset="0"/>
                <a:cs typeface="Calibri" panose="020F0502020204030204" pitchFamily="34" charset="0"/>
              </a:rPr>
              <a:t> (0 ed.). CRC Press. https://doi.org/10.1201/b13961</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Calibri" panose="020F0502020204030204" pitchFamily="34" charset="0"/>
              </a:rPr>
              <a:t>Seltzer, S. M., Bartlett, D. T., Burns, D. T., </a:t>
            </a:r>
            <a:r>
              <a:rPr lang="en-US" sz="1200" dirty="0" err="1">
                <a:effectLst/>
                <a:latin typeface="Calibri" panose="020F0502020204030204" pitchFamily="34" charset="0"/>
                <a:ea typeface="Calibri" panose="020F0502020204030204" pitchFamily="34" charset="0"/>
                <a:cs typeface="Calibri" panose="020F0502020204030204" pitchFamily="34" charset="0"/>
              </a:rPr>
              <a:t>Dietze</a:t>
            </a:r>
            <a:r>
              <a:rPr lang="en-US" sz="1200" dirty="0">
                <a:effectLst/>
                <a:latin typeface="Calibri" panose="020F0502020204030204" pitchFamily="34" charset="0"/>
                <a:ea typeface="Calibri" panose="020F0502020204030204" pitchFamily="34" charset="0"/>
                <a:cs typeface="Calibri" panose="020F0502020204030204" pitchFamily="34" charset="0"/>
              </a:rPr>
              <a:t>, G., Menzel, H.-G., </a:t>
            </a:r>
            <a:r>
              <a:rPr lang="en-US" sz="1200" dirty="0" err="1">
                <a:effectLst/>
                <a:latin typeface="Calibri" panose="020F0502020204030204" pitchFamily="34" charset="0"/>
                <a:ea typeface="Calibri" panose="020F0502020204030204" pitchFamily="34" charset="0"/>
                <a:cs typeface="Calibri" panose="020F0502020204030204" pitchFamily="34" charset="0"/>
              </a:rPr>
              <a:t>Paretzke</a:t>
            </a:r>
            <a:r>
              <a:rPr lang="en-US" sz="1200" dirty="0">
                <a:effectLst/>
                <a:latin typeface="Calibri" panose="020F0502020204030204" pitchFamily="34" charset="0"/>
                <a:ea typeface="Calibri" panose="020F0502020204030204" pitchFamily="34" charset="0"/>
                <a:cs typeface="Calibri" panose="020F0502020204030204" pitchFamily="34" charset="0"/>
              </a:rPr>
              <a:t>, H. G., &amp; </a:t>
            </a:r>
            <a:r>
              <a:rPr lang="en-US" sz="1200" dirty="0" err="1">
                <a:effectLst/>
                <a:latin typeface="Calibri" panose="020F0502020204030204" pitchFamily="34" charset="0"/>
                <a:ea typeface="Calibri" panose="020F0502020204030204" pitchFamily="34" charset="0"/>
                <a:cs typeface="Calibri" panose="020F0502020204030204" pitchFamily="34" charset="0"/>
              </a:rPr>
              <a:t>Wambersie</a:t>
            </a:r>
            <a:r>
              <a:rPr lang="en-US" sz="1200" dirty="0">
                <a:effectLst/>
                <a:latin typeface="Calibri" panose="020F0502020204030204" pitchFamily="34" charset="0"/>
                <a:ea typeface="Calibri" panose="020F0502020204030204" pitchFamily="34" charset="0"/>
                <a:cs typeface="Calibri" panose="020F0502020204030204" pitchFamily="34" charset="0"/>
              </a:rPr>
              <a:t>, A. (2011). 5. Dosimetry. </a:t>
            </a:r>
            <a:r>
              <a:rPr lang="en-US" sz="1200" i="1" dirty="0">
                <a:effectLst/>
                <a:latin typeface="Calibri" panose="020F0502020204030204" pitchFamily="34" charset="0"/>
                <a:ea typeface="Calibri" panose="020F0502020204030204" pitchFamily="34" charset="0"/>
                <a:cs typeface="Calibri" panose="020F0502020204030204" pitchFamily="34" charset="0"/>
              </a:rPr>
              <a:t>Journal of the ICRU</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a:effectLst/>
                <a:latin typeface="Calibri" panose="020F0502020204030204" pitchFamily="34" charset="0"/>
                <a:ea typeface="Calibri" panose="020F0502020204030204" pitchFamily="34" charset="0"/>
                <a:cs typeface="Calibri" panose="020F0502020204030204" pitchFamily="34" charset="0"/>
              </a:rPr>
              <a:t>11</a:t>
            </a:r>
            <a:r>
              <a:rPr lang="en-US" sz="1200" dirty="0">
                <a:effectLst/>
                <a:latin typeface="Calibri" panose="020F0502020204030204" pitchFamily="34" charset="0"/>
                <a:ea typeface="Calibri" panose="020F0502020204030204" pitchFamily="34" charset="0"/>
                <a:cs typeface="Calibri" panose="020F0502020204030204" pitchFamily="34" charset="0"/>
              </a:rPr>
              <a:t>(1), 23–28. https://doi.org/10.1093/jicru/ndr003</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err="1">
                <a:effectLst/>
                <a:latin typeface="Calibri" panose="020F0502020204030204" pitchFamily="34" charset="0"/>
                <a:ea typeface="Calibri" panose="020F0502020204030204" pitchFamily="34" charset="0"/>
                <a:cs typeface="Calibri" panose="020F0502020204030204" pitchFamily="34" charset="0"/>
              </a:rPr>
              <a:t>Shanmugamani</a:t>
            </a:r>
            <a:r>
              <a:rPr lang="en-US" sz="1200" dirty="0">
                <a:effectLst/>
                <a:latin typeface="Calibri" panose="020F0502020204030204" pitchFamily="34" charset="0"/>
                <a:ea typeface="Calibri" panose="020F0502020204030204" pitchFamily="34" charset="0"/>
                <a:cs typeface="Calibri" panose="020F0502020204030204" pitchFamily="34" charset="0"/>
              </a:rPr>
              <a:t>, R. (2018). </a:t>
            </a:r>
            <a:r>
              <a:rPr lang="en-US" sz="1200" i="1" dirty="0">
                <a:effectLst/>
                <a:latin typeface="Calibri" panose="020F0502020204030204" pitchFamily="34" charset="0"/>
                <a:ea typeface="Calibri" panose="020F0502020204030204" pitchFamily="34" charset="0"/>
                <a:cs typeface="Calibri" panose="020F0502020204030204" pitchFamily="34" charset="0"/>
              </a:rPr>
              <a:t>Deep Learning for Computer Vision: Expert techniques to train advanced neural networks using TensorFlow and </a:t>
            </a:r>
            <a:r>
              <a:rPr lang="en-US" sz="1200" i="1" dirty="0" err="1">
                <a:effectLst/>
                <a:latin typeface="Calibri" panose="020F0502020204030204" pitchFamily="34" charset="0"/>
                <a:ea typeface="Calibri" panose="020F0502020204030204" pitchFamily="34" charset="0"/>
                <a:cs typeface="Calibri" panose="020F0502020204030204" pitchFamily="34" charset="0"/>
              </a:rPr>
              <a:t>Keras</a:t>
            </a:r>
            <a:r>
              <a:rPr lang="en-US" sz="1200" dirty="0">
                <a:effectLst/>
                <a:latin typeface="Calibri" panose="020F0502020204030204" pitchFamily="34" charset="0"/>
                <a:ea typeface="Calibri" panose="020F0502020204030204" pitchFamily="34" charset="0"/>
                <a:cs typeface="Calibri" panose="020F0502020204030204" pitchFamily="34" charset="0"/>
              </a:rPr>
              <a:t> (1st ed.). </a:t>
            </a:r>
            <a:r>
              <a:rPr lang="en-US" sz="1200" dirty="0" err="1">
                <a:effectLst/>
                <a:latin typeface="Calibri" panose="020F0502020204030204" pitchFamily="34" charset="0"/>
                <a:ea typeface="Calibri" panose="020F0502020204030204" pitchFamily="34" charset="0"/>
                <a:cs typeface="Calibri" panose="020F0502020204030204" pitchFamily="34" charset="0"/>
              </a:rPr>
              <a:t>Packt</a:t>
            </a:r>
            <a:r>
              <a:rPr lang="en-US" sz="1200" dirty="0">
                <a:effectLst/>
                <a:latin typeface="Calibri" panose="020F0502020204030204" pitchFamily="34" charset="0"/>
                <a:ea typeface="Calibri" panose="020F0502020204030204" pitchFamily="34" charset="0"/>
                <a:cs typeface="Calibri" panose="020F0502020204030204" pitchFamily="34" charset="0"/>
              </a:rPr>
              <a:t> Publishing Ltd.</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err="1">
                <a:effectLst/>
                <a:latin typeface="Calibri" panose="020F0502020204030204" pitchFamily="34" charset="0"/>
                <a:ea typeface="Calibri" panose="020F0502020204030204" pitchFamily="34" charset="0"/>
                <a:cs typeface="Calibri" panose="020F0502020204030204" pitchFamily="34" charset="0"/>
              </a:rPr>
              <a:t>Shusharina</a:t>
            </a:r>
            <a:r>
              <a:rPr lang="en-US" sz="1200" dirty="0">
                <a:effectLst/>
                <a:latin typeface="Calibri" panose="020F0502020204030204" pitchFamily="34" charset="0"/>
                <a:ea typeface="Calibri" panose="020F0502020204030204" pitchFamily="34" charset="0"/>
                <a:cs typeface="Calibri" panose="020F0502020204030204" pitchFamily="34" charset="0"/>
              </a:rPr>
              <a:t>, N., &amp; </a:t>
            </a:r>
            <a:r>
              <a:rPr lang="en-US" sz="1200" dirty="0" err="1">
                <a:effectLst/>
                <a:latin typeface="Calibri" panose="020F0502020204030204" pitchFamily="34" charset="0"/>
                <a:ea typeface="Calibri" panose="020F0502020204030204" pitchFamily="34" charset="0"/>
                <a:cs typeface="Calibri" panose="020F0502020204030204" pitchFamily="34" charset="0"/>
              </a:rPr>
              <a:t>Bortfeld</a:t>
            </a:r>
            <a:r>
              <a:rPr lang="en-US" sz="1200" dirty="0">
                <a:effectLst/>
                <a:latin typeface="Calibri" panose="020F0502020204030204" pitchFamily="34" charset="0"/>
                <a:ea typeface="Calibri" panose="020F0502020204030204" pitchFamily="34" charset="0"/>
                <a:cs typeface="Calibri" panose="020F0502020204030204" pitchFamily="34" charset="0"/>
              </a:rPr>
              <a:t>, T. (2021). </a:t>
            </a:r>
            <a:r>
              <a:rPr lang="en-US" sz="1200" i="1" dirty="0">
                <a:effectLst/>
                <a:latin typeface="Calibri" panose="020F0502020204030204" pitchFamily="34" charset="0"/>
                <a:ea typeface="Calibri" panose="020F0502020204030204" pitchFamily="34" charset="0"/>
                <a:cs typeface="Calibri" panose="020F0502020204030204" pitchFamily="34" charset="0"/>
              </a:rPr>
              <a:t>Glioma Image Segmentation for Radiotherapy: RT targets, barriers to cancer spread, and organs at risk (GLIS-RT)</a:t>
            </a:r>
            <a:r>
              <a:rPr lang="en-US" sz="1200" dirty="0">
                <a:effectLst/>
                <a:latin typeface="Calibri" panose="020F0502020204030204" pitchFamily="34" charset="0"/>
                <a:ea typeface="Calibri" panose="020F0502020204030204" pitchFamily="34" charset="0"/>
                <a:cs typeface="Calibri" panose="020F0502020204030204" pitchFamily="34" charset="0"/>
              </a:rPr>
              <a:t> (Version 1) [dataset]. The Cancer Imaging Archive. https://doi.org/10.7937/TCIA.T905-ZQ20</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err="1">
                <a:effectLst/>
                <a:latin typeface="Calibri" panose="020F0502020204030204" pitchFamily="34" charset="0"/>
                <a:ea typeface="Calibri" panose="020F0502020204030204" pitchFamily="34" charset="0"/>
                <a:cs typeface="Calibri" panose="020F0502020204030204" pitchFamily="34" charset="0"/>
              </a:rPr>
              <a:t>Tsujii</a:t>
            </a:r>
            <a:r>
              <a:rPr lang="en-US" sz="1200" dirty="0">
                <a:effectLst/>
                <a:latin typeface="Calibri" panose="020F0502020204030204" pitchFamily="34" charset="0"/>
                <a:ea typeface="Calibri" panose="020F0502020204030204" pitchFamily="34" charset="0"/>
                <a:cs typeface="Calibri" panose="020F0502020204030204" pitchFamily="34" charset="0"/>
              </a:rPr>
              <a:t>, H. (2017). Overview of Carbon-ion Radiotherapy. </a:t>
            </a:r>
            <a:r>
              <a:rPr lang="en-US" sz="1200" i="1" dirty="0">
                <a:effectLst/>
                <a:latin typeface="Calibri" panose="020F0502020204030204" pitchFamily="34" charset="0"/>
                <a:ea typeface="Calibri" panose="020F0502020204030204" pitchFamily="34" charset="0"/>
                <a:cs typeface="Calibri" panose="020F0502020204030204" pitchFamily="34" charset="0"/>
              </a:rPr>
              <a:t>Journal of Physics: Conference Series</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a:effectLst/>
                <a:latin typeface="Calibri" panose="020F0502020204030204" pitchFamily="34" charset="0"/>
                <a:ea typeface="Calibri" panose="020F0502020204030204" pitchFamily="34" charset="0"/>
                <a:cs typeface="Calibri" panose="020F0502020204030204" pitchFamily="34" charset="0"/>
              </a:rPr>
              <a:t>777</a:t>
            </a:r>
            <a:r>
              <a:rPr lang="en-US" sz="1200" dirty="0">
                <a:effectLst/>
                <a:latin typeface="Calibri" panose="020F0502020204030204" pitchFamily="34" charset="0"/>
                <a:ea typeface="Calibri" panose="020F0502020204030204" pitchFamily="34" charset="0"/>
                <a:cs typeface="Calibri" panose="020F0502020204030204" pitchFamily="34" charset="0"/>
              </a:rPr>
              <a:t>, 012032. https://doi.org/10.1088/1742-6596/777/1/012032</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err="1">
                <a:effectLst/>
                <a:latin typeface="Calibri" panose="020F0502020204030204" pitchFamily="34" charset="0"/>
                <a:ea typeface="Calibri" panose="020F0502020204030204" pitchFamily="34" charset="0"/>
                <a:cs typeface="Calibri" panose="020F0502020204030204" pitchFamily="34" charset="0"/>
              </a:rPr>
              <a:t>Vassiliev</a:t>
            </a:r>
            <a:r>
              <a:rPr lang="en-US" sz="1200" dirty="0">
                <a:effectLst/>
                <a:latin typeface="Calibri" panose="020F0502020204030204" pitchFamily="34" charset="0"/>
                <a:ea typeface="Calibri" panose="020F0502020204030204" pitchFamily="34" charset="0"/>
                <a:cs typeface="Calibri" panose="020F0502020204030204" pitchFamily="34" charset="0"/>
              </a:rPr>
              <a:t>, O. N. (2016). </a:t>
            </a:r>
            <a:r>
              <a:rPr lang="en-US" sz="1200" i="1" dirty="0">
                <a:effectLst/>
                <a:latin typeface="Calibri" panose="020F0502020204030204" pitchFamily="34" charset="0"/>
                <a:ea typeface="Calibri" panose="020F0502020204030204" pitchFamily="34" charset="0"/>
                <a:cs typeface="Calibri" panose="020F0502020204030204" pitchFamily="34" charset="0"/>
              </a:rPr>
              <a:t>Monte Carlo methods for radiation transport: Fundamentals and advanced topics</a:t>
            </a:r>
            <a:r>
              <a:rPr lang="en-US" sz="1200" dirty="0">
                <a:effectLst/>
                <a:latin typeface="Calibri" panose="020F0502020204030204" pitchFamily="34" charset="0"/>
                <a:ea typeface="Calibri" panose="020F0502020204030204" pitchFamily="34" charset="0"/>
                <a:cs typeface="Calibri" panose="020F0502020204030204" pitchFamily="34" charset="0"/>
              </a:rPr>
              <a:t>. Springer </a:t>
            </a:r>
            <a:r>
              <a:rPr lang="en-US" sz="1200" dirty="0" err="1">
                <a:effectLst/>
                <a:latin typeface="Calibri" panose="020F0502020204030204" pitchFamily="34" charset="0"/>
                <a:ea typeface="Calibri" panose="020F0502020204030204" pitchFamily="34" charset="0"/>
                <a:cs typeface="Calibri" panose="020F0502020204030204" pitchFamily="34" charset="0"/>
              </a:rPr>
              <a:t>Science+Business</a:t>
            </a:r>
            <a:r>
              <a:rPr lang="en-US" sz="1200" dirty="0">
                <a:effectLst/>
                <a:latin typeface="Calibri" panose="020F0502020204030204" pitchFamily="34" charset="0"/>
                <a:ea typeface="Calibri" panose="020F0502020204030204" pitchFamily="34" charset="0"/>
                <a:cs typeface="Calibri" panose="020F0502020204030204" pitchFamily="34" charset="0"/>
              </a:rPr>
              <a:t> Media.</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Calibri" panose="020F0502020204030204" pitchFamily="34" charset="0"/>
              </a:rPr>
              <a:t>Weng, L. (2019). </a:t>
            </a:r>
            <a:r>
              <a:rPr lang="en-US" sz="1200" i="1" dirty="0">
                <a:effectLst/>
                <a:latin typeface="Calibri" panose="020F0502020204030204" pitchFamily="34" charset="0"/>
                <a:ea typeface="Calibri" panose="020F0502020204030204" pitchFamily="34" charset="0"/>
                <a:cs typeface="Calibri" panose="020F0502020204030204" pitchFamily="34" charset="0"/>
              </a:rPr>
              <a:t>From GAN to WGAN</a:t>
            </a:r>
            <a:r>
              <a:rPr lang="en-US" sz="1200" dirty="0">
                <a:effectLst/>
                <a:latin typeface="Calibri" panose="020F0502020204030204" pitchFamily="34" charset="0"/>
                <a:ea typeface="Calibri" panose="020F0502020204030204" pitchFamily="34" charset="0"/>
                <a:cs typeface="Calibri" panose="020F0502020204030204" pitchFamily="34" charset="0"/>
              </a:rPr>
              <a:t> (arXiv:1904.08994). </a:t>
            </a:r>
            <a:r>
              <a:rPr lang="en-US" sz="1200" dirty="0" err="1">
                <a:effectLst/>
                <a:latin typeface="Calibri" panose="020F0502020204030204" pitchFamily="34" charset="0"/>
                <a:ea typeface="Calibri" panose="020F0502020204030204" pitchFamily="34" charset="0"/>
                <a:cs typeface="Calibri" panose="020F0502020204030204" pitchFamily="34" charset="0"/>
              </a:rPr>
              <a:t>arXiv</a:t>
            </a:r>
            <a:r>
              <a:rPr lang="en-US" sz="1200" dirty="0">
                <a:effectLst/>
                <a:latin typeface="Calibri" panose="020F0502020204030204" pitchFamily="34" charset="0"/>
                <a:ea typeface="Calibri" panose="020F0502020204030204" pitchFamily="34" charset="0"/>
                <a:cs typeface="Calibri" panose="020F0502020204030204" pitchFamily="34" charset="0"/>
              </a:rPr>
              <a:t>. http://arxiv.org/abs/1904.08994</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err="1">
                <a:effectLst/>
                <a:latin typeface="Calibri" panose="020F0502020204030204" pitchFamily="34" charset="0"/>
                <a:ea typeface="Calibri" panose="020F0502020204030204" pitchFamily="34" charset="0"/>
                <a:cs typeface="Calibri" panose="020F0502020204030204" pitchFamily="34" charset="0"/>
              </a:rPr>
              <a:t>Yoganathan</a:t>
            </a:r>
            <a:r>
              <a:rPr lang="en-US" sz="1200" dirty="0">
                <a:effectLst/>
                <a:latin typeface="Calibri" panose="020F0502020204030204" pitchFamily="34" charset="0"/>
                <a:ea typeface="Calibri" panose="020F0502020204030204" pitchFamily="34" charset="0"/>
                <a:cs typeface="Calibri" panose="020F0502020204030204" pitchFamily="34" charset="0"/>
              </a:rPr>
              <a:t>, S. A., &amp; Zhang, R. (2019). An atlas-based method to predict three-dimensional dose distributions for cancer patients who receive radiotherapy. </a:t>
            </a:r>
            <a:r>
              <a:rPr lang="en-US" sz="1200" i="1" dirty="0">
                <a:effectLst/>
                <a:latin typeface="Calibri" panose="020F0502020204030204" pitchFamily="34" charset="0"/>
                <a:ea typeface="Calibri" panose="020F0502020204030204" pitchFamily="34" charset="0"/>
                <a:cs typeface="Calibri" panose="020F0502020204030204" pitchFamily="34" charset="0"/>
              </a:rPr>
              <a:t>Physics in Medicine &amp; Biology</a:t>
            </a:r>
            <a:r>
              <a:rPr lang="en-US" sz="1200" dirty="0">
                <a:effectLst/>
                <a:latin typeface="Calibri" panose="020F0502020204030204" pitchFamily="34" charset="0"/>
                <a:ea typeface="Calibri" panose="020F0502020204030204" pitchFamily="34" charset="0"/>
                <a:cs typeface="Calibri" panose="020F0502020204030204" pitchFamily="34" charset="0"/>
              </a:rPr>
              <a:t>, </a:t>
            </a:r>
            <a:r>
              <a:rPr lang="en-US" sz="1200" i="1" dirty="0">
                <a:effectLst/>
                <a:latin typeface="Calibri" panose="020F0502020204030204" pitchFamily="34" charset="0"/>
                <a:ea typeface="Calibri" panose="020F0502020204030204" pitchFamily="34" charset="0"/>
                <a:cs typeface="Calibri" panose="020F0502020204030204" pitchFamily="34" charset="0"/>
              </a:rPr>
              <a:t>64</a:t>
            </a:r>
            <a:r>
              <a:rPr lang="en-US" sz="1200" dirty="0">
                <a:effectLst/>
                <a:latin typeface="Calibri" panose="020F0502020204030204" pitchFamily="34" charset="0"/>
                <a:ea typeface="Calibri" panose="020F0502020204030204" pitchFamily="34" charset="0"/>
                <a:cs typeface="Calibri" panose="020F0502020204030204" pitchFamily="34" charset="0"/>
              </a:rPr>
              <a:t>(8), 085016. https://doi.org/10.1088/1361-6560/ab10a0</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Calibri" panose="020F0502020204030204" pitchFamily="34" charset="0"/>
              </a:rPr>
              <a:t>Zhang, Q., Kong, L., Liu, R., &amp; Wang, X. (2021). Ion therapy guideline (Version 2020): Radiation Oncology Physicians Branch of Chinese Medical Doctor Association. </a:t>
            </a:r>
            <a:r>
              <a:rPr lang="de-DE" sz="1200" i="1" dirty="0">
                <a:effectLst/>
                <a:latin typeface="Calibri" panose="020F0502020204030204" pitchFamily="34" charset="0"/>
                <a:ea typeface="Calibri" panose="020F0502020204030204" pitchFamily="34" charset="0"/>
                <a:cs typeface="Calibri" panose="020F0502020204030204" pitchFamily="34" charset="0"/>
              </a:rPr>
              <a:t>Precision Radiation Oncology</a:t>
            </a:r>
            <a:r>
              <a:rPr lang="de-DE" sz="1200" dirty="0">
                <a:effectLst/>
                <a:latin typeface="Calibri" panose="020F0502020204030204" pitchFamily="34" charset="0"/>
                <a:ea typeface="Calibri" panose="020F0502020204030204" pitchFamily="34" charset="0"/>
                <a:cs typeface="Calibri" panose="020F0502020204030204" pitchFamily="34" charset="0"/>
              </a:rPr>
              <a:t>, </a:t>
            </a:r>
            <a:r>
              <a:rPr lang="de-DE" sz="1200" i="1" dirty="0">
                <a:effectLst/>
                <a:latin typeface="Calibri" panose="020F0502020204030204" pitchFamily="34" charset="0"/>
                <a:ea typeface="Calibri" panose="020F0502020204030204" pitchFamily="34" charset="0"/>
                <a:cs typeface="Calibri" panose="020F0502020204030204" pitchFamily="34" charset="0"/>
              </a:rPr>
              <a:t>5</a:t>
            </a:r>
            <a:r>
              <a:rPr lang="de-DE" sz="1200" dirty="0">
                <a:effectLst/>
                <a:latin typeface="Calibri" panose="020F0502020204030204" pitchFamily="34" charset="0"/>
                <a:ea typeface="Calibri" panose="020F0502020204030204" pitchFamily="34" charset="0"/>
                <a:cs typeface="Calibri" panose="020F0502020204030204" pitchFamily="34" charset="0"/>
              </a:rPr>
              <a:t>(2), 73–83. https://doi.org/10.1002/pro6.1120</a:t>
            </a:r>
            <a:endParaRPr lang="en-US" sz="1200" dirty="0">
              <a:effectLst/>
              <a:latin typeface="Calibri" panose="020F0502020204030204" pitchFamily="34" charset="0"/>
              <a:ea typeface="Calibri" panose="020F0502020204030204" pitchFamily="34" charset="0"/>
              <a:cs typeface="Cordia New" panose="020B0304020202020204" pitchFamily="34" charset="-34"/>
            </a:endParaRPr>
          </a:p>
          <a:p>
            <a:pPr marL="277193" indent="0">
              <a:buNone/>
            </a:pPr>
            <a:endParaRPr lang="en-US" sz="1200" dirty="0"/>
          </a:p>
        </p:txBody>
      </p:sp>
    </p:spTree>
    <p:extLst>
      <p:ext uri="{BB962C8B-B14F-4D97-AF65-F5344CB8AC3E}">
        <p14:creationId xmlns:p14="http://schemas.microsoft.com/office/powerpoint/2010/main" val="19555972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926878" y="3278346"/>
            <a:ext cx="11280000" cy="1200000"/>
          </a:xfrm>
        </p:spPr>
        <p:txBody>
          <a:bodyPr>
            <a:normAutofit fontScale="90000"/>
          </a:bodyPr>
          <a:lstStyle/>
          <a:p>
            <a:r>
              <a:rPr lang="de-DE" i="1" dirty="0"/>
              <a:t>Thank you for your attention . . .</a:t>
            </a:r>
            <a:br>
              <a:rPr lang="de-DE" i="1" dirty="0"/>
            </a:br>
            <a:br>
              <a:rPr lang="de-DE" i="1" dirty="0"/>
            </a:br>
            <a:endParaRPr lang="de-DE" i="1" dirty="0"/>
          </a:p>
        </p:txBody>
      </p:sp>
      <p:sp>
        <p:nvSpPr>
          <p:cNvPr id="6" name="Rectangle 5">
            <a:extLst>
              <a:ext uri="{FF2B5EF4-FFF2-40B4-BE49-F238E27FC236}">
                <a16:creationId xmlns:a16="http://schemas.microsoft.com/office/drawing/2014/main" id="{78FB80F1-2CEF-59E3-DBFC-A5EF8F095ED4}"/>
              </a:ext>
            </a:extLst>
          </p:cNvPr>
          <p:cNvSpPr/>
          <p:nvPr/>
        </p:nvSpPr>
        <p:spPr>
          <a:xfrm>
            <a:off x="121920" y="85344"/>
            <a:ext cx="4474464" cy="463296"/>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sz="2400"/>
          </a:p>
        </p:txBody>
      </p:sp>
    </p:spTree>
    <p:extLst>
      <p:ext uri="{BB962C8B-B14F-4D97-AF65-F5344CB8AC3E}">
        <p14:creationId xmlns:p14="http://schemas.microsoft.com/office/powerpoint/2010/main" val="30836331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8.7|9.1|2.1|11.3"/>
</p:tagLst>
</file>

<file path=ppt/tags/tag2.xml><?xml version="1.0" encoding="utf-8"?>
<p:tagLst xmlns:a="http://schemas.openxmlformats.org/drawingml/2006/main" xmlns:r="http://schemas.openxmlformats.org/officeDocument/2006/relationships" xmlns:p="http://schemas.openxmlformats.org/presentationml/2006/main">
  <p:tag name="TIMING" val="|34.3|13.4|3.6|1|11.1"/>
</p:tagLst>
</file>

<file path=ppt/tags/tag3.xml><?xml version="1.0" encoding="utf-8"?>
<p:tagLst xmlns:a="http://schemas.openxmlformats.org/drawingml/2006/main" xmlns:r="http://schemas.openxmlformats.org/officeDocument/2006/relationships" xmlns:p="http://schemas.openxmlformats.org/presentationml/2006/main">
  <p:tag name="TIMING" val="|47.9"/>
</p:tagLst>
</file>

<file path=ppt/theme/theme1.xml><?xml version="1.0" encoding="utf-8"?>
<a:theme xmlns:a="http://schemas.openxmlformats.org/drawingml/2006/main" name="Hochschule Anhalt">
  <a:themeElements>
    <a:clrScheme name="FH violett">
      <a:dk1>
        <a:sysClr val="windowText" lastClr="000000"/>
      </a:dk1>
      <a:lt1>
        <a:sysClr val="window" lastClr="FFFFFF"/>
      </a:lt1>
      <a:dk2>
        <a:srgbClr val="1F497D"/>
      </a:dk2>
      <a:lt2>
        <a:srgbClr val="EEECE1"/>
      </a:lt2>
      <a:accent1>
        <a:srgbClr val="AD1A7F"/>
      </a:accent1>
      <a:accent2>
        <a:srgbClr val="650A65"/>
      </a:accent2>
      <a:accent3>
        <a:srgbClr val="FD9CFD"/>
      </a:accent3>
      <a:accent4>
        <a:srgbClr val="BBBBBB"/>
      </a:accent4>
      <a:accent5>
        <a:srgbClr val="888888"/>
      </a:accent5>
      <a:accent6>
        <a:srgbClr val="444444"/>
      </a:accent6>
      <a:hlink>
        <a:srgbClr val="0000FF"/>
      </a:hlink>
      <a:folHlink>
        <a:srgbClr val="800080"/>
      </a:folHlink>
    </a:clrScheme>
    <a:fontScheme name="FH Joanneum">
      <a:majorFont>
        <a:latin typeface="Georgia"/>
        <a:ea typeface=""/>
        <a:cs typeface=""/>
      </a:majorFont>
      <a:minorFont>
        <a:latin typeface="Calibr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SA_Präsentation_Master_Sche" id="{FFC7183A-8115-6A45-8EDE-C9516D21293B}" vid="{05B7F17A-2061-A94B-9C6E-ABDCD93201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FH violett">
    <a:dk1>
      <a:sysClr val="windowText" lastClr="000000"/>
    </a:dk1>
    <a:lt1>
      <a:sysClr val="window" lastClr="FFFFFF"/>
    </a:lt1>
    <a:dk2>
      <a:srgbClr val="1F497D"/>
    </a:dk2>
    <a:lt2>
      <a:srgbClr val="EEECE1"/>
    </a:lt2>
    <a:accent1>
      <a:srgbClr val="AD1A7F"/>
    </a:accent1>
    <a:accent2>
      <a:srgbClr val="650A65"/>
    </a:accent2>
    <a:accent3>
      <a:srgbClr val="FD9CFD"/>
    </a:accent3>
    <a:accent4>
      <a:srgbClr val="BBBBBB"/>
    </a:accent4>
    <a:accent5>
      <a:srgbClr val="888888"/>
    </a:accent5>
    <a:accent6>
      <a:srgbClr val="444444"/>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5737</TotalTime>
  <Words>7435</Words>
  <Application>Microsoft Office PowerPoint</Application>
  <PresentationFormat>Widescreen</PresentationFormat>
  <Paragraphs>505</Paragraphs>
  <Slides>30</Slides>
  <Notes>27</Notes>
  <HiddenSlides>1</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30</vt:i4>
      </vt:variant>
    </vt:vector>
  </HeadingPairs>
  <TitlesOfParts>
    <vt:vector size="44" baseType="lpstr">
      <vt:lpstr>Arial</vt:lpstr>
      <vt:lpstr>Calibri</vt:lpstr>
      <vt:lpstr>Cambria Math</vt:lpstr>
      <vt:lpstr>Courier New</vt:lpstr>
      <vt:lpstr>inherit</vt:lpstr>
      <vt:lpstr>Montserrat SemiBold</vt:lpstr>
      <vt:lpstr>Roboto</vt:lpstr>
      <vt:lpstr>Segoe UI</vt:lpstr>
      <vt:lpstr>Segoe UI Light</vt:lpstr>
      <vt:lpstr>Söhne</vt:lpstr>
      <vt:lpstr>Source Sans Pro</vt:lpstr>
      <vt:lpstr>Source Sans Pro Semibold</vt:lpstr>
      <vt:lpstr>Wingdings</vt:lpstr>
      <vt:lpstr>Hochschule Anhalt</vt:lpstr>
      <vt:lpstr>presentation  MASTER THESIS  Accelerating dose calculations in carbon ion therapy  using a Wasserstein GAN</vt:lpstr>
      <vt:lpstr>Aim of the Project </vt:lpstr>
      <vt:lpstr>Related works</vt:lpstr>
      <vt:lpstr>Workflow</vt:lpstr>
      <vt:lpstr>Dataset</vt:lpstr>
      <vt:lpstr>Dataset</vt:lpstr>
      <vt:lpstr>Data preprocessing</vt:lpstr>
      <vt:lpstr>Generator :  3D-UNet architecture </vt:lpstr>
      <vt:lpstr>Critic : Convolutional Neural Network </vt:lpstr>
      <vt:lpstr>Generative Adversarial Network (GAN)</vt:lpstr>
      <vt:lpstr>Wasserstein GAN (WGAN)  </vt:lpstr>
      <vt:lpstr>WGAN Benefits </vt:lpstr>
      <vt:lpstr>Conditional GAN</vt:lpstr>
      <vt:lpstr>Performance measurement of the generator </vt:lpstr>
      <vt:lpstr>Model Training</vt:lpstr>
      <vt:lpstr>Results</vt:lpstr>
      <vt:lpstr>Hyperparameter Tuning</vt:lpstr>
      <vt:lpstr> Model’s learning capability</vt:lpstr>
      <vt:lpstr>Generated dose distribution</vt:lpstr>
      <vt:lpstr>Generated dose distribution (2)</vt:lpstr>
      <vt:lpstr>Performance</vt:lpstr>
      <vt:lpstr>Generalization</vt:lpstr>
      <vt:lpstr>Outlook</vt:lpstr>
      <vt:lpstr>Conclusion</vt:lpstr>
      <vt:lpstr>Conclusion</vt:lpstr>
      <vt:lpstr>Acknowledgments     </vt:lpstr>
      <vt:lpstr>References</vt:lpstr>
      <vt:lpstr>References</vt:lpstr>
      <vt:lpstr>References</vt:lpstr>
      <vt:lpstr>Thank you for your attention . .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Pichaya Tappayuthpijarn</dc:creator>
  <cp:lastModifiedBy>Surasak Jongmankong</cp:lastModifiedBy>
  <cp:revision>74</cp:revision>
  <dcterms:created xsi:type="dcterms:W3CDTF">2023-09-08T12:46:02Z</dcterms:created>
  <dcterms:modified xsi:type="dcterms:W3CDTF">2024-02-28T17:29:17Z</dcterms:modified>
</cp:coreProperties>
</file>